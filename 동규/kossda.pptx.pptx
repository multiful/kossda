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18"/>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Lst>
  <p:sldSz cx="18288000" cy="10287000"/>
  <p:notesSz cx="6858000" cy="9144000"/>
  <p:embeddedFontLst>
    <p:embeddedFont>
      <p:font typeface="프리텐다드" charset="1" panose="02000503000000020004"/>
      <p:regular r:id="rId21"/>
    </p:embeddedFont>
    <p:embeddedFont>
      <p:font typeface="프리텐다드 Bold" charset="1" panose="02000803000000020004"/>
      <p:regular r:id="rId22"/>
    </p:embeddedFont>
    <p:embeddedFont>
      <p:font typeface="Arial" charset="1" panose="020B0604020202020204"/>
      <p:regular r:id="rId27"/>
    </p:embeddedFont>
    <p:embeddedFont>
      <p:font typeface="Playfair Display" charset="1" panose="00000000000000000000"/>
      <p:regular r:id="rId2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notesMasters/notesMaster1.xml" Type="http://schemas.openxmlformats.org/officeDocument/2006/relationships/notesMaster"/><Relationship Id="rId19" Target="theme/theme2.xml" Type="http://schemas.openxmlformats.org/officeDocument/2006/relationships/theme"/><Relationship Id="rId2" Target="presProps.xml" Type="http://schemas.openxmlformats.org/officeDocument/2006/relationships/presProps"/><Relationship Id="rId20" Target="notesSlides/notesSlide1.xml" Type="http://schemas.openxmlformats.org/officeDocument/2006/relationships/notesSlide"/><Relationship Id="rId21" Target="fonts/font21.fntdata" Type="http://schemas.openxmlformats.org/officeDocument/2006/relationships/font"/><Relationship Id="rId22" Target="fonts/font22.fntdata" Type="http://schemas.openxmlformats.org/officeDocument/2006/relationships/font"/><Relationship Id="rId23" Target="notesSlides/notesSlide2.xml" Type="http://schemas.openxmlformats.org/officeDocument/2006/relationships/notesSlide"/><Relationship Id="rId24" Target="notesSlides/notesSlide3.xml" Type="http://schemas.openxmlformats.org/officeDocument/2006/relationships/notesSlide"/><Relationship Id="rId25" Target="notesSlides/notesSlide4.xml" Type="http://schemas.openxmlformats.org/officeDocument/2006/relationships/notesSlide"/><Relationship Id="rId26" Target="notesSlides/notesSlide5.xml" Type="http://schemas.openxmlformats.org/officeDocument/2006/relationships/notesSlide"/><Relationship Id="rId27" Target="fonts/font27.fntdata" Type="http://schemas.openxmlformats.org/officeDocument/2006/relationships/font"/><Relationship Id="rId28" Target="notesSlides/notesSlide6.xml" Type="http://schemas.openxmlformats.org/officeDocument/2006/relationships/notesSlide"/><Relationship Id="rId29" Target="fonts/font29.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xml" Type="http://schemas.openxmlformats.org/officeDocument/2006/relationships/notesSlide"/><Relationship Id="rId3" Target="../media/image1.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xml" Type="http://schemas.openxmlformats.org/officeDocument/2006/relationships/notesSlide"/><Relationship Id="rId3" Target="../media/image2.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xml" Type="http://schemas.openxmlformats.org/officeDocument/2006/relationships/notesSlide"/><Relationship Id="rId3" Target="../media/image3.jpe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4.xml" Type="http://schemas.openxmlformats.org/officeDocument/2006/relationships/notesSlide"/><Relationship Id="rId3" Target="../media/image3.jpe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5.xml" Type="http://schemas.openxmlformats.org/officeDocument/2006/relationships/notesSlid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6.xml" Type="http://schemas.openxmlformats.org/officeDocument/2006/relationships/notesSlid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jpe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jpeg" Type="http://schemas.openxmlformats.org/officeDocument/2006/relationships/image"/><Relationship Id="rId3" Target="../media/image4.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jpe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jpeg" Type="http://schemas.openxmlformats.org/officeDocument/2006/relationships/image"/><Relationship Id="rId3" Target="../media/image5.png" Type="http://schemas.openxmlformats.org/officeDocument/2006/relationships/image"/><Relationship Id="rId4" Target="../media/image6.png" Type="http://schemas.openxmlformats.org/officeDocument/2006/relationships/image"/><Relationship Id="rId5" Target="../media/image7.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jpeg" Type="http://schemas.openxmlformats.org/officeDocument/2006/relationships/image"/><Relationship Id="rId3" Target="../media/image8.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F5F5F5"/>
        </a:solidFill>
      </p:bgPr>
    </p:bg>
    <p:spTree>
      <p:nvGrpSpPr>
        <p:cNvPr id="1" name=""/>
        <p:cNvGrpSpPr/>
        <p:nvPr/>
      </p:nvGrpSpPr>
      <p:grpSpPr>
        <a:xfrm>
          <a:off x="0" y="0"/>
          <a:ext cx="0" cy="0"/>
          <a:chOff x="0" y="0"/>
          <a:chExt cx="0" cy="0"/>
        </a:xfrm>
      </p:grpSpPr>
      <p:sp>
        <p:nvSpPr>
          <p:cNvPr name="Freeform 2" id="2"/>
          <p:cNvSpPr/>
          <p:nvPr/>
        </p:nvSpPr>
        <p:spPr>
          <a:xfrm flipH="false" flipV="false" rot="0">
            <a:off x="-2914969" y="1970534"/>
            <a:ext cx="11624747" cy="6345931"/>
          </a:xfrm>
          <a:custGeom>
            <a:avLst/>
            <a:gdLst/>
            <a:ahLst/>
            <a:cxnLst/>
            <a:rect r="r" b="b" t="t" l="l"/>
            <a:pathLst>
              <a:path h="6345931" w="11624747">
                <a:moveTo>
                  <a:pt x="0" y="0"/>
                </a:moveTo>
                <a:lnTo>
                  <a:pt x="11624747" y="0"/>
                </a:lnTo>
                <a:lnTo>
                  <a:pt x="11624747" y="6345932"/>
                </a:lnTo>
                <a:lnTo>
                  <a:pt x="0" y="6345932"/>
                </a:lnTo>
                <a:lnTo>
                  <a:pt x="0" y="0"/>
                </a:lnTo>
                <a:close/>
              </a:path>
            </a:pathLst>
          </a:custGeom>
          <a:blipFill>
            <a:blip r:embed="rId3"/>
            <a:stretch>
              <a:fillRect l="0" t="0" r="0" b="0"/>
            </a:stretch>
          </a:blipFill>
        </p:spPr>
      </p:sp>
      <p:sp>
        <p:nvSpPr>
          <p:cNvPr name="TextBox 3" id="3"/>
          <p:cNvSpPr txBox="true"/>
          <p:nvPr/>
        </p:nvSpPr>
        <p:spPr>
          <a:xfrm rot="-18144">
            <a:off x="5165756" y="3683413"/>
            <a:ext cx="12192362" cy="1409409"/>
          </a:xfrm>
          <a:prstGeom prst="rect">
            <a:avLst/>
          </a:prstGeom>
        </p:spPr>
        <p:txBody>
          <a:bodyPr anchor="t" rtlCol="false" tIns="0" lIns="0" bIns="0" rIns="0">
            <a:spAutoFit/>
          </a:bodyPr>
          <a:lstStyle/>
          <a:p>
            <a:pPr algn="l" marL="0" indent="0" lvl="0">
              <a:lnSpc>
                <a:spcPts val="10612"/>
              </a:lnSpc>
            </a:pPr>
            <a:r>
              <a:rPr lang="en-US" sz="10403" spc="-374">
                <a:solidFill>
                  <a:srgbClr val="222222"/>
                </a:solidFill>
                <a:latin typeface="프리텐다드"/>
                <a:ea typeface="프리텐다드"/>
                <a:cs typeface="프리텐다드"/>
                <a:sym typeface="프리텐다드"/>
              </a:rPr>
              <a:t>교권침해의 근본 원인은?</a:t>
            </a:r>
          </a:p>
        </p:txBody>
      </p:sp>
      <p:sp>
        <p:nvSpPr>
          <p:cNvPr name="TextBox 4" id="4"/>
          <p:cNvSpPr txBox="true"/>
          <p:nvPr/>
        </p:nvSpPr>
        <p:spPr>
          <a:xfrm rot="-18144">
            <a:off x="5164973" y="5244690"/>
            <a:ext cx="12553568" cy="1189581"/>
          </a:xfrm>
          <a:prstGeom prst="rect">
            <a:avLst/>
          </a:prstGeom>
        </p:spPr>
        <p:txBody>
          <a:bodyPr anchor="t" rtlCol="false" tIns="0" lIns="0" bIns="0" rIns="0">
            <a:spAutoFit/>
          </a:bodyPr>
          <a:lstStyle/>
          <a:p>
            <a:pPr algn="l" marL="0" indent="0" lvl="0">
              <a:lnSpc>
                <a:spcPts val="8878"/>
              </a:lnSpc>
            </a:pPr>
            <a:r>
              <a:rPr lang="en-US" b="true" sz="8704" spc="-313">
                <a:solidFill>
                  <a:srgbClr val="3A59D1"/>
                </a:solidFill>
                <a:latin typeface="프리텐다드 Bold"/>
                <a:ea typeface="프리텐다드 Bold"/>
                <a:cs typeface="프리텐다드 Bold"/>
                <a:sym typeface="프리텐다드 Bold"/>
              </a:rPr>
              <a:t>교권침해는 왜 줄지 않는가?</a:t>
            </a:r>
          </a:p>
        </p:txBody>
      </p:sp>
      <p:sp>
        <p:nvSpPr>
          <p:cNvPr name="TextBox 5" id="5"/>
          <p:cNvSpPr txBox="true"/>
          <p:nvPr/>
        </p:nvSpPr>
        <p:spPr>
          <a:xfrm rot="0">
            <a:off x="5305863" y="6473819"/>
            <a:ext cx="9729468" cy="325000"/>
          </a:xfrm>
          <a:prstGeom prst="rect">
            <a:avLst/>
          </a:prstGeom>
        </p:spPr>
        <p:txBody>
          <a:bodyPr anchor="t" rtlCol="false" tIns="0" lIns="0" bIns="0" rIns="0">
            <a:spAutoFit/>
          </a:bodyPr>
          <a:lstStyle/>
          <a:p>
            <a:pPr algn="l">
              <a:lnSpc>
                <a:spcPts val="2571"/>
              </a:lnSpc>
            </a:pPr>
            <a:r>
              <a:rPr lang="en-US" sz="1963" spc="-19">
                <a:solidFill>
                  <a:srgbClr val="222222">
                    <a:alpha val="44706"/>
                  </a:srgbClr>
                </a:solidFill>
                <a:latin typeface="프리텐다드"/>
                <a:ea typeface="프리텐다드"/>
                <a:cs typeface="프리텐다드"/>
                <a:sym typeface="프리텐다드"/>
              </a:rPr>
              <a:t>제도공백이 만드는 구조적 침묵</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16780660" y="9486900"/>
            <a:ext cx="325548" cy="148590"/>
          </a:xfrm>
          <a:prstGeom prst="rect">
            <a:avLst/>
          </a:prstGeom>
        </p:spPr>
        <p:txBody>
          <a:bodyPr anchor="t" rtlCol="false" tIns="0" lIns="0" bIns="0" rIns="0">
            <a:spAutoFit/>
          </a:bodyPr>
          <a:lstStyle/>
          <a:p>
            <a:pPr algn="l" marL="0" indent="0" lvl="0">
              <a:lnSpc>
                <a:spcPts val="1260"/>
              </a:lnSpc>
              <a:spcBef>
                <a:spcPct val="0"/>
              </a:spcBef>
            </a:pPr>
            <a:r>
              <a:rPr lang="en-US" sz="900" strike="noStrike" u="none">
                <a:solidFill>
                  <a:srgbClr val="1E293B"/>
                </a:solidFill>
                <a:latin typeface="프리텐다드"/>
                <a:ea typeface="프리텐다드"/>
                <a:cs typeface="프리텐다드"/>
                <a:sym typeface="프리텐다드"/>
              </a:rPr>
              <a:t>4.81</a:t>
            </a:r>
          </a:p>
        </p:txBody>
      </p:sp>
      <p:grpSp>
        <p:nvGrpSpPr>
          <p:cNvPr name="Group 3" id="3"/>
          <p:cNvGrpSpPr/>
          <p:nvPr/>
        </p:nvGrpSpPr>
        <p:grpSpPr>
          <a:xfrm rot="0">
            <a:off x="15242443" y="9467850"/>
            <a:ext cx="1505662" cy="209550"/>
            <a:chOff x="0" y="0"/>
            <a:chExt cx="2007549" cy="279400"/>
          </a:xfrm>
        </p:grpSpPr>
        <p:sp>
          <p:nvSpPr>
            <p:cNvPr name="Freeform 4" id="4"/>
            <p:cNvSpPr/>
            <p:nvPr/>
          </p:nvSpPr>
          <p:spPr>
            <a:xfrm flipH="false" flipV="false" rot="0">
              <a:off x="0" y="0"/>
              <a:ext cx="2007549" cy="279400"/>
            </a:xfrm>
            <a:custGeom>
              <a:avLst/>
              <a:gdLst/>
              <a:ahLst/>
              <a:cxnLst/>
              <a:rect r="r" b="b" t="t" l="l"/>
              <a:pathLst>
                <a:path h="279400" w="2007549">
                  <a:moveTo>
                    <a:pt x="35993" y="0"/>
                  </a:moveTo>
                  <a:lnTo>
                    <a:pt x="1971556" y="0"/>
                  </a:lnTo>
                  <a:cubicBezTo>
                    <a:pt x="1991434" y="0"/>
                    <a:pt x="2007549" y="16115"/>
                    <a:pt x="2007549" y="35993"/>
                  </a:cubicBezTo>
                  <a:lnTo>
                    <a:pt x="2007549" y="243407"/>
                  </a:lnTo>
                  <a:cubicBezTo>
                    <a:pt x="2007549" y="263285"/>
                    <a:pt x="1991434" y="279400"/>
                    <a:pt x="1971556" y="279400"/>
                  </a:cubicBezTo>
                  <a:lnTo>
                    <a:pt x="35993" y="279400"/>
                  </a:lnTo>
                  <a:cubicBezTo>
                    <a:pt x="16115" y="279400"/>
                    <a:pt x="0" y="263285"/>
                    <a:pt x="0" y="243407"/>
                  </a:cubicBezTo>
                  <a:lnTo>
                    <a:pt x="0" y="35993"/>
                  </a:lnTo>
                  <a:cubicBezTo>
                    <a:pt x="0" y="16115"/>
                    <a:pt x="16115" y="0"/>
                    <a:pt x="35993" y="0"/>
                  </a:cubicBezTo>
                  <a:close/>
                </a:path>
              </a:pathLst>
            </a:custGeom>
            <a:solidFill>
              <a:srgbClr val="B7B7B7"/>
            </a:solidFill>
          </p:spPr>
        </p:sp>
        <p:sp>
          <p:nvSpPr>
            <p:cNvPr name="TextBox 5" id="5"/>
            <p:cNvSpPr txBox="true"/>
            <p:nvPr/>
          </p:nvSpPr>
          <p:spPr>
            <a:xfrm>
              <a:off x="0" y="-28575"/>
              <a:ext cx="2007549" cy="307975"/>
            </a:xfrm>
            <a:prstGeom prst="rect">
              <a:avLst/>
            </a:prstGeom>
          </p:spPr>
          <p:txBody>
            <a:bodyPr anchor="ctr" rtlCol="false" tIns="50800" lIns="50800" bIns="50800" rIns="50800"/>
            <a:lstStyle/>
            <a:p>
              <a:pPr algn="l">
                <a:lnSpc>
                  <a:spcPts val="1679"/>
                </a:lnSpc>
              </a:pPr>
            </a:p>
          </p:txBody>
        </p:sp>
      </p:grpSp>
      <p:sp>
        <p:nvSpPr>
          <p:cNvPr name="TextBox 6" id="6"/>
          <p:cNvSpPr txBox="true"/>
          <p:nvPr/>
        </p:nvSpPr>
        <p:spPr>
          <a:xfrm rot="0">
            <a:off x="13411233" y="9486900"/>
            <a:ext cx="1790517" cy="148590"/>
          </a:xfrm>
          <a:prstGeom prst="rect">
            <a:avLst/>
          </a:prstGeom>
        </p:spPr>
        <p:txBody>
          <a:bodyPr anchor="t" rtlCol="false" tIns="0" lIns="0" bIns="0" rIns="0">
            <a:spAutoFit/>
          </a:bodyPr>
          <a:lstStyle/>
          <a:p>
            <a:pPr algn="ctr" marL="0" indent="0" lvl="0">
              <a:lnSpc>
                <a:spcPts val="1260"/>
              </a:lnSpc>
              <a:spcBef>
                <a:spcPct val="0"/>
              </a:spcBef>
            </a:pPr>
            <a:r>
              <a:rPr lang="en-US" sz="900" strike="noStrike" u="none">
                <a:solidFill>
                  <a:srgbClr val="475569"/>
                </a:solidFill>
                <a:latin typeface="프리텐다드"/>
                <a:ea typeface="프리텐다드"/>
                <a:cs typeface="프리텐다드"/>
                <a:sym typeface="프리텐다드"/>
              </a:rPr>
              <a:t>교원 인권 보장 정치기본권 조치 강화</a:t>
            </a:r>
          </a:p>
        </p:txBody>
      </p:sp>
      <p:sp>
        <p:nvSpPr>
          <p:cNvPr name="TextBox 7" id="7"/>
          <p:cNvSpPr txBox="true"/>
          <p:nvPr/>
        </p:nvSpPr>
        <p:spPr>
          <a:xfrm rot="0">
            <a:off x="16780660" y="9144000"/>
            <a:ext cx="325548" cy="148590"/>
          </a:xfrm>
          <a:prstGeom prst="rect">
            <a:avLst/>
          </a:prstGeom>
        </p:spPr>
        <p:txBody>
          <a:bodyPr anchor="t" rtlCol="false" tIns="0" lIns="0" bIns="0" rIns="0">
            <a:spAutoFit/>
          </a:bodyPr>
          <a:lstStyle/>
          <a:p>
            <a:pPr algn="l" marL="0" indent="0" lvl="0">
              <a:lnSpc>
                <a:spcPts val="1260"/>
              </a:lnSpc>
              <a:spcBef>
                <a:spcPct val="0"/>
              </a:spcBef>
            </a:pPr>
            <a:r>
              <a:rPr lang="en-US" sz="900" strike="noStrike" u="none">
                <a:solidFill>
                  <a:srgbClr val="1E293B"/>
                </a:solidFill>
                <a:latin typeface="프리텐다드"/>
                <a:ea typeface="프리텐다드"/>
                <a:cs typeface="프리텐다드"/>
                <a:sym typeface="프리텐다드"/>
              </a:rPr>
              <a:t>4.81</a:t>
            </a:r>
          </a:p>
        </p:txBody>
      </p:sp>
      <p:grpSp>
        <p:nvGrpSpPr>
          <p:cNvPr name="Group 8" id="8"/>
          <p:cNvGrpSpPr/>
          <p:nvPr/>
        </p:nvGrpSpPr>
        <p:grpSpPr>
          <a:xfrm rot="0">
            <a:off x="15242443" y="9124950"/>
            <a:ext cx="1505662" cy="209550"/>
            <a:chOff x="0" y="0"/>
            <a:chExt cx="2007549" cy="279400"/>
          </a:xfrm>
        </p:grpSpPr>
        <p:sp>
          <p:nvSpPr>
            <p:cNvPr name="Freeform 9" id="9"/>
            <p:cNvSpPr/>
            <p:nvPr/>
          </p:nvSpPr>
          <p:spPr>
            <a:xfrm flipH="false" flipV="false" rot="0">
              <a:off x="0" y="0"/>
              <a:ext cx="2007549" cy="279400"/>
            </a:xfrm>
            <a:custGeom>
              <a:avLst/>
              <a:gdLst/>
              <a:ahLst/>
              <a:cxnLst/>
              <a:rect r="r" b="b" t="t" l="l"/>
              <a:pathLst>
                <a:path h="279400" w="2007549">
                  <a:moveTo>
                    <a:pt x="35993" y="0"/>
                  </a:moveTo>
                  <a:lnTo>
                    <a:pt x="1971556" y="0"/>
                  </a:lnTo>
                  <a:cubicBezTo>
                    <a:pt x="1991434" y="0"/>
                    <a:pt x="2007549" y="16115"/>
                    <a:pt x="2007549" y="35993"/>
                  </a:cubicBezTo>
                  <a:lnTo>
                    <a:pt x="2007549" y="243407"/>
                  </a:lnTo>
                  <a:cubicBezTo>
                    <a:pt x="2007549" y="263285"/>
                    <a:pt x="1991434" y="279400"/>
                    <a:pt x="1971556" y="279400"/>
                  </a:cubicBezTo>
                  <a:lnTo>
                    <a:pt x="35993" y="279400"/>
                  </a:lnTo>
                  <a:cubicBezTo>
                    <a:pt x="16115" y="279400"/>
                    <a:pt x="0" y="263285"/>
                    <a:pt x="0" y="243407"/>
                  </a:cubicBezTo>
                  <a:lnTo>
                    <a:pt x="0" y="35993"/>
                  </a:lnTo>
                  <a:cubicBezTo>
                    <a:pt x="0" y="16115"/>
                    <a:pt x="16115" y="0"/>
                    <a:pt x="35993" y="0"/>
                  </a:cubicBezTo>
                  <a:close/>
                </a:path>
              </a:pathLst>
            </a:custGeom>
            <a:solidFill>
              <a:srgbClr val="B7B7B7"/>
            </a:solidFill>
          </p:spPr>
        </p:sp>
        <p:sp>
          <p:nvSpPr>
            <p:cNvPr name="TextBox 10" id="10"/>
            <p:cNvSpPr txBox="true"/>
            <p:nvPr/>
          </p:nvSpPr>
          <p:spPr>
            <a:xfrm>
              <a:off x="0" y="-28575"/>
              <a:ext cx="2007549" cy="307975"/>
            </a:xfrm>
            <a:prstGeom prst="rect">
              <a:avLst/>
            </a:prstGeom>
          </p:spPr>
          <p:txBody>
            <a:bodyPr anchor="ctr" rtlCol="false" tIns="50800" lIns="50800" bIns="50800" rIns="50800"/>
            <a:lstStyle/>
            <a:p>
              <a:pPr algn="l">
                <a:lnSpc>
                  <a:spcPts val="1679"/>
                </a:lnSpc>
              </a:pPr>
            </a:p>
          </p:txBody>
        </p:sp>
      </p:grpSp>
      <p:sp>
        <p:nvSpPr>
          <p:cNvPr name="TextBox 11" id="11"/>
          <p:cNvSpPr txBox="true"/>
          <p:nvPr/>
        </p:nvSpPr>
        <p:spPr>
          <a:xfrm rot="0">
            <a:off x="13411233" y="9144000"/>
            <a:ext cx="1790517" cy="148590"/>
          </a:xfrm>
          <a:prstGeom prst="rect">
            <a:avLst/>
          </a:prstGeom>
        </p:spPr>
        <p:txBody>
          <a:bodyPr anchor="t" rtlCol="false" tIns="0" lIns="0" bIns="0" rIns="0">
            <a:spAutoFit/>
          </a:bodyPr>
          <a:lstStyle/>
          <a:p>
            <a:pPr algn="ctr" marL="0" indent="0" lvl="0">
              <a:lnSpc>
                <a:spcPts val="1260"/>
              </a:lnSpc>
              <a:spcBef>
                <a:spcPct val="0"/>
              </a:spcBef>
            </a:pPr>
            <a:r>
              <a:rPr lang="en-US" sz="900" strike="noStrike" u="none">
                <a:solidFill>
                  <a:srgbClr val="475569"/>
                </a:solidFill>
                <a:latin typeface="프리텐다드"/>
                <a:ea typeface="프리텐다드"/>
                <a:cs typeface="프리텐다드"/>
                <a:sym typeface="프리텐다드"/>
              </a:rPr>
              <a:t>민원 대응 권리·의무 법제화</a:t>
            </a:r>
          </a:p>
        </p:txBody>
      </p:sp>
      <p:sp>
        <p:nvSpPr>
          <p:cNvPr name="TextBox 12" id="12"/>
          <p:cNvSpPr txBox="true"/>
          <p:nvPr/>
        </p:nvSpPr>
        <p:spPr>
          <a:xfrm rot="0">
            <a:off x="16829492" y="8801100"/>
            <a:ext cx="325548" cy="148590"/>
          </a:xfrm>
          <a:prstGeom prst="rect">
            <a:avLst/>
          </a:prstGeom>
        </p:spPr>
        <p:txBody>
          <a:bodyPr anchor="t" rtlCol="false" tIns="0" lIns="0" bIns="0" rIns="0">
            <a:spAutoFit/>
          </a:bodyPr>
          <a:lstStyle/>
          <a:p>
            <a:pPr algn="l" marL="0" indent="0" lvl="0">
              <a:lnSpc>
                <a:spcPts val="1260"/>
              </a:lnSpc>
              <a:spcBef>
                <a:spcPct val="0"/>
              </a:spcBef>
            </a:pPr>
            <a:r>
              <a:rPr lang="en-US" sz="900" strike="noStrike" u="none">
                <a:solidFill>
                  <a:srgbClr val="1E293B"/>
                </a:solidFill>
                <a:latin typeface="프리텐다드"/>
                <a:ea typeface="프리텐다드"/>
                <a:cs typeface="프리텐다드"/>
                <a:sym typeface="프리텐다드"/>
              </a:rPr>
              <a:t>4.82</a:t>
            </a:r>
          </a:p>
        </p:txBody>
      </p:sp>
      <p:grpSp>
        <p:nvGrpSpPr>
          <p:cNvPr name="Group 13" id="13"/>
          <p:cNvGrpSpPr/>
          <p:nvPr/>
        </p:nvGrpSpPr>
        <p:grpSpPr>
          <a:xfrm rot="0">
            <a:off x="15242443" y="8782050"/>
            <a:ext cx="1554494" cy="209550"/>
            <a:chOff x="0" y="0"/>
            <a:chExt cx="2072659" cy="279400"/>
          </a:xfrm>
        </p:grpSpPr>
        <p:sp>
          <p:nvSpPr>
            <p:cNvPr name="Freeform 14" id="14"/>
            <p:cNvSpPr/>
            <p:nvPr/>
          </p:nvSpPr>
          <p:spPr>
            <a:xfrm flipH="false" flipV="false" rot="0">
              <a:off x="0" y="0"/>
              <a:ext cx="2072659" cy="279400"/>
            </a:xfrm>
            <a:custGeom>
              <a:avLst/>
              <a:gdLst/>
              <a:ahLst/>
              <a:cxnLst/>
              <a:rect r="r" b="b" t="t" l="l"/>
              <a:pathLst>
                <a:path h="279400" w="2072659">
                  <a:moveTo>
                    <a:pt x="34862" y="0"/>
                  </a:moveTo>
                  <a:lnTo>
                    <a:pt x="2037796" y="0"/>
                  </a:lnTo>
                  <a:cubicBezTo>
                    <a:pt x="2047042" y="0"/>
                    <a:pt x="2055910" y="3673"/>
                    <a:pt x="2062448" y="10211"/>
                  </a:cubicBezTo>
                  <a:cubicBezTo>
                    <a:pt x="2068986" y="16749"/>
                    <a:pt x="2072659" y="25616"/>
                    <a:pt x="2072659" y="34862"/>
                  </a:cubicBezTo>
                  <a:lnTo>
                    <a:pt x="2072659" y="244538"/>
                  </a:lnTo>
                  <a:cubicBezTo>
                    <a:pt x="2072659" y="253784"/>
                    <a:pt x="2068986" y="262651"/>
                    <a:pt x="2062448" y="269189"/>
                  </a:cubicBezTo>
                  <a:cubicBezTo>
                    <a:pt x="2055910" y="275727"/>
                    <a:pt x="2047042" y="279400"/>
                    <a:pt x="2037796" y="279400"/>
                  </a:cubicBezTo>
                  <a:lnTo>
                    <a:pt x="34862" y="279400"/>
                  </a:lnTo>
                  <a:cubicBezTo>
                    <a:pt x="25616" y="279400"/>
                    <a:pt x="16749" y="275727"/>
                    <a:pt x="10211" y="269189"/>
                  </a:cubicBezTo>
                  <a:cubicBezTo>
                    <a:pt x="3673" y="262651"/>
                    <a:pt x="0" y="253784"/>
                    <a:pt x="0" y="244538"/>
                  </a:cubicBezTo>
                  <a:lnTo>
                    <a:pt x="0" y="34862"/>
                  </a:lnTo>
                  <a:cubicBezTo>
                    <a:pt x="0" y="25616"/>
                    <a:pt x="3673" y="16749"/>
                    <a:pt x="10211" y="10211"/>
                  </a:cubicBezTo>
                  <a:cubicBezTo>
                    <a:pt x="16749" y="3673"/>
                    <a:pt x="25616" y="0"/>
                    <a:pt x="34862" y="0"/>
                  </a:cubicBezTo>
                  <a:close/>
                </a:path>
              </a:pathLst>
            </a:custGeom>
            <a:solidFill>
              <a:srgbClr val="B7B7B7"/>
            </a:solidFill>
          </p:spPr>
        </p:sp>
        <p:sp>
          <p:nvSpPr>
            <p:cNvPr name="TextBox 15" id="15"/>
            <p:cNvSpPr txBox="true"/>
            <p:nvPr/>
          </p:nvSpPr>
          <p:spPr>
            <a:xfrm>
              <a:off x="0" y="-28575"/>
              <a:ext cx="2072659" cy="307975"/>
            </a:xfrm>
            <a:prstGeom prst="rect">
              <a:avLst/>
            </a:prstGeom>
          </p:spPr>
          <p:txBody>
            <a:bodyPr anchor="ctr" rtlCol="false" tIns="50800" lIns="50800" bIns="50800" rIns="50800"/>
            <a:lstStyle/>
            <a:p>
              <a:pPr algn="l">
                <a:lnSpc>
                  <a:spcPts val="1679"/>
                </a:lnSpc>
              </a:pPr>
            </a:p>
          </p:txBody>
        </p:sp>
      </p:grpSp>
      <p:sp>
        <p:nvSpPr>
          <p:cNvPr name="TextBox 16" id="16"/>
          <p:cNvSpPr txBox="true"/>
          <p:nvPr/>
        </p:nvSpPr>
        <p:spPr>
          <a:xfrm rot="0">
            <a:off x="13411233" y="8801100"/>
            <a:ext cx="1790517" cy="148590"/>
          </a:xfrm>
          <a:prstGeom prst="rect">
            <a:avLst/>
          </a:prstGeom>
        </p:spPr>
        <p:txBody>
          <a:bodyPr anchor="t" rtlCol="false" tIns="0" lIns="0" bIns="0" rIns="0">
            <a:spAutoFit/>
          </a:bodyPr>
          <a:lstStyle/>
          <a:p>
            <a:pPr algn="ctr" marL="0" indent="0" lvl="0">
              <a:lnSpc>
                <a:spcPts val="1260"/>
              </a:lnSpc>
              <a:spcBef>
                <a:spcPct val="0"/>
              </a:spcBef>
            </a:pPr>
            <a:r>
              <a:rPr lang="en-US" sz="900" strike="noStrike" u="none">
                <a:solidFill>
                  <a:srgbClr val="475569"/>
                </a:solidFill>
                <a:latin typeface="프리텐다드"/>
                <a:ea typeface="프리텐다드"/>
                <a:cs typeface="프리텐다드"/>
                <a:sym typeface="프리텐다드"/>
              </a:rPr>
              <a:t>수업방해 학생 분리 기준 법령 명확화</a:t>
            </a:r>
          </a:p>
        </p:txBody>
      </p:sp>
      <p:sp>
        <p:nvSpPr>
          <p:cNvPr name="TextBox 17" id="17"/>
          <p:cNvSpPr txBox="true"/>
          <p:nvPr/>
        </p:nvSpPr>
        <p:spPr>
          <a:xfrm rot="0">
            <a:off x="16829492" y="8458200"/>
            <a:ext cx="325548" cy="148590"/>
          </a:xfrm>
          <a:prstGeom prst="rect">
            <a:avLst/>
          </a:prstGeom>
        </p:spPr>
        <p:txBody>
          <a:bodyPr anchor="t" rtlCol="false" tIns="0" lIns="0" bIns="0" rIns="0">
            <a:spAutoFit/>
          </a:bodyPr>
          <a:lstStyle/>
          <a:p>
            <a:pPr algn="l" marL="0" indent="0" lvl="0">
              <a:lnSpc>
                <a:spcPts val="1260"/>
              </a:lnSpc>
              <a:spcBef>
                <a:spcPct val="0"/>
              </a:spcBef>
            </a:pPr>
            <a:r>
              <a:rPr lang="en-US" sz="900" strike="noStrike" u="none">
                <a:solidFill>
                  <a:srgbClr val="1E293B"/>
                </a:solidFill>
                <a:latin typeface="프리텐다드"/>
                <a:ea typeface="프리텐다드"/>
                <a:cs typeface="프리텐다드"/>
                <a:sym typeface="프리텐다드"/>
              </a:rPr>
              <a:t>4.82</a:t>
            </a:r>
          </a:p>
        </p:txBody>
      </p:sp>
      <p:grpSp>
        <p:nvGrpSpPr>
          <p:cNvPr name="Group 18" id="18"/>
          <p:cNvGrpSpPr/>
          <p:nvPr/>
        </p:nvGrpSpPr>
        <p:grpSpPr>
          <a:xfrm rot="0">
            <a:off x="15242443" y="8439150"/>
            <a:ext cx="1554494" cy="209550"/>
            <a:chOff x="0" y="0"/>
            <a:chExt cx="2072659" cy="279400"/>
          </a:xfrm>
        </p:grpSpPr>
        <p:sp>
          <p:nvSpPr>
            <p:cNvPr name="Freeform 19" id="19"/>
            <p:cNvSpPr/>
            <p:nvPr/>
          </p:nvSpPr>
          <p:spPr>
            <a:xfrm flipH="false" flipV="false" rot="0">
              <a:off x="0" y="0"/>
              <a:ext cx="2072659" cy="279400"/>
            </a:xfrm>
            <a:custGeom>
              <a:avLst/>
              <a:gdLst/>
              <a:ahLst/>
              <a:cxnLst/>
              <a:rect r="r" b="b" t="t" l="l"/>
              <a:pathLst>
                <a:path h="279400" w="2072659">
                  <a:moveTo>
                    <a:pt x="34862" y="0"/>
                  </a:moveTo>
                  <a:lnTo>
                    <a:pt x="2037796" y="0"/>
                  </a:lnTo>
                  <a:cubicBezTo>
                    <a:pt x="2047042" y="0"/>
                    <a:pt x="2055910" y="3673"/>
                    <a:pt x="2062448" y="10211"/>
                  </a:cubicBezTo>
                  <a:cubicBezTo>
                    <a:pt x="2068986" y="16749"/>
                    <a:pt x="2072659" y="25616"/>
                    <a:pt x="2072659" y="34862"/>
                  </a:cubicBezTo>
                  <a:lnTo>
                    <a:pt x="2072659" y="244538"/>
                  </a:lnTo>
                  <a:cubicBezTo>
                    <a:pt x="2072659" y="253784"/>
                    <a:pt x="2068986" y="262651"/>
                    <a:pt x="2062448" y="269189"/>
                  </a:cubicBezTo>
                  <a:cubicBezTo>
                    <a:pt x="2055910" y="275727"/>
                    <a:pt x="2047042" y="279400"/>
                    <a:pt x="2037796" y="279400"/>
                  </a:cubicBezTo>
                  <a:lnTo>
                    <a:pt x="34862" y="279400"/>
                  </a:lnTo>
                  <a:cubicBezTo>
                    <a:pt x="25616" y="279400"/>
                    <a:pt x="16749" y="275727"/>
                    <a:pt x="10211" y="269189"/>
                  </a:cubicBezTo>
                  <a:cubicBezTo>
                    <a:pt x="3673" y="262651"/>
                    <a:pt x="0" y="253784"/>
                    <a:pt x="0" y="244538"/>
                  </a:cubicBezTo>
                  <a:lnTo>
                    <a:pt x="0" y="34862"/>
                  </a:lnTo>
                  <a:cubicBezTo>
                    <a:pt x="0" y="25616"/>
                    <a:pt x="3673" y="16749"/>
                    <a:pt x="10211" y="10211"/>
                  </a:cubicBezTo>
                  <a:cubicBezTo>
                    <a:pt x="16749" y="3673"/>
                    <a:pt x="25616" y="0"/>
                    <a:pt x="34862" y="0"/>
                  </a:cubicBezTo>
                  <a:close/>
                </a:path>
              </a:pathLst>
            </a:custGeom>
            <a:solidFill>
              <a:srgbClr val="B7B7B7"/>
            </a:solidFill>
          </p:spPr>
        </p:sp>
        <p:sp>
          <p:nvSpPr>
            <p:cNvPr name="TextBox 20" id="20"/>
            <p:cNvSpPr txBox="true"/>
            <p:nvPr/>
          </p:nvSpPr>
          <p:spPr>
            <a:xfrm>
              <a:off x="0" y="-28575"/>
              <a:ext cx="2072659" cy="307975"/>
            </a:xfrm>
            <a:prstGeom prst="rect">
              <a:avLst/>
            </a:prstGeom>
          </p:spPr>
          <p:txBody>
            <a:bodyPr anchor="ctr" rtlCol="false" tIns="50800" lIns="50800" bIns="50800" rIns="50800"/>
            <a:lstStyle/>
            <a:p>
              <a:pPr algn="l">
                <a:lnSpc>
                  <a:spcPts val="1679"/>
                </a:lnSpc>
              </a:pPr>
            </a:p>
          </p:txBody>
        </p:sp>
      </p:grpSp>
      <p:sp>
        <p:nvSpPr>
          <p:cNvPr name="TextBox 21" id="21"/>
          <p:cNvSpPr txBox="true"/>
          <p:nvPr/>
        </p:nvSpPr>
        <p:spPr>
          <a:xfrm rot="0">
            <a:off x="13411233" y="8458200"/>
            <a:ext cx="1790517" cy="148590"/>
          </a:xfrm>
          <a:prstGeom prst="rect">
            <a:avLst/>
          </a:prstGeom>
        </p:spPr>
        <p:txBody>
          <a:bodyPr anchor="t" rtlCol="false" tIns="0" lIns="0" bIns="0" rIns="0">
            <a:spAutoFit/>
          </a:bodyPr>
          <a:lstStyle/>
          <a:p>
            <a:pPr algn="ctr" marL="0" indent="0" lvl="0">
              <a:lnSpc>
                <a:spcPts val="1260"/>
              </a:lnSpc>
              <a:spcBef>
                <a:spcPct val="0"/>
              </a:spcBef>
            </a:pPr>
            <a:r>
              <a:rPr lang="en-US" sz="900" strike="noStrike" u="none">
                <a:solidFill>
                  <a:srgbClr val="475569"/>
                </a:solidFill>
                <a:latin typeface="프리텐다드"/>
                <a:ea typeface="프리텐다드"/>
                <a:cs typeface="프리텐다드"/>
                <a:sym typeface="프리텐다드"/>
              </a:rPr>
              <a:t>과밀학급 해소·학급당 학생 수 감축</a:t>
            </a:r>
          </a:p>
        </p:txBody>
      </p:sp>
      <p:sp>
        <p:nvSpPr>
          <p:cNvPr name="TextBox 22" id="22"/>
          <p:cNvSpPr txBox="true"/>
          <p:nvPr/>
        </p:nvSpPr>
        <p:spPr>
          <a:xfrm rot="0">
            <a:off x="16878324" y="8115300"/>
            <a:ext cx="325548" cy="148590"/>
          </a:xfrm>
          <a:prstGeom prst="rect">
            <a:avLst/>
          </a:prstGeom>
        </p:spPr>
        <p:txBody>
          <a:bodyPr anchor="t" rtlCol="false" tIns="0" lIns="0" bIns="0" rIns="0">
            <a:spAutoFit/>
          </a:bodyPr>
          <a:lstStyle/>
          <a:p>
            <a:pPr algn="l" marL="0" indent="0" lvl="0">
              <a:lnSpc>
                <a:spcPts val="1260"/>
              </a:lnSpc>
              <a:spcBef>
                <a:spcPct val="0"/>
              </a:spcBef>
            </a:pPr>
            <a:r>
              <a:rPr lang="en-US" sz="900" strike="noStrike" u="none">
                <a:solidFill>
                  <a:srgbClr val="1E293B"/>
                </a:solidFill>
                <a:latin typeface="프리텐다드"/>
                <a:ea typeface="프리텐다드"/>
                <a:cs typeface="프리텐다드"/>
                <a:sym typeface="프리텐다드"/>
              </a:rPr>
              <a:t>4.83</a:t>
            </a:r>
          </a:p>
        </p:txBody>
      </p:sp>
      <p:grpSp>
        <p:nvGrpSpPr>
          <p:cNvPr name="Group 23" id="23"/>
          <p:cNvGrpSpPr/>
          <p:nvPr/>
        </p:nvGrpSpPr>
        <p:grpSpPr>
          <a:xfrm rot="0">
            <a:off x="15242443" y="8096250"/>
            <a:ext cx="1603326" cy="209550"/>
            <a:chOff x="0" y="0"/>
            <a:chExt cx="2137768" cy="279400"/>
          </a:xfrm>
        </p:grpSpPr>
        <p:sp>
          <p:nvSpPr>
            <p:cNvPr name="Freeform 24" id="24"/>
            <p:cNvSpPr/>
            <p:nvPr/>
          </p:nvSpPr>
          <p:spPr>
            <a:xfrm flipH="false" flipV="false" rot="0">
              <a:off x="0" y="0"/>
              <a:ext cx="2137768" cy="279400"/>
            </a:xfrm>
            <a:custGeom>
              <a:avLst/>
              <a:gdLst/>
              <a:ahLst/>
              <a:cxnLst/>
              <a:rect r="r" b="b" t="t" l="l"/>
              <a:pathLst>
                <a:path h="279400" w="2137768">
                  <a:moveTo>
                    <a:pt x="33801" y="0"/>
                  </a:moveTo>
                  <a:lnTo>
                    <a:pt x="2103968" y="0"/>
                  </a:lnTo>
                  <a:cubicBezTo>
                    <a:pt x="2122635" y="0"/>
                    <a:pt x="2137768" y="15133"/>
                    <a:pt x="2137768" y="33801"/>
                  </a:cubicBezTo>
                  <a:lnTo>
                    <a:pt x="2137768" y="245599"/>
                  </a:lnTo>
                  <a:cubicBezTo>
                    <a:pt x="2137768" y="254564"/>
                    <a:pt x="2134207" y="263161"/>
                    <a:pt x="2127868" y="269500"/>
                  </a:cubicBezTo>
                  <a:cubicBezTo>
                    <a:pt x="2121530" y="275839"/>
                    <a:pt x="2112932" y="279400"/>
                    <a:pt x="2103968" y="279400"/>
                  </a:cubicBezTo>
                  <a:lnTo>
                    <a:pt x="33801" y="279400"/>
                  </a:lnTo>
                  <a:cubicBezTo>
                    <a:pt x="15133" y="279400"/>
                    <a:pt x="0" y="264267"/>
                    <a:pt x="0" y="245599"/>
                  </a:cubicBezTo>
                  <a:lnTo>
                    <a:pt x="0" y="33801"/>
                  </a:lnTo>
                  <a:cubicBezTo>
                    <a:pt x="0" y="15133"/>
                    <a:pt x="15133" y="0"/>
                    <a:pt x="33801" y="0"/>
                  </a:cubicBezTo>
                  <a:close/>
                </a:path>
              </a:pathLst>
            </a:custGeom>
            <a:solidFill>
              <a:srgbClr val="B7B7B7"/>
            </a:solidFill>
          </p:spPr>
        </p:sp>
        <p:sp>
          <p:nvSpPr>
            <p:cNvPr name="TextBox 25" id="25"/>
            <p:cNvSpPr txBox="true"/>
            <p:nvPr/>
          </p:nvSpPr>
          <p:spPr>
            <a:xfrm>
              <a:off x="0" y="-28575"/>
              <a:ext cx="2137768" cy="307975"/>
            </a:xfrm>
            <a:prstGeom prst="rect">
              <a:avLst/>
            </a:prstGeom>
          </p:spPr>
          <p:txBody>
            <a:bodyPr anchor="ctr" rtlCol="false" tIns="50800" lIns="50800" bIns="50800" rIns="50800"/>
            <a:lstStyle/>
            <a:p>
              <a:pPr algn="l">
                <a:lnSpc>
                  <a:spcPts val="1679"/>
                </a:lnSpc>
              </a:pPr>
            </a:p>
          </p:txBody>
        </p:sp>
      </p:grpSp>
      <p:sp>
        <p:nvSpPr>
          <p:cNvPr name="TextBox 26" id="26"/>
          <p:cNvSpPr txBox="true"/>
          <p:nvPr/>
        </p:nvSpPr>
        <p:spPr>
          <a:xfrm rot="0">
            <a:off x="13411233" y="8115300"/>
            <a:ext cx="1790517" cy="148590"/>
          </a:xfrm>
          <a:prstGeom prst="rect">
            <a:avLst/>
          </a:prstGeom>
        </p:spPr>
        <p:txBody>
          <a:bodyPr anchor="t" rtlCol="false" tIns="0" lIns="0" bIns="0" rIns="0">
            <a:spAutoFit/>
          </a:bodyPr>
          <a:lstStyle/>
          <a:p>
            <a:pPr algn="ctr" marL="0" indent="0" lvl="0">
              <a:lnSpc>
                <a:spcPts val="1260"/>
              </a:lnSpc>
              <a:spcBef>
                <a:spcPct val="0"/>
              </a:spcBef>
            </a:pPr>
            <a:r>
              <a:rPr lang="en-US" sz="900" strike="noStrike" u="none">
                <a:solidFill>
                  <a:srgbClr val="475569"/>
                </a:solidFill>
                <a:latin typeface="프리텐다드"/>
                <a:ea typeface="프리텐다드"/>
                <a:cs typeface="프리텐다드"/>
                <a:sym typeface="프리텐다드"/>
              </a:rPr>
              <a:t>교원 인권 보장 노동기본권 조치 강화</a:t>
            </a:r>
          </a:p>
        </p:txBody>
      </p:sp>
      <p:sp>
        <p:nvSpPr>
          <p:cNvPr name="TextBox 27" id="27"/>
          <p:cNvSpPr txBox="true"/>
          <p:nvPr/>
        </p:nvSpPr>
        <p:spPr>
          <a:xfrm rot="0">
            <a:off x="16975989" y="7772400"/>
            <a:ext cx="325548" cy="148590"/>
          </a:xfrm>
          <a:prstGeom prst="rect">
            <a:avLst/>
          </a:prstGeom>
        </p:spPr>
        <p:txBody>
          <a:bodyPr anchor="t" rtlCol="false" tIns="0" lIns="0" bIns="0" rIns="0">
            <a:spAutoFit/>
          </a:bodyPr>
          <a:lstStyle/>
          <a:p>
            <a:pPr algn="l" marL="0" indent="0" lvl="0">
              <a:lnSpc>
                <a:spcPts val="1260"/>
              </a:lnSpc>
              <a:spcBef>
                <a:spcPct val="0"/>
              </a:spcBef>
            </a:pPr>
            <a:r>
              <a:rPr lang="en-US" sz="900" strike="noStrike" u="none">
                <a:solidFill>
                  <a:srgbClr val="1E293B"/>
                </a:solidFill>
                <a:latin typeface="프리텐다드"/>
                <a:ea typeface="프리텐다드"/>
                <a:cs typeface="프리텐다드"/>
                <a:sym typeface="프리텐다드"/>
              </a:rPr>
              <a:t>4.85</a:t>
            </a:r>
          </a:p>
        </p:txBody>
      </p:sp>
      <p:grpSp>
        <p:nvGrpSpPr>
          <p:cNvPr name="Group 28" id="28"/>
          <p:cNvGrpSpPr/>
          <p:nvPr/>
        </p:nvGrpSpPr>
        <p:grpSpPr>
          <a:xfrm rot="0">
            <a:off x="15242443" y="7753350"/>
            <a:ext cx="1700991" cy="209550"/>
            <a:chOff x="0" y="0"/>
            <a:chExt cx="2267988" cy="279400"/>
          </a:xfrm>
        </p:grpSpPr>
        <p:sp>
          <p:nvSpPr>
            <p:cNvPr name="Freeform 29" id="29"/>
            <p:cNvSpPr/>
            <p:nvPr/>
          </p:nvSpPr>
          <p:spPr>
            <a:xfrm flipH="false" flipV="false" rot="0">
              <a:off x="0" y="0"/>
              <a:ext cx="2267988" cy="279400"/>
            </a:xfrm>
            <a:custGeom>
              <a:avLst/>
              <a:gdLst/>
              <a:ahLst/>
              <a:cxnLst/>
              <a:rect r="r" b="b" t="t" l="l"/>
              <a:pathLst>
                <a:path h="279400" w="2267988">
                  <a:moveTo>
                    <a:pt x="31860" y="0"/>
                  </a:moveTo>
                  <a:lnTo>
                    <a:pt x="2236128" y="0"/>
                  </a:lnTo>
                  <a:cubicBezTo>
                    <a:pt x="2253723" y="0"/>
                    <a:pt x="2267988" y="14264"/>
                    <a:pt x="2267988" y="31860"/>
                  </a:cubicBezTo>
                  <a:lnTo>
                    <a:pt x="2267988" y="247540"/>
                  </a:lnTo>
                  <a:cubicBezTo>
                    <a:pt x="2267988" y="265136"/>
                    <a:pt x="2253723" y="279400"/>
                    <a:pt x="2236128" y="279400"/>
                  </a:cubicBezTo>
                  <a:lnTo>
                    <a:pt x="31860" y="279400"/>
                  </a:lnTo>
                  <a:cubicBezTo>
                    <a:pt x="14264" y="279400"/>
                    <a:pt x="0" y="265136"/>
                    <a:pt x="0" y="247540"/>
                  </a:cubicBezTo>
                  <a:lnTo>
                    <a:pt x="0" y="31860"/>
                  </a:lnTo>
                  <a:cubicBezTo>
                    <a:pt x="0" y="14264"/>
                    <a:pt x="14264" y="0"/>
                    <a:pt x="31860" y="0"/>
                  </a:cubicBezTo>
                  <a:close/>
                </a:path>
              </a:pathLst>
            </a:custGeom>
            <a:solidFill>
              <a:srgbClr val="B7B7B7"/>
            </a:solidFill>
          </p:spPr>
        </p:sp>
        <p:sp>
          <p:nvSpPr>
            <p:cNvPr name="TextBox 30" id="30"/>
            <p:cNvSpPr txBox="true"/>
            <p:nvPr/>
          </p:nvSpPr>
          <p:spPr>
            <a:xfrm>
              <a:off x="0" y="-28575"/>
              <a:ext cx="2267988" cy="307975"/>
            </a:xfrm>
            <a:prstGeom prst="rect">
              <a:avLst/>
            </a:prstGeom>
          </p:spPr>
          <p:txBody>
            <a:bodyPr anchor="ctr" rtlCol="false" tIns="50800" lIns="50800" bIns="50800" rIns="50800"/>
            <a:lstStyle/>
            <a:p>
              <a:pPr algn="l">
                <a:lnSpc>
                  <a:spcPts val="1679"/>
                </a:lnSpc>
              </a:pPr>
            </a:p>
          </p:txBody>
        </p:sp>
      </p:grpSp>
      <p:sp>
        <p:nvSpPr>
          <p:cNvPr name="TextBox 31" id="31"/>
          <p:cNvSpPr txBox="true"/>
          <p:nvPr/>
        </p:nvSpPr>
        <p:spPr>
          <a:xfrm rot="0">
            <a:off x="13411233" y="7696200"/>
            <a:ext cx="1790517" cy="300990"/>
          </a:xfrm>
          <a:prstGeom prst="rect">
            <a:avLst/>
          </a:prstGeom>
        </p:spPr>
        <p:txBody>
          <a:bodyPr anchor="t" rtlCol="false" tIns="0" lIns="0" bIns="0" rIns="0">
            <a:spAutoFit/>
          </a:bodyPr>
          <a:lstStyle/>
          <a:p>
            <a:pPr algn="ctr" marL="0" indent="0" lvl="0">
              <a:lnSpc>
                <a:spcPts val="1260"/>
              </a:lnSpc>
              <a:spcBef>
                <a:spcPct val="0"/>
              </a:spcBef>
            </a:pPr>
            <a:r>
              <a:rPr lang="en-US" sz="900" strike="noStrike" u="none">
                <a:solidFill>
                  <a:srgbClr val="475569"/>
                </a:solidFill>
                <a:latin typeface="프리텐다드"/>
                <a:ea typeface="프리텐다드"/>
                <a:cs typeface="프리텐다드"/>
                <a:sym typeface="프리텐다드"/>
              </a:rPr>
              <a:t>늘봄학교·방과후 제도 국가돌봄 책임제 전환</a:t>
            </a:r>
          </a:p>
        </p:txBody>
      </p:sp>
      <p:sp>
        <p:nvSpPr>
          <p:cNvPr name="TextBox 32" id="32"/>
          <p:cNvSpPr txBox="true"/>
          <p:nvPr/>
        </p:nvSpPr>
        <p:spPr>
          <a:xfrm rot="0">
            <a:off x="17024821" y="7429500"/>
            <a:ext cx="325548" cy="148590"/>
          </a:xfrm>
          <a:prstGeom prst="rect">
            <a:avLst/>
          </a:prstGeom>
        </p:spPr>
        <p:txBody>
          <a:bodyPr anchor="t" rtlCol="false" tIns="0" lIns="0" bIns="0" rIns="0">
            <a:spAutoFit/>
          </a:bodyPr>
          <a:lstStyle/>
          <a:p>
            <a:pPr algn="l" marL="0" indent="0" lvl="0">
              <a:lnSpc>
                <a:spcPts val="1260"/>
              </a:lnSpc>
              <a:spcBef>
                <a:spcPct val="0"/>
              </a:spcBef>
            </a:pPr>
            <a:r>
              <a:rPr lang="en-US" sz="900" strike="noStrike" u="none">
                <a:solidFill>
                  <a:srgbClr val="1E293B"/>
                </a:solidFill>
                <a:latin typeface="프리텐다드"/>
                <a:ea typeface="프리텐다드"/>
                <a:cs typeface="프리텐다드"/>
                <a:sym typeface="프리텐다드"/>
              </a:rPr>
              <a:t>4.86</a:t>
            </a:r>
          </a:p>
        </p:txBody>
      </p:sp>
      <p:grpSp>
        <p:nvGrpSpPr>
          <p:cNvPr name="Group 33" id="33"/>
          <p:cNvGrpSpPr/>
          <p:nvPr/>
        </p:nvGrpSpPr>
        <p:grpSpPr>
          <a:xfrm rot="0">
            <a:off x="15242443" y="7410450"/>
            <a:ext cx="1749823" cy="209550"/>
            <a:chOff x="0" y="0"/>
            <a:chExt cx="2333097" cy="279400"/>
          </a:xfrm>
        </p:grpSpPr>
        <p:sp>
          <p:nvSpPr>
            <p:cNvPr name="Freeform 34" id="34"/>
            <p:cNvSpPr/>
            <p:nvPr/>
          </p:nvSpPr>
          <p:spPr>
            <a:xfrm flipH="false" flipV="false" rot="0">
              <a:off x="0" y="0"/>
              <a:ext cx="2333098" cy="279400"/>
            </a:xfrm>
            <a:custGeom>
              <a:avLst/>
              <a:gdLst/>
              <a:ahLst/>
              <a:cxnLst/>
              <a:rect r="r" b="b" t="t" l="l"/>
              <a:pathLst>
                <a:path h="279400" w="2333098">
                  <a:moveTo>
                    <a:pt x="30971" y="0"/>
                  </a:moveTo>
                  <a:lnTo>
                    <a:pt x="2302127" y="0"/>
                  </a:lnTo>
                  <a:cubicBezTo>
                    <a:pt x="2310341" y="0"/>
                    <a:pt x="2318218" y="3263"/>
                    <a:pt x="2324026" y="9071"/>
                  </a:cubicBezTo>
                  <a:cubicBezTo>
                    <a:pt x="2329835" y="14879"/>
                    <a:pt x="2333098" y="22757"/>
                    <a:pt x="2333098" y="30971"/>
                  </a:cubicBezTo>
                  <a:lnTo>
                    <a:pt x="2333098" y="248429"/>
                  </a:lnTo>
                  <a:cubicBezTo>
                    <a:pt x="2333098" y="256643"/>
                    <a:pt x="2329835" y="264521"/>
                    <a:pt x="2324026" y="270329"/>
                  </a:cubicBezTo>
                  <a:cubicBezTo>
                    <a:pt x="2318218" y="276137"/>
                    <a:pt x="2310341" y="279400"/>
                    <a:pt x="2302127" y="279400"/>
                  </a:cubicBezTo>
                  <a:lnTo>
                    <a:pt x="30971" y="279400"/>
                  </a:lnTo>
                  <a:cubicBezTo>
                    <a:pt x="22757" y="279400"/>
                    <a:pt x="14879" y="276137"/>
                    <a:pt x="9071" y="270329"/>
                  </a:cubicBezTo>
                  <a:cubicBezTo>
                    <a:pt x="3263" y="264521"/>
                    <a:pt x="0" y="256643"/>
                    <a:pt x="0" y="248429"/>
                  </a:cubicBezTo>
                  <a:lnTo>
                    <a:pt x="0" y="30971"/>
                  </a:lnTo>
                  <a:cubicBezTo>
                    <a:pt x="0" y="22757"/>
                    <a:pt x="3263" y="14879"/>
                    <a:pt x="9071" y="9071"/>
                  </a:cubicBezTo>
                  <a:cubicBezTo>
                    <a:pt x="14879" y="3263"/>
                    <a:pt x="22757" y="0"/>
                    <a:pt x="30971" y="0"/>
                  </a:cubicBezTo>
                  <a:close/>
                </a:path>
              </a:pathLst>
            </a:custGeom>
            <a:solidFill>
              <a:srgbClr val="B7B7B7"/>
            </a:solidFill>
          </p:spPr>
        </p:sp>
        <p:sp>
          <p:nvSpPr>
            <p:cNvPr name="TextBox 35" id="35"/>
            <p:cNvSpPr txBox="true"/>
            <p:nvPr/>
          </p:nvSpPr>
          <p:spPr>
            <a:xfrm>
              <a:off x="0" y="-28575"/>
              <a:ext cx="2333097" cy="307975"/>
            </a:xfrm>
            <a:prstGeom prst="rect">
              <a:avLst/>
            </a:prstGeom>
          </p:spPr>
          <p:txBody>
            <a:bodyPr anchor="ctr" rtlCol="false" tIns="50800" lIns="50800" bIns="50800" rIns="50800"/>
            <a:lstStyle/>
            <a:p>
              <a:pPr algn="l">
                <a:lnSpc>
                  <a:spcPts val="1679"/>
                </a:lnSpc>
              </a:pPr>
            </a:p>
          </p:txBody>
        </p:sp>
      </p:grpSp>
      <p:sp>
        <p:nvSpPr>
          <p:cNvPr name="TextBox 36" id="36"/>
          <p:cNvSpPr txBox="true"/>
          <p:nvPr/>
        </p:nvSpPr>
        <p:spPr>
          <a:xfrm rot="0">
            <a:off x="13411233" y="7353300"/>
            <a:ext cx="1790517" cy="300990"/>
          </a:xfrm>
          <a:prstGeom prst="rect">
            <a:avLst/>
          </a:prstGeom>
        </p:spPr>
        <p:txBody>
          <a:bodyPr anchor="t" rtlCol="false" tIns="0" lIns="0" bIns="0" rIns="0">
            <a:spAutoFit/>
          </a:bodyPr>
          <a:lstStyle/>
          <a:p>
            <a:pPr algn="ctr" marL="0" indent="0" lvl="0">
              <a:lnSpc>
                <a:spcPts val="1260"/>
              </a:lnSpc>
              <a:spcBef>
                <a:spcPct val="0"/>
              </a:spcBef>
            </a:pPr>
            <a:r>
              <a:rPr lang="en-US" sz="900" strike="noStrike" u="none">
                <a:solidFill>
                  <a:srgbClr val="475569"/>
                </a:solidFill>
                <a:latin typeface="프리텐다드"/>
                <a:ea typeface="프리텐다드"/>
                <a:cs typeface="프리텐다드"/>
                <a:sym typeface="프리텐다드"/>
              </a:rPr>
              <a:t>교육활동 방해 학생 분리 인력·예산·시설 지원</a:t>
            </a:r>
          </a:p>
        </p:txBody>
      </p:sp>
      <p:sp>
        <p:nvSpPr>
          <p:cNvPr name="TextBox 37" id="37"/>
          <p:cNvSpPr txBox="true"/>
          <p:nvPr/>
        </p:nvSpPr>
        <p:spPr>
          <a:xfrm rot="0">
            <a:off x="17073653" y="7086600"/>
            <a:ext cx="325548" cy="148590"/>
          </a:xfrm>
          <a:prstGeom prst="rect">
            <a:avLst/>
          </a:prstGeom>
        </p:spPr>
        <p:txBody>
          <a:bodyPr anchor="t" rtlCol="false" tIns="0" lIns="0" bIns="0" rIns="0">
            <a:spAutoFit/>
          </a:bodyPr>
          <a:lstStyle/>
          <a:p>
            <a:pPr algn="l" marL="0" indent="0" lvl="0">
              <a:lnSpc>
                <a:spcPts val="1260"/>
              </a:lnSpc>
              <a:spcBef>
                <a:spcPct val="0"/>
              </a:spcBef>
            </a:pPr>
            <a:r>
              <a:rPr lang="en-US" sz="900" strike="noStrike" u="none">
                <a:solidFill>
                  <a:srgbClr val="1E293B"/>
                </a:solidFill>
                <a:latin typeface="프리텐다드"/>
                <a:ea typeface="프리텐다드"/>
                <a:cs typeface="프리텐다드"/>
                <a:sym typeface="프리텐다드"/>
              </a:rPr>
              <a:t>4.87</a:t>
            </a:r>
          </a:p>
        </p:txBody>
      </p:sp>
      <p:grpSp>
        <p:nvGrpSpPr>
          <p:cNvPr name="Group 38" id="38"/>
          <p:cNvGrpSpPr/>
          <p:nvPr/>
        </p:nvGrpSpPr>
        <p:grpSpPr>
          <a:xfrm rot="0">
            <a:off x="15242443" y="7067550"/>
            <a:ext cx="1798655" cy="209550"/>
            <a:chOff x="0" y="0"/>
            <a:chExt cx="2398207" cy="279400"/>
          </a:xfrm>
        </p:grpSpPr>
        <p:sp>
          <p:nvSpPr>
            <p:cNvPr name="Freeform 39" id="39"/>
            <p:cNvSpPr/>
            <p:nvPr/>
          </p:nvSpPr>
          <p:spPr>
            <a:xfrm flipH="false" flipV="false" rot="0">
              <a:off x="0" y="0"/>
              <a:ext cx="2398207" cy="279400"/>
            </a:xfrm>
            <a:custGeom>
              <a:avLst/>
              <a:gdLst/>
              <a:ahLst/>
              <a:cxnLst/>
              <a:rect r="r" b="b" t="t" l="l"/>
              <a:pathLst>
                <a:path h="279400" w="2398207">
                  <a:moveTo>
                    <a:pt x="30130" y="0"/>
                  </a:moveTo>
                  <a:lnTo>
                    <a:pt x="2368077" y="0"/>
                  </a:lnTo>
                  <a:cubicBezTo>
                    <a:pt x="2376068" y="0"/>
                    <a:pt x="2383732" y="3174"/>
                    <a:pt x="2389382" y="8825"/>
                  </a:cubicBezTo>
                  <a:cubicBezTo>
                    <a:pt x="2395033" y="14475"/>
                    <a:pt x="2398207" y="22139"/>
                    <a:pt x="2398207" y="30130"/>
                  </a:cubicBezTo>
                  <a:lnTo>
                    <a:pt x="2398207" y="249270"/>
                  </a:lnTo>
                  <a:cubicBezTo>
                    <a:pt x="2398207" y="257261"/>
                    <a:pt x="2395033" y="264925"/>
                    <a:pt x="2389382" y="270575"/>
                  </a:cubicBezTo>
                  <a:cubicBezTo>
                    <a:pt x="2383732" y="276226"/>
                    <a:pt x="2376068" y="279400"/>
                    <a:pt x="2368077" y="279400"/>
                  </a:cubicBezTo>
                  <a:lnTo>
                    <a:pt x="30130" y="279400"/>
                  </a:lnTo>
                  <a:cubicBezTo>
                    <a:pt x="22139" y="279400"/>
                    <a:pt x="14475" y="276226"/>
                    <a:pt x="8825" y="270575"/>
                  </a:cubicBezTo>
                  <a:cubicBezTo>
                    <a:pt x="3174" y="264925"/>
                    <a:pt x="0" y="257261"/>
                    <a:pt x="0" y="249270"/>
                  </a:cubicBezTo>
                  <a:lnTo>
                    <a:pt x="0" y="30130"/>
                  </a:lnTo>
                  <a:cubicBezTo>
                    <a:pt x="0" y="22139"/>
                    <a:pt x="3174" y="14475"/>
                    <a:pt x="8825" y="8825"/>
                  </a:cubicBezTo>
                  <a:cubicBezTo>
                    <a:pt x="14475" y="3174"/>
                    <a:pt x="22139" y="0"/>
                    <a:pt x="30130" y="0"/>
                  </a:cubicBezTo>
                  <a:close/>
                </a:path>
              </a:pathLst>
            </a:custGeom>
            <a:solidFill>
              <a:srgbClr val="B7B7B7"/>
            </a:solidFill>
          </p:spPr>
        </p:sp>
        <p:sp>
          <p:nvSpPr>
            <p:cNvPr name="TextBox 40" id="40"/>
            <p:cNvSpPr txBox="true"/>
            <p:nvPr/>
          </p:nvSpPr>
          <p:spPr>
            <a:xfrm>
              <a:off x="0" y="-28575"/>
              <a:ext cx="2398207" cy="307975"/>
            </a:xfrm>
            <a:prstGeom prst="rect">
              <a:avLst/>
            </a:prstGeom>
          </p:spPr>
          <p:txBody>
            <a:bodyPr anchor="ctr" rtlCol="false" tIns="50800" lIns="50800" bIns="50800" rIns="50800"/>
            <a:lstStyle/>
            <a:p>
              <a:pPr algn="l">
                <a:lnSpc>
                  <a:spcPts val="1679"/>
                </a:lnSpc>
              </a:pPr>
            </a:p>
          </p:txBody>
        </p:sp>
      </p:grpSp>
      <p:sp>
        <p:nvSpPr>
          <p:cNvPr name="TextBox 41" id="41"/>
          <p:cNvSpPr txBox="true"/>
          <p:nvPr/>
        </p:nvSpPr>
        <p:spPr>
          <a:xfrm rot="0">
            <a:off x="13411233" y="7086600"/>
            <a:ext cx="1790517" cy="148590"/>
          </a:xfrm>
          <a:prstGeom prst="rect">
            <a:avLst/>
          </a:prstGeom>
        </p:spPr>
        <p:txBody>
          <a:bodyPr anchor="t" rtlCol="false" tIns="0" lIns="0" bIns="0" rIns="0">
            <a:spAutoFit/>
          </a:bodyPr>
          <a:lstStyle/>
          <a:p>
            <a:pPr algn="ctr" marL="0" indent="0" lvl="0">
              <a:lnSpc>
                <a:spcPts val="1260"/>
              </a:lnSpc>
              <a:spcBef>
                <a:spcPct val="0"/>
              </a:spcBef>
            </a:pPr>
            <a:r>
              <a:rPr lang="en-US" sz="900" strike="noStrike" u="none">
                <a:solidFill>
                  <a:srgbClr val="475569"/>
                </a:solidFill>
                <a:latin typeface="프리텐다드"/>
                <a:ea typeface="프리텐다드"/>
                <a:cs typeface="프리텐다드"/>
                <a:sym typeface="프리텐다드"/>
              </a:rPr>
              <a:t>교원 휴식권·치유권 강화</a:t>
            </a:r>
          </a:p>
        </p:txBody>
      </p:sp>
      <p:sp>
        <p:nvSpPr>
          <p:cNvPr name="TextBox 42" id="42"/>
          <p:cNvSpPr txBox="true"/>
          <p:nvPr/>
        </p:nvSpPr>
        <p:spPr>
          <a:xfrm rot="0">
            <a:off x="17317815" y="6743700"/>
            <a:ext cx="325548" cy="148590"/>
          </a:xfrm>
          <a:prstGeom prst="rect">
            <a:avLst/>
          </a:prstGeom>
        </p:spPr>
        <p:txBody>
          <a:bodyPr anchor="t" rtlCol="false" tIns="0" lIns="0" bIns="0" rIns="0">
            <a:spAutoFit/>
          </a:bodyPr>
          <a:lstStyle/>
          <a:p>
            <a:pPr algn="l" marL="0" indent="0" lvl="0">
              <a:lnSpc>
                <a:spcPts val="1260"/>
              </a:lnSpc>
              <a:spcBef>
                <a:spcPct val="0"/>
              </a:spcBef>
            </a:pPr>
            <a:r>
              <a:rPr lang="en-US" sz="900" strike="noStrike" u="none">
                <a:solidFill>
                  <a:srgbClr val="1E293B"/>
                </a:solidFill>
                <a:latin typeface="프리텐다드"/>
                <a:ea typeface="프리텐다드"/>
                <a:cs typeface="프리텐다드"/>
                <a:sym typeface="프리텐다드"/>
              </a:rPr>
              <a:t>4.92</a:t>
            </a:r>
          </a:p>
        </p:txBody>
      </p:sp>
      <p:grpSp>
        <p:nvGrpSpPr>
          <p:cNvPr name="Group 43" id="43"/>
          <p:cNvGrpSpPr/>
          <p:nvPr/>
        </p:nvGrpSpPr>
        <p:grpSpPr>
          <a:xfrm rot="0">
            <a:off x="15242443" y="6724650"/>
            <a:ext cx="2042817" cy="209550"/>
            <a:chOff x="0" y="0"/>
            <a:chExt cx="2723756" cy="279400"/>
          </a:xfrm>
        </p:grpSpPr>
        <p:sp>
          <p:nvSpPr>
            <p:cNvPr name="Freeform 44" id="44"/>
            <p:cNvSpPr/>
            <p:nvPr/>
          </p:nvSpPr>
          <p:spPr>
            <a:xfrm flipH="false" flipV="false" rot="0">
              <a:off x="0" y="0"/>
              <a:ext cx="2723756" cy="279400"/>
            </a:xfrm>
            <a:custGeom>
              <a:avLst/>
              <a:gdLst/>
              <a:ahLst/>
              <a:cxnLst/>
              <a:rect r="r" b="b" t="t" l="l"/>
              <a:pathLst>
                <a:path h="279400" w="2723756">
                  <a:moveTo>
                    <a:pt x="26529" y="0"/>
                  </a:moveTo>
                  <a:lnTo>
                    <a:pt x="2697227" y="0"/>
                  </a:lnTo>
                  <a:cubicBezTo>
                    <a:pt x="2711878" y="0"/>
                    <a:pt x="2723756" y="11877"/>
                    <a:pt x="2723756" y="26529"/>
                  </a:cubicBezTo>
                  <a:lnTo>
                    <a:pt x="2723756" y="252871"/>
                  </a:lnTo>
                  <a:cubicBezTo>
                    <a:pt x="2723756" y="267523"/>
                    <a:pt x="2711878" y="279400"/>
                    <a:pt x="2697227" y="279400"/>
                  </a:cubicBezTo>
                  <a:lnTo>
                    <a:pt x="26529" y="279400"/>
                  </a:lnTo>
                  <a:cubicBezTo>
                    <a:pt x="11877" y="279400"/>
                    <a:pt x="0" y="267523"/>
                    <a:pt x="0" y="252871"/>
                  </a:cubicBezTo>
                  <a:lnTo>
                    <a:pt x="0" y="26529"/>
                  </a:lnTo>
                  <a:cubicBezTo>
                    <a:pt x="0" y="11877"/>
                    <a:pt x="11877" y="0"/>
                    <a:pt x="26529" y="0"/>
                  </a:cubicBezTo>
                  <a:close/>
                </a:path>
              </a:pathLst>
            </a:custGeom>
            <a:solidFill>
              <a:srgbClr val="4285F4"/>
            </a:solidFill>
          </p:spPr>
        </p:sp>
        <p:sp>
          <p:nvSpPr>
            <p:cNvPr name="TextBox 45" id="45"/>
            <p:cNvSpPr txBox="true"/>
            <p:nvPr/>
          </p:nvSpPr>
          <p:spPr>
            <a:xfrm>
              <a:off x="0" y="-28575"/>
              <a:ext cx="2723756" cy="307975"/>
            </a:xfrm>
            <a:prstGeom prst="rect">
              <a:avLst/>
            </a:prstGeom>
          </p:spPr>
          <p:txBody>
            <a:bodyPr anchor="ctr" rtlCol="false" tIns="50800" lIns="50800" bIns="50800" rIns="50800"/>
            <a:lstStyle/>
            <a:p>
              <a:pPr algn="l">
                <a:lnSpc>
                  <a:spcPts val="1679"/>
                </a:lnSpc>
              </a:pPr>
            </a:p>
          </p:txBody>
        </p:sp>
      </p:grpSp>
      <p:sp>
        <p:nvSpPr>
          <p:cNvPr name="TextBox 46" id="46"/>
          <p:cNvSpPr txBox="true"/>
          <p:nvPr/>
        </p:nvSpPr>
        <p:spPr>
          <a:xfrm rot="0">
            <a:off x="13411233" y="6667500"/>
            <a:ext cx="1790517" cy="300990"/>
          </a:xfrm>
          <a:prstGeom prst="rect">
            <a:avLst/>
          </a:prstGeom>
        </p:spPr>
        <p:txBody>
          <a:bodyPr anchor="t" rtlCol="false" tIns="0" lIns="0" bIns="0" rIns="0">
            <a:spAutoFit/>
          </a:bodyPr>
          <a:lstStyle/>
          <a:p>
            <a:pPr algn="ctr" marL="0" indent="0" lvl="0">
              <a:lnSpc>
                <a:spcPts val="1260"/>
              </a:lnSpc>
              <a:spcBef>
                <a:spcPct val="0"/>
              </a:spcBef>
            </a:pPr>
            <a:r>
              <a:rPr lang="en-US" sz="900" strike="noStrike" u="none">
                <a:solidFill>
                  <a:srgbClr val="475569"/>
                </a:solidFill>
                <a:latin typeface="프리텐다드"/>
                <a:ea typeface="프리텐다드"/>
                <a:cs typeface="프리텐다드"/>
                <a:sym typeface="프리텐다드"/>
              </a:rPr>
              <a:t>불합리·악성민원 시 교원 보호·가해자 패널티 강화</a:t>
            </a:r>
          </a:p>
        </p:txBody>
      </p:sp>
      <p:grpSp>
        <p:nvGrpSpPr>
          <p:cNvPr name="Group 47" id="47"/>
          <p:cNvGrpSpPr/>
          <p:nvPr/>
        </p:nvGrpSpPr>
        <p:grpSpPr>
          <a:xfrm rot="0">
            <a:off x="15242443" y="6381750"/>
            <a:ext cx="2042817" cy="209550"/>
            <a:chOff x="0" y="0"/>
            <a:chExt cx="2723756" cy="279400"/>
          </a:xfrm>
        </p:grpSpPr>
        <p:sp>
          <p:nvSpPr>
            <p:cNvPr name="Freeform 48" id="48"/>
            <p:cNvSpPr/>
            <p:nvPr/>
          </p:nvSpPr>
          <p:spPr>
            <a:xfrm flipH="false" flipV="false" rot="0">
              <a:off x="0" y="0"/>
              <a:ext cx="2723756" cy="279400"/>
            </a:xfrm>
            <a:custGeom>
              <a:avLst/>
              <a:gdLst/>
              <a:ahLst/>
              <a:cxnLst/>
              <a:rect r="r" b="b" t="t" l="l"/>
              <a:pathLst>
                <a:path h="279400" w="2723756">
                  <a:moveTo>
                    <a:pt x="26529" y="0"/>
                  </a:moveTo>
                  <a:lnTo>
                    <a:pt x="2697227" y="0"/>
                  </a:lnTo>
                  <a:cubicBezTo>
                    <a:pt x="2711878" y="0"/>
                    <a:pt x="2723756" y="11877"/>
                    <a:pt x="2723756" y="26529"/>
                  </a:cubicBezTo>
                  <a:lnTo>
                    <a:pt x="2723756" y="252871"/>
                  </a:lnTo>
                  <a:cubicBezTo>
                    <a:pt x="2723756" y="267523"/>
                    <a:pt x="2711878" y="279400"/>
                    <a:pt x="2697227" y="279400"/>
                  </a:cubicBezTo>
                  <a:lnTo>
                    <a:pt x="26529" y="279400"/>
                  </a:lnTo>
                  <a:cubicBezTo>
                    <a:pt x="11877" y="279400"/>
                    <a:pt x="0" y="267523"/>
                    <a:pt x="0" y="252871"/>
                  </a:cubicBezTo>
                  <a:lnTo>
                    <a:pt x="0" y="26529"/>
                  </a:lnTo>
                  <a:cubicBezTo>
                    <a:pt x="0" y="11877"/>
                    <a:pt x="11877" y="0"/>
                    <a:pt x="26529" y="0"/>
                  </a:cubicBezTo>
                  <a:close/>
                </a:path>
              </a:pathLst>
            </a:custGeom>
            <a:solidFill>
              <a:srgbClr val="4285F4"/>
            </a:solidFill>
          </p:spPr>
        </p:sp>
        <p:sp>
          <p:nvSpPr>
            <p:cNvPr name="TextBox 49" id="49"/>
            <p:cNvSpPr txBox="true"/>
            <p:nvPr/>
          </p:nvSpPr>
          <p:spPr>
            <a:xfrm>
              <a:off x="0" y="-28575"/>
              <a:ext cx="2723756" cy="307975"/>
            </a:xfrm>
            <a:prstGeom prst="rect">
              <a:avLst/>
            </a:prstGeom>
          </p:spPr>
          <p:txBody>
            <a:bodyPr anchor="ctr" rtlCol="false" tIns="50800" lIns="50800" bIns="50800" rIns="50800"/>
            <a:lstStyle/>
            <a:p>
              <a:pPr algn="l">
                <a:lnSpc>
                  <a:spcPts val="1679"/>
                </a:lnSpc>
              </a:pPr>
            </a:p>
          </p:txBody>
        </p:sp>
      </p:grpSp>
      <p:sp>
        <p:nvSpPr>
          <p:cNvPr name="TextBox 50" id="50"/>
          <p:cNvSpPr txBox="true"/>
          <p:nvPr/>
        </p:nvSpPr>
        <p:spPr>
          <a:xfrm rot="0">
            <a:off x="13411233" y="6143625"/>
            <a:ext cx="4720453" cy="148590"/>
          </a:xfrm>
          <a:prstGeom prst="rect">
            <a:avLst/>
          </a:prstGeom>
        </p:spPr>
        <p:txBody>
          <a:bodyPr anchor="t" rtlCol="false" tIns="0" lIns="0" bIns="0" rIns="0">
            <a:spAutoFit/>
          </a:bodyPr>
          <a:lstStyle/>
          <a:p>
            <a:pPr algn="l" marL="0" indent="0" lvl="0">
              <a:lnSpc>
                <a:spcPts val="1260"/>
              </a:lnSpc>
              <a:spcBef>
                <a:spcPct val="0"/>
              </a:spcBef>
            </a:pPr>
            <a:r>
              <a:rPr lang="en-US" sz="900" strike="noStrike" u="none">
                <a:solidFill>
                  <a:srgbClr val="94A3B8"/>
                </a:solidFill>
                <a:latin typeface="프리텐다드"/>
                <a:ea typeface="프리텐다드"/>
                <a:cs typeface="프리텐다드"/>
                <a:sym typeface="프리텐다드"/>
              </a:rPr>
              <a:t>평균 동의도 (1=전혀~5=매우 동의)</a:t>
            </a:r>
          </a:p>
        </p:txBody>
      </p:sp>
      <p:sp>
        <p:nvSpPr>
          <p:cNvPr name="TextBox 51" id="51"/>
          <p:cNvSpPr txBox="true"/>
          <p:nvPr/>
        </p:nvSpPr>
        <p:spPr>
          <a:xfrm rot="0">
            <a:off x="876300" y="-9525"/>
            <a:ext cx="16535400" cy="733425"/>
          </a:xfrm>
          <a:prstGeom prst="rect">
            <a:avLst/>
          </a:prstGeom>
        </p:spPr>
        <p:txBody>
          <a:bodyPr anchor="t" rtlCol="false" tIns="0" lIns="0" bIns="0" rIns="0">
            <a:spAutoFit/>
          </a:bodyPr>
          <a:lstStyle/>
          <a:p>
            <a:pPr algn="l">
              <a:lnSpc>
                <a:spcPts val="5759"/>
              </a:lnSpc>
            </a:pPr>
            <a:r>
              <a:rPr lang="en-US" b="true" sz="4800">
                <a:solidFill>
                  <a:srgbClr val="1E293B"/>
                </a:solidFill>
                <a:latin typeface="프리텐다드 Bold"/>
                <a:ea typeface="프리텐다드 Bold"/>
                <a:cs typeface="프리텐다드 Bold"/>
                <a:sym typeface="프리텐다드 Bold"/>
              </a:rPr>
              <a:t>1. 문제 배경</a:t>
            </a:r>
          </a:p>
        </p:txBody>
      </p:sp>
      <p:sp>
        <p:nvSpPr>
          <p:cNvPr name="AutoShape 52" id="52"/>
          <p:cNvSpPr/>
          <p:nvPr/>
        </p:nvSpPr>
        <p:spPr>
          <a:xfrm rot="2040">
            <a:off x="866775" y="738978"/>
            <a:ext cx="16554450" cy="0"/>
          </a:xfrm>
          <a:prstGeom prst="line">
            <a:avLst/>
          </a:prstGeom>
          <a:ln cap="rnd" w="9525">
            <a:solidFill>
              <a:srgbClr val="E2E8F0"/>
            </a:solidFill>
            <a:prstDash val="solid"/>
            <a:headEnd type="none" len="sm" w="sm"/>
            <a:tailEnd type="none" len="sm" w="sm"/>
          </a:ln>
        </p:spPr>
      </p:sp>
      <p:sp>
        <p:nvSpPr>
          <p:cNvPr name="TextBox 53" id="53"/>
          <p:cNvSpPr txBox="true"/>
          <p:nvPr/>
        </p:nvSpPr>
        <p:spPr>
          <a:xfrm rot="0">
            <a:off x="866776" y="1903095"/>
            <a:ext cx="7296275" cy="7735824"/>
          </a:xfrm>
          <a:prstGeom prst="rect">
            <a:avLst/>
          </a:prstGeom>
        </p:spPr>
        <p:txBody>
          <a:bodyPr anchor="t" rtlCol="false" tIns="0" lIns="0" bIns="0" rIns="0">
            <a:spAutoFit/>
          </a:bodyPr>
          <a:lstStyle/>
          <a:p>
            <a:pPr algn="l">
              <a:lnSpc>
                <a:spcPts val="2207"/>
              </a:lnSpc>
            </a:pPr>
            <a:r>
              <a:rPr lang="en-US" sz="1599">
                <a:solidFill>
                  <a:srgbClr val="64748B"/>
                </a:solidFill>
                <a:latin typeface="프리텐다드"/>
                <a:ea typeface="프리텐다드"/>
                <a:cs typeface="프리텐다드"/>
                <a:sym typeface="프리텐다드"/>
              </a:rPr>
              <a:t>"</a:t>
            </a:r>
            <a:r>
              <a:rPr lang="en-US" b="true" sz="1599">
                <a:solidFill>
                  <a:srgbClr val="64748B"/>
                </a:solidFill>
                <a:latin typeface="프리텐다드 Bold"/>
                <a:ea typeface="프리텐다드 Bold"/>
                <a:cs typeface="프리텐다드 Bold"/>
                <a:sym typeface="프리텐다드 Bold"/>
              </a:rPr>
              <a:t>교사 10명 중 8.5명이 침해를 경험하며, 이 중 16.9%는 자살을 생각한다.</a:t>
            </a:r>
            <a:r>
              <a:rPr lang="en-US" sz="1599">
                <a:solidFill>
                  <a:srgbClr val="64748B"/>
                </a:solidFill>
                <a:latin typeface="프리텐다드"/>
                <a:ea typeface="프리텐다드"/>
                <a:cs typeface="프리텐다드"/>
                <a:sym typeface="프리텐다드"/>
              </a:rPr>
              <a:t>" 교육부 교권보호위원회 심의 현황 실태조사에 따르면 2020년 1197건에 불과했던 심의 수가 꾸준히 증가해, 2023년 5050건으로 3년동안 약 4.2배 급등했다. 이는 교권침해가 일시적인 사회적 이슈가 아니라 학교 조직과 교육 환경 전반에 누적되어 온 구조적 위험으로 확대되고 있음을 의미한다. 특히 교권침해가 교사의 </a:t>
            </a:r>
            <a:r>
              <a:rPr lang="en-US" b="true" sz="1599">
                <a:solidFill>
                  <a:srgbClr val="64748B"/>
                </a:solidFill>
                <a:latin typeface="프리텐다드 Bold"/>
                <a:ea typeface="프리텐다드 Bold"/>
                <a:cs typeface="프리텐다드 Bold"/>
                <a:sym typeface="프리텐다드 Bold"/>
              </a:rPr>
              <a:t>정신건강 악화와 교직 이탈, 극단적 선택 위험까지 연결되고 있다는 점</a:t>
            </a:r>
            <a:r>
              <a:rPr lang="en-US" sz="1599">
                <a:solidFill>
                  <a:srgbClr val="64748B"/>
                </a:solidFill>
                <a:latin typeface="프리텐다드"/>
                <a:ea typeface="프리텐다드"/>
                <a:cs typeface="프리텐다드"/>
                <a:sym typeface="프리텐다드"/>
              </a:rPr>
              <a:t>에서 단순한 교육 현장의 갈등을 넘어 사회적 대응이 필요한 문제로 인식되고 있다.</a:t>
            </a:r>
          </a:p>
          <a:p>
            <a:pPr algn="l">
              <a:lnSpc>
                <a:spcPts val="2207"/>
              </a:lnSpc>
            </a:pPr>
          </a:p>
          <a:p>
            <a:pPr algn="l">
              <a:lnSpc>
                <a:spcPts val="2207"/>
              </a:lnSpc>
            </a:pPr>
            <a:r>
              <a:rPr lang="en-US" sz="1599">
                <a:solidFill>
                  <a:srgbClr val="64748B"/>
                </a:solidFill>
                <a:latin typeface="프리텐다드"/>
                <a:ea typeface="프리텐다드"/>
                <a:cs typeface="프리텐다드"/>
                <a:sym typeface="프리텐다드"/>
              </a:rPr>
              <a:t>이에 대응하여 </a:t>
            </a:r>
            <a:r>
              <a:rPr lang="en-US" b="true" sz="1599">
                <a:solidFill>
                  <a:srgbClr val="64748B"/>
                </a:solidFill>
                <a:latin typeface="프리텐다드 Bold"/>
                <a:ea typeface="프리텐다드 Bold"/>
                <a:cs typeface="프리텐다드 Bold"/>
                <a:sym typeface="프리텐다드 Bold"/>
              </a:rPr>
              <a:t>교권 보호 5법</a:t>
            </a:r>
            <a:r>
              <a:rPr lang="en-US" sz="1599">
                <a:solidFill>
                  <a:srgbClr val="64748B"/>
                </a:solidFill>
                <a:latin typeface="프리텐다드"/>
                <a:ea typeface="프리텐다드"/>
                <a:cs typeface="프리텐다드"/>
                <a:sym typeface="프리텐다드"/>
              </a:rPr>
              <a:t>이 도입된 2023년 이후 2024년 심의 건수는 4,234건으로 15% 감소하는 성과를 보였다. 이는 법과 제도적 보호체계가 일정 부분 효과를 발휘했음을 보여주는 긍정적인 변화로 해석할 수 있다. </a:t>
            </a:r>
          </a:p>
          <a:p>
            <a:pPr algn="l">
              <a:lnSpc>
                <a:spcPts val="2207"/>
              </a:lnSpc>
            </a:pPr>
          </a:p>
          <a:p>
            <a:pPr algn="l">
              <a:lnSpc>
                <a:spcPts val="2207"/>
              </a:lnSpc>
            </a:pPr>
            <a:r>
              <a:rPr lang="en-US" sz="1599">
                <a:solidFill>
                  <a:srgbClr val="64748B"/>
                </a:solidFill>
                <a:latin typeface="프리텐다드"/>
                <a:ea typeface="프리텐다드"/>
                <a:cs typeface="프리텐다드"/>
                <a:sym typeface="프리텐다드"/>
              </a:rPr>
              <a:t>그러나 이러한 제도 개선에도 불구하고 현장의 체감도는 여전히 낮다. 기존의 공개적인 폭언이나 폭행 중심의 교권침해는 감소한 반면, 현장에서는 ‘</a:t>
            </a:r>
            <a:r>
              <a:rPr lang="en-US" b="true" sz="1599">
                <a:solidFill>
                  <a:srgbClr val="64748B"/>
                </a:solidFill>
                <a:latin typeface="프리텐다드 Bold"/>
                <a:ea typeface="프리텐다드 Bold"/>
                <a:cs typeface="프리텐다드 Bold"/>
                <a:sym typeface="프리텐다드 Bold"/>
              </a:rPr>
              <a:t>정서적 아동학대 고소</a:t>
            </a:r>
            <a:r>
              <a:rPr lang="en-US" sz="1599">
                <a:solidFill>
                  <a:srgbClr val="64748B"/>
                </a:solidFill>
                <a:latin typeface="프리텐다드"/>
                <a:ea typeface="프리텐다드"/>
                <a:cs typeface="프리텐다드"/>
                <a:sym typeface="프리텐다드"/>
              </a:rPr>
              <a:t>’, ‘</a:t>
            </a:r>
            <a:r>
              <a:rPr lang="en-US" b="true" sz="1599">
                <a:solidFill>
                  <a:srgbClr val="64748B"/>
                </a:solidFill>
                <a:latin typeface="프리텐다드 Bold"/>
                <a:ea typeface="프리텐다드 Bold"/>
                <a:cs typeface="프리텐다드 Bold"/>
                <a:sym typeface="프리텐다드 Bold"/>
              </a:rPr>
              <a:t>국민신문고를 통한 반복 민원</a:t>
            </a:r>
            <a:r>
              <a:rPr lang="en-US" sz="1599">
                <a:solidFill>
                  <a:srgbClr val="64748B"/>
                </a:solidFill>
                <a:latin typeface="프리텐다드"/>
                <a:ea typeface="프리텐다드"/>
                <a:cs typeface="프리텐다드"/>
                <a:sym typeface="프리텐다드"/>
              </a:rPr>
              <a:t>‘, ’</a:t>
            </a:r>
            <a:r>
              <a:rPr lang="en-US" b="true" sz="1599">
                <a:solidFill>
                  <a:srgbClr val="64748B"/>
                </a:solidFill>
                <a:latin typeface="프리텐다드 Bold"/>
                <a:ea typeface="프리텐다드 Bold"/>
                <a:cs typeface="프리텐다드 Bold"/>
                <a:sym typeface="프리텐다드 Bold"/>
              </a:rPr>
              <a:t>수업 녹음 및 촬영을 활용한 신고</a:t>
            </a:r>
            <a:r>
              <a:rPr lang="en-US" sz="1599">
                <a:solidFill>
                  <a:srgbClr val="64748B"/>
                </a:solidFill>
                <a:latin typeface="프리텐다드"/>
                <a:ea typeface="프리텐다드"/>
                <a:cs typeface="프리텐다드"/>
                <a:sym typeface="프리텐다드"/>
              </a:rPr>
              <a:t>‘, ’</a:t>
            </a:r>
            <a:r>
              <a:rPr lang="en-US" b="true" sz="1599">
                <a:solidFill>
                  <a:srgbClr val="64748B"/>
                </a:solidFill>
                <a:latin typeface="프리텐다드 Bold"/>
                <a:ea typeface="프리텐다드 Bold"/>
                <a:cs typeface="프리텐다드 Bold"/>
                <a:sym typeface="프리텐다드 Bold"/>
              </a:rPr>
              <a:t>교육청과 학교를 대상으로 한 지속적인 민원 제기‘ </a:t>
            </a:r>
            <a:r>
              <a:rPr lang="en-US" sz="1599">
                <a:solidFill>
                  <a:srgbClr val="64748B"/>
                </a:solidFill>
                <a:latin typeface="프리텐다드"/>
                <a:ea typeface="프리텐다드"/>
                <a:cs typeface="프리텐다드"/>
                <a:sym typeface="프리텐다드"/>
              </a:rPr>
              <a:t>새로운 형태의 교권침해가 증가하면서 침해 양상이 더욱 복잡해지고 있다. </a:t>
            </a:r>
          </a:p>
          <a:p>
            <a:pPr algn="l">
              <a:lnSpc>
                <a:spcPts val="2207"/>
              </a:lnSpc>
            </a:pPr>
          </a:p>
          <a:p>
            <a:pPr algn="l">
              <a:lnSpc>
                <a:spcPts val="2207"/>
              </a:lnSpc>
            </a:pPr>
            <a:r>
              <a:rPr lang="en-US" sz="1599">
                <a:solidFill>
                  <a:srgbClr val="64748B"/>
                </a:solidFill>
                <a:latin typeface="프리텐다드"/>
                <a:ea typeface="프리텐다드"/>
                <a:cs typeface="프리텐다드"/>
                <a:sym typeface="프리텐다드"/>
              </a:rPr>
              <a:t>즉, 법 개정 이후 교권침해가 사라진 것이 아니라 법적 공백과 제도의 허점을 활용하는 방향으로 변화하고 있으며, 이는 단순히 법률을 추가하거나 처벌을 강화하는 방식만으로는 해결하기 어려운 문제임을 보여준다.</a:t>
            </a:r>
          </a:p>
          <a:p>
            <a:pPr algn="l">
              <a:lnSpc>
                <a:spcPts val="2207"/>
              </a:lnSpc>
            </a:pPr>
          </a:p>
          <a:p>
            <a:pPr algn="l">
              <a:lnSpc>
                <a:spcPts val="2207"/>
              </a:lnSpc>
            </a:pPr>
            <a:r>
              <a:rPr lang="en-US" sz="1599">
                <a:solidFill>
                  <a:srgbClr val="64748B"/>
                </a:solidFill>
                <a:latin typeface="프리텐다드"/>
                <a:ea typeface="프리텐다드"/>
                <a:cs typeface="프리텐다드"/>
                <a:sym typeface="프리텐다드"/>
              </a:rPr>
              <a:t>실제로 '</a:t>
            </a:r>
            <a:r>
              <a:rPr lang="en-US" b="true" sz="1599">
                <a:solidFill>
                  <a:srgbClr val="64748B"/>
                </a:solidFill>
                <a:latin typeface="프리텐다드 Bold"/>
                <a:ea typeface="프리텐다드 Bold"/>
                <a:cs typeface="프리텐다드 Bold"/>
                <a:sym typeface="프리텐다드 Bold"/>
              </a:rPr>
              <a:t>아동학대 신고 시 교원 보호 규정 강화</a:t>
            </a:r>
            <a:r>
              <a:rPr lang="en-US" sz="1599">
                <a:solidFill>
                  <a:srgbClr val="64748B"/>
                </a:solidFill>
                <a:latin typeface="프리텐다드"/>
                <a:ea typeface="프리텐다드"/>
                <a:cs typeface="프리텐다드"/>
                <a:sym typeface="프리텐다드"/>
              </a:rPr>
              <a:t>', </a:t>
            </a:r>
            <a:r>
              <a:rPr lang="en-US" b="true" sz="1599">
                <a:solidFill>
                  <a:srgbClr val="64748B"/>
                </a:solidFill>
                <a:latin typeface="프리텐다드 Bold"/>
                <a:ea typeface="프리텐다드 Bold"/>
                <a:cs typeface="프리텐다드 Bold"/>
                <a:sym typeface="프리텐다드 Bold"/>
              </a:rPr>
              <a:t>'불합리 악성민원 시 교원 보호와 가해자 패널티'</a:t>
            </a:r>
            <a:r>
              <a:rPr lang="en-US" sz="1599">
                <a:solidFill>
                  <a:srgbClr val="64748B"/>
                </a:solidFill>
                <a:latin typeface="프리텐다드"/>
                <a:ea typeface="프리텐다드"/>
                <a:cs typeface="프리텐다드"/>
                <a:sym typeface="프리텐다드"/>
              </a:rPr>
              <a:t>가 교원들이  가장 필요로 하는 정책 이라는 점이 여전히 악성민원 신고 피해가 심각한다는 점을 보여준다.  이는 현재의 교권침해가 단순히 교사의 지도 방식이나 개인 역량의 문제가 아니라, 법과 제도가 충분히 보호하지 못하는 구조적 환경 속에서 발생하고 있음을 시사한다.</a:t>
            </a:r>
          </a:p>
          <a:p>
            <a:pPr algn="l">
              <a:lnSpc>
                <a:spcPts val="2207"/>
              </a:lnSpc>
            </a:pPr>
          </a:p>
          <a:p>
            <a:pPr algn="l">
              <a:lnSpc>
                <a:spcPts val="2207"/>
              </a:lnSpc>
            </a:pPr>
            <a:r>
              <a:rPr lang="en-US" sz="1599">
                <a:solidFill>
                  <a:srgbClr val="64748B"/>
                </a:solidFill>
                <a:latin typeface="프리텐다드"/>
                <a:ea typeface="프리텐다드"/>
                <a:cs typeface="프리텐다드"/>
                <a:sym typeface="프리텐다드"/>
              </a:rPr>
              <a:t>이는 단순한 법 개정이나 사후 처벌 위주의 대책으로는 민원이 발생하는</a:t>
            </a:r>
            <a:r>
              <a:rPr lang="en-US" b="true" sz="1599">
                <a:solidFill>
                  <a:srgbClr val="64748B"/>
                </a:solidFill>
                <a:latin typeface="프리텐다드 Bold"/>
                <a:ea typeface="프리텐다드 Bold"/>
                <a:cs typeface="프리텐다드 Bold"/>
                <a:sym typeface="프리텐다드 Bold"/>
              </a:rPr>
              <a:t> 근본적인 원인</a:t>
            </a:r>
            <a:r>
              <a:rPr lang="en-US" sz="1599">
                <a:solidFill>
                  <a:srgbClr val="64748B"/>
                </a:solidFill>
                <a:latin typeface="프리텐다드"/>
                <a:ea typeface="프리텐다드"/>
                <a:cs typeface="프리텐다드"/>
                <a:sym typeface="프리텐다드"/>
              </a:rPr>
              <a:t>을 해결할 수 없음을 증명하며, 따라서 학교 내부의 소통 구조를 혁신하고 무분별한 민원의 발생 원인을 선제적으로 차단할 수 있는 </a:t>
            </a:r>
            <a:r>
              <a:rPr lang="en-US" b="true" sz="1599">
                <a:solidFill>
                  <a:srgbClr val="64748B"/>
                </a:solidFill>
                <a:latin typeface="프리텐다드 Bold"/>
                <a:ea typeface="프리텐다드 Bold"/>
                <a:cs typeface="프리텐다드 Bold"/>
                <a:sym typeface="프리텐다드 Bold"/>
              </a:rPr>
              <a:t>실질적인 지원 정책</a:t>
            </a:r>
            <a:r>
              <a:rPr lang="en-US" sz="1599">
                <a:solidFill>
                  <a:srgbClr val="64748B"/>
                </a:solidFill>
                <a:latin typeface="프리텐다드"/>
                <a:ea typeface="프리텐다드"/>
                <a:cs typeface="프리텐다드"/>
                <a:sym typeface="프리텐다드"/>
              </a:rPr>
              <a:t>과 </a:t>
            </a:r>
            <a:r>
              <a:rPr lang="en-US" b="true" sz="1599">
                <a:solidFill>
                  <a:srgbClr val="64748B"/>
                </a:solidFill>
                <a:latin typeface="프리텐다드 Bold"/>
                <a:ea typeface="프리텐다드 Bold"/>
                <a:cs typeface="프리텐다드 Bold"/>
                <a:sym typeface="프리텐다드 Bold"/>
              </a:rPr>
              <a:t>구조적 환경 분석</a:t>
            </a:r>
            <a:r>
              <a:rPr lang="en-US" sz="1599">
                <a:solidFill>
                  <a:srgbClr val="64748B"/>
                </a:solidFill>
                <a:latin typeface="프리텐다드"/>
                <a:ea typeface="프리텐다드"/>
                <a:cs typeface="프리텐다드"/>
                <a:sym typeface="프리텐다드"/>
              </a:rPr>
              <a:t>이 필요하다.</a:t>
            </a:r>
          </a:p>
        </p:txBody>
      </p:sp>
      <p:sp>
        <p:nvSpPr>
          <p:cNvPr name="AutoShape 54" id="54"/>
          <p:cNvSpPr/>
          <p:nvPr/>
        </p:nvSpPr>
        <p:spPr>
          <a:xfrm>
            <a:off x="13486868" y="3571875"/>
            <a:ext cx="3932446" cy="0"/>
          </a:xfrm>
          <a:prstGeom prst="line">
            <a:avLst/>
          </a:prstGeom>
          <a:ln cap="flat" w="9525">
            <a:solidFill>
              <a:srgbClr val="E2E8F0"/>
            </a:solidFill>
            <a:prstDash val="solid"/>
            <a:headEnd type="none" len="sm" w="sm"/>
            <a:tailEnd type="none" len="sm" w="sm"/>
          </a:ln>
        </p:spPr>
      </p:sp>
      <p:sp>
        <p:nvSpPr>
          <p:cNvPr name="AutoShape 55" id="55"/>
          <p:cNvSpPr/>
          <p:nvPr/>
        </p:nvSpPr>
        <p:spPr>
          <a:xfrm>
            <a:off x="13486868" y="4191000"/>
            <a:ext cx="3932446" cy="0"/>
          </a:xfrm>
          <a:prstGeom prst="line">
            <a:avLst/>
          </a:prstGeom>
          <a:ln cap="flat" w="9525">
            <a:solidFill>
              <a:srgbClr val="E2E8F0"/>
            </a:solidFill>
            <a:prstDash val="solid"/>
            <a:headEnd type="none" len="sm" w="sm"/>
            <a:tailEnd type="none" len="sm" w="sm"/>
          </a:ln>
        </p:spPr>
      </p:sp>
      <p:sp>
        <p:nvSpPr>
          <p:cNvPr name="AutoShape 56" id="56"/>
          <p:cNvSpPr/>
          <p:nvPr/>
        </p:nvSpPr>
        <p:spPr>
          <a:xfrm>
            <a:off x="13486868" y="2952750"/>
            <a:ext cx="3932446" cy="0"/>
          </a:xfrm>
          <a:prstGeom prst="line">
            <a:avLst/>
          </a:prstGeom>
          <a:ln cap="flat" w="9525">
            <a:solidFill>
              <a:srgbClr val="E2E8F0"/>
            </a:solidFill>
            <a:prstDash val="solid"/>
            <a:headEnd type="none" len="sm" w="sm"/>
            <a:tailEnd type="none" len="sm" w="sm"/>
          </a:ln>
        </p:spPr>
      </p:sp>
      <p:grpSp>
        <p:nvGrpSpPr>
          <p:cNvPr name="Group 57" id="57"/>
          <p:cNvGrpSpPr/>
          <p:nvPr/>
        </p:nvGrpSpPr>
        <p:grpSpPr>
          <a:xfrm rot="0">
            <a:off x="13564126" y="2695575"/>
            <a:ext cx="842115" cy="2114550"/>
            <a:chOff x="0" y="0"/>
            <a:chExt cx="1122820" cy="2819400"/>
          </a:xfrm>
        </p:grpSpPr>
        <p:sp>
          <p:nvSpPr>
            <p:cNvPr name="Freeform 58" id="58"/>
            <p:cNvSpPr/>
            <p:nvPr/>
          </p:nvSpPr>
          <p:spPr>
            <a:xfrm flipH="false" flipV="false" rot="0">
              <a:off x="0" y="0"/>
              <a:ext cx="1122820" cy="2819400"/>
            </a:xfrm>
            <a:custGeom>
              <a:avLst/>
              <a:gdLst/>
              <a:ahLst/>
              <a:cxnLst/>
              <a:rect r="r" b="b" t="t" l="l"/>
              <a:pathLst>
                <a:path h="2819400" w="1122820">
                  <a:moveTo>
                    <a:pt x="64354" y="0"/>
                  </a:moveTo>
                  <a:lnTo>
                    <a:pt x="1058466" y="0"/>
                  </a:lnTo>
                  <a:cubicBezTo>
                    <a:pt x="1075534" y="0"/>
                    <a:pt x="1091903" y="6780"/>
                    <a:pt x="1103971" y="18849"/>
                  </a:cubicBezTo>
                  <a:cubicBezTo>
                    <a:pt x="1116040" y="30918"/>
                    <a:pt x="1122820" y="47286"/>
                    <a:pt x="1122820" y="64354"/>
                  </a:cubicBezTo>
                  <a:lnTo>
                    <a:pt x="1122820" y="2755046"/>
                  </a:lnTo>
                  <a:cubicBezTo>
                    <a:pt x="1122820" y="2772114"/>
                    <a:pt x="1116040" y="2788483"/>
                    <a:pt x="1103971" y="2800551"/>
                  </a:cubicBezTo>
                  <a:cubicBezTo>
                    <a:pt x="1091903" y="2812620"/>
                    <a:pt x="1075534" y="2819400"/>
                    <a:pt x="1058466" y="2819400"/>
                  </a:cubicBezTo>
                  <a:lnTo>
                    <a:pt x="64354" y="2819400"/>
                  </a:lnTo>
                  <a:cubicBezTo>
                    <a:pt x="47286" y="2819400"/>
                    <a:pt x="30918" y="2812620"/>
                    <a:pt x="18849" y="2800551"/>
                  </a:cubicBezTo>
                  <a:cubicBezTo>
                    <a:pt x="6780" y="2788483"/>
                    <a:pt x="0" y="2772114"/>
                    <a:pt x="0" y="2755046"/>
                  </a:cubicBezTo>
                  <a:lnTo>
                    <a:pt x="0" y="64354"/>
                  </a:lnTo>
                  <a:cubicBezTo>
                    <a:pt x="0" y="47286"/>
                    <a:pt x="6780" y="30918"/>
                    <a:pt x="18849" y="18849"/>
                  </a:cubicBezTo>
                  <a:cubicBezTo>
                    <a:pt x="30918" y="6780"/>
                    <a:pt x="47286" y="0"/>
                    <a:pt x="64354" y="0"/>
                  </a:cubicBezTo>
                  <a:close/>
                </a:path>
              </a:pathLst>
            </a:custGeom>
            <a:solidFill>
              <a:srgbClr val="1565C0"/>
            </a:solidFill>
          </p:spPr>
        </p:sp>
        <p:sp>
          <p:nvSpPr>
            <p:cNvPr name="TextBox 59" id="59"/>
            <p:cNvSpPr txBox="true"/>
            <p:nvPr/>
          </p:nvSpPr>
          <p:spPr>
            <a:xfrm>
              <a:off x="0" y="-28575"/>
              <a:ext cx="1122820" cy="2847975"/>
            </a:xfrm>
            <a:prstGeom prst="rect">
              <a:avLst/>
            </a:prstGeom>
          </p:spPr>
          <p:txBody>
            <a:bodyPr anchor="ctr" rtlCol="false" tIns="50800" lIns="50800" bIns="50800" rIns="50800"/>
            <a:lstStyle/>
            <a:p>
              <a:pPr algn="l">
                <a:lnSpc>
                  <a:spcPts val="1679"/>
                </a:lnSpc>
              </a:pPr>
            </a:p>
          </p:txBody>
        </p:sp>
      </p:grpSp>
      <p:sp>
        <p:nvSpPr>
          <p:cNvPr name="TextBox 60" id="60"/>
          <p:cNvSpPr txBox="true"/>
          <p:nvPr/>
        </p:nvSpPr>
        <p:spPr>
          <a:xfrm rot="0">
            <a:off x="13479142" y="2438400"/>
            <a:ext cx="996632" cy="207645"/>
          </a:xfrm>
          <a:prstGeom prst="rect">
            <a:avLst/>
          </a:prstGeom>
        </p:spPr>
        <p:txBody>
          <a:bodyPr anchor="t" rtlCol="false" tIns="0" lIns="0" bIns="0" rIns="0">
            <a:spAutoFit/>
          </a:bodyPr>
          <a:lstStyle/>
          <a:p>
            <a:pPr algn="ctr" marL="0" indent="0" lvl="0">
              <a:lnSpc>
                <a:spcPts val="1679"/>
              </a:lnSpc>
              <a:spcBef>
                <a:spcPct val="0"/>
              </a:spcBef>
            </a:pPr>
            <a:r>
              <a:rPr lang="en-US" sz="1200" strike="noStrike" u="none">
                <a:solidFill>
                  <a:srgbClr val="1E293B"/>
                </a:solidFill>
                <a:latin typeface="프리텐다드"/>
                <a:ea typeface="프리텐다드"/>
                <a:cs typeface="프리텐다드"/>
                <a:sym typeface="프리텐다드"/>
              </a:rPr>
              <a:t>85.6%</a:t>
            </a:r>
          </a:p>
        </p:txBody>
      </p:sp>
      <p:sp>
        <p:nvSpPr>
          <p:cNvPr name="TextBox 61" id="61"/>
          <p:cNvSpPr txBox="true"/>
          <p:nvPr/>
        </p:nvSpPr>
        <p:spPr>
          <a:xfrm rot="0">
            <a:off x="13479142" y="4886325"/>
            <a:ext cx="996632" cy="285750"/>
          </a:xfrm>
          <a:prstGeom prst="rect">
            <a:avLst/>
          </a:prstGeom>
        </p:spPr>
        <p:txBody>
          <a:bodyPr anchor="t" rtlCol="false" tIns="0" lIns="0" bIns="0" rIns="0">
            <a:spAutoFit/>
          </a:bodyPr>
          <a:lstStyle/>
          <a:p>
            <a:pPr algn="ctr" marL="0" indent="0" lvl="0">
              <a:lnSpc>
                <a:spcPts val="1199"/>
              </a:lnSpc>
              <a:spcBef>
                <a:spcPct val="0"/>
              </a:spcBef>
            </a:pPr>
            <a:r>
              <a:rPr lang="en-US" sz="999" strike="noStrike" u="none">
                <a:solidFill>
                  <a:srgbClr val="64748B"/>
                </a:solidFill>
                <a:latin typeface="프리텐다드"/>
                <a:ea typeface="프리텐다드"/>
                <a:cs typeface="프리텐다드"/>
                <a:sym typeface="프리텐다드"/>
              </a:rPr>
              <a:t>전체</a:t>
            </a:r>
          </a:p>
          <a:p>
            <a:pPr algn="ctr" marL="0" indent="0" lvl="0">
              <a:lnSpc>
                <a:spcPts val="1199"/>
              </a:lnSpc>
              <a:spcBef>
                <a:spcPct val="0"/>
              </a:spcBef>
            </a:pPr>
            <a:r>
              <a:rPr lang="en-US" sz="999" strike="noStrike" u="none">
                <a:solidFill>
                  <a:srgbClr val="64748B"/>
                </a:solidFill>
                <a:latin typeface="프리텐다드"/>
                <a:ea typeface="프리텐다드"/>
                <a:cs typeface="프리텐다드"/>
                <a:sym typeface="프리텐다드"/>
              </a:rPr>
              <a:t>(합계)</a:t>
            </a:r>
          </a:p>
        </p:txBody>
      </p:sp>
      <p:grpSp>
        <p:nvGrpSpPr>
          <p:cNvPr name="Group 62" id="62"/>
          <p:cNvGrpSpPr/>
          <p:nvPr/>
        </p:nvGrpSpPr>
        <p:grpSpPr>
          <a:xfrm rot="0">
            <a:off x="14560758" y="2867025"/>
            <a:ext cx="842115" cy="1943100"/>
            <a:chOff x="0" y="0"/>
            <a:chExt cx="1122820" cy="2590800"/>
          </a:xfrm>
        </p:grpSpPr>
        <p:sp>
          <p:nvSpPr>
            <p:cNvPr name="Freeform 63" id="63"/>
            <p:cNvSpPr/>
            <p:nvPr/>
          </p:nvSpPr>
          <p:spPr>
            <a:xfrm flipH="false" flipV="false" rot="0">
              <a:off x="0" y="0"/>
              <a:ext cx="1122820" cy="2590800"/>
            </a:xfrm>
            <a:custGeom>
              <a:avLst/>
              <a:gdLst/>
              <a:ahLst/>
              <a:cxnLst/>
              <a:rect r="r" b="b" t="t" l="l"/>
              <a:pathLst>
                <a:path h="2590800" w="1122820">
                  <a:moveTo>
                    <a:pt x="64354" y="0"/>
                  </a:moveTo>
                  <a:lnTo>
                    <a:pt x="1058466" y="0"/>
                  </a:lnTo>
                  <a:cubicBezTo>
                    <a:pt x="1075534" y="0"/>
                    <a:pt x="1091903" y="6780"/>
                    <a:pt x="1103971" y="18849"/>
                  </a:cubicBezTo>
                  <a:cubicBezTo>
                    <a:pt x="1116040" y="30918"/>
                    <a:pt x="1122820" y="47286"/>
                    <a:pt x="1122820" y="64354"/>
                  </a:cubicBezTo>
                  <a:lnTo>
                    <a:pt x="1122820" y="2526446"/>
                  </a:lnTo>
                  <a:cubicBezTo>
                    <a:pt x="1122820" y="2543514"/>
                    <a:pt x="1116040" y="2559883"/>
                    <a:pt x="1103971" y="2571951"/>
                  </a:cubicBezTo>
                  <a:cubicBezTo>
                    <a:pt x="1091903" y="2584020"/>
                    <a:pt x="1075534" y="2590800"/>
                    <a:pt x="1058466" y="2590800"/>
                  </a:cubicBezTo>
                  <a:lnTo>
                    <a:pt x="64354" y="2590800"/>
                  </a:lnTo>
                  <a:cubicBezTo>
                    <a:pt x="47286" y="2590800"/>
                    <a:pt x="30918" y="2584020"/>
                    <a:pt x="18849" y="2571951"/>
                  </a:cubicBezTo>
                  <a:cubicBezTo>
                    <a:pt x="6780" y="2559883"/>
                    <a:pt x="0" y="2543514"/>
                    <a:pt x="0" y="2526446"/>
                  </a:cubicBezTo>
                  <a:lnTo>
                    <a:pt x="0" y="64354"/>
                  </a:lnTo>
                  <a:cubicBezTo>
                    <a:pt x="0" y="47286"/>
                    <a:pt x="6780" y="30918"/>
                    <a:pt x="18849" y="18849"/>
                  </a:cubicBezTo>
                  <a:cubicBezTo>
                    <a:pt x="30918" y="6780"/>
                    <a:pt x="47286" y="0"/>
                    <a:pt x="64354" y="0"/>
                  </a:cubicBezTo>
                  <a:close/>
                </a:path>
              </a:pathLst>
            </a:custGeom>
            <a:solidFill>
              <a:srgbClr val="BBDEFB"/>
            </a:solidFill>
          </p:spPr>
        </p:sp>
        <p:sp>
          <p:nvSpPr>
            <p:cNvPr name="TextBox 64" id="64"/>
            <p:cNvSpPr txBox="true"/>
            <p:nvPr/>
          </p:nvSpPr>
          <p:spPr>
            <a:xfrm>
              <a:off x="0" y="-28575"/>
              <a:ext cx="1122820" cy="2619375"/>
            </a:xfrm>
            <a:prstGeom prst="rect">
              <a:avLst/>
            </a:prstGeom>
          </p:spPr>
          <p:txBody>
            <a:bodyPr anchor="ctr" rtlCol="false" tIns="50800" lIns="50800" bIns="50800" rIns="50800"/>
            <a:lstStyle/>
            <a:p>
              <a:pPr algn="l">
                <a:lnSpc>
                  <a:spcPts val="1679"/>
                </a:lnSpc>
              </a:pPr>
            </a:p>
          </p:txBody>
        </p:sp>
      </p:grpSp>
      <p:sp>
        <p:nvSpPr>
          <p:cNvPr name="TextBox 65" id="65"/>
          <p:cNvSpPr txBox="true"/>
          <p:nvPr/>
        </p:nvSpPr>
        <p:spPr>
          <a:xfrm rot="0">
            <a:off x="14475774" y="2609850"/>
            <a:ext cx="996632" cy="207645"/>
          </a:xfrm>
          <a:prstGeom prst="rect">
            <a:avLst/>
          </a:prstGeom>
        </p:spPr>
        <p:txBody>
          <a:bodyPr anchor="t" rtlCol="false" tIns="0" lIns="0" bIns="0" rIns="0">
            <a:spAutoFit/>
          </a:bodyPr>
          <a:lstStyle/>
          <a:p>
            <a:pPr algn="ctr" marL="0" indent="0" lvl="0">
              <a:lnSpc>
                <a:spcPts val="1679"/>
              </a:lnSpc>
              <a:spcBef>
                <a:spcPct val="0"/>
              </a:spcBef>
            </a:pPr>
            <a:r>
              <a:rPr lang="en-US" sz="1200" strike="noStrike" u="none">
                <a:solidFill>
                  <a:srgbClr val="1E293B"/>
                </a:solidFill>
                <a:latin typeface="프리텐다드"/>
                <a:ea typeface="프리텐다드"/>
                <a:cs typeface="프리텐다드"/>
                <a:sym typeface="프리텐다드"/>
              </a:rPr>
              <a:t>78.5%</a:t>
            </a:r>
          </a:p>
        </p:txBody>
      </p:sp>
      <p:sp>
        <p:nvSpPr>
          <p:cNvPr name="TextBox 66" id="66"/>
          <p:cNvSpPr txBox="true"/>
          <p:nvPr/>
        </p:nvSpPr>
        <p:spPr>
          <a:xfrm rot="0">
            <a:off x="14475774" y="4886325"/>
            <a:ext cx="996632" cy="285750"/>
          </a:xfrm>
          <a:prstGeom prst="rect">
            <a:avLst/>
          </a:prstGeom>
        </p:spPr>
        <p:txBody>
          <a:bodyPr anchor="t" rtlCol="false" tIns="0" lIns="0" bIns="0" rIns="0">
            <a:spAutoFit/>
          </a:bodyPr>
          <a:lstStyle/>
          <a:p>
            <a:pPr algn="ctr" marL="0" indent="0" lvl="0">
              <a:lnSpc>
                <a:spcPts val="1199"/>
              </a:lnSpc>
              <a:spcBef>
                <a:spcPct val="0"/>
              </a:spcBef>
            </a:pPr>
            <a:r>
              <a:rPr lang="en-US" sz="999" strike="noStrike" u="none">
                <a:solidFill>
                  <a:srgbClr val="64748B"/>
                </a:solidFill>
                <a:latin typeface="프리텐다드"/>
                <a:ea typeface="프리텐다드"/>
                <a:cs typeface="프리텐다드"/>
                <a:sym typeface="프리텐다드"/>
              </a:rPr>
              <a:t>학생</a:t>
            </a:r>
          </a:p>
          <a:p>
            <a:pPr algn="ctr" marL="0" indent="0" lvl="0">
              <a:lnSpc>
                <a:spcPts val="1199"/>
              </a:lnSpc>
              <a:spcBef>
                <a:spcPct val="0"/>
              </a:spcBef>
            </a:pPr>
            <a:r>
              <a:rPr lang="en-US" sz="999" strike="noStrike" u="none">
                <a:solidFill>
                  <a:srgbClr val="64748B"/>
                </a:solidFill>
                <a:latin typeface="프리텐다드"/>
                <a:ea typeface="프리텐다드"/>
                <a:cs typeface="프리텐다드"/>
                <a:sym typeface="프리텐다드"/>
              </a:rPr>
              <a:t>(주요 침해원)</a:t>
            </a:r>
          </a:p>
        </p:txBody>
      </p:sp>
      <p:grpSp>
        <p:nvGrpSpPr>
          <p:cNvPr name="Group 67" id="67"/>
          <p:cNvGrpSpPr/>
          <p:nvPr/>
        </p:nvGrpSpPr>
        <p:grpSpPr>
          <a:xfrm rot="0">
            <a:off x="15557389" y="3343275"/>
            <a:ext cx="842115" cy="1466850"/>
            <a:chOff x="0" y="0"/>
            <a:chExt cx="1122820" cy="1955800"/>
          </a:xfrm>
        </p:grpSpPr>
        <p:sp>
          <p:nvSpPr>
            <p:cNvPr name="Freeform 68" id="68"/>
            <p:cNvSpPr/>
            <p:nvPr/>
          </p:nvSpPr>
          <p:spPr>
            <a:xfrm flipH="false" flipV="false" rot="0">
              <a:off x="0" y="0"/>
              <a:ext cx="1122820" cy="1955800"/>
            </a:xfrm>
            <a:custGeom>
              <a:avLst/>
              <a:gdLst/>
              <a:ahLst/>
              <a:cxnLst/>
              <a:rect r="r" b="b" t="t" l="l"/>
              <a:pathLst>
                <a:path h="1955800" w="1122820">
                  <a:moveTo>
                    <a:pt x="64354" y="0"/>
                  </a:moveTo>
                  <a:lnTo>
                    <a:pt x="1058466" y="0"/>
                  </a:lnTo>
                  <a:cubicBezTo>
                    <a:pt x="1075534" y="0"/>
                    <a:pt x="1091903" y="6780"/>
                    <a:pt x="1103971" y="18849"/>
                  </a:cubicBezTo>
                  <a:cubicBezTo>
                    <a:pt x="1116040" y="30918"/>
                    <a:pt x="1122820" y="47286"/>
                    <a:pt x="1122820" y="64354"/>
                  </a:cubicBezTo>
                  <a:lnTo>
                    <a:pt x="1122820" y="1891446"/>
                  </a:lnTo>
                  <a:cubicBezTo>
                    <a:pt x="1122820" y="1908514"/>
                    <a:pt x="1116040" y="1924883"/>
                    <a:pt x="1103971" y="1936951"/>
                  </a:cubicBezTo>
                  <a:cubicBezTo>
                    <a:pt x="1091903" y="1949020"/>
                    <a:pt x="1075534" y="1955800"/>
                    <a:pt x="1058466" y="1955800"/>
                  </a:cubicBezTo>
                  <a:lnTo>
                    <a:pt x="64354" y="1955800"/>
                  </a:lnTo>
                  <a:cubicBezTo>
                    <a:pt x="47286" y="1955800"/>
                    <a:pt x="30918" y="1949020"/>
                    <a:pt x="18849" y="1936951"/>
                  </a:cubicBezTo>
                  <a:cubicBezTo>
                    <a:pt x="6780" y="1924883"/>
                    <a:pt x="0" y="1908514"/>
                    <a:pt x="0" y="1891446"/>
                  </a:cubicBezTo>
                  <a:lnTo>
                    <a:pt x="0" y="64354"/>
                  </a:lnTo>
                  <a:cubicBezTo>
                    <a:pt x="0" y="47286"/>
                    <a:pt x="6780" y="30918"/>
                    <a:pt x="18849" y="18849"/>
                  </a:cubicBezTo>
                  <a:cubicBezTo>
                    <a:pt x="30918" y="6780"/>
                    <a:pt x="47286" y="0"/>
                    <a:pt x="64354" y="0"/>
                  </a:cubicBezTo>
                  <a:close/>
                </a:path>
              </a:pathLst>
            </a:custGeom>
            <a:solidFill>
              <a:srgbClr val="64B5F6"/>
            </a:solidFill>
          </p:spPr>
        </p:sp>
        <p:sp>
          <p:nvSpPr>
            <p:cNvPr name="TextBox 69" id="69"/>
            <p:cNvSpPr txBox="true"/>
            <p:nvPr/>
          </p:nvSpPr>
          <p:spPr>
            <a:xfrm>
              <a:off x="0" y="-28575"/>
              <a:ext cx="1122820" cy="1984375"/>
            </a:xfrm>
            <a:prstGeom prst="rect">
              <a:avLst/>
            </a:prstGeom>
          </p:spPr>
          <p:txBody>
            <a:bodyPr anchor="ctr" rtlCol="false" tIns="50800" lIns="50800" bIns="50800" rIns="50800"/>
            <a:lstStyle/>
            <a:p>
              <a:pPr algn="l">
                <a:lnSpc>
                  <a:spcPts val="1679"/>
                </a:lnSpc>
              </a:pPr>
            </a:p>
          </p:txBody>
        </p:sp>
      </p:grpSp>
      <p:sp>
        <p:nvSpPr>
          <p:cNvPr name="TextBox 70" id="70"/>
          <p:cNvSpPr txBox="true"/>
          <p:nvPr/>
        </p:nvSpPr>
        <p:spPr>
          <a:xfrm rot="0">
            <a:off x="15472405" y="3086100"/>
            <a:ext cx="996632" cy="207645"/>
          </a:xfrm>
          <a:prstGeom prst="rect">
            <a:avLst/>
          </a:prstGeom>
        </p:spPr>
        <p:txBody>
          <a:bodyPr anchor="t" rtlCol="false" tIns="0" lIns="0" bIns="0" rIns="0">
            <a:spAutoFit/>
          </a:bodyPr>
          <a:lstStyle/>
          <a:p>
            <a:pPr algn="ctr" marL="0" indent="0" lvl="0">
              <a:lnSpc>
                <a:spcPts val="1679"/>
              </a:lnSpc>
              <a:spcBef>
                <a:spcPct val="0"/>
              </a:spcBef>
            </a:pPr>
            <a:r>
              <a:rPr lang="en-US" sz="1200" strike="noStrike" u="none">
                <a:solidFill>
                  <a:srgbClr val="1E293B"/>
                </a:solidFill>
                <a:latin typeface="프리텐다드"/>
                <a:ea typeface="프리텐다드"/>
                <a:cs typeface="프리텐다드"/>
                <a:sym typeface="프리텐다드"/>
              </a:rPr>
              <a:t>59.6%</a:t>
            </a:r>
          </a:p>
        </p:txBody>
      </p:sp>
      <p:sp>
        <p:nvSpPr>
          <p:cNvPr name="TextBox 71" id="71"/>
          <p:cNvSpPr txBox="true"/>
          <p:nvPr/>
        </p:nvSpPr>
        <p:spPr>
          <a:xfrm rot="0">
            <a:off x="15472405" y="4886325"/>
            <a:ext cx="996632" cy="285750"/>
          </a:xfrm>
          <a:prstGeom prst="rect">
            <a:avLst/>
          </a:prstGeom>
        </p:spPr>
        <p:txBody>
          <a:bodyPr anchor="t" rtlCol="false" tIns="0" lIns="0" bIns="0" rIns="0">
            <a:spAutoFit/>
          </a:bodyPr>
          <a:lstStyle/>
          <a:p>
            <a:pPr algn="ctr" marL="0" indent="0" lvl="0">
              <a:lnSpc>
                <a:spcPts val="1199"/>
              </a:lnSpc>
              <a:spcBef>
                <a:spcPct val="0"/>
              </a:spcBef>
            </a:pPr>
            <a:r>
              <a:rPr lang="en-US" sz="999" strike="noStrike" u="none">
                <a:solidFill>
                  <a:srgbClr val="64748B"/>
                </a:solidFill>
                <a:latin typeface="프리텐다드"/>
                <a:ea typeface="프리텐다드"/>
                <a:cs typeface="프리텐다드"/>
                <a:sym typeface="프리텐다드"/>
              </a:rPr>
              <a:t>보호자</a:t>
            </a:r>
          </a:p>
          <a:p>
            <a:pPr algn="ctr" marL="0" indent="0" lvl="0">
              <a:lnSpc>
                <a:spcPts val="1199"/>
              </a:lnSpc>
              <a:spcBef>
                <a:spcPct val="0"/>
              </a:spcBef>
            </a:pPr>
            <a:r>
              <a:rPr lang="en-US" sz="999" strike="noStrike" u="none">
                <a:solidFill>
                  <a:srgbClr val="64748B"/>
                </a:solidFill>
                <a:latin typeface="프리텐다드"/>
                <a:ea typeface="프리텐다드"/>
                <a:cs typeface="프리텐다드"/>
                <a:sym typeface="프리텐다드"/>
              </a:rPr>
              <a:t>(주요 침해원)</a:t>
            </a:r>
          </a:p>
        </p:txBody>
      </p:sp>
      <p:grpSp>
        <p:nvGrpSpPr>
          <p:cNvPr name="Group 72" id="72"/>
          <p:cNvGrpSpPr/>
          <p:nvPr/>
        </p:nvGrpSpPr>
        <p:grpSpPr>
          <a:xfrm rot="0">
            <a:off x="16554021" y="4229100"/>
            <a:ext cx="842115" cy="581025"/>
            <a:chOff x="0" y="0"/>
            <a:chExt cx="1122820" cy="774700"/>
          </a:xfrm>
        </p:grpSpPr>
        <p:sp>
          <p:nvSpPr>
            <p:cNvPr name="Freeform 73" id="73"/>
            <p:cNvSpPr/>
            <p:nvPr/>
          </p:nvSpPr>
          <p:spPr>
            <a:xfrm flipH="false" flipV="false" rot="0">
              <a:off x="0" y="0"/>
              <a:ext cx="1122820" cy="774700"/>
            </a:xfrm>
            <a:custGeom>
              <a:avLst/>
              <a:gdLst/>
              <a:ahLst/>
              <a:cxnLst/>
              <a:rect r="r" b="b" t="t" l="l"/>
              <a:pathLst>
                <a:path h="774700" w="1122820">
                  <a:moveTo>
                    <a:pt x="64354" y="0"/>
                  </a:moveTo>
                  <a:lnTo>
                    <a:pt x="1058466" y="0"/>
                  </a:lnTo>
                  <a:cubicBezTo>
                    <a:pt x="1075534" y="0"/>
                    <a:pt x="1091903" y="6780"/>
                    <a:pt x="1103971" y="18849"/>
                  </a:cubicBezTo>
                  <a:cubicBezTo>
                    <a:pt x="1116040" y="30918"/>
                    <a:pt x="1122820" y="47286"/>
                    <a:pt x="1122820" y="64354"/>
                  </a:cubicBezTo>
                  <a:lnTo>
                    <a:pt x="1122820" y="710346"/>
                  </a:lnTo>
                  <a:cubicBezTo>
                    <a:pt x="1122820" y="727414"/>
                    <a:pt x="1116040" y="743782"/>
                    <a:pt x="1103971" y="755851"/>
                  </a:cubicBezTo>
                  <a:cubicBezTo>
                    <a:pt x="1091903" y="767920"/>
                    <a:pt x="1075534" y="774700"/>
                    <a:pt x="1058466" y="774700"/>
                  </a:cubicBezTo>
                  <a:lnTo>
                    <a:pt x="64354" y="774700"/>
                  </a:lnTo>
                  <a:cubicBezTo>
                    <a:pt x="47286" y="774700"/>
                    <a:pt x="30918" y="767920"/>
                    <a:pt x="18849" y="755851"/>
                  </a:cubicBezTo>
                  <a:cubicBezTo>
                    <a:pt x="6780" y="743782"/>
                    <a:pt x="0" y="727414"/>
                    <a:pt x="0" y="710346"/>
                  </a:cubicBezTo>
                  <a:lnTo>
                    <a:pt x="0" y="64354"/>
                  </a:lnTo>
                  <a:cubicBezTo>
                    <a:pt x="0" y="47286"/>
                    <a:pt x="6780" y="30918"/>
                    <a:pt x="18849" y="18849"/>
                  </a:cubicBezTo>
                  <a:cubicBezTo>
                    <a:pt x="30918" y="6780"/>
                    <a:pt x="47286" y="0"/>
                    <a:pt x="64354" y="0"/>
                  </a:cubicBezTo>
                  <a:close/>
                </a:path>
              </a:pathLst>
            </a:custGeom>
            <a:solidFill>
              <a:srgbClr val="4285F4"/>
            </a:solidFill>
          </p:spPr>
        </p:sp>
        <p:sp>
          <p:nvSpPr>
            <p:cNvPr name="TextBox 74" id="74"/>
            <p:cNvSpPr txBox="true"/>
            <p:nvPr/>
          </p:nvSpPr>
          <p:spPr>
            <a:xfrm>
              <a:off x="0" y="-28575"/>
              <a:ext cx="1122820" cy="803275"/>
            </a:xfrm>
            <a:prstGeom prst="rect">
              <a:avLst/>
            </a:prstGeom>
          </p:spPr>
          <p:txBody>
            <a:bodyPr anchor="ctr" rtlCol="false" tIns="50800" lIns="50800" bIns="50800" rIns="50800"/>
            <a:lstStyle/>
            <a:p>
              <a:pPr algn="l">
                <a:lnSpc>
                  <a:spcPts val="1679"/>
                </a:lnSpc>
              </a:pPr>
            </a:p>
          </p:txBody>
        </p:sp>
      </p:grpSp>
      <p:sp>
        <p:nvSpPr>
          <p:cNvPr name="TextBox 75" id="75"/>
          <p:cNvSpPr txBox="true"/>
          <p:nvPr/>
        </p:nvSpPr>
        <p:spPr>
          <a:xfrm rot="0">
            <a:off x="16469037" y="3971925"/>
            <a:ext cx="996632" cy="207645"/>
          </a:xfrm>
          <a:prstGeom prst="rect">
            <a:avLst/>
          </a:prstGeom>
        </p:spPr>
        <p:txBody>
          <a:bodyPr anchor="t" rtlCol="false" tIns="0" lIns="0" bIns="0" rIns="0">
            <a:spAutoFit/>
          </a:bodyPr>
          <a:lstStyle/>
          <a:p>
            <a:pPr algn="ctr" marL="0" indent="0" lvl="0">
              <a:lnSpc>
                <a:spcPts val="1679"/>
              </a:lnSpc>
              <a:spcBef>
                <a:spcPct val="0"/>
              </a:spcBef>
            </a:pPr>
            <a:r>
              <a:rPr lang="en-US" sz="1200" strike="noStrike" u="none">
                <a:solidFill>
                  <a:srgbClr val="1E293B"/>
                </a:solidFill>
                <a:latin typeface="프리텐다드"/>
                <a:ea typeface="프리텐다드"/>
                <a:cs typeface="프리텐다드"/>
                <a:sym typeface="프리텐다드"/>
              </a:rPr>
              <a:t>23.6%</a:t>
            </a:r>
          </a:p>
        </p:txBody>
      </p:sp>
      <p:sp>
        <p:nvSpPr>
          <p:cNvPr name="TextBox 76" id="76"/>
          <p:cNvSpPr txBox="true"/>
          <p:nvPr/>
        </p:nvSpPr>
        <p:spPr>
          <a:xfrm rot="0">
            <a:off x="16469037" y="4886325"/>
            <a:ext cx="996632" cy="285750"/>
          </a:xfrm>
          <a:prstGeom prst="rect">
            <a:avLst/>
          </a:prstGeom>
        </p:spPr>
        <p:txBody>
          <a:bodyPr anchor="t" rtlCol="false" tIns="0" lIns="0" bIns="0" rIns="0">
            <a:spAutoFit/>
          </a:bodyPr>
          <a:lstStyle/>
          <a:p>
            <a:pPr algn="ctr" marL="0" indent="0" lvl="0">
              <a:lnSpc>
                <a:spcPts val="1199"/>
              </a:lnSpc>
              <a:spcBef>
                <a:spcPct val="0"/>
              </a:spcBef>
            </a:pPr>
            <a:r>
              <a:rPr lang="en-US" sz="999" strike="noStrike" u="none">
                <a:solidFill>
                  <a:srgbClr val="64748B"/>
                </a:solidFill>
                <a:latin typeface="프리텐다드"/>
                <a:ea typeface="프리텐다드"/>
                <a:cs typeface="프리텐다드"/>
                <a:sym typeface="프리텐다드"/>
              </a:rPr>
              <a:t>관리자</a:t>
            </a:r>
          </a:p>
          <a:p>
            <a:pPr algn="ctr" marL="0" indent="0" lvl="0">
              <a:lnSpc>
                <a:spcPts val="1199"/>
              </a:lnSpc>
              <a:spcBef>
                <a:spcPct val="0"/>
              </a:spcBef>
            </a:pPr>
            <a:r>
              <a:rPr lang="en-US" sz="999" strike="noStrike" u="none">
                <a:solidFill>
                  <a:srgbClr val="64748B"/>
                </a:solidFill>
                <a:latin typeface="프리텐다드"/>
                <a:ea typeface="프리텐다드"/>
                <a:cs typeface="프리텐다드"/>
                <a:sym typeface="프리텐다드"/>
              </a:rPr>
              <a:t>(주요 침해원)</a:t>
            </a:r>
          </a:p>
        </p:txBody>
      </p:sp>
      <p:sp>
        <p:nvSpPr>
          <p:cNvPr name="TextBox 77" id="77"/>
          <p:cNvSpPr txBox="true"/>
          <p:nvPr/>
        </p:nvSpPr>
        <p:spPr>
          <a:xfrm rot="0">
            <a:off x="8658225" y="6172200"/>
            <a:ext cx="4663482" cy="148590"/>
          </a:xfrm>
          <a:prstGeom prst="rect">
            <a:avLst/>
          </a:prstGeom>
        </p:spPr>
        <p:txBody>
          <a:bodyPr anchor="t" rtlCol="false" tIns="0" lIns="0" bIns="0" rIns="0">
            <a:spAutoFit/>
          </a:bodyPr>
          <a:lstStyle/>
          <a:p>
            <a:pPr algn="l" marL="0" indent="0" lvl="0">
              <a:lnSpc>
                <a:spcPts val="1260"/>
              </a:lnSpc>
              <a:spcBef>
                <a:spcPct val="0"/>
              </a:spcBef>
            </a:pPr>
            <a:r>
              <a:rPr lang="en-US" sz="900" strike="noStrike" u="none">
                <a:solidFill>
                  <a:srgbClr val="94A3B8"/>
                </a:solidFill>
                <a:latin typeface="프리텐다드"/>
                <a:ea typeface="프리텐다드"/>
                <a:cs typeface="프리텐다드"/>
                <a:sym typeface="프리텐다드"/>
              </a:rPr>
              <a:t>평균 동의도 (1=전혀~5=매우 동의)</a:t>
            </a:r>
          </a:p>
        </p:txBody>
      </p:sp>
      <p:sp>
        <p:nvSpPr>
          <p:cNvPr name="TextBox 78" id="78"/>
          <p:cNvSpPr txBox="true"/>
          <p:nvPr/>
        </p:nvSpPr>
        <p:spPr>
          <a:xfrm rot="0">
            <a:off x="8658225" y="6429375"/>
            <a:ext cx="1790517" cy="148590"/>
          </a:xfrm>
          <a:prstGeom prst="rect">
            <a:avLst/>
          </a:prstGeom>
        </p:spPr>
        <p:txBody>
          <a:bodyPr anchor="t" rtlCol="false" tIns="0" lIns="0" bIns="0" rIns="0">
            <a:spAutoFit/>
          </a:bodyPr>
          <a:lstStyle/>
          <a:p>
            <a:pPr algn="r" marL="0" indent="0" lvl="0">
              <a:lnSpc>
                <a:spcPts val="1260"/>
              </a:lnSpc>
              <a:spcBef>
                <a:spcPct val="0"/>
              </a:spcBef>
            </a:pPr>
            <a:r>
              <a:rPr lang="en-US" sz="900" strike="noStrike" u="none">
                <a:solidFill>
                  <a:srgbClr val="475569"/>
                </a:solidFill>
                <a:latin typeface="프리텐다드"/>
                <a:ea typeface="프리텐다드"/>
                <a:cs typeface="프리텐다드"/>
                <a:sym typeface="프리텐다드"/>
              </a:rPr>
              <a:t>공교육 역할 인정 부족</a:t>
            </a:r>
          </a:p>
        </p:txBody>
      </p:sp>
      <p:grpSp>
        <p:nvGrpSpPr>
          <p:cNvPr name="Group 79" id="79"/>
          <p:cNvGrpSpPr/>
          <p:nvPr/>
        </p:nvGrpSpPr>
        <p:grpSpPr>
          <a:xfrm rot="0">
            <a:off x="10489435" y="6410325"/>
            <a:ext cx="2433475" cy="209550"/>
            <a:chOff x="0" y="0"/>
            <a:chExt cx="3244633" cy="279400"/>
          </a:xfrm>
        </p:grpSpPr>
        <p:sp>
          <p:nvSpPr>
            <p:cNvPr name="Freeform 80" id="80"/>
            <p:cNvSpPr/>
            <p:nvPr/>
          </p:nvSpPr>
          <p:spPr>
            <a:xfrm flipH="false" flipV="false" rot="0">
              <a:off x="0" y="0"/>
              <a:ext cx="3244633" cy="279400"/>
            </a:xfrm>
            <a:custGeom>
              <a:avLst/>
              <a:gdLst/>
              <a:ahLst/>
              <a:cxnLst/>
              <a:rect r="r" b="b" t="t" l="l"/>
              <a:pathLst>
                <a:path h="279400" w="3244633">
                  <a:moveTo>
                    <a:pt x="22270" y="0"/>
                  </a:moveTo>
                  <a:lnTo>
                    <a:pt x="3222363" y="0"/>
                  </a:lnTo>
                  <a:cubicBezTo>
                    <a:pt x="3228270" y="0"/>
                    <a:pt x="3233934" y="2346"/>
                    <a:pt x="3238110" y="6523"/>
                  </a:cubicBezTo>
                  <a:cubicBezTo>
                    <a:pt x="3242287" y="10699"/>
                    <a:pt x="3244633" y="16364"/>
                    <a:pt x="3244633" y="22270"/>
                  </a:cubicBezTo>
                  <a:lnTo>
                    <a:pt x="3244633" y="257130"/>
                  </a:lnTo>
                  <a:cubicBezTo>
                    <a:pt x="3244633" y="269429"/>
                    <a:pt x="3234663" y="279400"/>
                    <a:pt x="3222363" y="279400"/>
                  </a:cubicBezTo>
                  <a:lnTo>
                    <a:pt x="22270" y="279400"/>
                  </a:lnTo>
                  <a:cubicBezTo>
                    <a:pt x="9971" y="279400"/>
                    <a:pt x="0" y="269429"/>
                    <a:pt x="0" y="257130"/>
                  </a:cubicBezTo>
                  <a:lnTo>
                    <a:pt x="0" y="22270"/>
                  </a:lnTo>
                  <a:cubicBezTo>
                    <a:pt x="0" y="9971"/>
                    <a:pt x="9971" y="0"/>
                    <a:pt x="22270" y="0"/>
                  </a:cubicBezTo>
                  <a:close/>
                </a:path>
              </a:pathLst>
            </a:custGeom>
            <a:solidFill>
              <a:srgbClr val="4285F4"/>
            </a:solidFill>
          </p:spPr>
        </p:sp>
        <p:sp>
          <p:nvSpPr>
            <p:cNvPr name="TextBox 81" id="81"/>
            <p:cNvSpPr txBox="true"/>
            <p:nvPr/>
          </p:nvSpPr>
          <p:spPr>
            <a:xfrm>
              <a:off x="0" y="-28575"/>
              <a:ext cx="3244633" cy="307975"/>
            </a:xfrm>
            <a:prstGeom prst="rect">
              <a:avLst/>
            </a:prstGeom>
          </p:spPr>
          <p:txBody>
            <a:bodyPr anchor="ctr" rtlCol="false" tIns="50800" lIns="50800" bIns="50800" rIns="50800"/>
            <a:lstStyle/>
            <a:p>
              <a:pPr algn="l">
                <a:lnSpc>
                  <a:spcPts val="1679"/>
                </a:lnSpc>
              </a:pPr>
            </a:p>
          </p:txBody>
        </p:sp>
      </p:grpSp>
      <p:sp>
        <p:nvSpPr>
          <p:cNvPr name="TextBox 82" id="82"/>
          <p:cNvSpPr txBox="true"/>
          <p:nvPr/>
        </p:nvSpPr>
        <p:spPr>
          <a:xfrm rot="0">
            <a:off x="12955465" y="6429375"/>
            <a:ext cx="325548" cy="148590"/>
          </a:xfrm>
          <a:prstGeom prst="rect">
            <a:avLst/>
          </a:prstGeom>
        </p:spPr>
        <p:txBody>
          <a:bodyPr anchor="t" rtlCol="false" tIns="0" lIns="0" bIns="0" rIns="0">
            <a:spAutoFit/>
          </a:bodyPr>
          <a:lstStyle/>
          <a:p>
            <a:pPr algn="l" marL="0" indent="0" lvl="0">
              <a:lnSpc>
                <a:spcPts val="1260"/>
              </a:lnSpc>
              <a:spcBef>
                <a:spcPct val="0"/>
              </a:spcBef>
            </a:pPr>
            <a:r>
              <a:rPr lang="en-US" sz="900" strike="noStrike" u="none">
                <a:solidFill>
                  <a:srgbClr val="1E293B"/>
                </a:solidFill>
                <a:latin typeface="프리텐다드"/>
                <a:ea typeface="프리텐다드"/>
                <a:cs typeface="프리텐다드"/>
                <a:sym typeface="프리텐다드"/>
              </a:rPr>
              <a:t>4.89</a:t>
            </a:r>
          </a:p>
        </p:txBody>
      </p:sp>
      <p:sp>
        <p:nvSpPr>
          <p:cNvPr name="TextBox 83" id="83"/>
          <p:cNvSpPr txBox="true"/>
          <p:nvPr/>
        </p:nvSpPr>
        <p:spPr>
          <a:xfrm rot="0">
            <a:off x="8658225" y="6772275"/>
            <a:ext cx="1790517" cy="148590"/>
          </a:xfrm>
          <a:prstGeom prst="rect">
            <a:avLst/>
          </a:prstGeom>
        </p:spPr>
        <p:txBody>
          <a:bodyPr anchor="t" rtlCol="false" tIns="0" lIns="0" bIns="0" rIns="0">
            <a:spAutoFit/>
          </a:bodyPr>
          <a:lstStyle/>
          <a:p>
            <a:pPr algn="r" marL="0" indent="0" lvl="0">
              <a:lnSpc>
                <a:spcPts val="1260"/>
              </a:lnSpc>
              <a:spcBef>
                <a:spcPct val="0"/>
              </a:spcBef>
            </a:pPr>
            <a:r>
              <a:rPr lang="en-US" sz="900" strike="noStrike" u="none">
                <a:solidFill>
                  <a:srgbClr val="475569"/>
                </a:solidFill>
                <a:latin typeface="프리텐다드"/>
                <a:ea typeface="프리텐다드"/>
                <a:cs typeface="프리텐다드"/>
                <a:sym typeface="프리텐다드"/>
              </a:rPr>
              <a:t>교사 규율 권한 약화</a:t>
            </a:r>
          </a:p>
        </p:txBody>
      </p:sp>
      <p:grpSp>
        <p:nvGrpSpPr>
          <p:cNvPr name="Group 84" id="84"/>
          <p:cNvGrpSpPr/>
          <p:nvPr/>
        </p:nvGrpSpPr>
        <p:grpSpPr>
          <a:xfrm rot="0">
            <a:off x="10489435" y="6753225"/>
            <a:ext cx="2409059" cy="209550"/>
            <a:chOff x="0" y="0"/>
            <a:chExt cx="3212078" cy="279400"/>
          </a:xfrm>
        </p:grpSpPr>
        <p:sp>
          <p:nvSpPr>
            <p:cNvPr name="Freeform 85" id="85"/>
            <p:cNvSpPr/>
            <p:nvPr/>
          </p:nvSpPr>
          <p:spPr>
            <a:xfrm flipH="false" flipV="false" rot="0">
              <a:off x="0" y="0"/>
              <a:ext cx="3212078" cy="279400"/>
            </a:xfrm>
            <a:custGeom>
              <a:avLst/>
              <a:gdLst/>
              <a:ahLst/>
              <a:cxnLst/>
              <a:rect r="r" b="b" t="t" l="l"/>
              <a:pathLst>
                <a:path h="279400" w="3212078">
                  <a:moveTo>
                    <a:pt x="22496" y="0"/>
                  </a:moveTo>
                  <a:lnTo>
                    <a:pt x="3189583" y="0"/>
                  </a:lnTo>
                  <a:cubicBezTo>
                    <a:pt x="3202007" y="0"/>
                    <a:pt x="3212078" y="10072"/>
                    <a:pt x="3212078" y="22496"/>
                  </a:cubicBezTo>
                  <a:lnTo>
                    <a:pt x="3212078" y="256904"/>
                  </a:lnTo>
                  <a:cubicBezTo>
                    <a:pt x="3212078" y="262871"/>
                    <a:pt x="3209708" y="268592"/>
                    <a:pt x="3205490" y="272811"/>
                  </a:cubicBezTo>
                  <a:cubicBezTo>
                    <a:pt x="3201271" y="277030"/>
                    <a:pt x="3195549" y="279400"/>
                    <a:pt x="3189583" y="279400"/>
                  </a:cubicBezTo>
                  <a:lnTo>
                    <a:pt x="22496" y="279400"/>
                  </a:lnTo>
                  <a:cubicBezTo>
                    <a:pt x="16529" y="279400"/>
                    <a:pt x="10808" y="277030"/>
                    <a:pt x="6589" y="272811"/>
                  </a:cubicBezTo>
                  <a:cubicBezTo>
                    <a:pt x="2370" y="268592"/>
                    <a:pt x="0" y="262871"/>
                    <a:pt x="0" y="256904"/>
                  </a:cubicBezTo>
                  <a:lnTo>
                    <a:pt x="0" y="22496"/>
                  </a:lnTo>
                  <a:cubicBezTo>
                    <a:pt x="0" y="16529"/>
                    <a:pt x="2370" y="10808"/>
                    <a:pt x="6589" y="6589"/>
                  </a:cubicBezTo>
                  <a:cubicBezTo>
                    <a:pt x="10808" y="2370"/>
                    <a:pt x="16529" y="0"/>
                    <a:pt x="22496" y="0"/>
                  </a:cubicBezTo>
                  <a:close/>
                </a:path>
              </a:pathLst>
            </a:custGeom>
            <a:solidFill>
              <a:srgbClr val="4285F4"/>
            </a:solidFill>
          </p:spPr>
        </p:sp>
        <p:sp>
          <p:nvSpPr>
            <p:cNvPr name="TextBox 86" id="86"/>
            <p:cNvSpPr txBox="true"/>
            <p:nvPr/>
          </p:nvSpPr>
          <p:spPr>
            <a:xfrm>
              <a:off x="0" y="-28575"/>
              <a:ext cx="3212078" cy="307975"/>
            </a:xfrm>
            <a:prstGeom prst="rect">
              <a:avLst/>
            </a:prstGeom>
          </p:spPr>
          <p:txBody>
            <a:bodyPr anchor="ctr" rtlCol="false" tIns="50800" lIns="50800" bIns="50800" rIns="50800"/>
            <a:lstStyle/>
            <a:p>
              <a:pPr algn="l">
                <a:lnSpc>
                  <a:spcPts val="1679"/>
                </a:lnSpc>
              </a:pPr>
            </a:p>
          </p:txBody>
        </p:sp>
      </p:grpSp>
      <p:sp>
        <p:nvSpPr>
          <p:cNvPr name="TextBox 87" id="87"/>
          <p:cNvSpPr txBox="true"/>
          <p:nvPr/>
        </p:nvSpPr>
        <p:spPr>
          <a:xfrm rot="0">
            <a:off x="12931049" y="6772275"/>
            <a:ext cx="325548" cy="148590"/>
          </a:xfrm>
          <a:prstGeom prst="rect">
            <a:avLst/>
          </a:prstGeom>
        </p:spPr>
        <p:txBody>
          <a:bodyPr anchor="t" rtlCol="false" tIns="0" lIns="0" bIns="0" rIns="0">
            <a:spAutoFit/>
          </a:bodyPr>
          <a:lstStyle/>
          <a:p>
            <a:pPr algn="l" marL="0" indent="0" lvl="0">
              <a:lnSpc>
                <a:spcPts val="1260"/>
              </a:lnSpc>
              <a:spcBef>
                <a:spcPct val="0"/>
              </a:spcBef>
            </a:pPr>
            <a:r>
              <a:rPr lang="en-US" sz="900" strike="noStrike" u="none">
                <a:solidFill>
                  <a:srgbClr val="1E293B"/>
                </a:solidFill>
                <a:latin typeface="프리텐다드"/>
                <a:ea typeface="프리텐다드"/>
                <a:cs typeface="프리텐다드"/>
                <a:sym typeface="프리텐다드"/>
              </a:rPr>
              <a:t>4.87</a:t>
            </a:r>
          </a:p>
        </p:txBody>
      </p:sp>
      <p:sp>
        <p:nvSpPr>
          <p:cNvPr name="TextBox 88" id="88"/>
          <p:cNvSpPr txBox="true"/>
          <p:nvPr/>
        </p:nvSpPr>
        <p:spPr>
          <a:xfrm rot="0">
            <a:off x="8658225" y="7115175"/>
            <a:ext cx="1790517" cy="148590"/>
          </a:xfrm>
          <a:prstGeom prst="rect">
            <a:avLst/>
          </a:prstGeom>
        </p:spPr>
        <p:txBody>
          <a:bodyPr anchor="t" rtlCol="false" tIns="0" lIns="0" bIns="0" rIns="0">
            <a:spAutoFit/>
          </a:bodyPr>
          <a:lstStyle/>
          <a:p>
            <a:pPr algn="r" marL="0" indent="0" lvl="0">
              <a:lnSpc>
                <a:spcPts val="1260"/>
              </a:lnSpc>
              <a:spcBef>
                <a:spcPct val="0"/>
              </a:spcBef>
            </a:pPr>
            <a:r>
              <a:rPr lang="en-US" sz="900" strike="noStrike" u="none">
                <a:solidFill>
                  <a:srgbClr val="475569"/>
                </a:solidFill>
                <a:latin typeface="프리텐다드"/>
                <a:ea typeface="프리텐다드"/>
                <a:cs typeface="프리텐다드"/>
                <a:sym typeface="프리텐다드"/>
              </a:rPr>
              <a:t>생활지도 필요성 인식 부족</a:t>
            </a:r>
          </a:p>
        </p:txBody>
      </p:sp>
      <p:grpSp>
        <p:nvGrpSpPr>
          <p:cNvPr name="Group 89" id="89"/>
          <p:cNvGrpSpPr/>
          <p:nvPr/>
        </p:nvGrpSpPr>
        <p:grpSpPr>
          <a:xfrm rot="0">
            <a:off x="10489435" y="7096125"/>
            <a:ext cx="2368365" cy="209550"/>
            <a:chOff x="0" y="0"/>
            <a:chExt cx="3157820" cy="279400"/>
          </a:xfrm>
        </p:grpSpPr>
        <p:sp>
          <p:nvSpPr>
            <p:cNvPr name="Freeform 90" id="90"/>
            <p:cNvSpPr/>
            <p:nvPr/>
          </p:nvSpPr>
          <p:spPr>
            <a:xfrm flipH="false" flipV="false" rot="0">
              <a:off x="0" y="0"/>
              <a:ext cx="3157820" cy="279400"/>
            </a:xfrm>
            <a:custGeom>
              <a:avLst/>
              <a:gdLst/>
              <a:ahLst/>
              <a:cxnLst/>
              <a:rect r="r" b="b" t="t" l="l"/>
              <a:pathLst>
                <a:path h="279400" w="3157820">
                  <a:moveTo>
                    <a:pt x="22882" y="0"/>
                  </a:moveTo>
                  <a:lnTo>
                    <a:pt x="3134938" y="0"/>
                  </a:lnTo>
                  <a:cubicBezTo>
                    <a:pt x="3141007" y="0"/>
                    <a:pt x="3146827" y="2411"/>
                    <a:pt x="3151118" y="6702"/>
                  </a:cubicBezTo>
                  <a:cubicBezTo>
                    <a:pt x="3155410" y="10993"/>
                    <a:pt x="3157820" y="16813"/>
                    <a:pt x="3157820" y="22882"/>
                  </a:cubicBezTo>
                  <a:lnTo>
                    <a:pt x="3157820" y="256518"/>
                  </a:lnTo>
                  <a:cubicBezTo>
                    <a:pt x="3157820" y="262587"/>
                    <a:pt x="3155410" y="268407"/>
                    <a:pt x="3151118" y="272698"/>
                  </a:cubicBezTo>
                  <a:cubicBezTo>
                    <a:pt x="3146827" y="276989"/>
                    <a:pt x="3141007" y="279400"/>
                    <a:pt x="3134938" y="279400"/>
                  </a:cubicBezTo>
                  <a:lnTo>
                    <a:pt x="22882" y="279400"/>
                  </a:lnTo>
                  <a:cubicBezTo>
                    <a:pt x="16813" y="279400"/>
                    <a:pt x="10993" y="276989"/>
                    <a:pt x="6702" y="272698"/>
                  </a:cubicBezTo>
                  <a:cubicBezTo>
                    <a:pt x="2411" y="268407"/>
                    <a:pt x="0" y="262587"/>
                    <a:pt x="0" y="256518"/>
                  </a:cubicBezTo>
                  <a:lnTo>
                    <a:pt x="0" y="22882"/>
                  </a:lnTo>
                  <a:cubicBezTo>
                    <a:pt x="0" y="16813"/>
                    <a:pt x="2411" y="10993"/>
                    <a:pt x="6702" y="6702"/>
                  </a:cubicBezTo>
                  <a:cubicBezTo>
                    <a:pt x="10993" y="2411"/>
                    <a:pt x="16813" y="0"/>
                    <a:pt x="22882" y="0"/>
                  </a:cubicBezTo>
                  <a:close/>
                </a:path>
              </a:pathLst>
            </a:custGeom>
            <a:solidFill>
              <a:srgbClr val="B7B7B7"/>
            </a:solidFill>
          </p:spPr>
        </p:sp>
        <p:sp>
          <p:nvSpPr>
            <p:cNvPr name="TextBox 91" id="91"/>
            <p:cNvSpPr txBox="true"/>
            <p:nvPr/>
          </p:nvSpPr>
          <p:spPr>
            <a:xfrm>
              <a:off x="0" y="-28575"/>
              <a:ext cx="3157820" cy="307975"/>
            </a:xfrm>
            <a:prstGeom prst="rect">
              <a:avLst/>
            </a:prstGeom>
          </p:spPr>
          <p:txBody>
            <a:bodyPr anchor="ctr" rtlCol="false" tIns="50800" lIns="50800" bIns="50800" rIns="50800"/>
            <a:lstStyle/>
            <a:p>
              <a:pPr algn="l">
                <a:lnSpc>
                  <a:spcPts val="1679"/>
                </a:lnSpc>
              </a:pPr>
            </a:p>
          </p:txBody>
        </p:sp>
      </p:grpSp>
      <p:sp>
        <p:nvSpPr>
          <p:cNvPr name="TextBox 92" id="92"/>
          <p:cNvSpPr txBox="true"/>
          <p:nvPr/>
        </p:nvSpPr>
        <p:spPr>
          <a:xfrm rot="0">
            <a:off x="12890355" y="7115175"/>
            <a:ext cx="325548" cy="148590"/>
          </a:xfrm>
          <a:prstGeom prst="rect">
            <a:avLst/>
          </a:prstGeom>
        </p:spPr>
        <p:txBody>
          <a:bodyPr anchor="t" rtlCol="false" tIns="0" lIns="0" bIns="0" rIns="0">
            <a:spAutoFit/>
          </a:bodyPr>
          <a:lstStyle/>
          <a:p>
            <a:pPr algn="l" marL="0" indent="0" lvl="0">
              <a:lnSpc>
                <a:spcPts val="1260"/>
              </a:lnSpc>
              <a:spcBef>
                <a:spcPct val="0"/>
              </a:spcBef>
            </a:pPr>
            <a:r>
              <a:rPr lang="en-US" sz="900" strike="noStrike" u="none">
                <a:solidFill>
                  <a:srgbClr val="1E293B"/>
                </a:solidFill>
                <a:latin typeface="프리텐다드"/>
                <a:ea typeface="프리텐다드"/>
                <a:cs typeface="프리텐다드"/>
                <a:sym typeface="프리텐다드"/>
              </a:rPr>
              <a:t>4.83</a:t>
            </a:r>
          </a:p>
        </p:txBody>
      </p:sp>
      <p:sp>
        <p:nvSpPr>
          <p:cNvPr name="TextBox 93" id="93"/>
          <p:cNvSpPr txBox="true"/>
          <p:nvPr/>
        </p:nvSpPr>
        <p:spPr>
          <a:xfrm rot="0">
            <a:off x="8658225" y="7458075"/>
            <a:ext cx="1790517" cy="148590"/>
          </a:xfrm>
          <a:prstGeom prst="rect">
            <a:avLst/>
          </a:prstGeom>
        </p:spPr>
        <p:txBody>
          <a:bodyPr anchor="t" rtlCol="false" tIns="0" lIns="0" bIns="0" rIns="0">
            <a:spAutoFit/>
          </a:bodyPr>
          <a:lstStyle/>
          <a:p>
            <a:pPr algn="r" marL="0" indent="0" lvl="0">
              <a:lnSpc>
                <a:spcPts val="1260"/>
              </a:lnSpc>
              <a:spcBef>
                <a:spcPct val="0"/>
              </a:spcBef>
            </a:pPr>
            <a:r>
              <a:rPr lang="en-US" sz="900" strike="noStrike" u="none">
                <a:solidFill>
                  <a:srgbClr val="475569"/>
                </a:solidFill>
                <a:latin typeface="프리텐다드"/>
                <a:ea typeface="프리텐다드"/>
                <a:cs typeface="프리텐다드"/>
                <a:sym typeface="프리텐다드"/>
              </a:rPr>
              <a:t>교육부·교육청 보호 정책 미흡</a:t>
            </a:r>
          </a:p>
        </p:txBody>
      </p:sp>
      <p:grpSp>
        <p:nvGrpSpPr>
          <p:cNvPr name="Group 94" id="94"/>
          <p:cNvGrpSpPr/>
          <p:nvPr/>
        </p:nvGrpSpPr>
        <p:grpSpPr>
          <a:xfrm rot="0">
            <a:off x="10489435" y="7439025"/>
            <a:ext cx="2327672" cy="209550"/>
            <a:chOff x="0" y="0"/>
            <a:chExt cx="3103562" cy="279400"/>
          </a:xfrm>
        </p:grpSpPr>
        <p:sp>
          <p:nvSpPr>
            <p:cNvPr name="Freeform 95" id="95"/>
            <p:cNvSpPr/>
            <p:nvPr/>
          </p:nvSpPr>
          <p:spPr>
            <a:xfrm flipH="false" flipV="false" rot="0">
              <a:off x="0" y="0"/>
              <a:ext cx="3103562" cy="279400"/>
            </a:xfrm>
            <a:custGeom>
              <a:avLst/>
              <a:gdLst/>
              <a:ahLst/>
              <a:cxnLst/>
              <a:rect r="r" b="b" t="t" l="l"/>
              <a:pathLst>
                <a:path h="279400" w="3103562">
                  <a:moveTo>
                    <a:pt x="23282" y="0"/>
                  </a:moveTo>
                  <a:lnTo>
                    <a:pt x="3080280" y="0"/>
                  </a:lnTo>
                  <a:cubicBezTo>
                    <a:pt x="3093138" y="0"/>
                    <a:pt x="3103562" y="10424"/>
                    <a:pt x="3103562" y="23282"/>
                  </a:cubicBezTo>
                  <a:lnTo>
                    <a:pt x="3103562" y="256118"/>
                  </a:lnTo>
                  <a:cubicBezTo>
                    <a:pt x="3103562" y="268976"/>
                    <a:pt x="3093138" y="279400"/>
                    <a:pt x="3080280" y="279400"/>
                  </a:cubicBezTo>
                  <a:lnTo>
                    <a:pt x="23282" y="279400"/>
                  </a:lnTo>
                  <a:cubicBezTo>
                    <a:pt x="10424" y="279400"/>
                    <a:pt x="0" y="268976"/>
                    <a:pt x="0" y="256118"/>
                  </a:cubicBezTo>
                  <a:lnTo>
                    <a:pt x="0" y="23282"/>
                  </a:lnTo>
                  <a:cubicBezTo>
                    <a:pt x="0" y="10424"/>
                    <a:pt x="10424" y="0"/>
                    <a:pt x="23282" y="0"/>
                  </a:cubicBezTo>
                  <a:close/>
                </a:path>
              </a:pathLst>
            </a:custGeom>
            <a:solidFill>
              <a:srgbClr val="B7B7B7"/>
            </a:solidFill>
          </p:spPr>
        </p:sp>
        <p:sp>
          <p:nvSpPr>
            <p:cNvPr name="TextBox 96" id="96"/>
            <p:cNvSpPr txBox="true"/>
            <p:nvPr/>
          </p:nvSpPr>
          <p:spPr>
            <a:xfrm>
              <a:off x="0" y="-28575"/>
              <a:ext cx="3103562" cy="307975"/>
            </a:xfrm>
            <a:prstGeom prst="rect">
              <a:avLst/>
            </a:prstGeom>
          </p:spPr>
          <p:txBody>
            <a:bodyPr anchor="ctr" rtlCol="false" tIns="50800" lIns="50800" bIns="50800" rIns="50800"/>
            <a:lstStyle/>
            <a:p>
              <a:pPr algn="l">
                <a:lnSpc>
                  <a:spcPts val="1679"/>
                </a:lnSpc>
              </a:pPr>
            </a:p>
          </p:txBody>
        </p:sp>
      </p:grpSp>
      <p:sp>
        <p:nvSpPr>
          <p:cNvPr name="TextBox 97" id="97"/>
          <p:cNvSpPr txBox="true"/>
          <p:nvPr/>
        </p:nvSpPr>
        <p:spPr>
          <a:xfrm rot="0">
            <a:off x="12849662" y="7458075"/>
            <a:ext cx="325548" cy="148590"/>
          </a:xfrm>
          <a:prstGeom prst="rect">
            <a:avLst/>
          </a:prstGeom>
        </p:spPr>
        <p:txBody>
          <a:bodyPr anchor="t" rtlCol="false" tIns="0" lIns="0" bIns="0" rIns="0">
            <a:spAutoFit/>
          </a:bodyPr>
          <a:lstStyle/>
          <a:p>
            <a:pPr algn="l" marL="0" indent="0" lvl="0">
              <a:lnSpc>
                <a:spcPts val="1260"/>
              </a:lnSpc>
              <a:spcBef>
                <a:spcPct val="0"/>
              </a:spcBef>
            </a:pPr>
            <a:r>
              <a:rPr lang="en-US" sz="900" strike="noStrike" u="none">
                <a:solidFill>
                  <a:srgbClr val="1E293B"/>
                </a:solidFill>
                <a:latin typeface="프리텐다드"/>
                <a:ea typeface="프리텐다드"/>
                <a:cs typeface="프리텐다드"/>
                <a:sym typeface="프리텐다드"/>
              </a:rPr>
              <a:t>4.79</a:t>
            </a:r>
          </a:p>
        </p:txBody>
      </p:sp>
      <p:sp>
        <p:nvSpPr>
          <p:cNvPr name="TextBox 98" id="98"/>
          <p:cNvSpPr txBox="true"/>
          <p:nvPr/>
        </p:nvSpPr>
        <p:spPr>
          <a:xfrm rot="0">
            <a:off x="8658225" y="7800975"/>
            <a:ext cx="1790517" cy="148590"/>
          </a:xfrm>
          <a:prstGeom prst="rect">
            <a:avLst/>
          </a:prstGeom>
        </p:spPr>
        <p:txBody>
          <a:bodyPr anchor="t" rtlCol="false" tIns="0" lIns="0" bIns="0" rIns="0">
            <a:spAutoFit/>
          </a:bodyPr>
          <a:lstStyle/>
          <a:p>
            <a:pPr algn="r" marL="0" indent="0" lvl="0">
              <a:lnSpc>
                <a:spcPts val="1260"/>
              </a:lnSpc>
              <a:spcBef>
                <a:spcPct val="0"/>
              </a:spcBef>
            </a:pPr>
            <a:r>
              <a:rPr lang="en-US" sz="900" strike="noStrike" u="none">
                <a:solidFill>
                  <a:srgbClr val="475569"/>
                </a:solidFill>
                <a:latin typeface="프리텐다드"/>
                <a:ea typeface="프리텐다드"/>
                <a:cs typeface="프리텐다드"/>
                <a:sym typeface="프리텐다드"/>
              </a:rPr>
              <a:t>학급당 학생 수 과다</a:t>
            </a:r>
          </a:p>
        </p:txBody>
      </p:sp>
      <p:grpSp>
        <p:nvGrpSpPr>
          <p:cNvPr name="Group 99" id="99"/>
          <p:cNvGrpSpPr/>
          <p:nvPr/>
        </p:nvGrpSpPr>
        <p:grpSpPr>
          <a:xfrm rot="0">
            <a:off x="10489435" y="7781925"/>
            <a:ext cx="2034678" cy="209550"/>
            <a:chOff x="0" y="0"/>
            <a:chExt cx="2712904" cy="279400"/>
          </a:xfrm>
        </p:grpSpPr>
        <p:sp>
          <p:nvSpPr>
            <p:cNvPr name="Freeform 100" id="100"/>
            <p:cNvSpPr/>
            <p:nvPr/>
          </p:nvSpPr>
          <p:spPr>
            <a:xfrm flipH="false" flipV="false" rot="0">
              <a:off x="0" y="0"/>
              <a:ext cx="2712904" cy="279400"/>
            </a:xfrm>
            <a:custGeom>
              <a:avLst/>
              <a:gdLst/>
              <a:ahLst/>
              <a:cxnLst/>
              <a:rect r="r" b="b" t="t" l="l"/>
              <a:pathLst>
                <a:path h="279400" w="2712904">
                  <a:moveTo>
                    <a:pt x="26635" y="0"/>
                  </a:moveTo>
                  <a:lnTo>
                    <a:pt x="2686269" y="0"/>
                  </a:lnTo>
                  <a:cubicBezTo>
                    <a:pt x="2700979" y="0"/>
                    <a:pt x="2712904" y="11925"/>
                    <a:pt x="2712904" y="26635"/>
                  </a:cubicBezTo>
                  <a:lnTo>
                    <a:pt x="2712904" y="252765"/>
                  </a:lnTo>
                  <a:cubicBezTo>
                    <a:pt x="2712904" y="267475"/>
                    <a:pt x="2700979" y="279400"/>
                    <a:pt x="2686269" y="279400"/>
                  </a:cubicBezTo>
                  <a:lnTo>
                    <a:pt x="26635" y="279400"/>
                  </a:lnTo>
                  <a:cubicBezTo>
                    <a:pt x="11925" y="279400"/>
                    <a:pt x="0" y="267475"/>
                    <a:pt x="0" y="252765"/>
                  </a:cubicBezTo>
                  <a:lnTo>
                    <a:pt x="0" y="26635"/>
                  </a:lnTo>
                  <a:cubicBezTo>
                    <a:pt x="0" y="11925"/>
                    <a:pt x="11925" y="0"/>
                    <a:pt x="26635" y="0"/>
                  </a:cubicBezTo>
                  <a:close/>
                </a:path>
              </a:pathLst>
            </a:custGeom>
            <a:solidFill>
              <a:srgbClr val="B7B7B7"/>
            </a:solidFill>
          </p:spPr>
        </p:sp>
        <p:sp>
          <p:nvSpPr>
            <p:cNvPr name="TextBox 101" id="101"/>
            <p:cNvSpPr txBox="true"/>
            <p:nvPr/>
          </p:nvSpPr>
          <p:spPr>
            <a:xfrm>
              <a:off x="0" y="-28575"/>
              <a:ext cx="2712904" cy="307975"/>
            </a:xfrm>
            <a:prstGeom prst="rect">
              <a:avLst/>
            </a:prstGeom>
          </p:spPr>
          <p:txBody>
            <a:bodyPr anchor="ctr" rtlCol="false" tIns="50800" lIns="50800" bIns="50800" rIns="50800"/>
            <a:lstStyle/>
            <a:p>
              <a:pPr algn="l">
                <a:lnSpc>
                  <a:spcPts val="1679"/>
                </a:lnSpc>
              </a:pPr>
            </a:p>
          </p:txBody>
        </p:sp>
      </p:grpSp>
      <p:sp>
        <p:nvSpPr>
          <p:cNvPr name="TextBox 102" id="102"/>
          <p:cNvSpPr txBox="true"/>
          <p:nvPr/>
        </p:nvSpPr>
        <p:spPr>
          <a:xfrm rot="0">
            <a:off x="12556668" y="7800975"/>
            <a:ext cx="325548" cy="148590"/>
          </a:xfrm>
          <a:prstGeom prst="rect">
            <a:avLst/>
          </a:prstGeom>
        </p:spPr>
        <p:txBody>
          <a:bodyPr anchor="t" rtlCol="false" tIns="0" lIns="0" bIns="0" rIns="0">
            <a:spAutoFit/>
          </a:bodyPr>
          <a:lstStyle/>
          <a:p>
            <a:pPr algn="l" marL="0" indent="0" lvl="0">
              <a:lnSpc>
                <a:spcPts val="1260"/>
              </a:lnSpc>
              <a:spcBef>
                <a:spcPct val="0"/>
              </a:spcBef>
            </a:pPr>
            <a:r>
              <a:rPr lang="en-US" sz="900" strike="noStrike" u="none">
                <a:solidFill>
                  <a:srgbClr val="1E293B"/>
                </a:solidFill>
                <a:latin typeface="프리텐다드"/>
                <a:ea typeface="프리텐다드"/>
                <a:cs typeface="프리텐다드"/>
                <a:sym typeface="프리텐다드"/>
              </a:rPr>
              <a:t>4.5</a:t>
            </a:r>
          </a:p>
        </p:txBody>
      </p:sp>
      <p:sp>
        <p:nvSpPr>
          <p:cNvPr name="TextBox 103" id="103"/>
          <p:cNvSpPr txBox="true"/>
          <p:nvPr/>
        </p:nvSpPr>
        <p:spPr>
          <a:xfrm rot="0">
            <a:off x="8658225" y="8143875"/>
            <a:ext cx="1790517" cy="148590"/>
          </a:xfrm>
          <a:prstGeom prst="rect">
            <a:avLst/>
          </a:prstGeom>
        </p:spPr>
        <p:txBody>
          <a:bodyPr anchor="t" rtlCol="false" tIns="0" lIns="0" bIns="0" rIns="0">
            <a:spAutoFit/>
          </a:bodyPr>
          <a:lstStyle/>
          <a:p>
            <a:pPr algn="r" marL="0" indent="0" lvl="0">
              <a:lnSpc>
                <a:spcPts val="1260"/>
              </a:lnSpc>
              <a:spcBef>
                <a:spcPct val="0"/>
              </a:spcBef>
            </a:pPr>
            <a:r>
              <a:rPr lang="en-US" sz="900" strike="noStrike" u="none">
                <a:solidFill>
                  <a:srgbClr val="475569"/>
                </a:solidFill>
                <a:latin typeface="프리텐다드"/>
                <a:ea typeface="프리텐다드"/>
                <a:cs typeface="프리텐다드"/>
                <a:sym typeface="프리텐다드"/>
              </a:rPr>
              <a:t>성적평가 민감성 과다</a:t>
            </a:r>
          </a:p>
        </p:txBody>
      </p:sp>
      <p:grpSp>
        <p:nvGrpSpPr>
          <p:cNvPr name="Group 104" id="104"/>
          <p:cNvGrpSpPr/>
          <p:nvPr/>
        </p:nvGrpSpPr>
        <p:grpSpPr>
          <a:xfrm rot="0">
            <a:off x="10489435" y="8124825"/>
            <a:ext cx="1928875" cy="209550"/>
            <a:chOff x="0" y="0"/>
            <a:chExt cx="2571833" cy="279400"/>
          </a:xfrm>
        </p:grpSpPr>
        <p:sp>
          <p:nvSpPr>
            <p:cNvPr name="Freeform 105" id="105"/>
            <p:cNvSpPr/>
            <p:nvPr/>
          </p:nvSpPr>
          <p:spPr>
            <a:xfrm flipH="false" flipV="false" rot="0">
              <a:off x="0" y="0"/>
              <a:ext cx="2571833" cy="279400"/>
            </a:xfrm>
            <a:custGeom>
              <a:avLst/>
              <a:gdLst/>
              <a:ahLst/>
              <a:cxnLst/>
              <a:rect r="r" b="b" t="t" l="l"/>
              <a:pathLst>
                <a:path h="279400" w="2571833">
                  <a:moveTo>
                    <a:pt x="28096" y="0"/>
                  </a:moveTo>
                  <a:lnTo>
                    <a:pt x="2543737" y="0"/>
                  </a:lnTo>
                  <a:cubicBezTo>
                    <a:pt x="2559254" y="0"/>
                    <a:pt x="2571833" y="12579"/>
                    <a:pt x="2571833" y="28096"/>
                  </a:cubicBezTo>
                  <a:lnTo>
                    <a:pt x="2571833" y="251304"/>
                  </a:lnTo>
                  <a:cubicBezTo>
                    <a:pt x="2571833" y="258756"/>
                    <a:pt x="2568873" y="265902"/>
                    <a:pt x="2563604" y="271171"/>
                  </a:cubicBezTo>
                  <a:cubicBezTo>
                    <a:pt x="2558335" y="276440"/>
                    <a:pt x="2551188" y="279400"/>
                    <a:pt x="2543737" y="279400"/>
                  </a:cubicBezTo>
                  <a:lnTo>
                    <a:pt x="28096" y="279400"/>
                  </a:lnTo>
                  <a:cubicBezTo>
                    <a:pt x="20644" y="279400"/>
                    <a:pt x="13498" y="276440"/>
                    <a:pt x="8229" y="271171"/>
                  </a:cubicBezTo>
                  <a:cubicBezTo>
                    <a:pt x="2960" y="265902"/>
                    <a:pt x="0" y="258756"/>
                    <a:pt x="0" y="251304"/>
                  </a:cubicBezTo>
                  <a:lnTo>
                    <a:pt x="0" y="28096"/>
                  </a:lnTo>
                  <a:cubicBezTo>
                    <a:pt x="0" y="20644"/>
                    <a:pt x="2960" y="13498"/>
                    <a:pt x="8229" y="8229"/>
                  </a:cubicBezTo>
                  <a:cubicBezTo>
                    <a:pt x="13498" y="2960"/>
                    <a:pt x="20644" y="0"/>
                    <a:pt x="28096" y="0"/>
                  </a:cubicBezTo>
                  <a:close/>
                </a:path>
              </a:pathLst>
            </a:custGeom>
            <a:solidFill>
              <a:srgbClr val="B7B7B7"/>
            </a:solidFill>
          </p:spPr>
        </p:sp>
        <p:sp>
          <p:nvSpPr>
            <p:cNvPr name="TextBox 106" id="106"/>
            <p:cNvSpPr txBox="true"/>
            <p:nvPr/>
          </p:nvSpPr>
          <p:spPr>
            <a:xfrm>
              <a:off x="0" y="-28575"/>
              <a:ext cx="2571833" cy="307975"/>
            </a:xfrm>
            <a:prstGeom prst="rect">
              <a:avLst/>
            </a:prstGeom>
          </p:spPr>
          <p:txBody>
            <a:bodyPr anchor="ctr" rtlCol="false" tIns="50800" lIns="50800" bIns="50800" rIns="50800"/>
            <a:lstStyle/>
            <a:p>
              <a:pPr algn="l">
                <a:lnSpc>
                  <a:spcPts val="1679"/>
                </a:lnSpc>
              </a:pPr>
            </a:p>
          </p:txBody>
        </p:sp>
      </p:grpSp>
      <p:sp>
        <p:nvSpPr>
          <p:cNvPr name="TextBox 107" id="107"/>
          <p:cNvSpPr txBox="true"/>
          <p:nvPr/>
        </p:nvSpPr>
        <p:spPr>
          <a:xfrm rot="0">
            <a:off x="12450865" y="8143875"/>
            <a:ext cx="325548" cy="148590"/>
          </a:xfrm>
          <a:prstGeom prst="rect">
            <a:avLst/>
          </a:prstGeom>
        </p:spPr>
        <p:txBody>
          <a:bodyPr anchor="t" rtlCol="false" tIns="0" lIns="0" bIns="0" rIns="0">
            <a:spAutoFit/>
          </a:bodyPr>
          <a:lstStyle/>
          <a:p>
            <a:pPr algn="l" marL="0" indent="0" lvl="0">
              <a:lnSpc>
                <a:spcPts val="1260"/>
              </a:lnSpc>
              <a:spcBef>
                <a:spcPct val="0"/>
              </a:spcBef>
            </a:pPr>
            <a:r>
              <a:rPr lang="en-US" sz="900" strike="noStrike" u="none">
                <a:solidFill>
                  <a:srgbClr val="1E293B"/>
                </a:solidFill>
                <a:latin typeface="프리텐다드"/>
                <a:ea typeface="프리텐다드"/>
                <a:cs typeface="프리텐다드"/>
                <a:sym typeface="프리텐다드"/>
              </a:rPr>
              <a:t>4.4</a:t>
            </a:r>
          </a:p>
        </p:txBody>
      </p:sp>
      <p:sp>
        <p:nvSpPr>
          <p:cNvPr name="TextBox 108" id="108"/>
          <p:cNvSpPr txBox="true"/>
          <p:nvPr/>
        </p:nvSpPr>
        <p:spPr>
          <a:xfrm rot="0">
            <a:off x="8658225" y="8486775"/>
            <a:ext cx="1790517" cy="148590"/>
          </a:xfrm>
          <a:prstGeom prst="rect">
            <a:avLst/>
          </a:prstGeom>
        </p:spPr>
        <p:txBody>
          <a:bodyPr anchor="t" rtlCol="false" tIns="0" lIns="0" bIns="0" rIns="0">
            <a:spAutoFit/>
          </a:bodyPr>
          <a:lstStyle/>
          <a:p>
            <a:pPr algn="r" marL="0" indent="0" lvl="0">
              <a:lnSpc>
                <a:spcPts val="1260"/>
              </a:lnSpc>
              <a:spcBef>
                <a:spcPct val="0"/>
              </a:spcBef>
            </a:pPr>
            <a:r>
              <a:rPr lang="en-US" sz="900" strike="noStrike" u="none">
                <a:solidFill>
                  <a:srgbClr val="475569"/>
                </a:solidFill>
                <a:latin typeface="프리텐다드"/>
                <a:ea typeface="프리텐다드"/>
                <a:cs typeface="프리텐다드"/>
                <a:sym typeface="프리텐다드"/>
              </a:rPr>
              <a:t>관리자 갈등 처리 역량 부족</a:t>
            </a:r>
          </a:p>
        </p:txBody>
      </p:sp>
      <p:grpSp>
        <p:nvGrpSpPr>
          <p:cNvPr name="Group 109" id="109"/>
          <p:cNvGrpSpPr/>
          <p:nvPr/>
        </p:nvGrpSpPr>
        <p:grpSpPr>
          <a:xfrm rot="0">
            <a:off x="10489435" y="8467725"/>
            <a:ext cx="1871904" cy="209550"/>
            <a:chOff x="0" y="0"/>
            <a:chExt cx="2495872" cy="279400"/>
          </a:xfrm>
        </p:grpSpPr>
        <p:sp>
          <p:nvSpPr>
            <p:cNvPr name="Freeform 110" id="110"/>
            <p:cNvSpPr/>
            <p:nvPr/>
          </p:nvSpPr>
          <p:spPr>
            <a:xfrm flipH="false" flipV="false" rot="0">
              <a:off x="0" y="0"/>
              <a:ext cx="2495872" cy="279400"/>
            </a:xfrm>
            <a:custGeom>
              <a:avLst/>
              <a:gdLst/>
              <a:ahLst/>
              <a:cxnLst/>
              <a:rect r="r" b="b" t="t" l="l"/>
              <a:pathLst>
                <a:path h="279400" w="2495872">
                  <a:moveTo>
                    <a:pt x="28951" y="0"/>
                  </a:moveTo>
                  <a:lnTo>
                    <a:pt x="2466921" y="0"/>
                  </a:lnTo>
                  <a:cubicBezTo>
                    <a:pt x="2482910" y="0"/>
                    <a:pt x="2495872" y="12962"/>
                    <a:pt x="2495872" y="28951"/>
                  </a:cubicBezTo>
                  <a:lnTo>
                    <a:pt x="2495872" y="250449"/>
                  </a:lnTo>
                  <a:cubicBezTo>
                    <a:pt x="2495872" y="266438"/>
                    <a:pt x="2482910" y="279400"/>
                    <a:pt x="2466921" y="279400"/>
                  </a:cubicBezTo>
                  <a:lnTo>
                    <a:pt x="28951" y="279400"/>
                  </a:lnTo>
                  <a:cubicBezTo>
                    <a:pt x="12962" y="279400"/>
                    <a:pt x="0" y="266438"/>
                    <a:pt x="0" y="250449"/>
                  </a:cubicBezTo>
                  <a:lnTo>
                    <a:pt x="0" y="28951"/>
                  </a:lnTo>
                  <a:cubicBezTo>
                    <a:pt x="0" y="12962"/>
                    <a:pt x="12962" y="0"/>
                    <a:pt x="28951" y="0"/>
                  </a:cubicBezTo>
                  <a:close/>
                </a:path>
              </a:pathLst>
            </a:custGeom>
            <a:solidFill>
              <a:srgbClr val="B7B7B7"/>
            </a:solidFill>
          </p:spPr>
        </p:sp>
        <p:sp>
          <p:nvSpPr>
            <p:cNvPr name="TextBox 111" id="111"/>
            <p:cNvSpPr txBox="true"/>
            <p:nvPr/>
          </p:nvSpPr>
          <p:spPr>
            <a:xfrm>
              <a:off x="0" y="-28575"/>
              <a:ext cx="2495872" cy="307975"/>
            </a:xfrm>
            <a:prstGeom prst="rect">
              <a:avLst/>
            </a:prstGeom>
          </p:spPr>
          <p:txBody>
            <a:bodyPr anchor="ctr" rtlCol="false" tIns="50800" lIns="50800" bIns="50800" rIns="50800"/>
            <a:lstStyle/>
            <a:p>
              <a:pPr algn="l">
                <a:lnSpc>
                  <a:spcPts val="1679"/>
                </a:lnSpc>
              </a:pPr>
            </a:p>
          </p:txBody>
        </p:sp>
      </p:grpSp>
      <p:sp>
        <p:nvSpPr>
          <p:cNvPr name="TextBox 112" id="112"/>
          <p:cNvSpPr txBox="true"/>
          <p:nvPr/>
        </p:nvSpPr>
        <p:spPr>
          <a:xfrm rot="0">
            <a:off x="12393894" y="8486775"/>
            <a:ext cx="325548" cy="148590"/>
          </a:xfrm>
          <a:prstGeom prst="rect">
            <a:avLst/>
          </a:prstGeom>
        </p:spPr>
        <p:txBody>
          <a:bodyPr anchor="t" rtlCol="false" tIns="0" lIns="0" bIns="0" rIns="0">
            <a:spAutoFit/>
          </a:bodyPr>
          <a:lstStyle/>
          <a:p>
            <a:pPr algn="l" marL="0" indent="0" lvl="0">
              <a:lnSpc>
                <a:spcPts val="1260"/>
              </a:lnSpc>
              <a:spcBef>
                <a:spcPct val="0"/>
              </a:spcBef>
            </a:pPr>
            <a:r>
              <a:rPr lang="en-US" sz="900" strike="noStrike" u="none">
                <a:solidFill>
                  <a:srgbClr val="1E293B"/>
                </a:solidFill>
                <a:latin typeface="프리텐다드"/>
                <a:ea typeface="프리텐다드"/>
                <a:cs typeface="프리텐다드"/>
                <a:sym typeface="프리텐다드"/>
              </a:rPr>
              <a:t>4.34</a:t>
            </a:r>
          </a:p>
        </p:txBody>
      </p:sp>
      <p:sp>
        <p:nvSpPr>
          <p:cNvPr name="TextBox 113" id="113"/>
          <p:cNvSpPr txBox="true"/>
          <p:nvPr/>
        </p:nvSpPr>
        <p:spPr>
          <a:xfrm rot="0">
            <a:off x="8658225" y="8829675"/>
            <a:ext cx="1790517" cy="148590"/>
          </a:xfrm>
          <a:prstGeom prst="rect">
            <a:avLst/>
          </a:prstGeom>
        </p:spPr>
        <p:txBody>
          <a:bodyPr anchor="t" rtlCol="false" tIns="0" lIns="0" bIns="0" rIns="0">
            <a:spAutoFit/>
          </a:bodyPr>
          <a:lstStyle/>
          <a:p>
            <a:pPr algn="r" marL="0" indent="0" lvl="0">
              <a:lnSpc>
                <a:spcPts val="1260"/>
              </a:lnSpc>
              <a:spcBef>
                <a:spcPct val="0"/>
              </a:spcBef>
            </a:pPr>
            <a:r>
              <a:rPr lang="en-US" sz="900" strike="noStrike" u="none">
                <a:solidFill>
                  <a:srgbClr val="475569"/>
                </a:solidFill>
                <a:latin typeface="프리텐다드"/>
                <a:ea typeface="프리텐다드"/>
                <a:cs typeface="프리텐다드"/>
                <a:sym typeface="프리텐다드"/>
              </a:rPr>
              <a:t>교직원 간 의사소통 부족</a:t>
            </a:r>
          </a:p>
        </p:txBody>
      </p:sp>
      <p:grpSp>
        <p:nvGrpSpPr>
          <p:cNvPr name="Group 114" id="114"/>
          <p:cNvGrpSpPr/>
          <p:nvPr/>
        </p:nvGrpSpPr>
        <p:grpSpPr>
          <a:xfrm rot="0">
            <a:off x="10489435" y="8810625"/>
            <a:ext cx="1123142" cy="209550"/>
            <a:chOff x="0" y="0"/>
            <a:chExt cx="1497523" cy="279400"/>
          </a:xfrm>
        </p:grpSpPr>
        <p:sp>
          <p:nvSpPr>
            <p:cNvPr name="Freeform 115" id="115"/>
            <p:cNvSpPr/>
            <p:nvPr/>
          </p:nvSpPr>
          <p:spPr>
            <a:xfrm flipH="false" flipV="false" rot="0">
              <a:off x="0" y="0"/>
              <a:ext cx="1497523" cy="279400"/>
            </a:xfrm>
            <a:custGeom>
              <a:avLst/>
              <a:gdLst/>
              <a:ahLst/>
              <a:cxnLst/>
              <a:rect r="r" b="b" t="t" l="l"/>
              <a:pathLst>
                <a:path h="279400" w="1497523">
                  <a:moveTo>
                    <a:pt x="48252" y="0"/>
                  </a:moveTo>
                  <a:lnTo>
                    <a:pt x="1449271" y="0"/>
                  </a:lnTo>
                  <a:cubicBezTo>
                    <a:pt x="1475920" y="0"/>
                    <a:pt x="1497523" y="21603"/>
                    <a:pt x="1497523" y="48252"/>
                  </a:cubicBezTo>
                  <a:lnTo>
                    <a:pt x="1497523" y="231148"/>
                  </a:lnTo>
                  <a:cubicBezTo>
                    <a:pt x="1497523" y="257797"/>
                    <a:pt x="1475920" y="279400"/>
                    <a:pt x="1449271" y="279400"/>
                  </a:cubicBezTo>
                  <a:lnTo>
                    <a:pt x="48252" y="279400"/>
                  </a:lnTo>
                  <a:cubicBezTo>
                    <a:pt x="21603" y="279400"/>
                    <a:pt x="0" y="257797"/>
                    <a:pt x="0" y="231148"/>
                  </a:cubicBezTo>
                  <a:lnTo>
                    <a:pt x="0" y="48252"/>
                  </a:lnTo>
                  <a:cubicBezTo>
                    <a:pt x="0" y="21603"/>
                    <a:pt x="21603" y="0"/>
                    <a:pt x="48252" y="0"/>
                  </a:cubicBezTo>
                  <a:close/>
                </a:path>
              </a:pathLst>
            </a:custGeom>
            <a:solidFill>
              <a:srgbClr val="B7B7B7"/>
            </a:solidFill>
          </p:spPr>
        </p:sp>
        <p:sp>
          <p:nvSpPr>
            <p:cNvPr name="TextBox 116" id="116"/>
            <p:cNvSpPr txBox="true"/>
            <p:nvPr/>
          </p:nvSpPr>
          <p:spPr>
            <a:xfrm>
              <a:off x="0" y="-28575"/>
              <a:ext cx="1497523" cy="307975"/>
            </a:xfrm>
            <a:prstGeom prst="rect">
              <a:avLst/>
            </a:prstGeom>
          </p:spPr>
          <p:txBody>
            <a:bodyPr anchor="ctr" rtlCol="false" tIns="50800" lIns="50800" bIns="50800" rIns="50800"/>
            <a:lstStyle/>
            <a:p>
              <a:pPr algn="l">
                <a:lnSpc>
                  <a:spcPts val="1679"/>
                </a:lnSpc>
              </a:pPr>
            </a:p>
          </p:txBody>
        </p:sp>
      </p:grpSp>
      <p:sp>
        <p:nvSpPr>
          <p:cNvPr name="TextBox 117" id="117"/>
          <p:cNvSpPr txBox="true"/>
          <p:nvPr/>
        </p:nvSpPr>
        <p:spPr>
          <a:xfrm rot="0">
            <a:off x="11645132" y="8829675"/>
            <a:ext cx="325548" cy="148590"/>
          </a:xfrm>
          <a:prstGeom prst="rect">
            <a:avLst/>
          </a:prstGeom>
        </p:spPr>
        <p:txBody>
          <a:bodyPr anchor="t" rtlCol="false" tIns="0" lIns="0" bIns="0" rIns="0">
            <a:spAutoFit/>
          </a:bodyPr>
          <a:lstStyle/>
          <a:p>
            <a:pPr algn="l" marL="0" indent="0" lvl="0">
              <a:lnSpc>
                <a:spcPts val="1260"/>
              </a:lnSpc>
              <a:spcBef>
                <a:spcPct val="0"/>
              </a:spcBef>
            </a:pPr>
            <a:r>
              <a:rPr lang="en-US" sz="900" strike="noStrike" u="none">
                <a:solidFill>
                  <a:srgbClr val="1E293B"/>
                </a:solidFill>
                <a:latin typeface="프리텐다드"/>
                <a:ea typeface="프리텐다드"/>
                <a:cs typeface="프리텐다드"/>
                <a:sym typeface="프리텐다드"/>
              </a:rPr>
              <a:t>3.61</a:t>
            </a:r>
          </a:p>
        </p:txBody>
      </p:sp>
      <p:sp>
        <p:nvSpPr>
          <p:cNvPr name="TextBox 118" id="118"/>
          <p:cNvSpPr txBox="true"/>
          <p:nvPr/>
        </p:nvSpPr>
        <p:spPr>
          <a:xfrm rot="0">
            <a:off x="8658225" y="9172575"/>
            <a:ext cx="1790517" cy="148590"/>
          </a:xfrm>
          <a:prstGeom prst="rect">
            <a:avLst/>
          </a:prstGeom>
        </p:spPr>
        <p:txBody>
          <a:bodyPr anchor="t" rtlCol="false" tIns="0" lIns="0" bIns="0" rIns="0">
            <a:spAutoFit/>
          </a:bodyPr>
          <a:lstStyle/>
          <a:p>
            <a:pPr algn="r" marL="0" indent="0" lvl="0">
              <a:lnSpc>
                <a:spcPts val="1260"/>
              </a:lnSpc>
              <a:spcBef>
                <a:spcPct val="0"/>
              </a:spcBef>
            </a:pPr>
            <a:r>
              <a:rPr lang="en-US" sz="900" strike="noStrike" u="none">
                <a:solidFill>
                  <a:srgbClr val="475569"/>
                </a:solidFill>
                <a:latin typeface="프리텐다드"/>
                <a:ea typeface="프리텐다드"/>
                <a:cs typeface="프리텐다드"/>
                <a:sym typeface="프리텐다드"/>
              </a:rPr>
              <a:t>교사 갈등 대응 기술 부족</a:t>
            </a:r>
          </a:p>
        </p:txBody>
      </p:sp>
      <p:grpSp>
        <p:nvGrpSpPr>
          <p:cNvPr name="Group 119" id="119"/>
          <p:cNvGrpSpPr/>
          <p:nvPr/>
        </p:nvGrpSpPr>
        <p:grpSpPr>
          <a:xfrm rot="0">
            <a:off x="10489435" y="9153525"/>
            <a:ext cx="984784" cy="209550"/>
            <a:chOff x="0" y="0"/>
            <a:chExt cx="1313046" cy="279400"/>
          </a:xfrm>
        </p:grpSpPr>
        <p:sp>
          <p:nvSpPr>
            <p:cNvPr name="Freeform 120" id="120"/>
            <p:cNvSpPr/>
            <p:nvPr/>
          </p:nvSpPr>
          <p:spPr>
            <a:xfrm flipH="false" flipV="false" rot="0">
              <a:off x="0" y="0"/>
              <a:ext cx="1313046" cy="279400"/>
            </a:xfrm>
            <a:custGeom>
              <a:avLst/>
              <a:gdLst/>
              <a:ahLst/>
              <a:cxnLst/>
              <a:rect r="r" b="b" t="t" l="l"/>
              <a:pathLst>
                <a:path h="279400" w="1313046">
                  <a:moveTo>
                    <a:pt x="55031" y="0"/>
                  </a:moveTo>
                  <a:lnTo>
                    <a:pt x="1258015" y="0"/>
                  </a:lnTo>
                  <a:cubicBezTo>
                    <a:pt x="1272610" y="0"/>
                    <a:pt x="1286607" y="5798"/>
                    <a:pt x="1296927" y="16118"/>
                  </a:cubicBezTo>
                  <a:cubicBezTo>
                    <a:pt x="1307248" y="26438"/>
                    <a:pt x="1313046" y="40436"/>
                    <a:pt x="1313046" y="55031"/>
                  </a:cubicBezTo>
                  <a:lnTo>
                    <a:pt x="1313046" y="224369"/>
                  </a:lnTo>
                  <a:cubicBezTo>
                    <a:pt x="1313046" y="254762"/>
                    <a:pt x="1288407" y="279400"/>
                    <a:pt x="1258015" y="279400"/>
                  </a:cubicBezTo>
                  <a:lnTo>
                    <a:pt x="55031" y="279400"/>
                  </a:lnTo>
                  <a:cubicBezTo>
                    <a:pt x="24638" y="279400"/>
                    <a:pt x="0" y="254762"/>
                    <a:pt x="0" y="224369"/>
                  </a:cubicBezTo>
                  <a:lnTo>
                    <a:pt x="0" y="55031"/>
                  </a:lnTo>
                  <a:cubicBezTo>
                    <a:pt x="0" y="24638"/>
                    <a:pt x="24638" y="0"/>
                    <a:pt x="55031" y="0"/>
                  </a:cubicBezTo>
                  <a:close/>
                </a:path>
              </a:pathLst>
            </a:custGeom>
            <a:solidFill>
              <a:srgbClr val="B7B7B7"/>
            </a:solidFill>
          </p:spPr>
        </p:sp>
        <p:sp>
          <p:nvSpPr>
            <p:cNvPr name="TextBox 121" id="121"/>
            <p:cNvSpPr txBox="true"/>
            <p:nvPr/>
          </p:nvSpPr>
          <p:spPr>
            <a:xfrm>
              <a:off x="0" y="-28575"/>
              <a:ext cx="1313046" cy="307975"/>
            </a:xfrm>
            <a:prstGeom prst="rect">
              <a:avLst/>
            </a:prstGeom>
          </p:spPr>
          <p:txBody>
            <a:bodyPr anchor="ctr" rtlCol="false" tIns="50800" lIns="50800" bIns="50800" rIns="50800"/>
            <a:lstStyle/>
            <a:p>
              <a:pPr algn="l">
                <a:lnSpc>
                  <a:spcPts val="1679"/>
                </a:lnSpc>
              </a:pPr>
            </a:p>
          </p:txBody>
        </p:sp>
      </p:grpSp>
      <p:sp>
        <p:nvSpPr>
          <p:cNvPr name="TextBox 122" id="122"/>
          <p:cNvSpPr txBox="true"/>
          <p:nvPr/>
        </p:nvSpPr>
        <p:spPr>
          <a:xfrm rot="0">
            <a:off x="11506774" y="9172575"/>
            <a:ext cx="325548" cy="148590"/>
          </a:xfrm>
          <a:prstGeom prst="rect">
            <a:avLst/>
          </a:prstGeom>
        </p:spPr>
        <p:txBody>
          <a:bodyPr anchor="t" rtlCol="false" tIns="0" lIns="0" bIns="0" rIns="0">
            <a:spAutoFit/>
          </a:bodyPr>
          <a:lstStyle/>
          <a:p>
            <a:pPr algn="l" marL="0" indent="0" lvl="0">
              <a:lnSpc>
                <a:spcPts val="1260"/>
              </a:lnSpc>
              <a:spcBef>
                <a:spcPct val="0"/>
              </a:spcBef>
            </a:pPr>
            <a:r>
              <a:rPr lang="en-US" sz="900" strike="noStrike" u="none">
                <a:solidFill>
                  <a:srgbClr val="1E293B"/>
                </a:solidFill>
                <a:latin typeface="프리텐다드"/>
                <a:ea typeface="프리텐다드"/>
                <a:cs typeface="프리텐다드"/>
                <a:sym typeface="프리텐다드"/>
              </a:rPr>
              <a:t>3.47</a:t>
            </a:r>
          </a:p>
        </p:txBody>
      </p:sp>
      <p:sp>
        <p:nvSpPr>
          <p:cNvPr name="TextBox 123" id="123"/>
          <p:cNvSpPr txBox="true"/>
          <p:nvPr/>
        </p:nvSpPr>
        <p:spPr>
          <a:xfrm rot="0">
            <a:off x="8658225" y="9515475"/>
            <a:ext cx="1790517" cy="148590"/>
          </a:xfrm>
          <a:prstGeom prst="rect">
            <a:avLst/>
          </a:prstGeom>
        </p:spPr>
        <p:txBody>
          <a:bodyPr anchor="t" rtlCol="false" tIns="0" lIns="0" bIns="0" rIns="0">
            <a:spAutoFit/>
          </a:bodyPr>
          <a:lstStyle/>
          <a:p>
            <a:pPr algn="r" marL="0" indent="0" lvl="0">
              <a:lnSpc>
                <a:spcPts val="1260"/>
              </a:lnSpc>
              <a:spcBef>
                <a:spcPct val="0"/>
              </a:spcBef>
            </a:pPr>
            <a:r>
              <a:rPr lang="en-US" sz="900" strike="noStrike" u="none">
                <a:solidFill>
                  <a:srgbClr val="475569"/>
                </a:solidFill>
                <a:latin typeface="프리텐다드"/>
                <a:ea typeface="프리텐다드"/>
                <a:cs typeface="프리텐다드"/>
                <a:sym typeface="프리텐다드"/>
              </a:rPr>
              <a:t>학교 환경·시설 낙후</a:t>
            </a:r>
          </a:p>
        </p:txBody>
      </p:sp>
      <p:grpSp>
        <p:nvGrpSpPr>
          <p:cNvPr name="Group 124" id="124"/>
          <p:cNvGrpSpPr/>
          <p:nvPr/>
        </p:nvGrpSpPr>
        <p:grpSpPr>
          <a:xfrm rot="0">
            <a:off x="10489435" y="9496425"/>
            <a:ext cx="390658" cy="209550"/>
            <a:chOff x="0" y="0"/>
            <a:chExt cx="520878" cy="279400"/>
          </a:xfrm>
        </p:grpSpPr>
        <p:sp>
          <p:nvSpPr>
            <p:cNvPr name="Freeform 125" id="125"/>
            <p:cNvSpPr/>
            <p:nvPr/>
          </p:nvSpPr>
          <p:spPr>
            <a:xfrm flipH="false" flipV="false" rot="0">
              <a:off x="0" y="0"/>
              <a:ext cx="520878" cy="279400"/>
            </a:xfrm>
            <a:custGeom>
              <a:avLst/>
              <a:gdLst/>
              <a:ahLst/>
              <a:cxnLst/>
              <a:rect r="r" b="b" t="t" l="l"/>
              <a:pathLst>
                <a:path h="279400" w="520878">
                  <a:moveTo>
                    <a:pt x="138723" y="0"/>
                  </a:moveTo>
                  <a:lnTo>
                    <a:pt x="382154" y="0"/>
                  </a:lnTo>
                  <a:cubicBezTo>
                    <a:pt x="418946" y="0"/>
                    <a:pt x="454231" y="14615"/>
                    <a:pt x="480246" y="40631"/>
                  </a:cubicBezTo>
                  <a:cubicBezTo>
                    <a:pt x="506262" y="66647"/>
                    <a:pt x="520878" y="101932"/>
                    <a:pt x="520878" y="138723"/>
                  </a:cubicBezTo>
                  <a:lnTo>
                    <a:pt x="520878" y="140677"/>
                  </a:lnTo>
                  <a:cubicBezTo>
                    <a:pt x="520878" y="217291"/>
                    <a:pt x="458769" y="279400"/>
                    <a:pt x="382154" y="279400"/>
                  </a:cubicBezTo>
                  <a:lnTo>
                    <a:pt x="138723" y="279400"/>
                  </a:lnTo>
                  <a:cubicBezTo>
                    <a:pt x="62109" y="279400"/>
                    <a:pt x="0" y="217291"/>
                    <a:pt x="0" y="140677"/>
                  </a:cubicBezTo>
                  <a:lnTo>
                    <a:pt x="0" y="138723"/>
                  </a:lnTo>
                  <a:cubicBezTo>
                    <a:pt x="0" y="62109"/>
                    <a:pt x="62109" y="0"/>
                    <a:pt x="138723" y="0"/>
                  </a:cubicBezTo>
                  <a:close/>
                </a:path>
              </a:pathLst>
            </a:custGeom>
            <a:solidFill>
              <a:srgbClr val="B7B7B7"/>
            </a:solidFill>
          </p:spPr>
        </p:sp>
        <p:sp>
          <p:nvSpPr>
            <p:cNvPr name="TextBox 126" id="126"/>
            <p:cNvSpPr txBox="true"/>
            <p:nvPr/>
          </p:nvSpPr>
          <p:spPr>
            <a:xfrm>
              <a:off x="0" y="-28575"/>
              <a:ext cx="520878" cy="307975"/>
            </a:xfrm>
            <a:prstGeom prst="rect">
              <a:avLst/>
            </a:prstGeom>
          </p:spPr>
          <p:txBody>
            <a:bodyPr anchor="ctr" rtlCol="false" tIns="50800" lIns="50800" bIns="50800" rIns="50800"/>
            <a:lstStyle/>
            <a:p>
              <a:pPr algn="l">
                <a:lnSpc>
                  <a:spcPts val="1679"/>
                </a:lnSpc>
              </a:pPr>
            </a:p>
          </p:txBody>
        </p:sp>
      </p:grpSp>
      <p:sp>
        <p:nvSpPr>
          <p:cNvPr name="TextBox 127" id="127"/>
          <p:cNvSpPr txBox="true"/>
          <p:nvPr/>
        </p:nvSpPr>
        <p:spPr>
          <a:xfrm rot="0">
            <a:off x="10912648" y="9515475"/>
            <a:ext cx="325548" cy="148590"/>
          </a:xfrm>
          <a:prstGeom prst="rect">
            <a:avLst/>
          </a:prstGeom>
        </p:spPr>
        <p:txBody>
          <a:bodyPr anchor="t" rtlCol="false" tIns="0" lIns="0" bIns="0" rIns="0">
            <a:spAutoFit/>
          </a:bodyPr>
          <a:lstStyle/>
          <a:p>
            <a:pPr algn="l" marL="0" indent="0" lvl="0">
              <a:lnSpc>
                <a:spcPts val="1260"/>
              </a:lnSpc>
              <a:spcBef>
                <a:spcPct val="0"/>
              </a:spcBef>
            </a:pPr>
            <a:r>
              <a:rPr lang="en-US" sz="900" strike="noStrike" u="none">
                <a:solidFill>
                  <a:srgbClr val="1E293B"/>
                </a:solidFill>
                <a:latin typeface="프리텐다드"/>
                <a:ea typeface="프리텐다드"/>
                <a:cs typeface="프리텐다드"/>
                <a:sym typeface="프리텐다드"/>
              </a:rPr>
              <a:t>2.89</a:t>
            </a:r>
          </a:p>
        </p:txBody>
      </p:sp>
      <p:sp>
        <p:nvSpPr>
          <p:cNvPr name="AutoShape 128" id="128"/>
          <p:cNvSpPr/>
          <p:nvPr/>
        </p:nvSpPr>
        <p:spPr>
          <a:xfrm>
            <a:off x="9044516" y="2171700"/>
            <a:ext cx="3754752" cy="0"/>
          </a:xfrm>
          <a:prstGeom prst="line">
            <a:avLst/>
          </a:prstGeom>
          <a:ln cap="flat" w="9525">
            <a:solidFill>
              <a:srgbClr val="E2E8F0"/>
            </a:solidFill>
            <a:prstDash val="solid"/>
            <a:headEnd type="none" len="sm" w="sm"/>
            <a:tailEnd type="none" len="sm" w="sm"/>
          </a:ln>
        </p:spPr>
      </p:sp>
      <p:sp>
        <p:nvSpPr>
          <p:cNvPr name="AutoShape 129" id="129"/>
          <p:cNvSpPr/>
          <p:nvPr/>
        </p:nvSpPr>
        <p:spPr>
          <a:xfrm>
            <a:off x="9044516" y="2838450"/>
            <a:ext cx="3754752" cy="0"/>
          </a:xfrm>
          <a:prstGeom prst="line">
            <a:avLst/>
          </a:prstGeom>
          <a:ln cap="flat" w="9525">
            <a:solidFill>
              <a:srgbClr val="E2E8F0"/>
            </a:solidFill>
            <a:prstDash val="solid"/>
            <a:headEnd type="none" len="sm" w="sm"/>
            <a:tailEnd type="none" len="sm" w="sm"/>
          </a:ln>
        </p:spPr>
      </p:sp>
      <p:sp>
        <p:nvSpPr>
          <p:cNvPr name="AutoShape 130" id="130"/>
          <p:cNvSpPr/>
          <p:nvPr/>
        </p:nvSpPr>
        <p:spPr>
          <a:xfrm>
            <a:off x="9044516" y="3505200"/>
            <a:ext cx="3754752" cy="0"/>
          </a:xfrm>
          <a:prstGeom prst="line">
            <a:avLst/>
          </a:prstGeom>
          <a:ln cap="flat" w="9525">
            <a:solidFill>
              <a:srgbClr val="E2E8F0"/>
            </a:solidFill>
            <a:prstDash val="solid"/>
            <a:headEnd type="none" len="sm" w="sm"/>
            <a:tailEnd type="none" len="sm" w="sm"/>
          </a:ln>
        </p:spPr>
      </p:sp>
      <p:sp>
        <p:nvSpPr>
          <p:cNvPr name="AutoShape 131" id="131"/>
          <p:cNvSpPr/>
          <p:nvPr/>
        </p:nvSpPr>
        <p:spPr>
          <a:xfrm>
            <a:off x="9044516" y="4171950"/>
            <a:ext cx="3754752" cy="0"/>
          </a:xfrm>
          <a:prstGeom prst="line">
            <a:avLst/>
          </a:prstGeom>
          <a:ln cap="flat" w="9525">
            <a:solidFill>
              <a:srgbClr val="E2E8F0"/>
            </a:solidFill>
            <a:prstDash val="solid"/>
            <a:headEnd type="none" len="sm" w="sm"/>
            <a:tailEnd type="none" len="sm" w="sm"/>
          </a:ln>
        </p:spPr>
      </p:sp>
      <p:sp>
        <p:nvSpPr>
          <p:cNvPr name="AutoShape 132" id="132"/>
          <p:cNvSpPr/>
          <p:nvPr/>
        </p:nvSpPr>
        <p:spPr>
          <a:xfrm>
            <a:off x="9044516" y="4838700"/>
            <a:ext cx="3754752" cy="0"/>
          </a:xfrm>
          <a:prstGeom prst="line">
            <a:avLst/>
          </a:prstGeom>
          <a:ln cap="flat" w="9525">
            <a:solidFill>
              <a:srgbClr val="E2E8F0"/>
            </a:solidFill>
            <a:prstDash val="solid"/>
            <a:headEnd type="none" len="sm" w="sm"/>
            <a:tailEnd type="none" len="sm" w="sm"/>
          </a:ln>
        </p:spPr>
      </p:sp>
      <p:grpSp>
        <p:nvGrpSpPr>
          <p:cNvPr name="Group 133" id="133"/>
          <p:cNvGrpSpPr/>
          <p:nvPr/>
        </p:nvGrpSpPr>
        <p:grpSpPr>
          <a:xfrm rot="0">
            <a:off x="9430808" y="4305300"/>
            <a:ext cx="463550" cy="533400"/>
            <a:chOff x="0" y="0"/>
            <a:chExt cx="618066" cy="711200"/>
          </a:xfrm>
        </p:grpSpPr>
        <p:sp>
          <p:nvSpPr>
            <p:cNvPr name="Freeform 134" id="134"/>
            <p:cNvSpPr/>
            <p:nvPr/>
          </p:nvSpPr>
          <p:spPr>
            <a:xfrm flipH="false" flipV="false" rot="0">
              <a:off x="0" y="0"/>
              <a:ext cx="618066" cy="711200"/>
            </a:xfrm>
            <a:custGeom>
              <a:avLst/>
              <a:gdLst/>
              <a:ahLst/>
              <a:cxnLst/>
              <a:rect r="r" b="b" t="t" l="l"/>
              <a:pathLst>
                <a:path h="711200" w="618066">
                  <a:moveTo>
                    <a:pt x="116910" y="0"/>
                  </a:moveTo>
                  <a:lnTo>
                    <a:pt x="501157" y="0"/>
                  </a:lnTo>
                  <a:cubicBezTo>
                    <a:pt x="532163" y="0"/>
                    <a:pt x="561899" y="12317"/>
                    <a:pt x="583824" y="34242"/>
                  </a:cubicBezTo>
                  <a:cubicBezTo>
                    <a:pt x="605749" y="56167"/>
                    <a:pt x="618066" y="85903"/>
                    <a:pt x="618066" y="116910"/>
                  </a:cubicBezTo>
                  <a:lnTo>
                    <a:pt x="618066" y="594290"/>
                  </a:lnTo>
                  <a:cubicBezTo>
                    <a:pt x="618066" y="625297"/>
                    <a:pt x="605749" y="655033"/>
                    <a:pt x="583824" y="676958"/>
                  </a:cubicBezTo>
                  <a:cubicBezTo>
                    <a:pt x="561899" y="698883"/>
                    <a:pt x="532163" y="711200"/>
                    <a:pt x="501157" y="711200"/>
                  </a:cubicBezTo>
                  <a:lnTo>
                    <a:pt x="116910" y="711200"/>
                  </a:lnTo>
                  <a:cubicBezTo>
                    <a:pt x="85903" y="711200"/>
                    <a:pt x="56167" y="698883"/>
                    <a:pt x="34242" y="676958"/>
                  </a:cubicBezTo>
                  <a:cubicBezTo>
                    <a:pt x="12317" y="655033"/>
                    <a:pt x="0" y="625297"/>
                    <a:pt x="0" y="594290"/>
                  </a:cubicBezTo>
                  <a:lnTo>
                    <a:pt x="0" y="116910"/>
                  </a:lnTo>
                  <a:cubicBezTo>
                    <a:pt x="0" y="85903"/>
                    <a:pt x="12317" y="56167"/>
                    <a:pt x="34242" y="34242"/>
                  </a:cubicBezTo>
                  <a:cubicBezTo>
                    <a:pt x="56167" y="12317"/>
                    <a:pt x="85903" y="0"/>
                    <a:pt x="116910" y="0"/>
                  </a:cubicBezTo>
                  <a:close/>
                </a:path>
              </a:pathLst>
            </a:custGeom>
            <a:solidFill>
              <a:srgbClr val="B7B7B7"/>
            </a:solidFill>
          </p:spPr>
        </p:sp>
        <p:sp>
          <p:nvSpPr>
            <p:cNvPr name="TextBox 135" id="135"/>
            <p:cNvSpPr txBox="true"/>
            <p:nvPr/>
          </p:nvSpPr>
          <p:spPr>
            <a:xfrm>
              <a:off x="0" y="-28575"/>
              <a:ext cx="618066" cy="739775"/>
            </a:xfrm>
            <a:prstGeom prst="rect">
              <a:avLst/>
            </a:prstGeom>
          </p:spPr>
          <p:txBody>
            <a:bodyPr anchor="ctr" rtlCol="false" tIns="50800" lIns="50800" bIns="50800" rIns="50800"/>
            <a:lstStyle/>
            <a:p>
              <a:pPr algn="l">
                <a:lnSpc>
                  <a:spcPts val="1679"/>
                </a:lnSpc>
              </a:pPr>
            </a:p>
          </p:txBody>
        </p:sp>
      </p:grpSp>
      <p:sp>
        <p:nvSpPr>
          <p:cNvPr name="TextBox 136" id="136"/>
          <p:cNvSpPr txBox="true"/>
          <p:nvPr/>
        </p:nvSpPr>
        <p:spPr>
          <a:xfrm rot="0">
            <a:off x="9353550" y="4010025"/>
            <a:ext cx="618066" cy="207645"/>
          </a:xfrm>
          <a:prstGeom prst="rect">
            <a:avLst/>
          </a:prstGeom>
        </p:spPr>
        <p:txBody>
          <a:bodyPr anchor="t" rtlCol="false" tIns="0" lIns="0" bIns="0" rIns="0">
            <a:spAutoFit/>
          </a:bodyPr>
          <a:lstStyle/>
          <a:p>
            <a:pPr algn="ctr" marL="0" indent="0" lvl="0">
              <a:lnSpc>
                <a:spcPts val="1679"/>
              </a:lnSpc>
              <a:spcBef>
                <a:spcPct val="0"/>
              </a:spcBef>
            </a:pPr>
            <a:r>
              <a:rPr lang="en-US" sz="1200" strike="noStrike" u="none">
                <a:solidFill>
                  <a:srgbClr val="1E293B"/>
                </a:solidFill>
                <a:latin typeface="프리텐다드"/>
                <a:ea typeface="프리텐다드"/>
                <a:cs typeface="프리텐다드"/>
                <a:sym typeface="프리텐다드"/>
              </a:rPr>
              <a:t>1197</a:t>
            </a:r>
          </a:p>
        </p:txBody>
      </p:sp>
      <p:sp>
        <p:nvSpPr>
          <p:cNvPr name="TextBox 137" id="137"/>
          <p:cNvSpPr txBox="true"/>
          <p:nvPr/>
        </p:nvSpPr>
        <p:spPr>
          <a:xfrm rot="0">
            <a:off x="9353550" y="4829175"/>
            <a:ext cx="618066" cy="207645"/>
          </a:xfrm>
          <a:prstGeom prst="rect">
            <a:avLst/>
          </a:prstGeom>
        </p:spPr>
        <p:txBody>
          <a:bodyPr anchor="t" rtlCol="false" tIns="0" lIns="0" bIns="0" rIns="0">
            <a:spAutoFit/>
          </a:bodyPr>
          <a:lstStyle/>
          <a:p>
            <a:pPr algn="ctr" marL="0" indent="0" lvl="0">
              <a:lnSpc>
                <a:spcPts val="1679"/>
              </a:lnSpc>
              <a:spcBef>
                <a:spcPct val="0"/>
              </a:spcBef>
            </a:pPr>
            <a:r>
              <a:rPr lang="en-US" sz="1200" strike="noStrike" u="none">
                <a:solidFill>
                  <a:srgbClr val="64748B"/>
                </a:solidFill>
                <a:latin typeface="프리텐다드"/>
                <a:ea typeface="프리텐다드"/>
                <a:cs typeface="프리텐다드"/>
                <a:sym typeface="프리텐다드"/>
              </a:rPr>
              <a:t>2020</a:t>
            </a:r>
          </a:p>
        </p:txBody>
      </p:sp>
      <p:grpSp>
        <p:nvGrpSpPr>
          <p:cNvPr name="Group 138" id="138"/>
          <p:cNvGrpSpPr/>
          <p:nvPr/>
        </p:nvGrpSpPr>
        <p:grpSpPr>
          <a:xfrm rot="0">
            <a:off x="10365633" y="3829050"/>
            <a:ext cx="463550" cy="1009650"/>
            <a:chOff x="0" y="0"/>
            <a:chExt cx="618066" cy="1346200"/>
          </a:xfrm>
        </p:grpSpPr>
        <p:sp>
          <p:nvSpPr>
            <p:cNvPr name="Freeform 139" id="139"/>
            <p:cNvSpPr/>
            <p:nvPr/>
          </p:nvSpPr>
          <p:spPr>
            <a:xfrm flipH="false" flipV="false" rot="0">
              <a:off x="0" y="0"/>
              <a:ext cx="618066" cy="1346200"/>
            </a:xfrm>
            <a:custGeom>
              <a:avLst/>
              <a:gdLst/>
              <a:ahLst/>
              <a:cxnLst/>
              <a:rect r="r" b="b" t="t" l="l"/>
              <a:pathLst>
                <a:path h="1346200" w="618066">
                  <a:moveTo>
                    <a:pt x="116910" y="0"/>
                  </a:moveTo>
                  <a:lnTo>
                    <a:pt x="501157" y="0"/>
                  </a:lnTo>
                  <a:cubicBezTo>
                    <a:pt x="532163" y="0"/>
                    <a:pt x="561899" y="12317"/>
                    <a:pt x="583824" y="34242"/>
                  </a:cubicBezTo>
                  <a:cubicBezTo>
                    <a:pt x="605749" y="56167"/>
                    <a:pt x="618066" y="85903"/>
                    <a:pt x="618066" y="116910"/>
                  </a:cubicBezTo>
                  <a:lnTo>
                    <a:pt x="618066" y="1229290"/>
                  </a:lnTo>
                  <a:cubicBezTo>
                    <a:pt x="618066" y="1260297"/>
                    <a:pt x="605749" y="1290033"/>
                    <a:pt x="583824" y="1311958"/>
                  </a:cubicBezTo>
                  <a:cubicBezTo>
                    <a:pt x="561899" y="1333883"/>
                    <a:pt x="532163" y="1346200"/>
                    <a:pt x="501157" y="1346200"/>
                  </a:cubicBezTo>
                  <a:lnTo>
                    <a:pt x="116910" y="1346200"/>
                  </a:lnTo>
                  <a:cubicBezTo>
                    <a:pt x="85903" y="1346200"/>
                    <a:pt x="56167" y="1333883"/>
                    <a:pt x="34242" y="1311958"/>
                  </a:cubicBezTo>
                  <a:cubicBezTo>
                    <a:pt x="12317" y="1290033"/>
                    <a:pt x="0" y="1260297"/>
                    <a:pt x="0" y="1229290"/>
                  </a:cubicBezTo>
                  <a:lnTo>
                    <a:pt x="0" y="116910"/>
                  </a:lnTo>
                  <a:cubicBezTo>
                    <a:pt x="0" y="85903"/>
                    <a:pt x="12317" y="56167"/>
                    <a:pt x="34242" y="34242"/>
                  </a:cubicBezTo>
                  <a:cubicBezTo>
                    <a:pt x="56167" y="12317"/>
                    <a:pt x="85903" y="0"/>
                    <a:pt x="116910" y="0"/>
                  </a:cubicBezTo>
                  <a:close/>
                </a:path>
              </a:pathLst>
            </a:custGeom>
            <a:solidFill>
              <a:srgbClr val="B7B7B7"/>
            </a:solidFill>
          </p:spPr>
        </p:sp>
        <p:sp>
          <p:nvSpPr>
            <p:cNvPr name="TextBox 140" id="140"/>
            <p:cNvSpPr txBox="true"/>
            <p:nvPr/>
          </p:nvSpPr>
          <p:spPr>
            <a:xfrm>
              <a:off x="0" y="-28575"/>
              <a:ext cx="618066" cy="1374775"/>
            </a:xfrm>
            <a:prstGeom prst="rect">
              <a:avLst/>
            </a:prstGeom>
          </p:spPr>
          <p:txBody>
            <a:bodyPr anchor="ctr" rtlCol="false" tIns="50800" lIns="50800" bIns="50800" rIns="50800"/>
            <a:lstStyle/>
            <a:p>
              <a:pPr algn="l">
                <a:lnSpc>
                  <a:spcPts val="1679"/>
                </a:lnSpc>
              </a:pPr>
            </a:p>
          </p:txBody>
        </p:sp>
      </p:grpSp>
      <p:sp>
        <p:nvSpPr>
          <p:cNvPr name="TextBox 141" id="141"/>
          <p:cNvSpPr txBox="true"/>
          <p:nvPr/>
        </p:nvSpPr>
        <p:spPr>
          <a:xfrm rot="0">
            <a:off x="10288375" y="3533775"/>
            <a:ext cx="618066" cy="207645"/>
          </a:xfrm>
          <a:prstGeom prst="rect">
            <a:avLst/>
          </a:prstGeom>
        </p:spPr>
        <p:txBody>
          <a:bodyPr anchor="t" rtlCol="false" tIns="0" lIns="0" bIns="0" rIns="0">
            <a:spAutoFit/>
          </a:bodyPr>
          <a:lstStyle/>
          <a:p>
            <a:pPr algn="ctr" marL="0" indent="0" lvl="0">
              <a:lnSpc>
                <a:spcPts val="1679"/>
              </a:lnSpc>
              <a:spcBef>
                <a:spcPct val="0"/>
              </a:spcBef>
            </a:pPr>
            <a:r>
              <a:rPr lang="en-US" sz="1200" strike="noStrike" u="none">
                <a:solidFill>
                  <a:srgbClr val="1E293B"/>
                </a:solidFill>
                <a:latin typeface="프리텐다드"/>
                <a:ea typeface="프리텐다드"/>
                <a:cs typeface="프리텐다드"/>
                <a:sym typeface="프리텐다드"/>
              </a:rPr>
              <a:t>2269</a:t>
            </a:r>
          </a:p>
        </p:txBody>
      </p:sp>
      <p:sp>
        <p:nvSpPr>
          <p:cNvPr name="TextBox 142" id="142"/>
          <p:cNvSpPr txBox="true"/>
          <p:nvPr/>
        </p:nvSpPr>
        <p:spPr>
          <a:xfrm rot="0">
            <a:off x="10288375" y="4829175"/>
            <a:ext cx="618066" cy="207645"/>
          </a:xfrm>
          <a:prstGeom prst="rect">
            <a:avLst/>
          </a:prstGeom>
        </p:spPr>
        <p:txBody>
          <a:bodyPr anchor="t" rtlCol="false" tIns="0" lIns="0" bIns="0" rIns="0">
            <a:spAutoFit/>
          </a:bodyPr>
          <a:lstStyle/>
          <a:p>
            <a:pPr algn="ctr" marL="0" indent="0" lvl="0">
              <a:lnSpc>
                <a:spcPts val="1679"/>
              </a:lnSpc>
              <a:spcBef>
                <a:spcPct val="0"/>
              </a:spcBef>
            </a:pPr>
            <a:r>
              <a:rPr lang="en-US" sz="1200" strike="noStrike" u="none">
                <a:solidFill>
                  <a:srgbClr val="64748B"/>
                </a:solidFill>
                <a:latin typeface="프리텐다드"/>
                <a:ea typeface="프리텐다드"/>
                <a:cs typeface="프리텐다드"/>
                <a:sym typeface="프리텐다드"/>
              </a:rPr>
              <a:t>2021</a:t>
            </a:r>
          </a:p>
        </p:txBody>
      </p:sp>
      <p:grpSp>
        <p:nvGrpSpPr>
          <p:cNvPr name="Group 143" id="143"/>
          <p:cNvGrpSpPr/>
          <p:nvPr/>
        </p:nvGrpSpPr>
        <p:grpSpPr>
          <a:xfrm rot="0">
            <a:off x="11300458" y="3476625"/>
            <a:ext cx="463550" cy="1362075"/>
            <a:chOff x="0" y="0"/>
            <a:chExt cx="618066" cy="1816100"/>
          </a:xfrm>
        </p:grpSpPr>
        <p:sp>
          <p:nvSpPr>
            <p:cNvPr name="Freeform 144" id="144"/>
            <p:cNvSpPr/>
            <p:nvPr/>
          </p:nvSpPr>
          <p:spPr>
            <a:xfrm flipH="false" flipV="false" rot="0">
              <a:off x="0" y="0"/>
              <a:ext cx="618066" cy="1816100"/>
            </a:xfrm>
            <a:custGeom>
              <a:avLst/>
              <a:gdLst/>
              <a:ahLst/>
              <a:cxnLst/>
              <a:rect r="r" b="b" t="t" l="l"/>
              <a:pathLst>
                <a:path h="1816100" w="618066">
                  <a:moveTo>
                    <a:pt x="116910" y="0"/>
                  </a:moveTo>
                  <a:lnTo>
                    <a:pt x="501157" y="0"/>
                  </a:lnTo>
                  <a:cubicBezTo>
                    <a:pt x="532163" y="0"/>
                    <a:pt x="561899" y="12317"/>
                    <a:pt x="583824" y="34242"/>
                  </a:cubicBezTo>
                  <a:cubicBezTo>
                    <a:pt x="605749" y="56167"/>
                    <a:pt x="618066" y="85903"/>
                    <a:pt x="618066" y="116910"/>
                  </a:cubicBezTo>
                  <a:lnTo>
                    <a:pt x="618066" y="1699190"/>
                  </a:lnTo>
                  <a:cubicBezTo>
                    <a:pt x="618066" y="1730197"/>
                    <a:pt x="605749" y="1759933"/>
                    <a:pt x="583824" y="1781858"/>
                  </a:cubicBezTo>
                  <a:cubicBezTo>
                    <a:pt x="561899" y="1803783"/>
                    <a:pt x="532163" y="1816100"/>
                    <a:pt x="501157" y="1816100"/>
                  </a:cubicBezTo>
                  <a:lnTo>
                    <a:pt x="116910" y="1816100"/>
                  </a:lnTo>
                  <a:cubicBezTo>
                    <a:pt x="85903" y="1816100"/>
                    <a:pt x="56167" y="1803783"/>
                    <a:pt x="34242" y="1781858"/>
                  </a:cubicBezTo>
                  <a:cubicBezTo>
                    <a:pt x="12317" y="1759933"/>
                    <a:pt x="0" y="1730197"/>
                    <a:pt x="0" y="1699190"/>
                  </a:cubicBezTo>
                  <a:lnTo>
                    <a:pt x="0" y="116910"/>
                  </a:lnTo>
                  <a:cubicBezTo>
                    <a:pt x="0" y="85903"/>
                    <a:pt x="12317" y="56167"/>
                    <a:pt x="34242" y="34242"/>
                  </a:cubicBezTo>
                  <a:cubicBezTo>
                    <a:pt x="56167" y="12317"/>
                    <a:pt x="85903" y="0"/>
                    <a:pt x="116910" y="0"/>
                  </a:cubicBezTo>
                  <a:close/>
                </a:path>
              </a:pathLst>
            </a:custGeom>
            <a:solidFill>
              <a:srgbClr val="B7B7B7"/>
            </a:solidFill>
          </p:spPr>
        </p:sp>
        <p:sp>
          <p:nvSpPr>
            <p:cNvPr name="TextBox 145" id="145"/>
            <p:cNvSpPr txBox="true"/>
            <p:nvPr/>
          </p:nvSpPr>
          <p:spPr>
            <a:xfrm>
              <a:off x="0" y="-28575"/>
              <a:ext cx="618066" cy="1844675"/>
            </a:xfrm>
            <a:prstGeom prst="rect">
              <a:avLst/>
            </a:prstGeom>
          </p:spPr>
          <p:txBody>
            <a:bodyPr anchor="ctr" rtlCol="false" tIns="50800" lIns="50800" bIns="50800" rIns="50800"/>
            <a:lstStyle/>
            <a:p>
              <a:pPr algn="l">
                <a:lnSpc>
                  <a:spcPts val="1679"/>
                </a:lnSpc>
              </a:pPr>
            </a:p>
          </p:txBody>
        </p:sp>
      </p:grpSp>
      <p:sp>
        <p:nvSpPr>
          <p:cNvPr name="TextBox 146" id="146"/>
          <p:cNvSpPr txBox="true"/>
          <p:nvPr/>
        </p:nvSpPr>
        <p:spPr>
          <a:xfrm rot="0">
            <a:off x="11223200" y="3181350"/>
            <a:ext cx="618066" cy="207645"/>
          </a:xfrm>
          <a:prstGeom prst="rect">
            <a:avLst/>
          </a:prstGeom>
        </p:spPr>
        <p:txBody>
          <a:bodyPr anchor="t" rtlCol="false" tIns="0" lIns="0" bIns="0" rIns="0">
            <a:spAutoFit/>
          </a:bodyPr>
          <a:lstStyle/>
          <a:p>
            <a:pPr algn="ctr" marL="0" indent="0" lvl="0">
              <a:lnSpc>
                <a:spcPts val="1679"/>
              </a:lnSpc>
              <a:spcBef>
                <a:spcPct val="0"/>
              </a:spcBef>
            </a:pPr>
            <a:r>
              <a:rPr lang="en-US" sz="1200" strike="noStrike" u="none">
                <a:solidFill>
                  <a:srgbClr val="1E293B"/>
                </a:solidFill>
                <a:latin typeface="프리텐다드"/>
                <a:ea typeface="프리텐다드"/>
                <a:cs typeface="프리텐다드"/>
                <a:sym typeface="프리텐다드"/>
              </a:rPr>
              <a:t>3035</a:t>
            </a:r>
          </a:p>
        </p:txBody>
      </p:sp>
      <p:sp>
        <p:nvSpPr>
          <p:cNvPr name="TextBox 147" id="147"/>
          <p:cNvSpPr txBox="true"/>
          <p:nvPr/>
        </p:nvSpPr>
        <p:spPr>
          <a:xfrm rot="0">
            <a:off x="11223200" y="4829175"/>
            <a:ext cx="618066" cy="207645"/>
          </a:xfrm>
          <a:prstGeom prst="rect">
            <a:avLst/>
          </a:prstGeom>
        </p:spPr>
        <p:txBody>
          <a:bodyPr anchor="t" rtlCol="false" tIns="0" lIns="0" bIns="0" rIns="0">
            <a:spAutoFit/>
          </a:bodyPr>
          <a:lstStyle/>
          <a:p>
            <a:pPr algn="ctr" marL="0" indent="0" lvl="0">
              <a:lnSpc>
                <a:spcPts val="1679"/>
              </a:lnSpc>
              <a:spcBef>
                <a:spcPct val="0"/>
              </a:spcBef>
            </a:pPr>
            <a:r>
              <a:rPr lang="en-US" sz="1200" strike="noStrike" u="none">
                <a:solidFill>
                  <a:srgbClr val="64748B"/>
                </a:solidFill>
                <a:latin typeface="프리텐다드"/>
                <a:ea typeface="프리텐다드"/>
                <a:cs typeface="프리텐다드"/>
                <a:sym typeface="프리텐다드"/>
              </a:rPr>
              <a:t>2022</a:t>
            </a:r>
          </a:p>
        </p:txBody>
      </p:sp>
      <p:grpSp>
        <p:nvGrpSpPr>
          <p:cNvPr name="Group 148" id="148"/>
          <p:cNvGrpSpPr/>
          <p:nvPr/>
        </p:nvGrpSpPr>
        <p:grpSpPr>
          <a:xfrm rot="0">
            <a:off x="12235283" y="2571750"/>
            <a:ext cx="463550" cy="2266950"/>
            <a:chOff x="0" y="0"/>
            <a:chExt cx="618114" cy="3022600"/>
          </a:xfrm>
        </p:grpSpPr>
        <p:sp>
          <p:nvSpPr>
            <p:cNvPr name="Freeform 149" id="149"/>
            <p:cNvSpPr/>
            <p:nvPr/>
          </p:nvSpPr>
          <p:spPr>
            <a:xfrm flipH="false" flipV="false" rot="0">
              <a:off x="0" y="0"/>
              <a:ext cx="618114" cy="3022600"/>
            </a:xfrm>
            <a:custGeom>
              <a:avLst/>
              <a:gdLst/>
              <a:ahLst/>
              <a:cxnLst/>
              <a:rect r="r" b="b" t="t" l="l"/>
              <a:pathLst>
                <a:path h="3022600" w="618114">
                  <a:moveTo>
                    <a:pt x="618114" y="116910"/>
                  </a:moveTo>
                  <a:lnTo>
                    <a:pt x="618114" y="2905690"/>
                  </a:lnTo>
                  <a:cubicBezTo>
                    <a:pt x="618114" y="2936697"/>
                    <a:pt x="605796" y="2966433"/>
                    <a:pt x="583871" y="2988358"/>
                  </a:cubicBezTo>
                  <a:cubicBezTo>
                    <a:pt x="561947" y="3010283"/>
                    <a:pt x="532210" y="3022600"/>
                    <a:pt x="501204" y="3022600"/>
                  </a:cubicBezTo>
                  <a:lnTo>
                    <a:pt x="116910" y="3022600"/>
                  </a:lnTo>
                  <a:cubicBezTo>
                    <a:pt x="85903" y="3022600"/>
                    <a:pt x="56167" y="3010283"/>
                    <a:pt x="34242" y="2988358"/>
                  </a:cubicBezTo>
                  <a:cubicBezTo>
                    <a:pt x="12317" y="2966433"/>
                    <a:pt x="0" y="2936697"/>
                    <a:pt x="0" y="2905690"/>
                  </a:cubicBezTo>
                  <a:lnTo>
                    <a:pt x="0" y="116910"/>
                  </a:lnTo>
                  <a:cubicBezTo>
                    <a:pt x="0" y="85903"/>
                    <a:pt x="12317" y="56167"/>
                    <a:pt x="34242" y="34242"/>
                  </a:cubicBezTo>
                  <a:cubicBezTo>
                    <a:pt x="56167" y="12317"/>
                    <a:pt x="85903" y="0"/>
                    <a:pt x="116910" y="0"/>
                  </a:cubicBezTo>
                  <a:lnTo>
                    <a:pt x="501204" y="0"/>
                  </a:lnTo>
                  <a:cubicBezTo>
                    <a:pt x="532210" y="0"/>
                    <a:pt x="561947" y="12317"/>
                    <a:pt x="583871" y="34242"/>
                  </a:cubicBezTo>
                  <a:cubicBezTo>
                    <a:pt x="605796" y="56167"/>
                    <a:pt x="618114" y="85903"/>
                    <a:pt x="618114" y="116910"/>
                  </a:cubicBezTo>
                  <a:close/>
                </a:path>
              </a:pathLst>
            </a:custGeom>
            <a:solidFill>
              <a:srgbClr val="4285F4"/>
            </a:solidFill>
            <a:ln cap="sq">
              <a:noFill/>
              <a:prstDash val="lgDash"/>
              <a:miter/>
            </a:ln>
          </p:spPr>
        </p:sp>
        <p:sp>
          <p:nvSpPr>
            <p:cNvPr name="TextBox 150" id="150"/>
            <p:cNvSpPr txBox="true"/>
            <p:nvPr/>
          </p:nvSpPr>
          <p:spPr>
            <a:xfrm>
              <a:off x="0" y="-28575"/>
              <a:ext cx="618114" cy="3051175"/>
            </a:xfrm>
            <a:prstGeom prst="rect">
              <a:avLst/>
            </a:prstGeom>
          </p:spPr>
          <p:txBody>
            <a:bodyPr anchor="ctr" rtlCol="false" tIns="50800" lIns="50800" bIns="50800" rIns="50800"/>
            <a:lstStyle/>
            <a:p>
              <a:pPr algn="l">
                <a:lnSpc>
                  <a:spcPts val="1679"/>
                </a:lnSpc>
              </a:pPr>
            </a:p>
          </p:txBody>
        </p:sp>
      </p:grpSp>
      <p:sp>
        <p:nvSpPr>
          <p:cNvPr name="TextBox 151" id="151"/>
          <p:cNvSpPr txBox="true"/>
          <p:nvPr/>
        </p:nvSpPr>
        <p:spPr>
          <a:xfrm rot="0">
            <a:off x="12158025" y="2276475"/>
            <a:ext cx="618066" cy="207645"/>
          </a:xfrm>
          <a:prstGeom prst="rect">
            <a:avLst/>
          </a:prstGeom>
        </p:spPr>
        <p:txBody>
          <a:bodyPr anchor="t" rtlCol="false" tIns="0" lIns="0" bIns="0" rIns="0">
            <a:spAutoFit/>
          </a:bodyPr>
          <a:lstStyle/>
          <a:p>
            <a:pPr algn="ctr" marL="0" indent="0" lvl="0">
              <a:lnSpc>
                <a:spcPts val="1679"/>
              </a:lnSpc>
              <a:spcBef>
                <a:spcPct val="0"/>
              </a:spcBef>
            </a:pPr>
            <a:r>
              <a:rPr lang="en-US" sz="1200" strike="noStrike" u="none">
                <a:solidFill>
                  <a:srgbClr val="1E293B"/>
                </a:solidFill>
                <a:latin typeface="프리텐다드"/>
                <a:ea typeface="프리텐다드"/>
                <a:cs typeface="프리텐다드"/>
                <a:sym typeface="프리텐다드"/>
              </a:rPr>
              <a:t>5050</a:t>
            </a:r>
          </a:p>
        </p:txBody>
      </p:sp>
      <p:sp>
        <p:nvSpPr>
          <p:cNvPr name="TextBox 152" id="152"/>
          <p:cNvSpPr txBox="true"/>
          <p:nvPr/>
        </p:nvSpPr>
        <p:spPr>
          <a:xfrm rot="0">
            <a:off x="12158025" y="4829175"/>
            <a:ext cx="618066" cy="207645"/>
          </a:xfrm>
          <a:prstGeom prst="rect">
            <a:avLst/>
          </a:prstGeom>
        </p:spPr>
        <p:txBody>
          <a:bodyPr anchor="t" rtlCol="false" tIns="0" lIns="0" bIns="0" rIns="0">
            <a:spAutoFit/>
          </a:bodyPr>
          <a:lstStyle/>
          <a:p>
            <a:pPr algn="ctr" marL="0" indent="0" lvl="0">
              <a:lnSpc>
                <a:spcPts val="1679"/>
              </a:lnSpc>
              <a:spcBef>
                <a:spcPct val="0"/>
              </a:spcBef>
            </a:pPr>
            <a:r>
              <a:rPr lang="en-US" sz="1200" strike="noStrike" u="none">
                <a:solidFill>
                  <a:srgbClr val="64748B"/>
                </a:solidFill>
                <a:latin typeface="프리텐다드"/>
                <a:ea typeface="프리텐다드"/>
                <a:cs typeface="프리텐다드"/>
                <a:sym typeface="프리텐다드"/>
              </a:rPr>
              <a:t>2023</a:t>
            </a:r>
          </a:p>
        </p:txBody>
      </p:sp>
      <p:sp>
        <p:nvSpPr>
          <p:cNvPr name="TextBox 153" id="153"/>
          <p:cNvSpPr txBox="true"/>
          <p:nvPr/>
        </p:nvSpPr>
        <p:spPr>
          <a:xfrm rot="0">
            <a:off x="8658225" y="2076450"/>
            <a:ext cx="309033" cy="165100"/>
          </a:xfrm>
          <a:prstGeom prst="rect">
            <a:avLst/>
          </a:prstGeom>
        </p:spPr>
        <p:txBody>
          <a:bodyPr anchor="t" rtlCol="false" tIns="0" lIns="0" bIns="0" rIns="0">
            <a:spAutoFit/>
          </a:bodyPr>
          <a:lstStyle/>
          <a:p>
            <a:pPr algn="r" marL="0" indent="0" lvl="0">
              <a:lnSpc>
                <a:spcPts val="1399"/>
              </a:lnSpc>
              <a:spcBef>
                <a:spcPct val="0"/>
              </a:spcBef>
            </a:pPr>
            <a:r>
              <a:rPr lang="en-US" sz="999" strike="noStrike" u="none">
                <a:solidFill>
                  <a:srgbClr val="94A3B8"/>
                </a:solidFill>
                <a:latin typeface="프리텐다드"/>
                <a:ea typeface="프리텐다드"/>
                <a:cs typeface="프리텐다드"/>
                <a:sym typeface="프리텐다드"/>
              </a:rPr>
              <a:t>5000</a:t>
            </a:r>
          </a:p>
        </p:txBody>
      </p:sp>
      <p:sp>
        <p:nvSpPr>
          <p:cNvPr name="TextBox 154" id="154"/>
          <p:cNvSpPr txBox="true"/>
          <p:nvPr/>
        </p:nvSpPr>
        <p:spPr>
          <a:xfrm rot="0">
            <a:off x="8658225" y="2743200"/>
            <a:ext cx="309033" cy="165100"/>
          </a:xfrm>
          <a:prstGeom prst="rect">
            <a:avLst/>
          </a:prstGeom>
        </p:spPr>
        <p:txBody>
          <a:bodyPr anchor="t" rtlCol="false" tIns="0" lIns="0" bIns="0" rIns="0">
            <a:spAutoFit/>
          </a:bodyPr>
          <a:lstStyle/>
          <a:p>
            <a:pPr algn="r" marL="0" indent="0" lvl="0">
              <a:lnSpc>
                <a:spcPts val="1399"/>
              </a:lnSpc>
              <a:spcBef>
                <a:spcPct val="0"/>
              </a:spcBef>
            </a:pPr>
            <a:r>
              <a:rPr lang="en-US" sz="999" strike="noStrike" u="none">
                <a:solidFill>
                  <a:srgbClr val="94A3B8"/>
                </a:solidFill>
                <a:latin typeface="프리텐다드"/>
                <a:ea typeface="프리텐다드"/>
                <a:cs typeface="프리텐다드"/>
                <a:sym typeface="프리텐다드"/>
              </a:rPr>
              <a:t>3750</a:t>
            </a:r>
          </a:p>
        </p:txBody>
      </p:sp>
      <p:sp>
        <p:nvSpPr>
          <p:cNvPr name="TextBox 155" id="155"/>
          <p:cNvSpPr txBox="true"/>
          <p:nvPr/>
        </p:nvSpPr>
        <p:spPr>
          <a:xfrm rot="0">
            <a:off x="8658225" y="3409950"/>
            <a:ext cx="309033" cy="165100"/>
          </a:xfrm>
          <a:prstGeom prst="rect">
            <a:avLst/>
          </a:prstGeom>
        </p:spPr>
        <p:txBody>
          <a:bodyPr anchor="t" rtlCol="false" tIns="0" lIns="0" bIns="0" rIns="0">
            <a:spAutoFit/>
          </a:bodyPr>
          <a:lstStyle/>
          <a:p>
            <a:pPr algn="r" marL="0" indent="0" lvl="0">
              <a:lnSpc>
                <a:spcPts val="1399"/>
              </a:lnSpc>
              <a:spcBef>
                <a:spcPct val="0"/>
              </a:spcBef>
            </a:pPr>
            <a:r>
              <a:rPr lang="en-US" sz="999" strike="noStrike" u="none">
                <a:solidFill>
                  <a:srgbClr val="94A3B8"/>
                </a:solidFill>
                <a:latin typeface="프리텐다드"/>
                <a:ea typeface="프리텐다드"/>
                <a:cs typeface="프리텐다드"/>
                <a:sym typeface="프리텐다드"/>
              </a:rPr>
              <a:t>2500</a:t>
            </a:r>
          </a:p>
        </p:txBody>
      </p:sp>
      <p:sp>
        <p:nvSpPr>
          <p:cNvPr name="TextBox 156" id="156"/>
          <p:cNvSpPr txBox="true"/>
          <p:nvPr/>
        </p:nvSpPr>
        <p:spPr>
          <a:xfrm rot="0">
            <a:off x="8658225" y="4076700"/>
            <a:ext cx="309033" cy="165100"/>
          </a:xfrm>
          <a:prstGeom prst="rect">
            <a:avLst/>
          </a:prstGeom>
        </p:spPr>
        <p:txBody>
          <a:bodyPr anchor="t" rtlCol="false" tIns="0" lIns="0" bIns="0" rIns="0">
            <a:spAutoFit/>
          </a:bodyPr>
          <a:lstStyle/>
          <a:p>
            <a:pPr algn="r" marL="0" indent="0" lvl="0">
              <a:lnSpc>
                <a:spcPts val="1399"/>
              </a:lnSpc>
              <a:spcBef>
                <a:spcPct val="0"/>
              </a:spcBef>
            </a:pPr>
            <a:r>
              <a:rPr lang="en-US" sz="999" strike="noStrike" u="none">
                <a:solidFill>
                  <a:srgbClr val="94A3B8"/>
                </a:solidFill>
                <a:latin typeface="프리텐다드"/>
                <a:ea typeface="프리텐다드"/>
                <a:cs typeface="프리텐다드"/>
                <a:sym typeface="프리텐다드"/>
              </a:rPr>
              <a:t>1250</a:t>
            </a:r>
          </a:p>
        </p:txBody>
      </p:sp>
      <p:sp>
        <p:nvSpPr>
          <p:cNvPr name="TextBox 157" id="157"/>
          <p:cNvSpPr txBox="true"/>
          <p:nvPr/>
        </p:nvSpPr>
        <p:spPr>
          <a:xfrm rot="0">
            <a:off x="8658225" y="4743450"/>
            <a:ext cx="309033" cy="165100"/>
          </a:xfrm>
          <a:prstGeom prst="rect">
            <a:avLst/>
          </a:prstGeom>
        </p:spPr>
        <p:txBody>
          <a:bodyPr anchor="t" rtlCol="false" tIns="0" lIns="0" bIns="0" rIns="0">
            <a:spAutoFit/>
          </a:bodyPr>
          <a:lstStyle/>
          <a:p>
            <a:pPr algn="r" marL="0" indent="0" lvl="0">
              <a:lnSpc>
                <a:spcPts val="1399"/>
              </a:lnSpc>
              <a:spcBef>
                <a:spcPct val="0"/>
              </a:spcBef>
            </a:pPr>
            <a:r>
              <a:rPr lang="en-US" sz="999" strike="noStrike" u="none">
                <a:solidFill>
                  <a:srgbClr val="94A3B8"/>
                </a:solidFill>
                <a:latin typeface="프리텐다드"/>
                <a:ea typeface="프리텐다드"/>
                <a:cs typeface="프리텐다드"/>
                <a:sym typeface="프리텐다드"/>
              </a:rPr>
              <a:t>0</a:t>
            </a:r>
          </a:p>
        </p:txBody>
      </p:sp>
      <p:grpSp>
        <p:nvGrpSpPr>
          <p:cNvPr name="Group 158" id="158"/>
          <p:cNvGrpSpPr/>
          <p:nvPr/>
        </p:nvGrpSpPr>
        <p:grpSpPr>
          <a:xfrm rot="0">
            <a:off x="8658225" y="5437270"/>
            <a:ext cx="8985138" cy="368998"/>
            <a:chOff x="0" y="0"/>
            <a:chExt cx="11980184" cy="491998"/>
          </a:xfrm>
        </p:grpSpPr>
        <p:sp>
          <p:nvSpPr>
            <p:cNvPr name="Freeform 159" id="159"/>
            <p:cNvSpPr/>
            <p:nvPr/>
          </p:nvSpPr>
          <p:spPr>
            <a:xfrm flipH="false" flipV="false" rot="0">
              <a:off x="0" y="0"/>
              <a:ext cx="11980132" cy="491998"/>
            </a:xfrm>
            <a:custGeom>
              <a:avLst/>
              <a:gdLst/>
              <a:ahLst/>
              <a:cxnLst/>
              <a:rect r="r" b="b" t="t" l="l"/>
              <a:pathLst>
                <a:path h="491998" w="11980132">
                  <a:moveTo>
                    <a:pt x="0" y="0"/>
                  </a:moveTo>
                  <a:lnTo>
                    <a:pt x="11980132" y="0"/>
                  </a:lnTo>
                  <a:lnTo>
                    <a:pt x="11980132" y="491998"/>
                  </a:lnTo>
                  <a:lnTo>
                    <a:pt x="0" y="491998"/>
                  </a:lnTo>
                  <a:lnTo>
                    <a:pt x="0" y="0"/>
                  </a:lnTo>
                  <a:close/>
                </a:path>
              </a:pathLst>
            </a:custGeom>
            <a:blipFill>
              <a:blip r:embed="rId3"/>
              <a:stretch>
                <a:fillRect l="-11320" t="0" r="-11321" b="-1170067"/>
              </a:stretch>
            </a:blipFill>
          </p:spPr>
        </p:sp>
      </p:grpSp>
      <p:sp>
        <p:nvSpPr>
          <p:cNvPr name="AutoShape 160" id="160"/>
          <p:cNvSpPr/>
          <p:nvPr/>
        </p:nvSpPr>
        <p:spPr>
          <a:xfrm>
            <a:off x="8292354" y="1807280"/>
            <a:ext cx="19035" cy="8138852"/>
          </a:xfrm>
          <a:prstGeom prst="line">
            <a:avLst/>
          </a:prstGeom>
          <a:ln cap="rnd" w="9525">
            <a:solidFill>
              <a:srgbClr val="E2E8F0"/>
            </a:solidFill>
            <a:prstDash val="solid"/>
            <a:headEnd type="none" len="sm" w="sm"/>
            <a:tailEnd type="none" len="sm" w="sm"/>
          </a:ln>
        </p:spPr>
      </p:sp>
      <p:sp>
        <p:nvSpPr>
          <p:cNvPr name="TextBox 161" id="161"/>
          <p:cNvSpPr txBox="true"/>
          <p:nvPr/>
        </p:nvSpPr>
        <p:spPr>
          <a:xfrm rot="0">
            <a:off x="866327" y="922649"/>
            <a:ext cx="12686548" cy="400050"/>
          </a:xfrm>
          <a:prstGeom prst="rect">
            <a:avLst/>
          </a:prstGeom>
        </p:spPr>
        <p:txBody>
          <a:bodyPr anchor="t" rtlCol="false" tIns="0" lIns="0" bIns="0" rIns="0">
            <a:spAutoFit/>
          </a:bodyPr>
          <a:lstStyle/>
          <a:p>
            <a:pPr algn="l">
              <a:lnSpc>
                <a:spcPts val="3120"/>
              </a:lnSpc>
            </a:pPr>
            <a:r>
              <a:rPr lang="en-US" b="true" sz="2600">
                <a:solidFill>
                  <a:srgbClr val="4285F4"/>
                </a:solidFill>
                <a:latin typeface="프리텐다드 Bold"/>
                <a:ea typeface="프리텐다드 Bold"/>
                <a:cs typeface="프리텐다드 Bold"/>
                <a:sym typeface="프리텐다드 Bold"/>
              </a:rPr>
              <a:t>교권 침해의 실태 및 현황</a:t>
            </a:r>
          </a:p>
        </p:txBody>
      </p:sp>
      <p:sp>
        <p:nvSpPr>
          <p:cNvPr name="TextBox 162" id="162"/>
          <p:cNvSpPr txBox="true"/>
          <p:nvPr/>
        </p:nvSpPr>
        <p:spPr>
          <a:xfrm rot="0">
            <a:off x="8658225" y="1771650"/>
            <a:ext cx="4295560" cy="273685"/>
          </a:xfrm>
          <a:prstGeom prst="rect">
            <a:avLst/>
          </a:prstGeom>
        </p:spPr>
        <p:txBody>
          <a:bodyPr anchor="t" rtlCol="false" tIns="0" lIns="0" bIns="0" rIns="0">
            <a:spAutoFit/>
          </a:bodyPr>
          <a:lstStyle/>
          <a:p>
            <a:pPr algn="ctr" marL="0" indent="0" lvl="0">
              <a:lnSpc>
                <a:spcPts val="2239"/>
              </a:lnSpc>
              <a:spcBef>
                <a:spcPct val="0"/>
              </a:spcBef>
            </a:pPr>
            <a:r>
              <a:rPr lang="en-US" b="true" sz="1599" strike="noStrike" u="none">
                <a:solidFill>
                  <a:srgbClr val="1E293B"/>
                </a:solidFill>
                <a:latin typeface="프리텐다드 Bold"/>
                <a:ea typeface="프리텐다드 Bold"/>
                <a:cs typeface="프리텐다드 Bold"/>
                <a:sym typeface="프리텐다드 Bold"/>
              </a:rPr>
              <a:t>교권보호위 심의 건수 추이</a:t>
            </a:r>
          </a:p>
        </p:txBody>
      </p:sp>
      <p:sp>
        <p:nvSpPr>
          <p:cNvPr name="TextBox 163" id="163"/>
          <p:cNvSpPr txBox="true"/>
          <p:nvPr/>
        </p:nvSpPr>
        <p:spPr>
          <a:xfrm rot="0">
            <a:off x="12938334" y="1743075"/>
            <a:ext cx="4705029" cy="273685"/>
          </a:xfrm>
          <a:prstGeom prst="rect">
            <a:avLst/>
          </a:prstGeom>
        </p:spPr>
        <p:txBody>
          <a:bodyPr anchor="t" rtlCol="false" tIns="0" lIns="0" bIns="0" rIns="0">
            <a:spAutoFit/>
          </a:bodyPr>
          <a:lstStyle/>
          <a:p>
            <a:pPr algn="ctr" marL="0" indent="0" lvl="0">
              <a:lnSpc>
                <a:spcPts val="2239"/>
              </a:lnSpc>
              <a:spcBef>
                <a:spcPct val="0"/>
              </a:spcBef>
            </a:pPr>
            <a:r>
              <a:rPr lang="en-US" b="true" sz="1599" strike="noStrike" u="none">
                <a:solidFill>
                  <a:srgbClr val="1E293B"/>
                </a:solidFill>
                <a:latin typeface="프리텐다드 Bold"/>
                <a:ea typeface="프리텐다드 Bold"/>
                <a:cs typeface="프리텐다드 Bold"/>
                <a:sym typeface="프리텐다드 Bold"/>
              </a:rPr>
              <a:t>교권침해 실태 현황</a:t>
            </a:r>
          </a:p>
        </p:txBody>
      </p:sp>
      <p:sp>
        <p:nvSpPr>
          <p:cNvPr name="TextBox 164" id="164"/>
          <p:cNvSpPr txBox="true"/>
          <p:nvPr/>
        </p:nvSpPr>
        <p:spPr>
          <a:xfrm rot="0">
            <a:off x="13023318" y="2009775"/>
            <a:ext cx="772583" cy="165100"/>
          </a:xfrm>
          <a:prstGeom prst="rect">
            <a:avLst/>
          </a:prstGeom>
        </p:spPr>
        <p:txBody>
          <a:bodyPr anchor="t" rtlCol="false" tIns="0" lIns="0" bIns="0" rIns="0">
            <a:spAutoFit/>
          </a:bodyPr>
          <a:lstStyle/>
          <a:p>
            <a:pPr algn="l" marL="0" indent="0" lvl="0">
              <a:lnSpc>
                <a:spcPts val="1399"/>
              </a:lnSpc>
              <a:spcBef>
                <a:spcPct val="0"/>
              </a:spcBef>
            </a:pPr>
            <a:r>
              <a:rPr lang="en-US" sz="999" strike="noStrike" u="none">
                <a:solidFill>
                  <a:srgbClr val="94A3B8"/>
                </a:solidFill>
                <a:latin typeface="프리텐다드"/>
                <a:ea typeface="프리텐다드"/>
                <a:cs typeface="프리텐다드"/>
                <a:sym typeface="프리텐다드"/>
              </a:rPr>
              <a:t>경험률 (%)</a:t>
            </a:r>
          </a:p>
        </p:txBody>
      </p:sp>
      <p:sp>
        <p:nvSpPr>
          <p:cNvPr name="AutoShape 165" id="165"/>
          <p:cNvSpPr/>
          <p:nvPr/>
        </p:nvSpPr>
        <p:spPr>
          <a:xfrm>
            <a:off x="13486868" y="2333625"/>
            <a:ext cx="3932446" cy="0"/>
          </a:xfrm>
          <a:prstGeom prst="line">
            <a:avLst/>
          </a:prstGeom>
          <a:ln cap="flat" w="9525">
            <a:solidFill>
              <a:srgbClr val="E2E8F0"/>
            </a:solidFill>
            <a:prstDash val="solid"/>
            <a:headEnd type="none" len="sm" w="sm"/>
            <a:tailEnd type="none" len="sm" w="sm"/>
          </a:ln>
        </p:spPr>
      </p:sp>
      <p:sp>
        <p:nvSpPr>
          <p:cNvPr name="TextBox 166" id="166"/>
          <p:cNvSpPr txBox="true"/>
          <p:nvPr/>
        </p:nvSpPr>
        <p:spPr>
          <a:xfrm rot="0">
            <a:off x="13177834" y="2238375"/>
            <a:ext cx="270404" cy="165100"/>
          </a:xfrm>
          <a:prstGeom prst="rect">
            <a:avLst/>
          </a:prstGeom>
        </p:spPr>
        <p:txBody>
          <a:bodyPr anchor="t" rtlCol="false" tIns="0" lIns="0" bIns="0" rIns="0">
            <a:spAutoFit/>
          </a:bodyPr>
          <a:lstStyle/>
          <a:p>
            <a:pPr algn="r" marL="0" indent="0" lvl="0">
              <a:lnSpc>
                <a:spcPts val="1399"/>
              </a:lnSpc>
              <a:spcBef>
                <a:spcPct val="0"/>
              </a:spcBef>
            </a:pPr>
            <a:r>
              <a:rPr lang="en-US" sz="999" strike="noStrike" u="none">
                <a:solidFill>
                  <a:srgbClr val="94A3B8"/>
                </a:solidFill>
                <a:latin typeface="프리텐다드"/>
                <a:ea typeface="프리텐다드"/>
                <a:cs typeface="프리텐다드"/>
                <a:sym typeface="프리텐다드"/>
              </a:rPr>
              <a:t>100</a:t>
            </a:r>
          </a:p>
        </p:txBody>
      </p:sp>
      <p:sp>
        <p:nvSpPr>
          <p:cNvPr name="TextBox 167" id="167"/>
          <p:cNvSpPr txBox="true"/>
          <p:nvPr/>
        </p:nvSpPr>
        <p:spPr>
          <a:xfrm rot="0">
            <a:off x="13177834" y="2857500"/>
            <a:ext cx="270404" cy="165100"/>
          </a:xfrm>
          <a:prstGeom prst="rect">
            <a:avLst/>
          </a:prstGeom>
        </p:spPr>
        <p:txBody>
          <a:bodyPr anchor="t" rtlCol="false" tIns="0" lIns="0" bIns="0" rIns="0">
            <a:spAutoFit/>
          </a:bodyPr>
          <a:lstStyle/>
          <a:p>
            <a:pPr algn="r" marL="0" indent="0" lvl="0">
              <a:lnSpc>
                <a:spcPts val="1399"/>
              </a:lnSpc>
              <a:spcBef>
                <a:spcPct val="0"/>
              </a:spcBef>
            </a:pPr>
            <a:r>
              <a:rPr lang="en-US" sz="999" strike="noStrike" u="none">
                <a:solidFill>
                  <a:srgbClr val="94A3B8"/>
                </a:solidFill>
                <a:latin typeface="프리텐다드"/>
                <a:ea typeface="프리텐다드"/>
                <a:cs typeface="프리텐다드"/>
                <a:sym typeface="프리텐다드"/>
              </a:rPr>
              <a:t>75</a:t>
            </a:r>
          </a:p>
        </p:txBody>
      </p:sp>
      <p:sp>
        <p:nvSpPr>
          <p:cNvPr name="TextBox 168" id="168"/>
          <p:cNvSpPr txBox="true"/>
          <p:nvPr/>
        </p:nvSpPr>
        <p:spPr>
          <a:xfrm rot="0">
            <a:off x="13177834" y="3476625"/>
            <a:ext cx="270404" cy="165100"/>
          </a:xfrm>
          <a:prstGeom prst="rect">
            <a:avLst/>
          </a:prstGeom>
        </p:spPr>
        <p:txBody>
          <a:bodyPr anchor="t" rtlCol="false" tIns="0" lIns="0" bIns="0" rIns="0">
            <a:spAutoFit/>
          </a:bodyPr>
          <a:lstStyle/>
          <a:p>
            <a:pPr algn="r" marL="0" indent="0" lvl="0">
              <a:lnSpc>
                <a:spcPts val="1399"/>
              </a:lnSpc>
              <a:spcBef>
                <a:spcPct val="0"/>
              </a:spcBef>
            </a:pPr>
            <a:r>
              <a:rPr lang="en-US" sz="999" strike="noStrike" u="none">
                <a:solidFill>
                  <a:srgbClr val="94A3B8"/>
                </a:solidFill>
                <a:latin typeface="프리텐다드"/>
                <a:ea typeface="프리텐다드"/>
                <a:cs typeface="프리텐다드"/>
                <a:sym typeface="프리텐다드"/>
              </a:rPr>
              <a:t>50</a:t>
            </a:r>
          </a:p>
        </p:txBody>
      </p:sp>
      <p:sp>
        <p:nvSpPr>
          <p:cNvPr name="TextBox 169" id="169"/>
          <p:cNvSpPr txBox="true"/>
          <p:nvPr/>
        </p:nvSpPr>
        <p:spPr>
          <a:xfrm rot="0">
            <a:off x="13177834" y="4095750"/>
            <a:ext cx="270404" cy="165100"/>
          </a:xfrm>
          <a:prstGeom prst="rect">
            <a:avLst/>
          </a:prstGeom>
        </p:spPr>
        <p:txBody>
          <a:bodyPr anchor="t" rtlCol="false" tIns="0" lIns="0" bIns="0" rIns="0">
            <a:spAutoFit/>
          </a:bodyPr>
          <a:lstStyle/>
          <a:p>
            <a:pPr algn="r" marL="0" indent="0" lvl="0">
              <a:lnSpc>
                <a:spcPts val="1399"/>
              </a:lnSpc>
              <a:spcBef>
                <a:spcPct val="0"/>
              </a:spcBef>
            </a:pPr>
            <a:r>
              <a:rPr lang="en-US" sz="999" strike="noStrike" u="none">
                <a:solidFill>
                  <a:srgbClr val="94A3B8"/>
                </a:solidFill>
                <a:latin typeface="프리텐다드"/>
                <a:ea typeface="프리텐다드"/>
                <a:cs typeface="프리텐다드"/>
                <a:sym typeface="프리텐다드"/>
              </a:rPr>
              <a:t>25</a:t>
            </a:r>
          </a:p>
        </p:txBody>
      </p:sp>
      <p:sp>
        <p:nvSpPr>
          <p:cNvPr name="AutoShape 170" id="170"/>
          <p:cNvSpPr/>
          <p:nvPr/>
        </p:nvSpPr>
        <p:spPr>
          <a:xfrm>
            <a:off x="13486868" y="4810125"/>
            <a:ext cx="3932446" cy="0"/>
          </a:xfrm>
          <a:prstGeom prst="line">
            <a:avLst/>
          </a:prstGeom>
          <a:ln cap="flat" w="9525">
            <a:solidFill>
              <a:srgbClr val="E2E8F0"/>
            </a:solidFill>
            <a:prstDash val="solid"/>
            <a:headEnd type="none" len="sm" w="sm"/>
            <a:tailEnd type="none" len="sm" w="sm"/>
          </a:ln>
        </p:spPr>
      </p:sp>
      <p:sp>
        <p:nvSpPr>
          <p:cNvPr name="TextBox 171" id="171"/>
          <p:cNvSpPr txBox="true"/>
          <p:nvPr/>
        </p:nvSpPr>
        <p:spPr>
          <a:xfrm rot="0">
            <a:off x="13177834" y="4714875"/>
            <a:ext cx="270404" cy="165100"/>
          </a:xfrm>
          <a:prstGeom prst="rect">
            <a:avLst/>
          </a:prstGeom>
        </p:spPr>
        <p:txBody>
          <a:bodyPr anchor="t" rtlCol="false" tIns="0" lIns="0" bIns="0" rIns="0">
            <a:spAutoFit/>
          </a:bodyPr>
          <a:lstStyle/>
          <a:p>
            <a:pPr algn="r" marL="0" indent="0" lvl="0">
              <a:lnSpc>
                <a:spcPts val="1399"/>
              </a:lnSpc>
              <a:spcBef>
                <a:spcPct val="0"/>
              </a:spcBef>
            </a:pPr>
            <a:r>
              <a:rPr lang="en-US" sz="999" strike="noStrike" u="none">
                <a:solidFill>
                  <a:srgbClr val="94A3B8"/>
                </a:solidFill>
                <a:latin typeface="프리텐다드"/>
                <a:ea typeface="프리텐다드"/>
                <a:cs typeface="프리텐다드"/>
                <a:sym typeface="프리텐다드"/>
              </a:rPr>
              <a:t>0</a:t>
            </a:r>
          </a:p>
        </p:txBody>
      </p:sp>
      <p:sp>
        <p:nvSpPr>
          <p:cNvPr name="TextBox 172" id="172"/>
          <p:cNvSpPr txBox="true"/>
          <p:nvPr/>
        </p:nvSpPr>
        <p:spPr>
          <a:xfrm rot="0">
            <a:off x="8658225" y="5953125"/>
            <a:ext cx="4663482" cy="240665"/>
          </a:xfrm>
          <a:prstGeom prst="rect">
            <a:avLst/>
          </a:prstGeom>
        </p:spPr>
        <p:txBody>
          <a:bodyPr anchor="t" rtlCol="false" tIns="0" lIns="0" bIns="0" rIns="0">
            <a:spAutoFit/>
          </a:bodyPr>
          <a:lstStyle/>
          <a:p>
            <a:pPr algn="l" marL="0" indent="0" lvl="0">
              <a:lnSpc>
                <a:spcPts val="1960"/>
              </a:lnSpc>
              <a:spcBef>
                <a:spcPct val="0"/>
              </a:spcBef>
            </a:pPr>
            <a:r>
              <a:rPr lang="en-US" b="true" sz="1400" strike="noStrike" u="none">
                <a:solidFill>
                  <a:srgbClr val="1E293B"/>
                </a:solidFill>
                <a:latin typeface="프리텐다드 Bold"/>
                <a:ea typeface="프리텐다드 Bold"/>
                <a:cs typeface="프리텐다드 Bold"/>
                <a:sym typeface="프리텐다드 Bold"/>
              </a:rPr>
              <a:t>(A) 침해 발생 원인 인식</a:t>
            </a:r>
          </a:p>
        </p:txBody>
      </p:sp>
      <p:sp>
        <p:nvSpPr>
          <p:cNvPr name="TextBox 173" id="173"/>
          <p:cNvSpPr txBox="true"/>
          <p:nvPr/>
        </p:nvSpPr>
        <p:spPr>
          <a:xfrm rot="0">
            <a:off x="17317815" y="6400800"/>
            <a:ext cx="325548" cy="148590"/>
          </a:xfrm>
          <a:prstGeom prst="rect">
            <a:avLst/>
          </a:prstGeom>
        </p:spPr>
        <p:txBody>
          <a:bodyPr anchor="t" rtlCol="false" tIns="0" lIns="0" bIns="0" rIns="0">
            <a:spAutoFit/>
          </a:bodyPr>
          <a:lstStyle/>
          <a:p>
            <a:pPr algn="l" marL="0" indent="0" lvl="0">
              <a:lnSpc>
                <a:spcPts val="1260"/>
              </a:lnSpc>
              <a:spcBef>
                <a:spcPct val="0"/>
              </a:spcBef>
            </a:pPr>
            <a:r>
              <a:rPr lang="en-US" sz="900" strike="noStrike" u="none">
                <a:solidFill>
                  <a:srgbClr val="1E293B"/>
                </a:solidFill>
                <a:latin typeface="프리텐다드"/>
                <a:ea typeface="프리텐다드"/>
                <a:cs typeface="프리텐다드"/>
                <a:sym typeface="프리텐다드"/>
              </a:rPr>
              <a:t>4.92</a:t>
            </a:r>
          </a:p>
        </p:txBody>
      </p:sp>
      <p:sp>
        <p:nvSpPr>
          <p:cNvPr name="TextBox 174" id="174"/>
          <p:cNvSpPr txBox="true"/>
          <p:nvPr/>
        </p:nvSpPr>
        <p:spPr>
          <a:xfrm rot="0">
            <a:off x="13411233" y="6400800"/>
            <a:ext cx="1790517" cy="148590"/>
          </a:xfrm>
          <a:prstGeom prst="rect">
            <a:avLst/>
          </a:prstGeom>
        </p:spPr>
        <p:txBody>
          <a:bodyPr anchor="t" rtlCol="false" tIns="0" lIns="0" bIns="0" rIns="0">
            <a:spAutoFit/>
          </a:bodyPr>
          <a:lstStyle/>
          <a:p>
            <a:pPr algn="ctr" marL="0" indent="0" lvl="0">
              <a:lnSpc>
                <a:spcPts val="1260"/>
              </a:lnSpc>
              <a:spcBef>
                <a:spcPct val="0"/>
              </a:spcBef>
            </a:pPr>
            <a:r>
              <a:rPr lang="en-US" sz="900" strike="noStrike" u="none">
                <a:solidFill>
                  <a:srgbClr val="475569"/>
                </a:solidFill>
                <a:latin typeface="프리텐다드"/>
                <a:ea typeface="프리텐다드"/>
                <a:cs typeface="프리텐다드"/>
                <a:sym typeface="프리텐다드"/>
              </a:rPr>
              <a:t>아동학대 신고 시 교원 보호 규정 강화</a:t>
            </a:r>
          </a:p>
        </p:txBody>
      </p:sp>
      <p:sp>
        <p:nvSpPr>
          <p:cNvPr name="TextBox 175" id="175"/>
          <p:cNvSpPr txBox="true"/>
          <p:nvPr/>
        </p:nvSpPr>
        <p:spPr>
          <a:xfrm rot="0">
            <a:off x="13411233" y="5924550"/>
            <a:ext cx="4720453" cy="240665"/>
          </a:xfrm>
          <a:prstGeom prst="rect">
            <a:avLst/>
          </a:prstGeom>
        </p:spPr>
        <p:txBody>
          <a:bodyPr anchor="t" rtlCol="false" tIns="0" lIns="0" bIns="0" rIns="0">
            <a:spAutoFit/>
          </a:bodyPr>
          <a:lstStyle/>
          <a:p>
            <a:pPr algn="l" marL="0" indent="0" lvl="0">
              <a:lnSpc>
                <a:spcPts val="1960"/>
              </a:lnSpc>
              <a:spcBef>
                <a:spcPct val="0"/>
              </a:spcBef>
            </a:pPr>
            <a:r>
              <a:rPr lang="en-US" b="true" sz="1400" strike="noStrike" u="none">
                <a:solidFill>
                  <a:srgbClr val="1E293B"/>
                </a:solidFill>
                <a:latin typeface="프리텐다드 Bold"/>
                <a:ea typeface="프리텐다드 Bold"/>
                <a:cs typeface="프리텐다드 Bold"/>
                <a:sym typeface="프리텐다드 Bold"/>
              </a:rPr>
              <a:t>(B) 교원 보호 정책 동의도 (상위 10)</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1362725" y="1610125"/>
            <a:ext cx="6538046" cy="8342427"/>
            <a:chOff x="0" y="0"/>
            <a:chExt cx="8717394" cy="11123236"/>
          </a:xfrm>
        </p:grpSpPr>
        <p:sp>
          <p:nvSpPr>
            <p:cNvPr name="Freeform 3" id="3"/>
            <p:cNvSpPr/>
            <p:nvPr/>
          </p:nvSpPr>
          <p:spPr>
            <a:xfrm flipH="false" flipV="false" rot="0">
              <a:off x="0" y="0"/>
              <a:ext cx="8717407" cy="11123162"/>
            </a:xfrm>
            <a:custGeom>
              <a:avLst/>
              <a:gdLst/>
              <a:ahLst/>
              <a:cxnLst/>
              <a:rect r="r" b="b" t="t" l="l"/>
              <a:pathLst>
                <a:path h="11123162" w="8717407">
                  <a:moveTo>
                    <a:pt x="0" y="820306"/>
                  </a:moveTo>
                  <a:cubicBezTo>
                    <a:pt x="0" y="367298"/>
                    <a:pt x="377698" y="0"/>
                    <a:pt x="843534" y="0"/>
                  </a:cubicBezTo>
                  <a:lnTo>
                    <a:pt x="7873873" y="0"/>
                  </a:lnTo>
                  <a:cubicBezTo>
                    <a:pt x="8339709" y="0"/>
                    <a:pt x="8717407" y="367298"/>
                    <a:pt x="8717407" y="820306"/>
                  </a:cubicBezTo>
                  <a:lnTo>
                    <a:pt x="8717407" y="10302856"/>
                  </a:lnTo>
                  <a:cubicBezTo>
                    <a:pt x="8717407" y="10755864"/>
                    <a:pt x="8339709" y="11123162"/>
                    <a:pt x="7873873" y="11123162"/>
                  </a:cubicBezTo>
                  <a:lnTo>
                    <a:pt x="843534" y="11123162"/>
                  </a:lnTo>
                  <a:cubicBezTo>
                    <a:pt x="377698" y="11123288"/>
                    <a:pt x="0" y="10755988"/>
                    <a:pt x="0" y="10302856"/>
                  </a:cubicBezTo>
                  <a:close/>
                </a:path>
              </a:pathLst>
            </a:custGeom>
            <a:solidFill>
              <a:srgbClr val="FFFFFF"/>
            </a:solidFill>
            <a:ln w="19050" cap="sq">
              <a:solidFill>
                <a:srgbClr val="E2E8F0"/>
              </a:solidFill>
              <a:prstDash val="solid"/>
              <a:miter/>
            </a:ln>
          </p:spPr>
        </p:sp>
      </p:grpSp>
      <p:sp>
        <p:nvSpPr>
          <p:cNvPr name="AutoShape 4" id="4"/>
          <p:cNvSpPr/>
          <p:nvPr/>
        </p:nvSpPr>
        <p:spPr>
          <a:xfrm rot="5392260">
            <a:off x="6931466" y="5704665"/>
            <a:ext cx="8486270" cy="0"/>
          </a:xfrm>
          <a:prstGeom prst="line">
            <a:avLst/>
          </a:prstGeom>
          <a:ln cap="rnd" w="9525">
            <a:solidFill>
              <a:srgbClr val="E2E8F0"/>
            </a:solidFill>
            <a:prstDash val="solid"/>
            <a:headEnd type="none" len="sm" w="sm"/>
            <a:tailEnd type="none" len="sm" w="sm"/>
          </a:ln>
        </p:spPr>
      </p:sp>
      <p:sp>
        <p:nvSpPr>
          <p:cNvPr name="TextBox 5" id="5"/>
          <p:cNvSpPr txBox="true"/>
          <p:nvPr/>
        </p:nvSpPr>
        <p:spPr>
          <a:xfrm rot="0">
            <a:off x="11788992" y="2491637"/>
            <a:ext cx="5838642" cy="6780530"/>
          </a:xfrm>
          <a:prstGeom prst="rect">
            <a:avLst/>
          </a:prstGeom>
        </p:spPr>
        <p:txBody>
          <a:bodyPr anchor="t" rtlCol="false" tIns="0" lIns="0" bIns="0" rIns="0">
            <a:spAutoFit/>
          </a:bodyPr>
          <a:lstStyle/>
          <a:p>
            <a:pPr algn="just">
              <a:lnSpc>
                <a:spcPts val="3160"/>
              </a:lnSpc>
            </a:pPr>
            <a:r>
              <a:rPr lang="en-US" sz="2000">
                <a:solidFill>
                  <a:srgbClr val="475569"/>
                </a:solidFill>
                <a:latin typeface="프리텐다드"/>
                <a:ea typeface="프리텐다드"/>
                <a:cs typeface="프리텐다드"/>
                <a:sym typeface="프리텐다드"/>
              </a:rPr>
              <a:t>교사의 85.6%가 교권침해를 경험하지만, 피해 교원의 81.7%는 공식적인 대응 대신 참고 넘어간다.</a:t>
            </a:r>
          </a:p>
          <a:p>
            <a:pPr algn="just">
              <a:lnSpc>
                <a:spcPts val="1579"/>
              </a:lnSpc>
            </a:pPr>
          </a:p>
          <a:p>
            <a:pPr algn="just">
              <a:lnSpc>
                <a:spcPts val="3160"/>
              </a:lnSpc>
            </a:pPr>
            <a:r>
              <a:rPr lang="en-US" sz="2000">
                <a:solidFill>
                  <a:srgbClr val="475569"/>
                </a:solidFill>
                <a:latin typeface="프리텐다드"/>
                <a:ea typeface="프리텐다드"/>
                <a:cs typeface="프리텐다드"/>
                <a:sym typeface="프리텐다드"/>
              </a:rPr>
              <a:t>이는 단순히 개인이 소극적으로 대응하기 때문이 아니다. 교사들 스스로도 </a:t>
            </a:r>
            <a:r>
              <a:rPr lang="en-US" b="true" sz="2000">
                <a:solidFill>
                  <a:srgbClr val="475569"/>
                </a:solidFill>
                <a:latin typeface="프리텐다드 Bold"/>
                <a:ea typeface="프리텐다드 Bold"/>
                <a:cs typeface="프리텐다드 Bold"/>
                <a:sym typeface="프리텐다드 Bold"/>
              </a:rPr>
              <a:t>현재의 보호 체계만으로는 교권침해를 실질적으로 해결하기 어렵다고 인식</a:t>
            </a:r>
            <a:r>
              <a:rPr lang="en-US" sz="2000">
                <a:solidFill>
                  <a:srgbClr val="475569"/>
                </a:solidFill>
                <a:latin typeface="프리텐다드"/>
                <a:ea typeface="프리텐다드"/>
                <a:cs typeface="프리텐다드"/>
                <a:sym typeface="프리텐다드"/>
              </a:rPr>
              <a:t>하고 있기 때문이다.</a:t>
            </a:r>
          </a:p>
          <a:p>
            <a:pPr algn="just">
              <a:lnSpc>
                <a:spcPts val="1579"/>
              </a:lnSpc>
            </a:pPr>
          </a:p>
          <a:p>
            <a:pPr algn="just">
              <a:lnSpc>
                <a:spcPts val="3160"/>
              </a:lnSpc>
            </a:pPr>
            <a:r>
              <a:rPr lang="en-US" sz="2000">
                <a:solidFill>
                  <a:srgbClr val="475569"/>
                </a:solidFill>
                <a:latin typeface="프리텐다드"/>
                <a:ea typeface="프리텐다드"/>
                <a:cs typeface="프리텐다드"/>
                <a:sym typeface="프리텐다드"/>
              </a:rPr>
              <a:t>즉, </a:t>
            </a:r>
            <a:r>
              <a:rPr lang="en-US" b="true" sz="2000">
                <a:solidFill>
                  <a:srgbClr val="475569"/>
                </a:solidFill>
                <a:latin typeface="프리텐다드 Bold"/>
                <a:ea typeface="프리텐다드 Bold"/>
                <a:cs typeface="프리텐다드 Bold"/>
                <a:sym typeface="프리텐다드 Bold"/>
              </a:rPr>
              <a:t>학교의 구조</a:t>
            </a:r>
            <a:r>
              <a:rPr lang="en-US" sz="2000">
                <a:solidFill>
                  <a:srgbClr val="475569"/>
                </a:solidFill>
                <a:latin typeface="프리텐다드"/>
                <a:ea typeface="프리텐다드"/>
                <a:cs typeface="프리텐다드"/>
                <a:sym typeface="프리텐다드"/>
              </a:rPr>
              <a:t>와 이를 뒷받침해야 할 </a:t>
            </a:r>
            <a:r>
              <a:rPr lang="en-US" b="true" sz="2000">
                <a:solidFill>
                  <a:srgbClr val="475569"/>
                </a:solidFill>
                <a:latin typeface="프리텐다드 Bold"/>
                <a:ea typeface="프리텐다드 Bold"/>
                <a:cs typeface="프리텐다드 Bold"/>
                <a:sym typeface="프리텐다드 Bold"/>
              </a:rPr>
              <a:t>제도가 충분히 작동하지 않는</a:t>
            </a:r>
            <a:r>
              <a:rPr lang="en-US" sz="2000">
                <a:solidFill>
                  <a:srgbClr val="475569"/>
                </a:solidFill>
                <a:latin typeface="프리텐다드"/>
                <a:ea typeface="프리텐다드"/>
                <a:cs typeface="프리텐다드"/>
                <a:sym typeface="프리텐다드"/>
              </a:rPr>
              <a:t> 구조적 문제일 가능성이 높다.</a:t>
            </a:r>
          </a:p>
          <a:p>
            <a:pPr algn="just">
              <a:lnSpc>
                <a:spcPts val="3160"/>
              </a:lnSpc>
            </a:pPr>
            <a:r>
              <a:rPr lang="en-US" sz="2000">
                <a:solidFill>
                  <a:srgbClr val="475569"/>
                </a:solidFill>
                <a:latin typeface="프리텐다드"/>
                <a:ea typeface="프리텐다드"/>
                <a:cs typeface="프리텐다드"/>
                <a:sym typeface="프리텐다드"/>
              </a:rPr>
              <a:t>따라서 우리는 “왜 교권침해가 반복되고, 해결되지 않는가?”라는 근본적인 질문을 해결하고자 다음 세 가지를 분석한다.</a:t>
            </a:r>
          </a:p>
          <a:p>
            <a:pPr algn="just">
              <a:lnSpc>
                <a:spcPts val="1580"/>
              </a:lnSpc>
            </a:pPr>
          </a:p>
          <a:p>
            <a:pPr algn="just">
              <a:lnSpc>
                <a:spcPts val="3160"/>
              </a:lnSpc>
            </a:pPr>
            <a:r>
              <a:rPr lang="en-US" sz="2000">
                <a:solidFill>
                  <a:srgbClr val="475569"/>
                </a:solidFill>
                <a:latin typeface="프리텐다드"/>
                <a:ea typeface="프리텐다드"/>
                <a:cs typeface="프리텐다드"/>
                <a:sym typeface="프리텐다드"/>
              </a:rPr>
              <a:t>1. 어떤 학교 구조의 교사가 더 취약한가?</a:t>
            </a:r>
          </a:p>
          <a:p>
            <a:pPr algn="just">
              <a:lnSpc>
                <a:spcPts val="3160"/>
              </a:lnSpc>
            </a:pPr>
            <a:r>
              <a:rPr lang="en-US" sz="2000">
                <a:solidFill>
                  <a:srgbClr val="475569"/>
                </a:solidFill>
                <a:latin typeface="프리텐다드"/>
                <a:ea typeface="프리텐다드"/>
                <a:cs typeface="프리텐다드"/>
                <a:sym typeface="프리텐다드"/>
              </a:rPr>
              <a:t>2. 교권침해를 유발하는 잠재적 요인은 무엇인가?</a:t>
            </a:r>
          </a:p>
          <a:p>
            <a:pPr algn="just">
              <a:lnSpc>
                <a:spcPts val="3160"/>
              </a:lnSpc>
            </a:pPr>
            <a:r>
              <a:rPr lang="en-US" sz="2000">
                <a:solidFill>
                  <a:srgbClr val="475569"/>
                </a:solidFill>
                <a:latin typeface="프리텐다드"/>
                <a:ea typeface="프리텐다드"/>
                <a:cs typeface="프리텐다드"/>
                <a:sym typeface="프리텐다드"/>
              </a:rPr>
              <a:t>3. 어떤 제도가 교권침해를 실제로 예방할 수 있는가?</a:t>
            </a:r>
          </a:p>
          <a:p>
            <a:pPr algn="just">
              <a:lnSpc>
                <a:spcPts val="1579"/>
              </a:lnSpc>
            </a:pPr>
          </a:p>
          <a:p>
            <a:pPr algn="just">
              <a:lnSpc>
                <a:spcPts val="3160"/>
              </a:lnSpc>
            </a:pPr>
            <a:r>
              <a:rPr lang="en-US" b="true" sz="2000">
                <a:solidFill>
                  <a:srgbClr val="4285F4"/>
                </a:solidFill>
                <a:latin typeface="프리텐다드 Bold"/>
                <a:ea typeface="프리텐다드 Bold"/>
                <a:cs typeface="프리텐다드 Bold"/>
                <a:sym typeface="프리텐다드 Bold"/>
              </a:rPr>
              <a:t>즉, 교권 침해를 개인의 문제가 아닌 구조적 문제로 접근하여, 학교 구조와 제도적 요인의 영향을 실증적으로 분석한다.</a:t>
            </a:r>
          </a:p>
        </p:txBody>
      </p:sp>
      <p:grpSp>
        <p:nvGrpSpPr>
          <p:cNvPr name="Group 6" id="6"/>
          <p:cNvGrpSpPr/>
          <p:nvPr/>
        </p:nvGrpSpPr>
        <p:grpSpPr>
          <a:xfrm rot="0">
            <a:off x="856602" y="1619679"/>
            <a:ext cx="9715205" cy="402600"/>
            <a:chOff x="0" y="0"/>
            <a:chExt cx="12953606" cy="536800"/>
          </a:xfrm>
        </p:grpSpPr>
        <p:sp>
          <p:nvSpPr>
            <p:cNvPr name="Freeform 7" id="7"/>
            <p:cNvSpPr/>
            <p:nvPr/>
          </p:nvSpPr>
          <p:spPr>
            <a:xfrm flipH="false" flipV="false" rot="0">
              <a:off x="0" y="0"/>
              <a:ext cx="12953600" cy="536806"/>
            </a:xfrm>
            <a:custGeom>
              <a:avLst/>
              <a:gdLst/>
              <a:ahLst/>
              <a:cxnLst/>
              <a:rect r="r" b="b" t="t" l="l"/>
              <a:pathLst>
                <a:path h="536806" w="12953600">
                  <a:moveTo>
                    <a:pt x="0" y="0"/>
                  </a:moveTo>
                  <a:lnTo>
                    <a:pt x="12953600" y="0"/>
                  </a:lnTo>
                  <a:lnTo>
                    <a:pt x="12953600" y="536806"/>
                  </a:lnTo>
                  <a:lnTo>
                    <a:pt x="0" y="536806"/>
                  </a:lnTo>
                  <a:close/>
                </a:path>
              </a:pathLst>
            </a:custGeom>
            <a:blipFill>
              <a:blip r:embed="rId3">
                <a:alphaModFix amt="0"/>
              </a:blip>
              <a:stretch>
                <a:fillRect l="0" t="-427494" r="0" b="-412887"/>
              </a:stretch>
            </a:blipFill>
          </p:spPr>
        </p:sp>
        <p:sp>
          <p:nvSpPr>
            <p:cNvPr name="TextBox 8" id="8"/>
            <p:cNvSpPr txBox="true"/>
            <p:nvPr/>
          </p:nvSpPr>
          <p:spPr>
            <a:xfrm>
              <a:off x="0" y="-38100"/>
              <a:ext cx="12953606" cy="574900"/>
            </a:xfrm>
            <a:prstGeom prst="rect">
              <a:avLst/>
            </a:prstGeom>
          </p:spPr>
          <p:txBody>
            <a:bodyPr anchor="ctr" rtlCol="false" tIns="0" lIns="0" bIns="0" rIns="0"/>
            <a:lstStyle/>
            <a:p>
              <a:pPr algn="l">
                <a:lnSpc>
                  <a:spcPts val="2760"/>
                </a:lnSpc>
              </a:pPr>
              <a:r>
                <a:rPr lang="en-US" b="true" sz="2000">
                  <a:solidFill>
                    <a:srgbClr val="1E293B"/>
                  </a:solidFill>
                  <a:latin typeface="프리텐다드 Bold"/>
                  <a:ea typeface="프리텐다드 Bold"/>
                  <a:cs typeface="프리텐다드 Bold"/>
                  <a:sym typeface="프리텐다드 Bold"/>
                </a:rPr>
                <a:t>교권 침해 관련 기사 &amp; 공식 통계</a:t>
              </a:r>
            </a:p>
          </p:txBody>
        </p:sp>
      </p:grpSp>
      <p:grpSp>
        <p:nvGrpSpPr>
          <p:cNvPr name="Group 9" id="9"/>
          <p:cNvGrpSpPr/>
          <p:nvPr/>
        </p:nvGrpSpPr>
        <p:grpSpPr>
          <a:xfrm rot="0">
            <a:off x="774897" y="2184797"/>
            <a:ext cx="9880797" cy="1006200"/>
            <a:chOff x="0" y="0"/>
            <a:chExt cx="13174396" cy="1341600"/>
          </a:xfrm>
        </p:grpSpPr>
        <p:sp>
          <p:nvSpPr>
            <p:cNvPr name="Freeform 10" id="10"/>
            <p:cNvSpPr/>
            <p:nvPr/>
          </p:nvSpPr>
          <p:spPr>
            <a:xfrm flipH="false" flipV="false" rot="0">
              <a:off x="0" y="0"/>
              <a:ext cx="13174401" cy="1341597"/>
            </a:xfrm>
            <a:custGeom>
              <a:avLst/>
              <a:gdLst/>
              <a:ahLst/>
              <a:cxnLst/>
              <a:rect r="r" b="b" t="t" l="l"/>
              <a:pathLst>
                <a:path h="1341597" w="13174401">
                  <a:moveTo>
                    <a:pt x="0" y="0"/>
                  </a:moveTo>
                  <a:lnTo>
                    <a:pt x="13174401" y="0"/>
                  </a:lnTo>
                  <a:lnTo>
                    <a:pt x="13174401" y="1341597"/>
                  </a:lnTo>
                  <a:lnTo>
                    <a:pt x="0" y="1341597"/>
                  </a:lnTo>
                  <a:close/>
                </a:path>
              </a:pathLst>
            </a:custGeom>
            <a:blipFill>
              <a:blip r:embed="rId3">
                <a:alphaModFix amt="0"/>
              </a:blip>
              <a:stretch>
                <a:fillRect l="0" t="-141341" r="0" b="-141341"/>
              </a:stretch>
            </a:blipFill>
          </p:spPr>
        </p:sp>
        <p:sp>
          <p:nvSpPr>
            <p:cNvPr name="TextBox 11" id="11"/>
            <p:cNvSpPr txBox="true"/>
            <p:nvPr/>
          </p:nvSpPr>
          <p:spPr>
            <a:xfrm>
              <a:off x="0" y="-38100"/>
              <a:ext cx="13174396" cy="1379700"/>
            </a:xfrm>
            <a:prstGeom prst="rect">
              <a:avLst/>
            </a:prstGeom>
          </p:spPr>
          <p:txBody>
            <a:bodyPr anchor="ctr" rtlCol="false" tIns="0" lIns="0" bIns="0" rIns="0"/>
            <a:lstStyle/>
            <a:p>
              <a:pPr algn="l">
                <a:lnSpc>
                  <a:spcPts val="2208"/>
                </a:lnSpc>
              </a:pPr>
              <a:r>
                <a:rPr lang="en-US" b="true" sz="1600">
                  <a:solidFill>
                    <a:srgbClr val="0284C7"/>
                  </a:solidFill>
                  <a:latin typeface="프리텐다드 Bold"/>
                  <a:ea typeface="프리텐다드 Bold"/>
                  <a:cs typeface="프리텐다드 Bold"/>
                  <a:sym typeface="프리텐다드 Bold"/>
                </a:rPr>
                <a:t>중앙일보(2023.7) </a:t>
              </a:r>
              <a:r>
                <a:rPr lang="en-US" b="true" sz="1600">
                  <a:solidFill>
                    <a:srgbClr val="1E293B"/>
                  </a:solidFill>
                  <a:latin typeface="프리텐다드 Bold"/>
                  <a:ea typeface="프리텐다드 Bold"/>
                  <a:cs typeface="프리텐다드 Bold"/>
                  <a:sym typeface="프리텐다드 Bold"/>
                </a:rPr>
                <a:t>서이초 교사, 학부모 악성 민원에 시달리다 극단 선택</a:t>
              </a:r>
            </a:p>
            <a:p>
              <a:pPr algn="l">
                <a:lnSpc>
                  <a:spcPts val="1931"/>
                </a:lnSpc>
              </a:pPr>
              <a:r>
                <a:rPr lang="en-US" sz="1399">
                  <a:solidFill>
                    <a:srgbClr val="475569"/>
                  </a:solidFill>
                  <a:latin typeface="프리텐다드"/>
                  <a:ea typeface="프리텐다드"/>
                  <a:cs typeface="프리텐다드"/>
                  <a:sym typeface="프리텐다드"/>
                </a:rPr>
                <a:t>서이초 교원 65명에게 실시한 설문조사 결과, </a:t>
              </a:r>
              <a:r>
                <a:rPr lang="en-US" b="true" sz="1399">
                  <a:solidFill>
                    <a:srgbClr val="7C3AED"/>
                  </a:solidFill>
                  <a:latin typeface="프리텐다드 Bold"/>
                  <a:ea typeface="프리텐다드 Bold"/>
                  <a:cs typeface="프리텐다드 Bold"/>
                  <a:sym typeface="프리텐다드 Bold"/>
                </a:rPr>
                <a:t>응답자 41명 중</a:t>
              </a:r>
              <a:r>
                <a:rPr lang="en-US" sz="1399">
                  <a:solidFill>
                    <a:srgbClr val="7C3AED"/>
                  </a:solidFill>
                  <a:latin typeface="프리텐다드"/>
                  <a:ea typeface="프리텐다드"/>
                  <a:cs typeface="프리텐다드"/>
                  <a:sym typeface="프리텐다드"/>
                </a:rPr>
                <a:t> </a:t>
              </a:r>
              <a:r>
                <a:rPr lang="en-US" b="true" sz="1399">
                  <a:solidFill>
                    <a:srgbClr val="7C3AED"/>
                  </a:solidFill>
                  <a:latin typeface="프리텐다드 Bold"/>
                  <a:ea typeface="프리텐다드 Bold"/>
                  <a:cs typeface="프리텐다드 Bold"/>
                  <a:sym typeface="프리텐다드 Bold"/>
                </a:rPr>
                <a:t>70%가 월 1회 이상 학부모 민원 및 항의를 경험</a:t>
              </a:r>
              <a:r>
                <a:rPr lang="en-US" sz="1399">
                  <a:solidFill>
                    <a:srgbClr val="7C3AED"/>
                  </a:solidFill>
                  <a:latin typeface="프리텐다드"/>
                  <a:ea typeface="프리텐다드"/>
                  <a:cs typeface="프리텐다드"/>
                  <a:sym typeface="프리텐다드"/>
                </a:rPr>
                <a:t> </a:t>
              </a:r>
              <a:r>
                <a:rPr lang="en-US" sz="1399">
                  <a:solidFill>
                    <a:srgbClr val="475569"/>
                  </a:solidFill>
                  <a:latin typeface="프리텐다드"/>
                  <a:ea typeface="프리텐다드"/>
                  <a:cs typeface="프리텐다드"/>
                  <a:sym typeface="프리텐다드"/>
                </a:rPr>
                <a:t>&amp; 민원처리반을 도입, 악성 민원을 교육활동 침해로 신고 및 </a:t>
              </a:r>
              <a:r>
                <a:rPr lang="en-US" b="true" sz="1399">
                  <a:solidFill>
                    <a:srgbClr val="7C3AED"/>
                  </a:solidFill>
                  <a:latin typeface="프리텐다드 Bold"/>
                  <a:ea typeface="프리텐다드 Bold"/>
                  <a:cs typeface="프리텐다드 Bold"/>
                  <a:sym typeface="프리텐다드 Bold"/>
                </a:rPr>
                <a:t>아동학대 관련 법을 개정하는 방안</a:t>
              </a:r>
              <a:r>
                <a:rPr lang="en-US" sz="1399">
                  <a:solidFill>
                    <a:srgbClr val="475569"/>
                  </a:solidFill>
                  <a:latin typeface="프리텐다드"/>
                  <a:ea typeface="프리텐다드"/>
                  <a:cs typeface="프리텐다드"/>
                  <a:sym typeface="프리텐다드"/>
                </a:rPr>
                <a:t>이 필요하다고 주장</a:t>
              </a:r>
            </a:p>
          </p:txBody>
        </p:sp>
      </p:grpSp>
      <p:grpSp>
        <p:nvGrpSpPr>
          <p:cNvPr name="Group 12" id="12"/>
          <p:cNvGrpSpPr/>
          <p:nvPr/>
        </p:nvGrpSpPr>
        <p:grpSpPr>
          <a:xfrm rot="0">
            <a:off x="774897" y="3394196"/>
            <a:ext cx="9880797" cy="855600"/>
            <a:chOff x="0" y="0"/>
            <a:chExt cx="13174396" cy="1140800"/>
          </a:xfrm>
        </p:grpSpPr>
        <p:sp>
          <p:nvSpPr>
            <p:cNvPr name="Freeform 13" id="13"/>
            <p:cNvSpPr/>
            <p:nvPr/>
          </p:nvSpPr>
          <p:spPr>
            <a:xfrm flipH="false" flipV="false" rot="0">
              <a:off x="0" y="0"/>
              <a:ext cx="13174401" cy="1140797"/>
            </a:xfrm>
            <a:custGeom>
              <a:avLst/>
              <a:gdLst/>
              <a:ahLst/>
              <a:cxnLst/>
              <a:rect r="r" b="b" t="t" l="l"/>
              <a:pathLst>
                <a:path h="1140797" w="13174401">
                  <a:moveTo>
                    <a:pt x="0" y="0"/>
                  </a:moveTo>
                  <a:lnTo>
                    <a:pt x="13174401" y="0"/>
                  </a:lnTo>
                  <a:lnTo>
                    <a:pt x="13174401" y="1140797"/>
                  </a:lnTo>
                  <a:lnTo>
                    <a:pt x="0" y="1140797"/>
                  </a:lnTo>
                  <a:close/>
                </a:path>
              </a:pathLst>
            </a:custGeom>
            <a:blipFill>
              <a:blip r:embed="rId3">
                <a:alphaModFix amt="0"/>
              </a:blip>
              <a:stretch>
                <a:fillRect l="0" t="-175021" r="0" b="-175021"/>
              </a:stretch>
            </a:blipFill>
          </p:spPr>
        </p:sp>
        <p:sp>
          <p:nvSpPr>
            <p:cNvPr name="TextBox 14" id="14"/>
            <p:cNvSpPr txBox="true"/>
            <p:nvPr/>
          </p:nvSpPr>
          <p:spPr>
            <a:xfrm>
              <a:off x="0" y="-38100"/>
              <a:ext cx="13174396" cy="1178900"/>
            </a:xfrm>
            <a:prstGeom prst="rect">
              <a:avLst/>
            </a:prstGeom>
          </p:spPr>
          <p:txBody>
            <a:bodyPr anchor="ctr" rtlCol="false" tIns="0" lIns="0" bIns="0" rIns="0"/>
            <a:lstStyle/>
            <a:p>
              <a:pPr algn="l">
                <a:lnSpc>
                  <a:spcPts val="2208"/>
                </a:lnSpc>
              </a:pPr>
              <a:r>
                <a:rPr lang="en-US" b="true" sz="1600">
                  <a:solidFill>
                    <a:srgbClr val="0284C7"/>
                  </a:solidFill>
                  <a:latin typeface="프리텐다드 Bold"/>
                  <a:ea typeface="프리텐다드 Bold"/>
                  <a:cs typeface="프리텐다드 Bold"/>
                  <a:sym typeface="프리텐다드 Bold"/>
                </a:rPr>
                <a:t>머니 투데이(2026.6) </a:t>
              </a:r>
              <a:r>
                <a:rPr lang="en-US" b="true" sz="1600">
                  <a:solidFill>
                    <a:srgbClr val="1E293B"/>
                  </a:solidFill>
                  <a:latin typeface="프리텐다드 Bold"/>
                  <a:ea typeface="프리텐다드 Bold"/>
                  <a:cs typeface="프리텐다드 Bold"/>
                  <a:sym typeface="프리텐다드 Bold"/>
                </a:rPr>
                <a:t>"교사가 아이 째려봐" 담임 6차례 교체 '민원 폭격'...학교가 어쩌다</a:t>
              </a:r>
            </a:p>
            <a:p>
              <a:pPr algn="l">
                <a:lnSpc>
                  <a:spcPts val="1931"/>
                </a:lnSpc>
              </a:pPr>
              <a:r>
                <a:rPr lang="en-US" sz="1399">
                  <a:solidFill>
                    <a:srgbClr val="475569"/>
                  </a:solidFill>
                  <a:latin typeface="프리텐다드"/>
                  <a:ea typeface="프리텐다드"/>
                  <a:cs typeface="프리텐다드"/>
                  <a:sym typeface="프리텐다드"/>
                </a:rPr>
                <a:t>송 교사는 "교사 입장에서는 </a:t>
              </a:r>
              <a:r>
                <a:rPr lang="en-US" b="true" sz="1399">
                  <a:solidFill>
                    <a:srgbClr val="7C3AED"/>
                  </a:solidFill>
                  <a:latin typeface="프리텐다드 Bold"/>
                  <a:ea typeface="프리텐다드 Bold"/>
                  <a:cs typeface="프리텐다드 Bold"/>
                  <a:sym typeface="프리텐다드 Bold"/>
                </a:rPr>
                <a:t>아동학대 신고가 들어오면 내가 정당한 활동을 했다고 증명</a:t>
              </a:r>
              <a:r>
                <a:rPr lang="en-US" sz="1399">
                  <a:solidFill>
                    <a:srgbClr val="475569"/>
                  </a:solidFill>
                  <a:latin typeface="프리텐다드"/>
                  <a:ea typeface="프리텐다드"/>
                  <a:cs typeface="프리텐다드"/>
                  <a:sym typeface="프리텐다드"/>
                </a:rPr>
                <a:t>해야 한다"며 "말을 모두 녹음하고 다니는 것도 아니고, 아동학대 신고가 되면 교사는 휴직을 하고 그 공백은 다른 학생들이 감당하는 구조가 되고 있다"고 지적</a:t>
              </a:r>
            </a:p>
          </p:txBody>
        </p:sp>
      </p:grpSp>
      <p:grpSp>
        <p:nvGrpSpPr>
          <p:cNvPr name="Group 15" id="15"/>
          <p:cNvGrpSpPr/>
          <p:nvPr/>
        </p:nvGrpSpPr>
        <p:grpSpPr>
          <a:xfrm rot="0">
            <a:off x="774906" y="4373051"/>
            <a:ext cx="10000202" cy="1066800"/>
            <a:chOff x="0" y="0"/>
            <a:chExt cx="13333603" cy="1422400"/>
          </a:xfrm>
        </p:grpSpPr>
        <p:sp>
          <p:nvSpPr>
            <p:cNvPr name="Freeform 16" id="16"/>
            <p:cNvSpPr/>
            <p:nvPr/>
          </p:nvSpPr>
          <p:spPr>
            <a:xfrm flipH="false" flipV="false" rot="0">
              <a:off x="0" y="0"/>
              <a:ext cx="13333600" cy="1422400"/>
            </a:xfrm>
            <a:custGeom>
              <a:avLst/>
              <a:gdLst/>
              <a:ahLst/>
              <a:cxnLst/>
              <a:rect r="r" b="b" t="t" l="l"/>
              <a:pathLst>
                <a:path h="1422400" w="13333600">
                  <a:moveTo>
                    <a:pt x="0" y="0"/>
                  </a:moveTo>
                  <a:lnTo>
                    <a:pt x="13333600" y="0"/>
                  </a:lnTo>
                  <a:lnTo>
                    <a:pt x="13333600" y="1422400"/>
                  </a:lnTo>
                  <a:lnTo>
                    <a:pt x="0" y="1422400"/>
                  </a:lnTo>
                  <a:close/>
                </a:path>
              </a:pathLst>
            </a:custGeom>
            <a:blipFill>
              <a:blip r:embed="rId3">
                <a:alphaModFix amt="0"/>
              </a:blip>
              <a:stretch>
                <a:fillRect l="0" t="-132653" r="0" b="-132653"/>
              </a:stretch>
            </a:blipFill>
          </p:spPr>
        </p:sp>
        <p:sp>
          <p:nvSpPr>
            <p:cNvPr name="TextBox 17" id="17"/>
            <p:cNvSpPr txBox="true"/>
            <p:nvPr/>
          </p:nvSpPr>
          <p:spPr>
            <a:xfrm>
              <a:off x="0" y="-38100"/>
              <a:ext cx="13333603" cy="1460500"/>
            </a:xfrm>
            <a:prstGeom prst="rect">
              <a:avLst/>
            </a:prstGeom>
          </p:spPr>
          <p:txBody>
            <a:bodyPr anchor="ctr" rtlCol="false" tIns="0" lIns="0" bIns="0" rIns="0"/>
            <a:lstStyle/>
            <a:p>
              <a:pPr algn="l">
                <a:lnSpc>
                  <a:spcPts val="2208"/>
                </a:lnSpc>
              </a:pPr>
              <a:r>
                <a:rPr lang="en-US" b="true" sz="1600">
                  <a:solidFill>
                    <a:srgbClr val="0284C7"/>
                  </a:solidFill>
                  <a:latin typeface="프리텐다드 Bold"/>
                  <a:ea typeface="프리텐다드 Bold"/>
                  <a:cs typeface="프리텐다드 Bold"/>
                  <a:sym typeface="프리텐다드 Bold"/>
                </a:rPr>
                <a:t>중앙일보(2023.9)</a:t>
              </a:r>
              <a:r>
                <a:rPr lang="en-US" b="true" sz="1600">
                  <a:solidFill>
                    <a:srgbClr val="1E293B"/>
                  </a:solidFill>
                  <a:latin typeface="프리텐다드 Bold"/>
                  <a:ea typeface="프리텐다드 Bold"/>
                  <a:cs typeface="프리텐다드 Bold"/>
                  <a:sym typeface="프리텐다드 Bold"/>
                </a:rPr>
                <a:t> 친구 목 졸라 혼냈는데 '아동학대 고소'…대전 교사 극단선택 전말</a:t>
              </a:r>
            </a:p>
            <a:p>
              <a:pPr algn="l">
                <a:lnSpc>
                  <a:spcPts val="1931"/>
                </a:lnSpc>
              </a:pPr>
              <a:r>
                <a:rPr lang="en-US" sz="1399">
                  <a:solidFill>
                    <a:srgbClr val="475569"/>
                  </a:solidFill>
                  <a:latin typeface="프리텐다드"/>
                  <a:ea typeface="프리텐다드"/>
                  <a:cs typeface="프리텐다드"/>
                  <a:sym typeface="프리텐다드"/>
                </a:rPr>
                <a:t>문제 학생 학부모 “규칙이 과해…조용히 혼내달라”</a:t>
              </a:r>
              <a:r>
                <a:rPr lang="en-US" sz="1399">
                  <a:solidFill>
                    <a:srgbClr val="7C3AED"/>
                  </a:solidFill>
                  <a:latin typeface="프리텐다드"/>
                  <a:ea typeface="프리텐다드"/>
                  <a:cs typeface="프리텐다드"/>
                  <a:sym typeface="프리텐다드"/>
                </a:rPr>
                <a:t>,</a:t>
              </a:r>
              <a:r>
                <a:rPr lang="en-US" sz="1399">
                  <a:solidFill>
                    <a:srgbClr val="475569"/>
                  </a:solidFill>
                  <a:latin typeface="프리텐다드"/>
                  <a:ea typeface="프리텐다드"/>
                  <a:cs typeface="프리텐다드"/>
                  <a:sym typeface="프리텐다드"/>
                </a:rPr>
                <a:t> 학생 학부모가 교무실로 찾아와 사과를 요구했지만, 당시 교장과 교감 선생님으로부터 </a:t>
              </a:r>
              <a:r>
                <a:rPr lang="en-US" b="true" sz="1399">
                  <a:solidFill>
                    <a:srgbClr val="7C3AED"/>
                  </a:solidFill>
                  <a:latin typeface="프리텐다드 Bold"/>
                  <a:ea typeface="프리텐다드 Bold"/>
                  <a:cs typeface="프리텐다드 Bold"/>
                  <a:sym typeface="프리텐다드 Bold"/>
                </a:rPr>
                <a:t>어떠한 도움도 받을 수 없었다</a:t>
              </a:r>
              <a:r>
                <a:rPr lang="en-US" sz="1399">
                  <a:solidFill>
                    <a:srgbClr val="475569"/>
                  </a:solidFill>
                  <a:latin typeface="프리텐다드"/>
                  <a:ea typeface="프리텐다드"/>
                  <a:cs typeface="프리텐다드"/>
                  <a:sym typeface="프리텐다드"/>
                </a:rPr>
                <a:t>고 선생 A씨는 주장했다.</a:t>
              </a:r>
            </a:p>
          </p:txBody>
        </p:sp>
      </p:grpSp>
      <p:grpSp>
        <p:nvGrpSpPr>
          <p:cNvPr name="Group 18" id="18"/>
          <p:cNvGrpSpPr/>
          <p:nvPr/>
        </p:nvGrpSpPr>
        <p:grpSpPr>
          <a:xfrm rot="0">
            <a:off x="795099" y="5439851"/>
            <a:ext cx="10000202" cy="1150800"/>
            <a:chOff x="0" y="0"/>
            <a:chExt cx="13333603" cy="1534400"/>
          </a:xfrm>
        </p:grpSpPr>
        <p:sp>
          <p:nvSpPr>
            <p:cNvPr name="Freeform 19" id="19"/>
            <p:cNvSpPr/>
            <p:nvPr/>
          </p:nvSpPr>
          <p:spPr>
            <a:xfrm flipH="false" flipV="false" rot="0">
              <a:off x="0" y="0"/>
              <a:ext cx="13333600" cy="1534399"/>
            </a:xfrm>
            <a:custGeom>
              <a:avLst/>
              <a:gdLst/>
              <a:ahLst/>
              <a:cxnLst/>
              <a:rect r="r" b="b" t="t" l="l"/>
              <a:pathLst>
                <a:path h="1534399" w="13333600">
                  <a:moveTo>
                    <a:pt x="0" y="0"/>
                  </a:moveTo>
                  <a:lnTo>
                    <a:pt x="13333600" y="0"/>
                  </a:lnTo>
                  <a:lnTo>
                    <a:pt x="13333600" y="1534399"/>
                  </a:lnTo>
                  <a:lnTo>
                    <a:pt x="0" y="1534399"/>
                  </a:lnTo>
                  <a:close/>
                </a:path>
              </a:pathLst>
            </a:custGeom>
            <a:blipFill>
              <a:blip r:embed="rId3">
                <a:alphaModFix amt="0"/>
              </a:blip>
              <a:stretch>
                <a:fillRect l="0" t="-119320" r="0" b="-119320"/>
              </a:stretch>
            </a:blipFill>
          </p:spPr>
        </p:sp>
        <p:sp>
          <p:nvSpPr>
            <p:cNvPr name="TextBox 20" id="20"/>
            <p:cNvSpPr txBox="true"/>
            <p:nvPr/>
          </p:nvSpPr>
          <p:spPr>
            <a:xfrm>
              <a:off x="0" y="-38100"/>
              <a:ext cx="13333603" cy="1572500"/>
            </a:xfrm>
            <a:prstGeom prst="rect">
              <a:avLst/>
            </a:prstGeom>
          </p:spPr>
          <p:txBody>
            <a:bodyPr anchor="ctr" rtlCol="false" tIns="0" lIns="0" bIns="0" rIns="0"/>
            <a:lstStyle/>
            <a:p>
              <a:pPr algn="l">
                <a:lnSpc>
                  <a:spcPts val="2208"/>
                </a:lnSpc>
              </a:pPr>
              <a:r>
                <a:rPr lang="en-US" b="true" sz="1600">
                  <a:solidFill>
                    <a:srgbClr val="0284C7"/>
                  </a:solidFill>
                  <a:latin typeface="프리텐다드 Bold"/>
                  <a:ea typeface="프리텐다드 Bold"/>
                  <a:cs typeface="프리텐다드 Bold"/>
                  <a:sym typeface="프리텐다드 Bold"/>
                </a:rPr>
                <a:t>오마이뉴스(2026.6)</a:t>
              </a:r>
              <a:r>
                <a:rPr lang="en-US" b="true" sz="1600">
                  <a:solidFill>
                    <a:srgbClr val="1E293B"/>
                  </a:solidFill>
                  <a:latin typeface="프리텐다드 Bold"/>
                  <a:ea typeface="프리텐다드 Bold"/>
                  <a:cs typeface="프리텐다드 Bold"/>
                  <a:sym typeface="프리텐다드 Bold"/>
                </a:rPr>
                <a:t> [단독] 교권5법 직후인 2025년, '아동학대' 교사 입건 '최다'</a:t>
              </a:r>
            </a:p>
            <a:p>
              <a:pPr algn="l">
                <a:lnSpc>
                  <a:spcPts val="1931"/>
                </a:lnSpc>
              </a:pPr>
              <a:r>
                <a:rPr lang="en-US" sz="1399">
                  <a:solidFill>
                    <a:srgbClr val="475569"/>
                  </a:solidFill>
                  <a:latin typeface="프리텐다드"/>
                  <a:ea typeface="프리텐다드"/>
                  <a:cs typeface="프리텐다드"/>
                  <a:sym typeface="프리텐다드"/>
                </a:rPr>
                <a:t>아동학대 등 사유로 교사 입건... 2021년 270건에서 2025년엔 369건, 교권5법 개정으로 '정당한 생활지도와 교육활동은 아동학대로 보지 않는다'라고 규율했지만, </a:t>
              </a:r>
              <a:r>
                <a:rPr lang="en-US" b="true" sz="1399">
                  <a:solidFill>
                    <a:srgbClr val="7C3AED"/>
                  </a:solidFill>
                  <a:latin typeface="프리텐다드 Bold"/>
                  <a:ea typeface="프리텐다드 Bold"/>
                  <a:cs typeface="프리텐다드 Bold"/>
                  <a:sym typeface="프리텐다드 Bold"/>
                </a:rPr>
                <a:t>교사들은 여전히 의심만으로 신고</a:t>
              </a:r>
              <a:r>
                <a:rPr lang="en-US" sz="1399">
                  <a:solidFill>
                    <a:srgbClr val="475569"/>
                  </a:solidFill>
                  <a:latin typeface="프리텐다드"/>
                  <a:ea typeface="프리텐다드"/>
                  <a:cs typeface="프리텐다드"/>
                  <a:sym typeface="프리텐다드"/>
                </a:rPr>
                <a:t>되고 입건 후 수사를 받는 게 현실"</a:t>
              </a:r>
            </a:p>
          </p:txBody>
        </p:sp>
      </p:grpSp>
      <p:sp>
        <p:nvSpPr>
          <p:cNvPr name="TextBox 21" id="21"/>
          <p:cNvSpPr txBox="true"/>
          <p:nvPr/>
        </p:nvSpPr>
        <p:spPr>
          <a:xfrm rot="0">
            <a:off x="876300" y="-9525"/>
            <a:ext cx="16535400" cy="733425"/>
          </a:xfrm>
          <a:prstGeom prst="rect">
            <a:avLst/>
          </a:prstGeom>
        </p:spPr>
        <p:txBody>
          <a:bodyPr anchor="t" rtlCol="false" tIns="0" lIns="0" bIns="0" rIns="0">
            <a:spAutoFit/>
          </a:bodyPr>
          <a:lstStyle/>
          <a:p>
            <a:pPr algn="l">
              <a:lnSpc>
                <a:spcPts val="5759"/>
              </a:lnSpc>
            </a:pPr>
            <a:r>
              <a:rPr lang="en-US" b="true" sz="4800">
                <a:solidFill>
                  <a:srgbClr val="1E293B"/>
                </a:solidFill>
                <a:latin typeface="프리텐다드 Bold"/>
                <a:ea typeface="프리텐다드 Bold"/>
                <a:cs typeface="프리텐다드 Bold"/>
                <a:sym typeface="프리텐다드 Bold"/>
              </a:rPr>
              <a:t>2. 문제 정의</a:t>
            </a:r>
          </a:p>
        </p:txBody>
      </p:sp>
      <p:sp>
        <p:nvSpPr>
          <p:cNvPr name="AutoShape 22" id="22"/>
          <p:cNvSpPr/>
          <p:nvPr/>
        </p:nvSpPr>
        <p:spPr>
          <a:xfrm rot="2040">
            <a:off x="866775" y="738978"/>
            <a:ext cx="16554450" cy="0"/>
          </a:xfrm>
          <a:prstGeom prst="line">
            <a:avLst/>
          </a:prstGeom>
          <a:ln cap="rnd" w="9525">
            <a:solidFill>
              <a:srgbClr val="E2E8F0"/>
            </a:solidFill>
            <a:prstDash val="solid"/>
            <a:headEnd type="none" len="sm" w="sm"/>
            <a:tailEnd type="none" len="sm" w="sm"/>
          </a:ln>
        </p:spPr>
      </p:sp>
      <p:grpSp>
        <p:nvGrpSpPr>
          <p:cNvPr name="Group 23" id="23"/>
          <p:cNvGrpSpPr/>
          <p:nvPr/>
        </p:nvGrpSpPr>
        <p:grpSpPr>
          <a:xfrm rot="0">
            <a:off x="897312" y="6954498"/>
            <a:ext cx="9633604" cy="400695"/>
            <a:chOff x="0" y="0"/>
            <a:chExt cx="12844805" cy="534260"/>
          </a:xfrm>
        </p:grpSpPr>
        <p:sp>
          <p:nvSpPr>
            <p:cNvPr name="Freeform 24" id="24"/>
            <p:cNvSpPr/>
            <p:nvPr/>
          </p:nvSpPr>
          <p:spPr>
            <a:xfrm flipH="false" flipV="false" rot="0">
              <a:off x="0" y="0"/>
              <a:ext cx="12844800" cy="534266"/>
            </a:xfrm>
            <a:custGeom>
              <a:avLst/>
              <a:gdLst/>
              <a:ahLst/>
              <a:cxnLst/>
              <a:rect r="r" b="b" t="t" l="l"/>
              <a:pathLst>
                <a:path h="534266" w="12844800">
                  <a:moveTo>
                    <a:pt x="0" y="0"/>
                  </a:moveTo>
                  <a:lnTo>
                    <a:pt x="12844800" y="0"/>
                  </a:lnTo>
                  <a:lnTo>
                    <a:pt x="12844800" y="534266"/>
                  </a:lnTo>
                  <a:lnTo>
                    <a:pt x="0" y="534266"/>
                  </a:lnTo>
                  <a:close/>
                </a:path>
              </a:pathLst>
            </a:custGeom>
            <a:blipFill>
              <a:blip r:embed="rId3">
                <a:alphaModFix amt="0"/>
              </a:blip>
              <a:stretch>
                <a:fillRect l="0" t="-425633" r="0" b="-411282"/>
              </a:stretch>
            </a:blipFill>
          </p:spPr>
        </p:sp>
        <p:sp>
          <p:nvSpPr>
            <p:cNvPr name="TextBox 25" id="25"/>
            <p:cNvSpPr txBox="true"/>
            <p:nvPr/>
          </p:nvSpPr>
          <p:spPr>
            <a:xfrm>
              <a:off x="0" y="-9525"/>
              <a:ext cx="12844805" cy="543785"/>
            </a:xfrm>
            <a:prstGeom prst="rect">
              <a:avLst/>
            </a:prstGeom>
          </p:spPr>
          <p:txBody>
            <a:bodyPr anchor="ctr" rtlCol="false" tIns="0" lIns="0" bIns="0" rIns="0"/>
            <a:lstStyle/>
            <a:p>
              <a:pPr algn="l">
                <a:lnSpc>
                  <a:spcPts val="2400"/>
                </a:lnSpc>
              </a:pPr>
              <a:r>
                <a:rPr lang="en-US" b="true" sz="2000">
                  <a:solidFill>
                    <a:srgbClr val="1E293B"/>
                  </a:solidFill>
                  <a:latin typeface="프리텐다드 Bold"/>
                  <a:ea typeface="프리텐다드 Bold"/>
                  <a:cs typeface="프리텐다드 Bold"/>
                  <a:sym typeface="프리텐다드 Bold"/>
                </a:rPr>
                <a:t>교원 인권 상황 실태조사(2024) 개방형 응답 </a:t>
              </a:r>
              <a:r>
                <a:rPr lang="en-US" sz="2000">
                  <a:solidFill>
                    <a:srgbClr val="1E293B"/>
                  </a:solidFill>
                  <a:latin typeface="프리텐다드"/>
                  <a:ea typeface="프리텐다드"/>
                  <a:cs typeface="프리텐다드"/>
                  <a:sym typeface="프리텐다드"/>
                </a:rPr>
                <a:t>출처:kor_data_20240073</a:t>
              </a:r>
            </a:p>
          </p:txBody>
        </p:sp>
      </p:grpSp>
      <p:grpSp>
        <p:nvGrpSpPr>
          <p:cNvPr name="Group 26" id="26"/>
          <p:cNvGrpSpPr/>
          <p:nvPr/>
        </p:nvGrpSpPr>
        <p:grpSpPr>
          <a:xfrm rot="0">
            <a:off x="843725" y="7307218"/>
            <a:ext cx="9633604" cy="1062600"/>
            <a:chOff x="0" y="0"/>
            <a:chExt cx="12844805" cy="1416800"/>
          </a:xfrm>
        </p:grpSpPr>
        <p:sp>
          <p:nvSpPr>
            <p:cNvPr name="Freeform 27" id="27"/>
            <p:cNvSpPr/>
            <p:nvPr/>
          </p:nvSpPr>
          <p:spPr>
            <a:xfrm flipH="false" flipV="false" rot="0">
              <a:off x="0" y="0"/>
              <a:ext cx="12844800" cy="1416801"/>
            </a:xfrm>
            <a:custGeom>
              <a:avLst/>
              <a:gdLst/>
              <a:ahLst/>
              <a:cxnLst/>
              <a:rect r="r" b="b" t="t" l="l"/>
              <a:pathLst>
                <a:path h="1416801" w="12844800">
                  <a:moveTo>
                    <a:pt x="0" y="0"/>
                  </a:moveTo>
                  <a:lnTo>
                    <a:pt x="12844800" y="0"/>
                  </a:lnTo>
                  <a:lnTo>
                    <a:pt x="12844800" y="1416801"/>
                  </a:lnTo>
                  <a:lnTo>
                    <a:pt x="0" y="1416801"/>
                  </a:lnTo>
                  <a:close/>
                </a:path>
              </a:pathLst>
            </a:custGeom>
            <a:blipFill>
              <a:blip r:embed="rId3">
                <a:alphaModFix amt="0"/>
              </a:blip>
              <a:stretch>
                <a:fillRect l="0" t="-126652" r="0" b="-126652"/>
              </a:stretch>
            </a:blipFill>
          </p:spPr>
        </p:sp>
        <p:sp>
          <p:nvSpPr>
            <p:cNvPr name="TextBox 28" id="28"/>
            <p:cNvSpPr txBox="true"/>
            <p:nvPr/>
          </p:nvSpPr>
          <p:spPr>
            <a:xfrm>
              <a:off x="0" y="-38100"/>
              <a:ext cx="12844805" cy="1454900"/>
            </a:xfrm>
            <a:prstGeom prst="rect">
              <a:avLst/>
            </a:prstGeom>
          </p:spPr>
          <p:txBody>
            <a:bodyPr anchor="ctr" rtlCol="false" tIns="0" lIns="0" bIns="0" rIns="0"/>
            <a:lstStyle/>
            <a:p>
              <a:pPr algn="l">
                <a:lnSpc>
                  <a:spcPts val="2208"/>
                </a:lnSpc>
              </a:pPr>
              <a:r>
                <a:rPr lang="en-US" b="true" sz="1600">
                  <a:solidFill>
                    <a:srgbClr val="0284C7"/>
                  </a:solidFill>
                  <a:latin typeface="프리텐다드 Bold"/>
                  <a:ea typeface="프리텐다드 Bold"/>
                  <a:cs typeface="프리텐다드 Bold"/>
                  <a:sym typeface="프리텐다드 Bold"/>
                </a:rPr>
                <a:t>컬럼 C5_12x  </a:t>
              </a:r>
              <a:r>
                <a:rPr lang="en-US" b="true" sz="1600">
                  <a:solidFill>
                    <a:srgbClr val="1E293B"/>
                  </a:solidFill>
                  <a:latin typeface="프리텐다드 Bold"/>
                  <a:ea typeface="프리텐다드 Bold"/>
                  <a:cs typeface="프리텐다드 Bold"/>
                  <a:sym typeface="프리텐다드 Bold"/>
                </a:rPr>
                <a:t>"학생들의 문제행동이 잦아 훈육 지도를 하면 언제 </a:t>
              </a:r>
              <a:r>
                <a:rPr lang="en-US" b="true" sz="1600">
                  <a:solidFill>
                    <a:srgbClr val="7C3AED"/>
                  </a:solidFill>
                  <a:latin typeface="프리텐다드 Bold"/>
                  <a:ea typeface="프리텐다드 Bold"/>
                  <a:cs typeface="프리텐다드 Bold"/>
                  <a:sym typeface="프리텐다드 Bold"/>
                </a:rPr>
                <a:t>아동학대로 고소</a:t>
              </a:r>
              <a:r>
                <a:rPr lang="en-US" b="true" sz="1600">
                  <a:solidFill>
                    <a:srgbClr val="1E293B"/>
                  </a:solidFill>
                  <a:latin typeface="프리텐다드 Bold"/>
                  <a:ea typeface="프리텐다드 Bold"/>
                  <a:cs typeface="프리텐다드 Bold"/>
                  <a:sym typeface="프리텐다드 Bold"/>
                </a:rPr>
                <a:t>당할지 모른다는 두려움. </a:t>
              </a:r>
              <a:r>
                <a:rPr lang="en-US" b="true" sz="1600">
                  <a:solidFill>
                    <a:srgbClr val="7C3AED"/>
                  </a:solidFill>
                  <a:latin typeface="프리텐다드 Bold"/>
                  <a:ea typeface="프리텐다드 Bold"/>
                  <a:cs typeface="프리텐다드 Bold"/>
                  <a:sym typeface="프리텐다드 Bold"/>
                </a:rPr>
                <a:t>나를 보호해줄 제대로 된 장치가 없다</a:t>
              </a:r>
              <a:r>
                <a:rPr lang="en-US" b="true" sz="1600">
                  <a:solidFill>
                    <a:srgbClr val="1E293B"/>
                  </a:solidFill>
                  <a:latin typeface="프리텐다드 Bold"/>
                  <a:ea typeface="프리텐다드 Bold"/>
                  <a:cs typeface="프리텐다드 Bold"/>
                  <a:sym typeface="프리텐다드 Bold"/>
                </a:rPr>
                <a:t>는 막막함."</a:t>
              </a:r>
            </a:p>
          </p:txBody>
        </p:sp>
      </p:grpSp>
      <p:grpSp>
        <p:nvGrpSpPr>
          <p:cNvPr name="Group 29" id="29"/>
          <p:cNvGrpSpPr/>
          <p:nvPr/>
        </p:nvGrpSpPr>
        <p:grpSpPr>
          <a:xfrm rot="0">
            <a:off x="831018" y="8059693"/>
            <a:ext cx="9697202" cy="1062600"/>
            <a:chOff x="0" y="0"/>
            <a:chExt cx="12929603" cy="1416800"/>
          </a:xfrm>
        </p:grpSpPr>
        <p:sp>
          <p:nvSpPr>
            <p:cNvPr name="Freeform 30" id="30"/>
            <p:cNvSpPr/>
            <p:nvPr/>
          </p:nvSpPr>
          <p:spPr>
            <a:xfrm flipH="false" flipV="false" rot="0">
              <a:off x="0" y="0"/>
              <a:ext cx="12929600" cy="1416801"/>
            </a:xfrm>
            <a:custGeom>
              <a:avLst/>
              <a:gdLst/>
              <a:ahLst/>
              <a:cxnLst/>
              <a:rect r="r" b="b" t="t" l="l"/>
              <a:pathLst>
                <a:path h="1416801" w="12929600">
                  <a:moveTo>
                    <a:pt x="0" y="0"/>
                  </a:moveTo>
                  <a:lnTo>
                    <a:pt x="12929600" y="0"/>
                  </a:lnTo>
                  <a:lnTo>
                    <a:pt x="12929600" y="1416801"/>
                  </a:lnTo>
                  <a:lnTo>
                    <a:pt x="0" y="1416801"/>
                  </a:lnTo>
                  <a:close/>
                </a:path>
              </a:pathLst>
            </a:custGeom>
            <a:blipFill>
              <a:blip r:embed="rId3">
                <a:alphaModFix amt="0"/>
              </a:blip>
              <a:stretch>
                <a:fillRect l="0" t="-127818" r="0" b="-127818"/>
              </a:stretch>
            </a:blipFill>
          </p:spPr>
        </p:sp>
        <p:sp>
          <p:nvSpPr>
            <p:cNvPr name="TextBox 31" id="31"/>
            <p:cNvSpPr txBox="true"/>
            <p:nvPr/>
          </p:nvSpPr>
          <p:spPr>
            <a:xfrm>
              <a:off x="0" y="-38100"/>
              <a:ext cx="12929603" cy="1454900"/>
            </a:xfrm>
            <a:prstGeom prst="rect">
              <a:avLst/>
            </a:prstGeom>
          </p:spPr>
          <p:txBody>
            <a:bodyPr anchor="ctr" rtlCol="false" tIns="0" lIns="0" bIns="0" rIns="0"/>
            <a:lstStyle/>
            <a:p>
              <a:pPr algn="l">
                <a:lnSpc>
                  <a:spcPts val="2208"/>
                </a:lnSpc>
              </a:pPr>
              <a:r>
                <a:rPr lang="en-US" b="true" sz="1600">
                  <a:solidFill>
                    <a:srgbClr val="0284C7"/>
                  </a:solidFill>
                  <a:latin typeface="프리텐다드 Bold"/>
                  <a:ea typeface="프리텐다드 Bold"/>
                  <a:cs typeface="프리텐다드 Bold"/>
                  <a:sym typeface="프리텐다드 Bold"/>
                </a:rPr>
                <a:t>컬럼 B3_1A_10x </a:t>
              </a:r>
              <a:r>
                <a:rPr lang="en-US" b="true" sz="1600">
                  <a:solidFill>
                    <a:srgbClr val="1E293B"/>
                  </a:solidFill>
                  <a:latin typeface="프리텐다드 Bold"/>
                  <a:ea typeface="프리텐다드 Bold"/>
                  <a:cs typeface="프리텐다드 Bold"/>
                  <a:sym typeface="프리텐다드 Bold"/>
                </a:rPr>
                <a:t>"학생을 시켜 지도 내용을 녹음하게 하여 국민신문고에 신고 및 지속적으로 교육청에 민원을 제기, 아동학대 무혐의 항고"</a:t>
              </a:r>
            </a:p>
          </p:txBody>
        </p:sp>
      </p:grpSp>
      <p:grpSp>
        <p:nvGrpSpPr>
          <p:cNvPr name="Group 32" id="32"/>
          <p:cNvGrpSpPr/>
          <p:nvPr/>
        </p:nvGrpSpPr>
        <p:grpSpPr>
          <a:xfrm rot="0">
            <a:off x="843725" y="9037949"/>
            <a:ext cx="9714605" cy="736200"/>
            <a:chOff x="0" y="0"/>
            <a:chExt cx="12952806" cy="981600"/>
          </a:xfrm>
        </p:grpSpPr>
        <p:sp>
          <p:nvSpPr>
            <p:cNvPr name="Freeform 33" id="33"/>
            <p:cNvSpPr/>
            <p:nvPr/>
          </p:nvSpPr>
          <p:spPr>
            <a:xfrm flipH="false" flipV="false" rot="0">
              <a:off x="0" y="0"/>
              <a:ext cx="12952800" cy="981604"/>
            </a:xfrm>
            <a:custGeom>
              <a:avLst/>
              <a:gdLst/>
              <a:ahLst/>
              <a:cxnLst/>
              <a:rect r="r" b="b" t="t" l="l"/>
              <a:pathLst>
                <a:path h="981604" w="12952800">
                  <a:moveTo>
                    <a:pt x="0" y="0"/>
                  </a:moveTo>
                  <a:lnTo>
                    <a:pt x="12952800" y="0"/>
                  </a:lnTo>
                  <a:lnTo>
                    <a:pt x="12952800" y="981604"/>
                  </a:lnTo>
                  <a:lnTo>
                    <a:pt x="0" y="981604"/>
                  </a:lnTo>
                  <a:close/>
                </a:path>
              </a:pathLst>
            </a:custGeom>
            <a:blipFill>
              <a:blip r:embed="rId3">
                <a:alphaModFix amt="0"/>
              </a:blip>
              <a:stretch>
                <a:fillRect l="0" t="-207116" r="0" b="-207115"/>
              </a:stretch>
            </a:blipFill>
          </p:spPr>
        </p:sp>
        <p:sp>
          <p:nvSpPr>
            <p:cNvPr name="TextBox 34" id="34"/>
            <p:cNvSpPr txBox="true"/>
            <p:nvPr/>
          </p:nvSpPr>
          <p:spPr>
            <a:xfrm>
              <a:off x="0" y="-38100"/>
              <a:ext cx="12952806" cy="1019700"/>
            </a:xfrm>
            <a:prstGeom prst="rect">
              <a:avLst/>
            </a:prstGeom>
          </p:spPr>
          <p:txBody>
            <a:bodyPr anchor="ctr" rtlCol="false" tIns="0" lIns="0" bIns="0" rIns="0"/>
            <a:lstStyle/>
            <a:p>
              <a:pPr algn="l">
                <a:lnSpc>
                  <a:spcPts val="2208"/>
                </a:lnSpc>
              </a:pPr>
              <a:r>
                <a:rPr lang="en-US" b="true" sz="1600">
                  <a:solidFill>
                    <a:srgbClr val="0284C7"/>
                  </a:solidFill>
                  <a:latin typeface="프리텐다드 Bold"/>
                  <a:ea typeface="프리텐다드 Bold"/>
                  <a:cs typeface="프리텐다드 Bold"/>
                  <a:sym typeface="프리텐다드 Bold"/>
                </a:rPr>
                <a:t>컬럼 C5_12x</a:t>
              </a:r>
              <a:r>
                <a:rPr lang="en-US" b="true" sz="1600">
                  <a:solidFill>
                    <a:srgbClr val="1E293B"/>
                  </a:solidFill>
                  <a:latin typeface="프리텐다드 Bold"/>
                  <a:ea typeface="프리텐다드 Bold"/>
                  <a:cs typeface="프리텐다드 Bold"/>
                  <a:sym typeface="프리텐다드 Bold"/>
                </a:rPr>
                <a:t> "정당한 교육활동에 대해 보호받지 못하는 것. 법이 바뀌었다고 하지만 </a:t>
              </a:r>
              <a:r>
                <a:rPr lang="en-US" b="true" sz="1600">
                  <a:solidFill>
                    <a:srgbClr val="7C3AED"/>
                  </a:solidFill>
                  <a:latin typeface="프리텐다드 Bold"/>
                  <a:ea typeface="프리텐다드 Bold"/>
                  <a:cs typeface="프리텐다드 Bold"/>
                  <a:sym typeface="프리텐다드 Bold"/>
                </a:rPr>
                <a:t>실질적으로는 변화한 것이 아무 것</a:t>
              </a:r>
              <a:r>
                <a:rPr lang="en-US" b="true" sz="1600">
                  <a:solidFill>
                    <a:srgbClr val="1E293B"/>
                  </a:solidFill>
                  <a:latin typeface="프리텐다드 Bold"/>
                  <a:ea typeface="프리텐다드 Bold"/>
                  <a:cs typeface="프리텐다드 Bold"/>
                  <a:sym typeface="프리텐다드 Bold"/>
                </a:rPr>
                <a:t>도 없는 것."</a:t>
              </a:r>
            </a:p>
          </p:txBody>
        </p:sp>
      </p:grpSp>
      <p:sp>
        <p:nvSpPr>
          <p:cNvPr name="AutoShape 35" id="35"/>
          <p:cNvSpPr/>
          <p:nvPr/>
        </p:nvSpPr>
        <p:spPr>
          <a:xfrm rot="10787460">
            <a:off x="963444" y="6690846"/>
            <a:ext cx="9663513" cy="0"/>
          </a:xfrm>
          <a:prstGeom prst="line">
            <a:avLst/>
          </a:prstGeom>
          <a:ln cap="rnd" w="9525">
            <a:solidFill>
              <a:srgbClr val="E2E8F0"/>
            </a:solidFill>
            <a:prstDash val="solid"/>
            <a:headEnd type="none" len="sm" w="sm"/>
            <a:tailEnd type="none" len="sm" w="sm"/>
          </a:ln>
        </p:spPr>
      </p:sp>
      <p:sp>
        <p:nvSpPr>
          <p:cNvPr name="TextBox 36" id="36"/>
          <p:cNvSpPr txBox="true"/>
          <p:nvPr/>
        </p:nvSpPr>
        <p:spPr>
          <a:xfrm rot="0">
            <a:off x="11784921" y="1919554"/>
            <a:ext cx="5817146" cy="400050"/>
          </a:xfrm>
          <a:prstGeom prst="rect">
            <a:avLst/>
          </a:prstGeom>
        </p:spPr>
        <p:txBody>
          <a:bodyPr anchor="t" rtlCol="false" tIns="0" lIns="0" bIns="0" rIns="0">
            <a:spAutoFit/>
          </a:bodyPr>
          <a:lstStyle/>
          <a:p>
            <a:pPr algn="l">
              <a:lnSpc>
                <a:spcPts val="3120"/>
              </a:lnSpc>
            </a:pPr>
            <a:r>
              <a:rPr lang="en-US" b="true" sz="2600">
                <a:solidFill>
                  <a:srgbClr val="0F172A"/>
                </a:solidFill>
                <a:latin typeface="프리텐다드 Bold"/>
                <a:ea typeface="프리텐다드 Bold"/>
                <a:cs typeface="프리텐다드 Bold"/>
                <a:sym typeface="프리텐다드 Bold"/>
              </a:rPr>
              <a:t>그렇다면, 무엇이 문제인가?</a:t>
            </a:r>
          </a:p>
        </p:txBody>
      </p:sp>
      <p:sp>
        <p:nvSpPr>
          <p:cNvPr name="TextBox 37" id="37"/>
          <p:cNvSpPr txBox="true"/>
          <p:nvPr/>
        </p:nvSpPr>
        <p:spPr>
          <a:xfrm rot="0">
            <a:off x="866327" y="922649"/>
            <a:ext cx="10414349" cy="400050"/>
          </a:xfrm>
          <a:prstGeom prst="rect">
            <a:avLst/>
          </a:prstGeom>
        </p:spPr>
        <p:txBody>
          <a:bodyPr anchor="t" rtlCol="false" tIns="0" lIns="0" bIns="0" rIns="0">
            <a:spAutoFit/>
          </a:bodyPr>
          <a:lstStyle/>
          <a:p>
            <a:pPr algn="l">
              <a:lnSpc>
                <a:spcPts val="3120"/>
              </a:lnSpc>
            </a:pPr>
            <a:r>
              <a:rPr lang="en-US" b="true" sz="2600">
                <a:solidFill>
                  <a:srgbClr val="4285F4"/>
                </a:solidFill>
                <a:latin typeface="프리텐다드 Bold"/>
                <a:ea typeface="프리텐다드 Bold"/>
                <a:cs typeface="프리텐다드 Bold"/>
                <a:sym typeface="프리텐다드 Bold"/>
              </a:rPr>
              <a:t>교권침해는 교사 개인의 문제인가? 아니면 학교 구조과 제도의 실패인가?</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rot="5392200">
            <a:off x="4341266" y="5527672"/>
            <a:ext cx="8410070" cy="0"/>
          </a:xfrm>
          <a:prstGeom prst="line">
            <a:avLst/>
          </a:prstGeom>
          <a:ln cap="rnd" w="9525">
            <a:solidFill>
              <a:srgbClr val="E2E8F0"/>
            </a:solidFill>
            <a:prstDash val="solid"/>
            <a:headEnd type="none" len="sm" w="sm"/>
            <a:tailEnd type="none" len="sm" w="sm"/>
          </a:ln>
        </p:spPr>
      </p:sp>
      <p:grpSp>
        <p:nvGrpSpPr>
          <p:cNvPr name="Group 3" id="3"/>
          <p:cNvGrpSpPr/>
          <p:nvPr/>
        </p:nvGrpSpPr>
        <p:grpSpPr>
          <a:xfrm rot="0">
            <a:off x="866823" y="3482473"/>
            <a:ext cx="7508853" cy="6364653"/>
            <a:chOff x="0" y="0"/>
            <a:chExt cx="10011804" cy="8486204"/>
          </a:xfrm>
        </p:grpSpPr>
        <p:sp>
          <p:nvSpPr>
            <p:cNvPr name="Freeform 4" id="4"/>
            <p:cNvSpPr/>
            <p:nvPr/>
          </p:nvSpPr>
          <p:spPr>
            <a:xfrm flipH="false" flipV="false" rot="0">
              <a:off x="0" y="0"/>
              <a:ext cx="10011791" cy="8486140"/>
            </a:xfrm>
            <a:custGeom>
              <a:avLst/>
              <a:gdLst/>
              <a:ahLst/>
              <a:cxnLst/>
              <a:rect r="r" b="b" t="t" l="l"/>
              <a:pathLst>
                <a:path h="8486140" w="10011791">
                  <a:moveTo>
                    <a:pt x="0" y="821182"/>
                  </a:moveTo>
                  <a:cubicBezTo>
                    <a:pt x="0" y="367665"/>
                    <a:pt x="367665" y="0"/>
                    <a:pt x="821182" y="0"/>
                  </a:cubicBezTo>
                  <a:lnTo>
                    <a:pt x="9190609" y="0"/>
                  </a:lnTo>
                  <a:cubicBezTo>
                    <a:pt x="9644126" y="0"/>
                    <a:pt x="10011791" y="367665"/>
                    <a:pt x="10011791" y="821182"/>
                  </a:cubicBezTo>
                  <a:lnTo>
                    <a:pt x="10011791" y="7664958"/>
                  </a:lnTo>
                  <a:cubicBezTo>
                    <a:pt x="10011791" y="8118475"/>
                    <a:pt x="9644126" y="8486140"/>
                    <a:pt x="9190609" y="8486140"/>
                  </a:cubicBezTo>
                  <a:lnTo>
                    <a:pt x="821182" y="8486140"/>
                  </a:lnTo>
                  <a:cubicBezTo>
                    <a:pt x="367665" y="8486140"/>
                    <a:pt x="0" y="8118475"/>
                    <a:pt x="0" y="7664958"/>
                  </a:cubicBezTo>
                  <a:close/>
                </a:path>
              </a:pathLst>
            </a:custGeom>
            <a:solidFill>
              <a:srgbClr val="FFFFFF"/>
            </a:solidFill>
            <a:ln w="19050" cap="sq">
              <a:solidFill>
                <a:srgbClr val="E2E8F0"/>
              </a:solidFill>
              <a:prstDash val="solid"/>
              <a:miter/>
            </a:ln>
          </p:spPr>
        </p:sp>
      </p:grpSp>
      <p:grpSp>
        <p:nvGrpSpPr>
          <p:cNvPr name="Group 5" id="5"/>
          <p:cNvGrpSpPr/>
          <p:nvPr/>
        </p:nvGrpSpPr>
        <p:grpSpPr>
          <a:xfrm rot="0">
            <a:off x="849906" y="1189644"/>
            <a:ext cx="7462199" cy="400695"/>
            <a:chOff x="0" y="0"/>
            <a:chExt cx="9949599" cy="534260"/>
          </a:xfrm>
        </p:grpSpPr>
        <p:sp>
          <p:nvSpPr>
            <p:cNvPr name="Freeform 6" id="6"/>
            <p:cNvSpPr/>
            <p:nvPr/>
          </p:nvSpPr>
          <p:spPr>
            <a:xfrm flipH="false" flipV="false" rot="0">
              <a:off x="0" y="0"/>
              <a:ext cx="9949600" cy="534258"/>
            </a:xfrm>
            <a:custGeom>
              <a:avLst/>
              <a:gdLst/>
              <a:ahLst/>
              <a:cxnLst/>
              <a:rect r="r" b="b" t="t" l="l"/>
              <a:pathLst>
                <a:path h="534258" w="9949600">
                  <a:moveTo>
                    <a:pt x="0" y="0"/>
                  </a:moveTo>
                  <a:lnTo>
                    <a:pt x="9949600" y="0"/>
                  </a:lnTo>
                  <a:lnTo>
                    <a:pt x="9949600" y="534258"/>
                  </a:lnTo>
                  <a:lnTo>
                    <a:pt x="0" y="534258"/>
                  </a:lnTo>
                  <a:close/>
                </a:path>
              </a:pathLst>
            </a:custGeom>
            <a:blipFill>
              <a:blip r:embed="rId3">
                <a:alphaModFix amt="0"/>
              </a:blip>
              <a:stretch>
                <a:fillRect l="0" t="-323866" r="0" b="-301881"/>
              </a:stretch>
            </a:blipFill>
          </p:spPr>
        </p:sp>
        <p:sp>
          <p:nvSpPr>
            <p:cNvPr name="TextBox 7" id="7"/>
            <p:cNvSpPr txBox="true"/>
            <p:nvPr/>
          </p:nvSpPr>
          <p:spPr>
            <a:xfrm>
              <a:off x="0" y="-9525"/>
              <a:ext cx="9949599" cy="543785"/>
            </a:xfrm>
            <a:prstGeom prst="rect">
              <a:avLst/>
            </a:prstGeom>
          </p:spPr>
          <p:txBody>
            <a:bodyPr anchor="ctr" rtlCol="false" tIns="0" lIns="0" bIns="0" rIns="0"/>
            <a:lstStyle/>
            <a:p>
              <a:pPr algn="l">
                <a:lnSpc>
                  <a:spcPts val="2400"/>
                </a:lnSpc>
              </a:pPr>
              <a:r>
                <a:rPr lang="en-US" b="true" sz="2000">
                  <a:solidFill>
                    <a:srgbClr val="1E293B"/>
                  </a:solidFill>
                  <a:latin typeface="프리텐다드 Bold"/>
                  <a:ea typeface="프리텐다드 Bold"/>
                  <a:cs typeface="프리텐다드 Bold"/>
                  <a:sym typeface="프리텐다드 Bold"/>
                </a:rPr>
                <a:t>데이터 선택 이유</a:t>
              </a:r>
            </a:p>
          </p:txBody>
        </p:sp>
      </p:grpSp>
      <p:grpSp>
        <p:nvGrpSpPr>
          <p:cNvPr name="Group 8" id="8"/>
          <p:cNvGrpSpPr/>
          <p:nvPr/>
        </p:nvGrpSpPr>
        <p:grpSpPr>
          <a:xfrm rot="0">
            <a:off x="831466" y="1655674"/>
            <a:ext cx="7480640" cy="1600238"/>
            <a:chOff x="0" y="0"/>
            <a:chExt cx="9974186" cy="2133651"/>
          </a:xfrm>
        </p:grpSpPr>
        <p:sp>
          <p:nvSpPr>
            <p:cNvPr name="Freeform 9" id="9"/>
            <p:cNvSpPr/>
            <p:nvPr/>
          </p:nvSpPr>
          <p:spPr>
            <a:xfrm flipH="false" flipV="false" rot="0">
              <a:off x="0" y="0"/>
              <a:ext cx="9974199" cy="2133727"/>
            </a:xfrm>
            <a:custGeom>
              <a:avLst/>
              <a:gdLst/>
              <a:ahLst/>
              <a:cxnLst/>
              <a:rect r="r" b="b" t="t" l="l"/>
              <a:pathLst>
                <a:path h="2133727" w="9974199">
                  <a:moveTo>
                    <a:pt x="0" y="206502"/>
                  </a:moveTo>
                  <a:cubicBezTo>
                    <a:pt x="0" y="92456"/>
                    <a:pt x="92456" y="0"/>
                    <a:pt x="206502" y="0"/>
                  </a:cubicBezTo>
                  <a:lnTo>
                    <a:pt x="9767697" y="0"/>
                  </a:lnTo>
                  <a:cubicBezTo>
                    <a:pt x="9881743" y="0"/>
                    <a:pt x="9974199" y="92456"/>
                    <a:pt x="9974199" y="206502"/>
                  </a:cubicBezTo>
                  <a:lnTo>
                    <a:pt x="9974199" y="1927225"/>
                  </a:lnTo>
                  <a:cubicBezTo>
                    <a:pt x="9974199" y="2041271"/>
                    <a:pt x="9881743" y="2133727"/>
                    <a:pt x="9767697" y="2133727"/>
                  </a:cubicBezTo>
                  <a:lnTo>
                    <a:pt x="206502" y="2133727"/>
                  </a:lnTo>
                  <a:cubicBezTo>
                    <a:pt x="92456" y="2133600"/>
                    <a:pt x="0" y="2041271"/>
                    <a:pt x="0" y="1927225"/>
                  </a:cubicBezTo>
                  <a:close/>
                </a:path>
              </a:pathLst>
            </a:custGeom>
            <a:solidFill>
              <a:srgbClr val="FFFFFF"/>
            </a:solidFill>
            <a:ln w="19050" cap="sq">
              <a:solidFill>
                <a:srgbClr val="E2E8F0"/>
              </a:solidFill>
              <a:prstDash val="solid"/>
              <a:miter/>
            </a:ln>
          </p:spPr>
        </p:sp>
      </p:grpSp>
      <p:grpSp>
        <p:nvGrpSpPr>
          <p:cNvPr name="Group 10" id="10"/>
          <p:cNvGrpSpPr/>
          <p:nvPr/>
        </p:nvGrpSpPr>
        <p:grpSpPr>
          <a:xfrm rot="0">
            <a:off x="972550" y="1663503"/>
            <a:ext cx="7326582" cy="1584607"/>
            <a:chOff x="0" y="0"/>
            <a:chExt cx="9768776" cy="2112809"/>
          </a:xfrm>
        </p:grpSpPr>
        <p:sp>
          <p:nvSpPr>
            <p:cNvPr name="Freeform 11" id="11"/>
            <p:cNvSpPr/>
            <p:nvPr/>
          </p:nvSpPr>
          <p:spPr>
            <a:xfrm flipH="false" flipV="false" rot="0">
              <a:off x="0" y="0"/>
              <a:ext cx="9768773" cy="2112807"/>
            </a:xfrm>
            <a:custGeom>
              <a:avLst/>
              <a:gdLst/>
              <a:ahLst/>
              <a:cxnLst/>
              <a:rect r="r" b="b" t="t" l="l"/>
              <a:pathLst>
                <a:path h="2112807" w="9768773">
                  <a:moveTo>
                    <a:pt x="0" y="0"/>
                  </a:moveTo>
                  <a:lnTo>
                    <a:pt x="9768773" y="0"/>
                  </a:lnTo>
                  <a:lnTo>
                    <a:pt x="9768773" y="2112807"/>
                  </a:lnTo>
                  <a:lnTo>
                    <a:pt x="0" y="2112807"/>
                  </a:lnTo>
                  <a:close/>
                </a:path>
              </a:pathLst>
            </a:custGeom>
            <a:blipFill>
              <a:blip r:embed="rId3">
                <a:alphaModFix amt="0"/>
              </a:blip>
              <a:stretch>
                <a:fillRect l="0" t="-40090" r="0" b="-40091"/>
              </a:stretch>
            </a:blipFill>
          </p:spPr>
        </p:sp>
        <p:sp>
          <p:nvSpPr>
            <p:cNvPr name="TextBox 12" id="12"/>
            <p:cNvSpPr txBox="true"/>
            <p:nvPr/>
          </p:nvSpPr>
          <p:spPr>
            <a:xfrm>
              <a:off x="0" y="-38100"/>
              <a:ext cx="9768776" cy="2150909"/>
            </a:xfrm>
            <a:prstGeom prst="rect">
              <a:avLst/>
            </a:prstGeom>
          </p:spPr>
          <p:txBody>
            <a:bodyPr anchor="ctr" rtlCol="false" tIns="0" lIns="0" bIns="0" rIns="0"/>
            <a:lstStyle/>
            <a:p>
              <a:pPr algn="l">
                <a:lnSpc>
                  <a:spcPts val="2760"/>
                </a:lnSpc>
              </a:pPr>
              <a:r>
                <a:rPr lang="en-US" b="true" sz="2000">
                  <a:solidFill>
                    <a:srgbClr val="0284C7"/>
                  </a:solidFill>
                  <a:latin typeface="프리텐다드 Bold"/>
                  <a:ea typeface="프리텐다드 Bold"/>
                  <a:cs typeface="프리텐다드 Bold"/>
                  <a:sym typeface="프리텐다드 Bold"/>
                </a:rPr>
                <a:t>Q1. 어떤 학교 구조의 교사가 더 취약한가?  </a:t>
              </a:r>
            </a:p>
            <a:p>
              <a:pPr algn="l">
                <a:lnSpc>
                  <a:spcPts val="2760"/>
                </a:lnSpc>
              </a:pPr>
              <a:r>
                <a:rPr lang="en-US" b="true" sz="2000">
                  <a:solidFill>
                    <a:srgbClr val="0284C7"/>
                  </a:solidFill>
                  <a:latin typeface="프리텐다드 Bold"/>
                  <a:ea typeface="프리텐다드 Bold"/>
                  <a:cs typeface="프리텐다드 Bold"/>
                  <a:sym typeface="프리텐다드 Bold"/>
                </a:rPr>
                <a:t>Q2. 교권침해를 유발하는 잠재적 요인은 무엇인가?</a:t>
              </a:r>
            </a:p>
            <a:p>
              <a:pPr algn="l">
                <a:lnSpc>
                  <a:spcPts val="2760"/>
                </a:lnSpc>
              </a:pPr>
              <a:r>
                <a:rPr lang="en-US" b="true" sz="2000">
                  <a:solidFill>
                    <a:srgbClr val="0284C7"/>
                  </a:solidFill>
                  <a:latin typeface="프리텐다드 Bold"/>
                  <a:ea typeface="프리텐다드 Bold"/>
                  <a:cs typeface="프리텐다드 Bold"/>
                  <a:sym typeface="프리텐다드 Bold"/>
                </a:rPr>
                <a:t>Q3. 어떤 제도가 교권침해를 실제로 예방할 수 있는가?</a:t>
              </a:r>
            </a:p>
          </p:txBody>
        </p:sp>
      </p:grpSp>
      <p:sp>
        <p:nvSpPr>
          <p:cNvPr name="TextBox 13" id="13"/>
          <p:cNvSpPr txBox="true"/>
          <p:nvPr/>
        </p:nvSpPr>
        <p:spPr>
          <a:xfrm rot="0">
            <a:off x="1082973" y="3713112"/>
            <a:ext cx="7147350" cy="1336167"/>
          </a:xfrm>
          <a:prstGeom prst="rect">
            <a:avLst/>
          </a:prstGeom>
        </p:spPr>
        <p:txBody>
          <a:bodyPr anchor="t" rtlCol="false" tIns="0" lIns="0" bIns="0" rIns="0">
            <a:spAutoFit/>
          </a:bodyPr>
          <a:lstStyle/>
          <a:p>
            <a:pPr algn="l">
              <a:lnSpc>
                <a:spcPts val="2483"/>
              </a:lnSpc>
            </a:pPr>
            <a:r>
              <a:rPr lang="en-US" b="true" sz="1799">
                <a:solidFill>
                  <a:srgbClr val="0284C7"/>
                </a:solidFill>
                <a:latin typeface="프리텐다드 Bold"/>
                <a:ea typeface="프리텐다드 Bold"/>
                <a:cs typeface="프리텐다드 Bold"/>
                <a:sym typeface="프리텐다드 Bold"/>
              </a:rPr>
              <a:t>KOSSDA</a:t>
            </a:r>
            <a:r>
              <a:rPr lang="en-US" b="true" sz="1799">
                <a:solidFill>
                  <a:srgbClr val="1E293B"/>
                </a:solidFill>
                <a:latin typeface="프리텐다드 Bold"/>
                <a:ea typeface="프리텐다드 Bold"/>
                <a:cs typeface="프리텐다드 Bold"/>
                <a:sym typeface="프리텐다드 Bold"/>
              </a:rPr>
              <a:t> 교원 인권상황 실태조사 (2024) </a:t>
            </a:r>
          </a:p>
          <a:p>
            <a:pPr algn="l">
              <a:lnSpc>
                <a:spcPts val="1242"/>
              </a:lnSpc>
            </a:pPr>
            <a:r>
              <a:rPr lang="en-US" b="true" sz="900">
                <a:solidFill>
                  <a:srgbClr val="0F172A"/>
                </a:solidFill>
                <a:latin typeface="프리텐다드 Bold"/>
                <a:ea typeface="프리텐다드 Bold"/>
                <a:cs typeface="프리텐다드 Bold"/>
                <a:sym typeface="프리텐다드 Bold"/>
              </a:rPr>
              <a:t>n = 10,888 | kor_data_20240073.sav</a:t>
            </a:r>
          </a:p>
          <a:p>
            <a:pPr algn="l">
              <a:lnSpc>
                <a:spcPts val="1793"/>
              </a:lnSpc>
            </a:pPr>
            <a:r>
              <a:rPr lang="en-US" sz="1299">
                <a:solidFill>
                  <a:srgbClr val="475569"/>
                </a:solidFill>
                <a:latin typeface="프리텐다드"/>
                <a:ea typeface="프리텐다드"/>
                <a:cs typeface="프리텐다드"/>
                <a:sym typeface="프리텐다드"/>
              </a:rPr>
              <a:t>1년간 침해 경험·정신건강·이직·필요 정책</a:t>
            </a:r>
          </a:p>
          <a:p>
            <a:pPr algn="l">
              <a:lnSpc>
                <a:spcPts val="1793"/>
              </a:lnSpc>
            </a:pPr>
            <a:r>
              <a:rPr lang="en-US" b="true" sz="1299">
                <a:solidFill>
                  <a:srgbClr val="475569"/>
                </a:solidFill>
                <a:latin typeface="프리텐다드 Bold"/>
                <a:ea typeface="프리텐다드 Bold"/>
                <a:cs typeface="프리텐다드 Bold"/>
                <a:sym typeface="프리텐다드 Bold"/>
              </a:rPr>
              <a:t>주요 변수</a:t>
            </a:r>
            <a:r>
              <a:rPr lang="en-US" sz="1299">
                <a:solidFill>
                  <a:srgbClr val="475569"/>
                </a:solidFill>
                <a:latin typeface="프리텐다드"/>
                <a:ea typeface="프리텐다드"/>
                <a:cs typeface="프리텐다드"/>
                <a:sym typeface="프리텐다드"/>
              </a:rPr>
              <a:t>: B2_1·3_1·5_1 (침해), SQ2·4·5·8·9 (학교구조), A1_12·13·C6_8·B8_1 (제도공백), C1·A4·C4 (매개·결과), D2_2·2_5·2_10·2_16 (제도수요), A2_1~6 (조직문화)</a:t>
            </a:r>
          </a:p>
          <a:p>
            <a:pPr algn="l">
              <a:lnSpc>
                <a:spcPts val="1793"/>
              </a:lnSpc>
            </a:pPr>
            <a:r>
              <a:rPr lang="en-US" b="true" sz="1299">
                <a:solidFill>
                  <a:srgbClr val="475569"/>
                </a:solidFill>
                <a:latin typeface="프리텐다드 Bold"/>
                <a:ea typeface="프리텐다드 Bold"/>
                <a:cs typeface="프리텐다드 Bold"/>
                <a:sym typeface="프리텐다드 Bold"/>
              </a:rPr>
              <a:t>인사이트</a:t>
            </a:r>
            <a:r>
              <a:rPr lang="en-US" sz="1299">
                <a:solidFill>
                  <a:srgbClr val="475569"/>
                </a:solidFill>
                <a:latin typeface="프리텐다드"/>
                <a:ea typeface="프리텐다드"/>
                <a:cs typeface="프리텐다드"/>
                <a:sym typeface="프리텐다드"/>
              </a:rPr>
              <a:t>: 교사 85.6%가 침해를 경험하며, 초등·대형·여성·정규직 교사에서 구조적 취약성이 집중됨</a:t>
            </a:r>
          </a:p>
        </p:txBody>
      </p:sp>
      <p:sp>
        <p:nvSpPr>
          <p:cNvPr name="TextBox 14" id="14"/>
          <p:cNvSpPr txBox="true"/>
          <p:nvPr/>
        </p:nvSpPr>
        <p:spPr>
          <a:xfrm rot="0">
            <a:off x="1083021" y="5174761"/>
            <a:ext cx="7147350" cy="971550"/>
          </a:xfrm>
          <a:prstGeom prst="rect">
            <a:avLst/>
          </a:prstGeom>
        </p:spPr>
        <p:txBody>
          <a:bodyPr anchor="t" rtlCol="false" tIns="0" lIns="0" bIns="0" rIns="0">
            <a:spAutoFit/>
          </a:bodyPr>
          <a:lstStyle/>
          <a:p>
            <a:pPr algn="l">
              <a:lnSpc>
                <a:spcPts val="2160"/>
              </a:lnSpc>
            </a:pPr>
            <a:r>
              <a:rPr lang="en-US" b="true" sz="1800">
                <a:solidFill>
                  <a:srgbClr val="0284C7"/>
                </a:solidFill>
                <a:latin typeface="프리텐다드 Bold"/>
                <a:ea typeface="프리텐다드 Bold"/>
                <a:cs typeface="프리텐다드 Bold"/>
                <a:sym typeface="프리텐다드 Bold"/>
              </a:rPr>
              <a:t>KOSSDA</a:t>
            </a:r>
            <a:r>
              <a:rPr lang="en-US" b="true" sz="1800">
                <a:solidFill>
                  <a:srgbClr val="1E293B"/>
                </a:solidFill>
                <a:latin typeface="프리텐다드 Bold"/>
                <a:ea typeface="프리텐다드 Bold"/>
                <a:cs typeface="프리텐다드 Bold"/>
                <a:sym typeface="프리텐다드 Bold"/>
              </a:rPr>
              <a:t> 초·중등 교원 인권교육 실태조사 </a:t>
            </a:r>
          </a:p>
          <a:p>
            <a:pPr algn="l">
              <a:lnSpc>
                <a:spcPts val="1080"/>
              </a:lnSpc>
            </a:pPr>
            <a:r>
              <a:rPr lang="en-US" b="true" sz="900">
                <a:solidFill>
                  <a:srgbClr val="1E293B"/>
                </a:solidFill>
                <a:latin typeface="프리텐다드 Bold"/>
                <a:ea typeface="프리텐다드 Bold"/>
                <a:cs typeface="프리텐다드 Bold"/>
                <a:sym typeface="프리텐다드 Bold"/>
              </a:rPr>
              <a:t>(2021) </a:t>
            </a:r>
            <a:r>
              <a:rPr lang="en-US" b="true" sz="900">
                <a:solidFill>
                  <a:srgbClr val="0F172A"/>
                </a:solidFill>
                <a:latin typeface="프리텐다드 Bold"/>
                <a:ea typeface="프리텐다드 Bold"/>
                <a:cs typeface="프리텐다드 Bold"/>
                <a:sym typeface="프리텐다드 Bold"/>
              </a:rPr>
              <a:t>n = 9,553 | kor_data_20210019</a:t>
            </a:r>
          </a:p>
          <a:p>
            <a:pPr algn="l">
              <a:lnSpc>
                <a:spcPts val="1559"/>
              </a:lnSpc>
            </a:pPr>
            <a:r>
              <a:rPr lang="en-US" sz="1299">
                <a:solidFill>
                  <a:srgbClr val="475569"/>
                </a:solidFill>
                <a:latin typeface="프리텐다드"/>
                <a:ea typeface="프리텐다드"/>
                <a:cs typeface="프리텐다드"/>
                <a:sym typeface="프리텐다드"/>
              </a:rPr>
              <a:t>인권교육 참여·효과·학생인권 인식</a:t>
            </a:r>
          </a:p>
          <a:p>
            <a:pPr algn="l">
              <a:lnSpc>
                <a:spcPts val="1559"/>
              </a:lnSpc>
            </a:pPr>
            <a:r>
              <a:rPr lang="en-US" b="true" sz="1299">
                <a:solidFill>
                  <a:srgbClr val="475569"/>
                </a:solidFill>
                <a:latin typeface="프리텐다드 Bold"/>
                <a:ea typeface="프리텐다드 Bold"/>
                <a:cs typeface="프리텐다드 Bold"/>
                <a:sym typeface="프리텐다드 Bold"/>
              </a:rPr>
              <a:t>주요 변수</a:t>
            </a:r>
            <a:r>
              <a:rPr lang="en-US" sz="1299">
                <a:solidFill>
                  <a:srgbClr val="475569"/>
                </a:solidFill>
                <a:latin typeface="프리텐다드"/>
                <a:ea typeface="프리텐다드"/>
                <a:cs typeface="프리텐다드"/>
                <a:sym typeface="프리텐다드"/>
              </a:rPr>
              <a:t>: B1(인권교육 참여), B2_6(교육 효과 만족도), B5_7(학생인권 대비 교권 하락 인식)</a:t>
            </a:r>
          </a:p>
          <a:p>
            <a:pPr algn="l">
              <a:lnSpc>
                <a:spcPts val="1559"/>
              </a:lnSpc>
            </a:pPr>
            <a:r>
              <a:rPr lang="en-US" b="true" sz="1299">
                <a:solidFill>
                  <a:srgbClr val="475569"/>
                </a:solidFill>
                <a:latin typeface="프리텐다드 Bold"/>
                <a:ea typeface="프리텐다드 Bold"/>
                <a:cs typeface="프리텐다드 Bold"/>
                <a:sym typeface="프리텐다드 Bold"/>
              </a:rPr>
              <a:t>인사이트</a:t>
            </a:r>
            <a:r>
              <a:rPr lang="en-US" sz="1299">
                <a:solidFill>
                  <a:srgbClr val="475569"/>
                </a:solidFill>
                <a:latin typeface="프리텐다드"/>
                <a:ea typeface="프리텐다드"/>
                <a:cs typeface="프리텐다드"/>
                <a:sym typeface="프리텐다드"/>
              </a:rPr>
              <a:t>: 인권교육 참여율이 높아도 심의 건수는 증가 - 교육만으로 침해가 줄지 않는 역설</a:t>
            </a:r>
          </a:p>
        </p:txBody>
      </p:sp>
      <p:sp>
        <p:nvSpPr>
          <p:cNvPr name="TextBox 15" id="15"/>
          <p:cNvSpPr txBox="true"/>
          <p:nvPr/>
        </p:nvSpPr>
        <p:spPr>
          <a:xfrm rot="0">
            <a:off x="1107376" y="6271794"/>
            <a:ext cx="6959546" cy="971550"/>
          </a:xfrm>
          <a:prstGeom prst="rect">
            <a:avLst/>
          </a:prstGeom>
        </p:spPr>
        <p:txBody>
          <a:bodyPr anchor="t" rtlCol="false" tIns="0" lIns="0" bIns="0" rIns="0">
            <a:spAutoFit/>
          </a:bodyPr>
          <a:lstStyle/>
          <a:p>
            <a:pPr algn="l">
              <a:lnSpc>
                <a:spcPts val="2160"/>
              </a:lnSpc>
            </a:pPr>
            <a:r>
              <a:rPr lang="en-US" b="true" sz="1800">
                <a:solidFill>
                  <a:srgbClr val="0284C7"/>
                </a:solidFill>
                <a:latin typeface="프리텐다드 Bold"/>
                <a:ea typeface="프리텐다드 Bold"/>
                <a:cs typeface="프리텐다드 Bold"/>
                <a:sym typeface="프리텐다드 Bold"/>
              </a:rPr>
              <a:t>KOSSDA</a:t>
            </a:r>
            <a:r>
              <a:rPr lang="en-US" b="true" sz="1800">
                <a:solidFill>
                  <a:srgbClr val="1E293B"/>
                </a:solidFill>
                <a:latin typeface="프리텐다드 Bold"/>
                <a:ea typeface="프리텐다드 Bold"/>
                <a:cs typeface="프리텐다드 Bold"/>
                <a:sym typeface="프리텐다드 Bold"/>
              </a:rPr>
              <a:t> 교원양성기관 예비교원 인권 및 인권교육에 대한 인식조사</a:t>
            </a:r>
          </a:p>
          <a:p>
            <a:pPr algn="l">
              <a:lnSpc>
                <a:spcPts val="1080"/>
              </a:lnSpc>
            </a:pPr>
            <a:r>
              <a:rPr lang="en-US" b="true" sz="900">
                <a:solidFill>
                  <a:srgbClr val="1E293B"/>
                </a:solidFill>
                <a:latin typeface="프리텐다드 Bold"/>
                <a:ea typeface="프리텐다드 Bold"/>
                <a:cs typeface="프리텐다드 Bold"/>
                <a:sym typeface="프리텐다드 Bold"/>
              </a:rPr>
              <a:t> (2023) </a:t>
            </a:r>
            <a:r>
              <a:rPr lang="en-US" b="true" sz="900">
                <a:solidFill>
                  <a:srgbClr val="0F172A"/>
                </a:solidFill>
                <a:latin typeface="프리텐다드 Bold"/>
                <a:ea typeface="프리텐다드 Bold"/>
                <a:cs typeface="프리텐다드 Bold"/>
                <a:sym typeface="프리텐다드 Bold"/>
              </a:rPr>
              <a:t>n = 1,002 | kor_data_20230036</a:t>
            </a:r>
          </a:p>
          <a:p>
            <a:pPr algn="l">
              <a:lnSpc>
                <a:spcPts val="1559"/>
              </a:lnSpc>
            </a:pPr>
            <a:r>
              <a:rPr lang="en-US" sz="1299">
                <a:solidFill>
                  <a:srgbClr val="475569"/>
                </a:solidFill>
                <a:latin typeface="프리텐다드"/>
                <a:ea typeface="프리텐다드"/>
                <a:cs typeface="프리텐다드"/>
                <a:sym typeface="프리텐다드"/>
              </a:rPr>
              <a:t>학생/교사 인권을 어떻게 보는지</a:t>
            </a:r>
          </a:p>
          <a:p>
            <a:pPr algn="l">
              <a:lnSpc>
                <a:spcPts val="1559"/>
              </a:lnSpc>
            </a:pPr>
            <a:r>
              <a:rPr lang="en-US" b="true" sz="1299">
                <a:solidFill>
                  <a:srgbClr val="475569"/>
                </a:solidFill>
                <a:latin typeface="프리텐다드 Bold"/>
                <a:ea typeface="프리텐다드 Bold"/>
                <a:cs typeface="프리텐다드 Bold"/>
                <a:sym typeface="프리텐다드 Bold"/>
              </a:rPr>
              <a:t>주요 변수</a:t>
            </a:r>
            <a:r>
              <a:rPr lang="en-US" sz="1299">
                <a:solidFill>
                  <a:srgbClr val="475569"/>
                </a:solidFill>
                <a:latin typeface="프리텐다드"/>
                <a:ea typeface="프리텐다드"/>
                <a:cs typeface="프리텐다드"/>
                <a:sym typeface="프리텐다드"/>
              </a:rPr>
              <a:t>: Q4_1(학생 인권 존중도), Q4_2(교사 인권 존중도)</a:t>
            </a:r>
          </a:p>
          <a:p>
            <a:pPr algn="l">
              <a:lnSpc>
                <a:spcPts val="1559"/>
              </a:lnSpc>
            </a:pPr>
            <a:r>
              <a:rPr lang="en-US" b="true" sz="1299">
                <a:solidFill>
                  <a:srgbClr val="475569"/>
                </a:solidFill>
                <a:latin typeface="프리텐다드 Bold"/>
                <a:ea typeface="프리텐다드 Bold"/>
                <a:cs typeface="프리텐다드 Bold"/>
                <a:sym typeface="프리텐다드 Bold"/>
              </a:rPr>
              <a:t>인사이트</a:t>
            </a:r>
            <a:r>
              <a:rPr lang="en-US" sz="1299">
                <a:solidFill>
                  <a:srgbClr val="475569"/>
                </a:solidFill>
                <a:latin typeface="프리텐다드"/>
                <a:ea typeface="프리텐다드"/>
                <a:cs typeface="프리텐다드"/>
                <a:sym typeface="프리텐다드"/>
              </a:rPr>
              <a:t>: 예비교원은 학생 인권을 교사 인권보다 높게 인식 </a:t>
            </a:r>
          </a:p>
        </p:txBody>
      </p:sp>
      <p:grpSp>
        <p:nvGrpSpPr>
          <p:cNvPr name="Group 16" id="16"/>
          <p:cNvGrpSpPr/>
          <p:nvPr/>
        </p:nvGrpSpPr>
        <p:grpSpPr>
          <a:xfrm rot="0">
            <a:off x="8720071" y="1649425"/>
            <a:ext cx="8700449" cy="4726225"/>
            <a:chOff x="0" y="0"/>
            <a:chExt cx="11600599" cy="6301634"/>
          </a:xfrm>
        </p:grpSpPr>
        <p:sp>
          <p:nvSpPr>
            <p:cNvPr name="Freeform 17" id="17"/>
            <p:cNvSpPr/>
            <p:nvPr/>
          </p:nvSpPr>
          <p:spPr>
            <a:xfrm flipH="false" flipV="false" rot="0">
              <a:off x="0" y="0"/>
              <a:ext cx="11600688" cy="6301697"/>
            </a:xfrm>
            <a:custGeom>
              <a:avLst/>
              <a:gdLst/>
              <a:ahLst/>
              <a:cxnLst/>
              <a:rect r="r" b="b" t="t" l="l"/>
              <a:pathLst>
                <a:path h="6301697" w="11600688">
                  <a:moveTo>
                    <a:pt x="0" y="609825"/>
                  </a:moveTo>
                  <a:cubicBezTo>
                    <a:pt x="0" y="273021"/>
                    <a:pt x="263652" y="0"/>
                    <a:pt x="588899" y="0"/>
                  </a:cubicBezTo>
                  <a:lnTo>
                    <a:pt x="11011789" y="0"/>
                  </a:lnTo>
                  <a:cubicBezTo>
                    <a:pt x="11337036" y="0"/>
                    <a:pt x="11600688" y="273021"/>
                    <a:pt x="11600688" y="609825"/>
                  </a:cubicBezTo>
                  <a:lnTo>
                    <a:pt x="11600688" y="5691874"/>
                  </a:lnTo>
                  <a:cubicBezTo>
                    <a:pt x="11600688" y="6028679"/>
                    <a:pt x="11337036" y="6301697"/>
                    <a:pt x="11011789" y="6301697"/>
                  </a:cubicBezTo>
                  <a:lnTo>
                    <a:pt x="588899" y="6301697"/>
                  </a:lnTo>
                  <a:cubicBezTo>
                    <a:pt x="263652" y="6301697"/>
                    <a:pt x="0" y="6028679"/>
                    <a:pt x="0" y="5691874"/>
                  </a:cubicBezTo>
                  <a:close/>
                </a:path>
              </a:pathLst>
            </a:custGeom>
            <a:solidFill>
              <a:srgbClr val="FFFFFF"/>
            </a:solidFill>
            <a:ln w="19050" cap="sq">
              <a:solidFill>
                <a:srgbClr val="E2E8F0"/>
              </a:solidFill>
              <a:prstDash val="solid"/>
              <a:miter/>
            </a:ln>
          </p:spPr>
        </p:sp>
      </p:grpSp>
      <p:sp>
        <p:nvSpPr>
          <p:cNvPr name="TextBox 18" id="18"/>
          <p:cNvSpPr txBox="true"/>
          <p:nvPr/>
        </p:nvSpPr>
        <p:spPr>
          <a:xfrm rot="0">
            <a:off x="9065430" y="1730664"/>
            <a:ext cx="7968573" cy="4316919"/>
          </a:xfrm>
          <a:prstGeom prst="rect">
            <a:avLst/>
          </a:prstGeom>
        </p:spPr>
        <p:txBody>
          <a:bodyPr anchor="t" rtlCol="false" tIns="0" lIns="0" bIns="0" rIns="0">
            <a:spAutoFit/>
          </a:bodyPr>
          <a:lstStyle/>
          <a:p>
            <a:pPr algn="l">
              <a:lnSpc>
                <a:spcPts val="2875"/>
              </a:lnSpc>
            </a:pPr>
            <a:r>
              <a:rPr lang="en-US" sz="1597">
                <a:solidFill>
                  <a:srgbClr val="1E293B"/>
                </a:solidFill>
                <a:latin typeface="프리텐다드"/>
                <a:ea typeface="프리텐다드"/>
                <a:cs typeface="프리텐다드"/>
                <a:sym typeface="프리텐다드"/>
              </a:rPr>
              <a:t>1. </a:t>
            </a:r>
            <a:r>
              <a:rPr lang="en-US" b="true" sz="1597">
                <a:solidFill>
                  <a:srgbClr val="1E293B"/>
                </a:solidFill>
                <a:latin typeface="프리텐다드 Bold"/>
                <a:ea typeface="프리텐다드 Bold"/>
                <a:cs typeface="프리텐다드 Bold"/>
                <a:sym typeface="프리텐다드 Bold"/>
              </a:rPr>
              <a:t>결측 처리</a:t>
            </a:r>
            <a:r>
              <a:rPr lang="en-US" b="true" sz="1597">
                <a:solidFill>
                  <a:srgbClr val="64748B"/>
                </a:solidFill>
                <a:latin typeface="프리텐다드 Bold"/>
                <a:ea typeface="프리텐다드 Bold"/>
                <a:cs typeface="프리텐다드 Bold"/>
                <a:sym typeface="프리텐다드 Bold"/>
              </a:rPr>
              <a:t> </a:t>
            </a:r>
            <a:r>
              <a:rPr lang="en-US" sz="1597">
                <a:solidFill>
                  <a:srgbClr val="64748B"/>
                </a:solidFill>
                <a:latin typeface="프리텐다드"/>
                <a:ea typeface="프리텐다드"/>
                <a:cs typeface="프리텐다드"/>
                <a:sym typeface="프리텐다드"/>
              </a:rPr>
              <a:t>: 핵심 분석 변수 기준 리스트와이즈 제거. 제도 필요도 무응답은 '해당 없음'과 구분해 별도 처리. ‘학교규모’ 컬럼 결측값은 중앙값으로 처리</a:t>
            </a:r>
          </a:p>
          <a:p>
            <a:pPr algn="l">
              <a:lnSpc>
                <a:spcPts val="2875"/>
              </a:lnSpc>
            </a:pPr>
            <a:r>
              <a:rPr lang="en-US" sz="1597">
                <a:solidFill>
                  <a:srgbClr val="1E293B"/>
                </a:solidFill>
                <a:latin typeface="프리텐다드"/>
                <a:ea typeface="프리텐다드"/>
                <a:cs typeface="프리텐다드"/>
                <a:sym typeface="프리텐다드"/>
              </a:rPr>
              <a:t>2. </a:t>
            </a:r>
            <a:r>
              <a:rPr lang="en-US" b="true" sz="1597">
                <a:solidFill>
                  <a:srgbClr val="1E293B"/>
                </a:solidFill>
                <a:latin typeface="프리텐다드 Bold"/>
                <a:ea typeface="프리텐다드 Bold"/>
                <a:cs typeface="프리텐다드 Bold"/>
                <a:sym typeface="프리텐다드 Bold"/>
              </a:rPr>
              <a:t>이상치 처리 </a:t>
            </a:r>
            <a:r>
              <a:rPr lang="en-US" sz="1597">
                <a:solidFill>
                  <a:srgbClr val="64748B"/>
                </a:solidFill>
                <a:latin typeface="프리텐다드"/>
                <a:ea typeface="프리텐다드"/>
                <a:cs typeface="프리텐다드"/>
                <a:sym typeface="프리텐다드"/>
              </a:rPr>
              <a:t>:</a:t>
            </a:r>
            <a:r>
              <a:rPr lang="en-US" b="true" sz="1597">
                <a:solidFill>
                  <a:srgbClr val="64748B"/>
                </a:solidFill>
                <a:latin typeface="프리텐다드 Bold"/>
                <a:ea typeface="프리텐다드 Bold"/>
                <a:cs typeface="프리텐다드 Bold"/>
                <a:sym typeface="프리텐다드 Bold"/>
              </a:rPr>
              <a:t> </a:t>
            </a:r>
            <a:r>
              <a:rPr lang="en-US" sz="1597">
                <a:solidFill>
                  <a:srgbClr val="64748B"/>
                </a:solidFill>
                <a:latin typeface="프리텐다드"/>
                <a:ea typeface="프리텐다드"/>
                <a:cs typeface="프리텐다드"/>
                <a:sym typeface="프리텐다드"/>
              </a:rPr>
              <a:t>연속형 변수 3표준편차 이상 극단값 제거</a:t>
            </a:r>
          </a:p>
          <a:p>
            <a:pPr algn="l">
              <a:lnSpc>
                <a:spcPts val="2875"/>
              </a:lnSpc>
            </a:pPr>
            <a:r>
              <a:rPr lang="en-US" sz="1597">
                <a:solidFill>
                  <a:srgbClr val="1E293B"/>
                </a:solidFill>
                <a:latin typeface="프리텐다드"/>
                <a:ea typeface="프리텐다드"/>
                <a:cs typeface="프리텐다드"/>
                <a:sym typeface="프리텐다드"/>
              </a:rPr>
              <a:t>3. </a:t>
            </a:r>
            <a:r>
              <a:rPr lang="en-US" b="true" sz="1597">
                <a:solidFill>
                  <a:srgbClr val="1E293B"/>
                </a:solidFill>
                <a:latin typeface="프리텐다드 Bold"/>
                <a:ea typeface="프리텐다드 Bold"/>
                <a:cs typeface="프리텐다드 Bold"/>
                <a:sym typeface="프리텐다드 Bold"/>
              </a:rPr>
              <a:t>침해지수</a:t>
            </a:r>
            <a:r>
              <a:rPr lang="en-US" sz="1597">
                <a:solidFill>
                  <a:srgbClr val="64748B"/>
                </a:solidFill>
                <a:latin typeface="프리텐다드"/>
                <a:ea typeface="프리텐다드"/>
                <a:cs typeface="프리텐다드"/>
                <a:sym typeface="프리텐다드"/>
              </a:rPr>
              <a:t> : B2_1+B3_1+B5_1 합산 (0~3)</a:t>
            </a:r>
          </a:p>
          <a:p>
            <a:pPr algn="l">
              <a:lnSpc>
                <a:spcPts val="2875"/>
              </a:lnSpc>
            </a:pPr>
            <a:r>
              <a:rPr lang="en-US" sz="1597">
                <a:solidFill>
                  <a:srgbClr val="1E293B"/>
                </a:solidFill>
                <a:latin typeface="프리텐다드"/>
                <a:ea typeface="프리텐다드"/>
                <a:cs typeface="프리텐다드"/>
                <a:sym typeface="프리텐다드"/>
              </a:rPr>
              <a:t>4. </a:t>
            </a:r>
            <a:r>
              <a:rPr lang="en-US" b="true" sz="1597">
                <a:solidFill>
                  <a:srgbClr val="1E293B"/>
                </a:solidFill>
                <a:latin typeface="프리텐다드 Bold"/>
                <a:ea typeface="프리텐다드 Bold"/>
                <a:cs typeface="프리텐다드 Bold"/>
                <a:sym typeface="프리텐다드 Bold"/>
              </a:rPr>
              <a:t>침해여부</a:t>
            </a:r>
            <a:r>
              <a:rPr lang="en-US" sz="1597">
                <a:solidFill>
                  <a:srgbClr val="64748B"/>
                </a:solidFill>
                <a:latin typeface="프리텐다드"/>
                <a:ea typeface="프리텐다드"/>
                <a:cs typeface="프리텐다드"/>
                <a:sym typeface="프리텐다드"/>
              </a:rPr>
              <a:t> : B2_1, B3_1, B5_1 각각 경험 여부. 세 항목 중 하나라도 1(침해 경험 있음)이면 침해 대상으로 판별</a:t>
            </a:r>
          </a:p>
          <a:p>
            <a:pPr algn="l">
              <a:lnSpc>
                <a:spcPts val="2875"/>
              </a:lnSpc>
            </a:pPr>
            <a:r>
              <a:rPr lang="en-US" sz="1597">
                <a:solidFill>
                  <a:srgbClr val="1E293B"/>
                </a:solidFill>
                <a:latin typeface="프리텐다드"/>
                <a:ea typeface="프리텐다드"/>
                <a:cs typeface="프리텐다드"/>
                <a:sym typeface="프리텐다드"/>
              </a:rPr>
              <a:t>5. </a:t>
            </a:r>
            <a:r>
              <a:rPr lang="en-US" b="true" sz="1597">
                <a:solidFill>
                  <a:srgbClr val="1E293B"/>
                </a:solidFill>
                <a:latin typeface="프리텐다드 Bold"/>
                <a:ea typeface="프리텐다드 Bold"/>
                <a:cs typeface="프리텐다드 Bold"/>
                <a:sym typeface="프리텐다드 Bold"/>
              </a:rPr>
              <a:t>조직문화 지수</a:t>
            </a:r>
            <a:r>
              <a:rPr lang="en-US" sz="1597">
                <a:solidFill>
                  <a:srgbClr val="64748B"/>
                </a:solidFill>
                <a:latin typeface="프리텐다드"/>
                <a:ea typeface="프리텐다드"/>
                <a:cs typeface="프리텐다드"/>
                <a:sym typeface="프리텐다드"/>
              </a:rPr>
              <a:t>: A2_1~A2_6 합산 평균. 협력 및 참여 정도를 단일 지수로 구성해 조절변수로 투입.</a:t>
            </a:r>
          </a:p>
          <a:p>
            <a:pPr algn="l">
              <a:lnSpc>
                <a:spcPts val="2875"/>
              </a:lnSpc>
            </a:pPr>
            <a:r>
              <a:rPr lang="en-US" sz="1597">
                <a:solidFill>
                  <a:srgbClr val="1E293B"/>
                </a:solidFill>
                <a:latin typeface="프리텐다드"/>
                <a:ea typeface="프리텐다드"/>
                <a:cs typeface="프리텐다드"/>
                <a:sym typeface="프리텐다드"/>
              </a:rPr>
              <a:t>6. </a:t>
            </a:r>
            <a:r>
              <a:rPr lang="en-US" b="true" sz="1597">
                <a:solidFill>
                  <a:srgbClr val="1E293B"/>
                </a:solidFill>
                <a:latin typeface="프리텐다드 Bold"/>
                <a:ea typeface="프리텐다드 Bold"/>
                <a:cs typeface="프리텐다드 Bold"/>
                <a:sym typeface="프리텐다드 Bold"/>
              </a:rPr>
              <a:t>학교 더미</a:t>
            </a:r>
            <a:r>
              <a:rPr lang="en-US" sz="1597">
                <a:solidFill>
                  <a:srgbClr val="64748B"/>
                </a:solidFill>
                <a:latin typeface="프리텐다드"/>
                <a:ea typeface="프리텐다드"/>
                <a:cs typeface="프리텐다드"/>
                <a:sym typeface="프리텐다드"/>
              </a:rPr>
              <a:t> : SQ2(초/중/고 학교급)의 초등(==2), 중학교(==3), 고등(4,5)더미화</a:t>
            </a:r>
          </a:p>
          <a:p>
            <a:pPr algn="l">
              <a:lnSpc>
                <a:spcPts val="2875"/>
              </a:lnSpc>
            </a:pPr>
            <a:r>
              <a:rPr lang="en-US" sz="1597">
                <a:solidFill>
                  <a:srgbClr val="1E293B"/>
                </a:solidFill>
                <a:latin typeface="프리텐다드"/>
                <a:ea typeface="프리텐다드"/>
                <a:cs typeface="프리텐다드"/>
                <a:sym typeface="프리텐다드"/>
              </a:rPr>
              <a:t>7. </a:t>
            </a:r>
            <a:r>
              <a:rPr lang="en-US" b="true" sz="1597">
                <a:solidFill>
                  <a:srgbClr val="1E293B"/>
                </a:solidFill>
                <a:latin typeface="프리텐다드 Bold"/>
                <a:ea typeface="프리텐다드 Bold"/>
                <a:cs typeface="프리텐다드 Bold"/>
                <a:sym typeface="프리텐다드 Bold"/>
              </a:rPr>
              <a:t>심리지수 역코딩</a:t>
            </a:r>
            <a:r>
              <a:rPr lang="en-US" sz="1597">
                <a:solidFill>
                  <a:srgbClr val="64748B"/>
                </a:solidFill>
                <a:latin typeface="프리텐다드"/>
                <a:ea typeface="프리텐다드"/>
                <a:cs typeface="프리텐다드"/>
                <a:sym typeface="프리텐다드"/>
              </a:rPr>
              <a:t> : 1: 매우 좋음 ~ 5 : 매우 나쁨으로 스코어링 역전</a:t>
            </a:r>
          </a:p>
          <a:p>
            <a:pPr algn="l">
              <a:lnSpc>
                <a:spcPts val="2875"/>
              </a:lnSpc>
            </a:pPr>
            <a:r>
              <a:rPr lang="en-US" sz="1597">
                <a:solidFill>
                  <a:srgbClr val="1E293B"/>
                </a:solidFill>
                <a:latin typeface="프리텐다드"/>
                <a:ea typeface="프리텐다드"/>
                <a:cs typeface="프리텐다드"/>
                <a:sym typeface="프리텐다드"/>
              </a:rPr>
              <a:t>8. </a:t>
            </a:r>
            <a:r>
              <a:rPr lang="en-US" b="true" sz="1597">
                <a:solidFill>
                  <a:srgbClr val="1E293B"/>
                </a:solidFill>
                <a:latin typeface="프리텐다드 Bold"/>
                <a:ea typeface="프리텐다드 Bold"/>
                <a:cs typeface="프리텐다드 Bold"/>
                <a:sym typeface="프리텐다드 Bold"/>
              </a:rPr>
              <a:t>제도공백 잠재변수 </a:t>
            </a:r>
            <a:r>
              <a:rPr lang="en-US" sz="1597">
                <a:solidFill>
                  <a:srgbClr val="64748B"/>
                </a:solidFill>
                <a:latin typeface="프리텐다드"/>
                <a:ea typeface="프리텐다드"/>
                <a:cs typeface="프리텐다드"/>
                <a:sym typeface="프리텐다드"/>
              </a:rPr>
              <a:t>: A1_12·A1_13·C6_8·B8_1(역코딩) 4개 지표로 SEM 측정모형 구성 (Cronbach α = 0.741)</a:t>
            </a:r>
          </a:p>
          <a:p>
            <a:pPr algn="l">
              <a:lnSpc>
                <a:spcPts val="2875"/>
              </a:lnSpc>
            </a:pPr>
            <a:r>
              <a:rPr lang="en-US" sz="1597">
                <a:solidFill>
                  <a:srgbClr val="1E293B"/>
                </a:solidFill>
                <a:latin typeface="프리텐다드"/>
                <a:ea typeface="프리텐다드"/>
                <a:cs typeface="프리텐다드"/>
                <a:sym typeface="프리텐다드"/>
              </a:rPr>
              <a:t>9. </a:t>
            </a:r>
            <a:r>
              <a:rPr lang="en-US" b="true" sz="1597">
                <a:solidFill>
                  <a:srgbClr val="1E293B"/>
                </a:solidFill>
                <a:latin typeface="프리텐다드 Bold"/>
                <a:ea typeface="프리텐다드 Bold"/>
                <a:cs typeface="프리텐다드 Bold"/>
                <a:sym typeface="프리텐다드 Bold"/>
              </a:rPr>
              <a:t>K-means 전처리</a:t>
            </a:r>
            <a:r>
              <a:rPr lang="en-US" b="true" sz="1597">
                <a:solidFill>
                  <a:srgbClr val="64748B"/>
                </a:solidFill>
                <a:latin typeface="프리텐다드 Bold"/>
                <a:ea typeface="프리텐다드 Bold"/>
                <a:cs typeface="프리텐다드 Bold"/>
                <a:sym typeface="프리텐다드 Bold"/>
              </a:rPr>
              <a:t> </a:t>
            </a:r>
            <a:r>
              <a:rPr lang="en-US" sz="1597">
                <a:solidFill>
                  <a:srgbClr val="64748B"/>
                </a:solidFill>
                <a:latin typeface="프리텐다드"/>
                <a:ea typeface="프리텐다드"/>
                <a:cs typeface="프리텐다드"/>
                <a:sym typeface="프리텐다드"/>
              </a:rPr>
              <a:t>: 클러스터링 투입 변수 StandardScaler 표준화 후 적용</a:t>
            </a:r>
          </a:p>
        </p:txBody>
      </p:sp>
      <p:grpSp>
        <p:nvGrpSpPr>
          <p:cNvPr name="Group 19" id="19"/>
          <p:cNvGrpSpPr/>
          <p:nvPr/>
        </p:nvGrpSpPr>
        <p:grpSpPr>
          <a:xfrm rot="0">
            <a:off x="8810958" y="1189644"/>
            <a:ext cx="6267602" cy="400695"/>
            <a:chOff x="0" y="0"/>
            <a:chExt cx="8356803" cy="534260"/>
          </a:xfrm>
        </p:grpSpPr>
        <p:sp>
          <p:nvSpPr>
            <p:cNvPr name="Freeform 20" id="20"/>
            <p:cNvSpPr/>
            <p:nvPr/>
          </p:nvSpPr>
          <p:spPr>
            <a:xfrm flipH="false" flipV="false" rot="0">
              <a:off x="0" y="0"/>
              <a:ext cx="8356800" cy="534258"/>
            </a:xfrm>
            <a:custGeom>
              <a:avLst/>
              <a:gdLst/>
              <a:ahLst/>
              <a:cxnLst/>
              <a:rect r="r" b="b" t="t" l="l"/>
              <a:pathLst>
                <a:path h="534258" w="8356800">
                  <a:moveTo>
                    <a:pt x="0" y="0"/>
                  </a:moveTo>
                  <a:lnTo>
                    <a:pt x="8356800" y="0"/>
                  </a:lnTo>
                  <a:lnTo>
                    <a:pt x="8356800" y="534258"/>
                  </a:lnTo>
                  <a:lnTo>
                    <a:pt x="0" y="534258"/>
                  </a:lnTo>
                  <a:close/>
                </a:path>
              </a:pathLst>
            </a:custGeom>
            <a:blipFill>
              <a:blip r:embed="rId3">
                <a:alphaModFix amt="0"/>
              </a:blip>
              <a:stretch>
                <a:fillRect l="0" t="-265775" r="0" b="-243790"/>
              </a:stretch>
            </a:blipFill>
          </p:spPr>
        </p:sp>
        <p:sp>
          <p:nvSpPr>
            <p:cNvPr name="TextBox 21" id="21"/>
            <p:cNvSpPr txBox="true"/>
            <p:nvPr/>
          </p:nvSpPr>
          <p:spPr>
            <a:xfrm>
              <a:off x="0" y="-9525"/>
              <a:ext cx="8356803" cy="543785"/>
            </a:xfrm>
            <a:prstGeom prst="rect">
              <a:avLst/>
            </a:prstGeom>
          </p:spPr>
          <p:txBody>
            <a:bodyPr anchor="ctr" rtlCol="false" tIns="0" lIns="0" bIns="0" rIns="0"/>
            <a:lstStyle/>
            <a:p>
              <a:pPr algn="l">
                <a:lnSpc>
                  <a:spcPts val="2400"/>
                </a:lnSpc>
              </a:pPr>
              <a:r>
                <a:rPr lang="en-US" b="true" sz="2000">
                  <a:solidFill>
                    <a:srgbClr val="1E293B"/>
                  </a:solidFill>
                  <a:latin typeface="프리텐다드 Bold"/>
                  <a:ea typeface="프리텐다드 Bold"/>
                  <a:cs typeface="프리텐다드 Bold"/>
                  <a:sym typeface="프리텐다드 Bold"/>
                </a:rPr>
                <a:t>데이터 전처리</a:t>
              </a:r>
            </a:p>
          </p:txBody>
        </p:sp>
      </p:grpSp>
      <p:grpSp>
        <p:nvGrpSpPr>
          <p:cNvPr name="Group 22" id="22"/>
          <p:cNvGrpSpPr/>
          <p:nvPr/>
        </p:nvGrpSpPr>
        <p:grpSpPr>
          <a:xfrm rot="0">
            <a:off x="8729596" y="7322325"/>
            <a:ext cx="8681399" cy="2524801"/>
            <a:chOff x="0" y="0"/>
            <a:chExt cx="11575199" cy="3366402"/>
          </a:xfrm>
        </p:grpSpPr>
        <p:sp>
          <p:nvSpPr>
            <p:cNvPr name="Freeform 23" id="23"/>
            <p:cNvSpPr/>
            <p:nvPr/>
          </p:nvSpPr>
          <p:spPr>
            <a:xfrm flipH="false" flipV="false" rot="0">
              <a:off x="0" y="0"/>
              <a:ext cx="11575161" cy="3366389"/>
            </a:xfrm>
            <a:custGeom>
              <a:avLst/>
              <a:gdLst/>
              <a:ahLst/>
              <a:cxnLst/>
              <a:rect r="r" b="b" t="t" l="l"/>
              <a:pathLst>
                <a:path h="3366389" w="11575161">
                  <a:moveTo>
                    <a:pt x="0" y="177165"/>
                  </a:moveTo>
                  <a:cubicBezTo>
                    <a:pt x="0" y="79375"/>
                    <a:pt x="79375" y="0"/>
                    <a:pt x="177165" y="0"/>
                  </a:cubicBezTo>
                  <a:lnTo>
                    <a:pt x="11397996" y="0"/>
                  </a:lnTo>
                  <a:cubicBezTo>
                    <a:pt x="11495786" y="0"/>
                    <a:pt x="11575161" y="79375"/>
                    <a:pt x="11575161" y="177165"/>
                  </a:cubicBezTo>
                  <a:lnTo>
                    <a:pt x="11575161" y="3189224"/>
                  </a:lnTo>
                  <a:cubicBezTo>
                    <a:pt x="11575161" y="3287014"/>
                    <a:pt x="11495786" y="3366389"/>
                    <a:pt x="11397996" y="3366389"/>
                  </a:cubicBezTo>
                  <a:lnTo>
                    <a:pt x="177165" y="3366389"/>
                  </a:lnTo>
                  <a:cubicBezTo>
                    <a:pt x="79375" y="3366389"/>
                    <a:pt x="0" y="3287014"/>
                    <a:pt x="0" y="3189224"/>
                  </a:cubicBezTo>
                  <a:close/>
                </a:path>
              </a:pathLst>
            </a:custGeom>
            <a:solidFill>
              <a:srgbClr val="F1F5F9"/>
            </a:solidFill>
          </p:spPr>
        </p:sp>
      </p:grpSp>
      <p:grpSp>
        <p:nvGrpSpPr>
          <p:cNvPr name="Group 24" id="24"/>
          <p:cNvGrpSpPr/>
          <p:nvPr/>
        </p:nvGrpSpPr>
        <p:grpSpPr>
          <a:xfrm rot="0">
            <a:off x="8782707" y="6818538"/>
            <a:ext cx="1819311" cy="400695"/>
            <a:chOff x="0" y="0"/>
            <a:chExt cx="2425748" cy="534260"/>
          </a:xfrm>
        </p:grpSpPr>
        <p:sp>
          <p:nvSpPr>
            <p:cNvPr name="Freeform 25" id="25"/>
            <p:cNvSpPr/>
            <p:nvPr/>
          </p:nvSpPr>
          <p:spPr>
            <a:xfrm flipH="false" flipV="false" rot="0">
              <a:off x="0" y="0"/>
              <a:ext cx="2425748" cy="534258"/>
            </a:xfrm>
            <a:custGeom>
              <a:avLst/>
              <a:gdLst/>
              <a:ahLst/>
              <a:cxnLst/>
              <a:rect r="r" b="b" t="t" l="l"/>
              <a:pathLst>
                <a:path h="534258" w="2425748">
                  <a:moveTo>
                    <a:pt x="0" y="0"/>
                  </a:moveTo>
                  <a:lnTo>
                    <a:pt x="2425748" y="0"/>
                  </a:lnTo>
                  <a:lnTo>
                    <a:pt x="2425748" y="534258"/>
                  </a:lnTo>
                  <a:lnTo>
                    <a:pt x="0" y="534258"/>
                  </a:lnTo>
                  <a:close/>
                </a:path>
              </a:pathLst>
            </a:custGeom>
            <a:blipFill>
              <a:blip r:embed="rId3">
                <a:alphaModFix amt="0"/>
              </a:blip>
              <a:stretch>
                <a:fillRect l="0" t="-323866" r="-310166" b="-301881"/>
              </a:stretch>
            </a:blipFill>
          </p:spPr>
        </p:sp>
        <p:sp>
          <p:nvSpPr>
            <p:cNvPr name="TextBox 26" id="26"/>
            <p:cNvSpPr txBox="true"/>
            <p:nvPr/>
          </p:nvSpPr>
          <p:spPr>
            <a:xfrm>
              <a:off x="0" y="-9525"/>
              <a:ext cx="2425748" cy="543785"/>
            </a:xfrm>
            <a:prstGeom prst="rect">
              <a:avLst/>
            </a:prstGeom>
          </p:spPr>
          <p:txBody>
            <a:bodyPr anchor="ctr" rtlCol="false" tIns="0" lIns="0" bIns="0" rIns="0"/>
            <a:lstStyle/>
            <a:p>
              <a:pPr algn="l">
                <a:lnSpc>
                  <a:spcPts val="2400"/>
                </a:lnSpc>
              </a:pPr>
              <a:r>
                <a:rPr lang="en-US" b="true" sz="2000">
                  <a:solidFill>
                    <a:srgbClr val="1E293B"/>
                  </a:solidFill>
                  <a:latin typeface="프리텐다드 Bold"/>
                  <a:ea typeface="프리텐다드 Bold"/>
                  <a:cs typeface="프리텐다드 Bold"/>
                  <a:sym typeface="프리텐다드 Bold"/>
                </a:rPr>
                <a:t>데이터 분석방법</a:t>
              </a:r>
            </a:p>
          </p:txBody>
        </p:sp>
      </p:grpSp>
      <p:grpSp>
        <p:nvGrpSpPr>
          <p:cNvPr name="Group 27" id="27"/>
          <p:cNvGrpSpPr/>
          <p:nvPr/>
        </p:nvGrpSpPr>
        <p:grpSpPr>
          <a:xfrm rot="0">
            <a:off x="8961996" y="7292416"/>
            <a:ext cx="8135967" cy="2554710"/>
            <a:chOff x="0" y="0"/>
            <a:chExt cx="10847955" cy="3406280"/>
          </a:xfrm>
        </p:grpSpPr>
        <p:sp>
          <p:nvSpPr>
            <p:cNvPr name="Freeform 28" id="28"/>
            <p:cNvSpPr/>
            <p:nvPr/>
          </p:nvSpPr>
          <p:spPr>
            <a:xfrm flipH="false" flipV="false" rot="0">
              <a:off x="0" y="0"/>
              <a:ext cx="10847956" cy="3406281"/>
            </a:xfrm>
            <a:custGeom>
              <a:avLst/>
              <a:gdLst/>
              <a:ahLst/>
              <a:cxnLst/>
              <a:rect r="r" b="b" t="t" l="l"/>
              <a:pathLst>
                <a:path h="3406281" w="10847956">
                  <a:moveTo>
                    <a:pt x="0" y="0"/>
                  </a:moveTo>
                  <a:lnTo>
                    <a:pt x="10847956" y="0"/>
                  </a:lnTo>
                  <a:lnTo>
                    <a:pt x="10847956" y="3406281"/>
                  </a:lnTo>
                  <a:lnTo>
                    <a:pt x="0" y="3406281"/>
                  </a:lnTo>
                  <a:close/>
                </a:path>
              </a:pathLst>
            </a:custGeom>
            <a:blipFill>
              <a:blip r:embed="rId3">
                <a:alphaModFix amt="0"/>
              </a:blip>
              <a:stretch>
                <a:fillRect l="0" t="-11174" r="-6703" b="-21253"/>
              </a:stretch>
            </a:blipFill>
          </p:spPr>
        </p:sp>
        <p:sp>
          <p:nvSpPr>
            <p:cNvPr name="TextBox 29" id="29"/>
            <p:cNvSpPr txBox="true"/>
            <p:nvPr/>
          </p:nvSpPr>
          <p:spPr>
            <a:xfrm>
              <a:off x="0" y="-9525"/>
              <a:ext cx="10847955" cy="3415805"/>
            </a:xfrm>
            <a:prstGeom prst="rect">
              <a:avLst/>
            </a:prstGeom>
          </p:spPr>
          <p:txBody>
            <a:bodyPr anchor="ctr" rtlCol="false" tIns="0" lIns="0" bIns="0" rIns="0"/>
            <a:lstStyle/>
            <a:p>
              <a:pPr algn="l">
                <a:lnSpc>
                  <a:spcPts val="1920"/>
                </a:lnSpc>
              </a:pPr>
              <a:r>
                <a:rPr lang="en-US" b="true" sz="1600">
                  <a:solidFill>
                    <a:srgbClr val="7C3AED"/>
                  </a:solidFill>
                  <a:latin typeface="프리텐다드 Bold"/>
                  <a:ea typeface="프리텐다드 Bold"/>
                  <a:cs typeface="프리텐다드 Bold"/>
                  <a:sym typeface="프리텐다드 Bold"/>
                </a:rPr>
                <a:t>이분형 로지스틱 회귀 </a:t>
              </a:r>
              <a:r>
                <a:rPr lang="en-US" sz="1600">
                  <a:solidFill>
                    <a:srgbClr val="475569"/>
                  </a:solidFill>
                  <a:latin typeface="프리텐다드"/>
                  <a:ea typeface="프리텐다드"/>
                  <a:cs typeface="프리텐다드"/>
                  <a:sym typeface="프리텐다드"/>
                </a:rPr>
                <a:t> Q1 구조적 변수를 통한 취약집단 회귀 분석</a:t>
              </a:r>
            </a:p>
            <a:p>
              <a:pPr algn="l">
                <a:lnSpc>
                  <a:spcPts val="1920"/>
                </a:lnSpc>
              </a:pPr>
              <a:r>
                <a:rPr lang="en-US" b="true" sz="1600">
                  <a:solidFill>
                    <a:srgbClr val="7C3AED"/>
                  </a:solidFill>
                  <a:latin typeface="프리텐다드 Bold"/>
                  <a:ea typeface="프리텐다드 Bold"/>
                  <a:cs typeface="프리텐다드 Bold"/>
                  <a:sym typeface="프리텐다드 Bold"/>
                </a:rPr>
                <a:t>RandomForest + SHAP</a:t>
              </a:r>
              <a:r>
                <a:rPr lang="en-US" sz="1600">
                  <a:solidFill>
                    <a:srgbClr val="475569"/>
                  </a:solidFill>
                  <a:latin typeface="프리텐다드"/>
                  <a:ea typeface="프리텐다드"/>
                  <a:cs typeface="프리텐다드"/>
                  <a:sym typeface="프리텐다드"/>
                </a:rPr>
                <a:t>  Q1 구조변수 기여도 측정</a:t>
              </a:r>
            </a:p>
            <a:p>
              <a:pPr algn="l">
                <a:lnSpc>
                  <a:spcPts val="1920"/>
                </a:lnSpc>
              </a:pPr>
              <a:r>
                <a:rPr lang="en-US" b="true" sz="1600">
                  <a:solidFill>
                    <a:srgbClr val="7C3AED"/>
                  </a:solidFill>
                  <a:latin typeface="프리텐다드 Bold"/>
                  <a:ea typeface="프리텐다드 Bold"/>
                  <a:cs typeface="프리텐다드 Bold"/>
                  <a:sym typeface="프리텐다드 Bold"/>
                </a:rPr>
                <a:t>CFA (확인적 요인 분석) </a:t>
              </a:r>
              <a:r>
                <a:rPr lang="en-US" sz="1600">
                  <a:solidFill>
                    <a:srgbClr val="475569"/>
                  </a:solidFill>
                  <a:latin typeface="프리텐다드"/>
                  <a:ea typeface="프리텐다드"/>
                  <a:cs typeface="프리텐다드"/>
                  <a:sym typeface="프리텐다드"/>
                </a:rPr>
                <a:t>SEM 측정모형 적합도(CFI=0.917, RMSEA=0.070) 검증</a:t>
              </a:r>
            </a:p>
            <a:p>
              <a:pPr algn="l">
                <a:lnSpc>
                  <a:spcPts val="1920"/>
                </a:lnSpc>
              </a:pPr>
              <a:r>
                <a:rPr lang="en-US" b="true" sz="1600">
                  <a:solidFill>
                    <a:srgbClr val="7C3AED"/>
                  </a:solidFill>
                  <a:latin typeface="프리텐다드 Bold"/>
                  <a:ea typeface="프리텐다드 Bold"/>
                  <a:cs typeface="프리텐다드 Bold"/>
                  <a:sym typeface="프리텐다드 Bold"/>
                </a:rPr>
                <a:t>Cronbach α 신뢰도 </a:t>
              </a:r>
              <a:r>
                <a:rPr lang="en-US" sz="1600">
                  <a:solidFill>
                    <a:srgbClr val="475569"/>
                  </a:solidFill>
                  <a:latin typeface="프리텐다드"/>
                  <a:ea typeface="프리텐다드"/>
                  <a:cs typeface="프리텐다드"/>
                  <a:sym typeface="프리텐다드"/>
                </a:rPr>
                <a:t>제도공백 잠재변수 4개 지표 내적 일관성 검증 (α = 0.741)</a:t>
              </a:r>
            </a:p>
            <a:p>
              <a:pPr algn="l">
                <a:lnSpc>
                  <a:spcPts val="1920"/>
                </a:lnSpc>
              </a:pPr>
              <a:r>
                <a:rPr lang="en-US" b="true" sz="1600">
                  <a:solidFill>
                    <a:srgbClr val="7C3AED"/>
                  </a:solidFill>
                  <a:latin typeface="프리텐다드 Bold"/>
                  <a:ea typeface="프리텐다드 Bold"/>
                  <a:cs typeface="프리텐다드 Bold"/>
                  <a:sym typeface="프리텐다드 Bold"/>
                </a:rPr>
                <a:t>SEM 구조방정식  </a:t>
              </a:r>
              <a:r>
                <a:rPr lang="en-US" sz="1600">
                  <a:solidFill>
                    <a:srgbClr val="475569"/>
                  </a:solidFill>
                  <a:latin typeface="프리텐다드"/>
                  <a:ea typeface="프리텐다드"/>
                  <a:cs typeface="프리텐다드"/>
                  <a:sym typeface="프리텐다드"/>
                </a:rPr>
                <a:t>Q2 인과 경로 검증 및 잠재요인 분석</a:t>
              </a:r>
              <a:r>
                <a:rPr lang="en-US" b="true" sz="1600">
                  <a:solidFill>
                    <a:srgbClr val="7C3AED"/>
                  </a:solidFill>
                  <a:latin typeface="프리텐다드 Bold"/>
                  <a:ea typeface="프리텐다드 Bold"/>
                  <a:cs typeface="프리텐다드 Bold"/>
                  <a:sym typeface="프리텐다드 Bold"/>
                </a:rPr>
                <a:t> </a:t>
              </a:r>
            </a:p>
            <a:p>
              <a:pPr algn="l">
                <a:lnSpc>
                  <a:spcPts val="1920"/>
                </a:lnSpc>
              </a:pPr>
              <a:r>
                <a:rPr lang="en-US" b="true" sz="1600">
                  <a:solidFill>
                    <a:srgbClr val="7C3AED"/>
                  </a:solidFill>
                  <a:latin typeface="프리텐다드 Bold"/>
                  <a:ea typeface="프리텐다드 Bold"/>
                  <a:cs typeface="프리텐다드 Bold"/>
                  <a:sym typeface="프리텐다드 Bold"/>
                </a:rPr>
                <a:t>Bootstrap 매개효과 </a:t>
              </a:r>
              <a:r>
                <a:rPr lang="en-US" sz="1600">
                  <a:solidFill>
                    <a:srgbClr val="475569"/>
                  </a:solidFill>
                  <a:latin typeface="프리텐다드"/>
                  <a:ea typeface="프리텐다드"/>
                  <a:cs typeface="프리텐다드"/>
                  <a:sym typeface="프리텐다드"/>
                </a:rPr>
                <a:t>SEM 간접효과 신뢰구간 추정 (이직 28%, 자살 40%)</a:t>
              </a:r>
            </a:p>
            <a:p>
              <a:pPr algn="l">
                <a:lnSpc>
                  <a:spcPts val="1920"/>
                </a:lnSpc>
              </a:pPr>
              <a:r>
                <a:rPr lang="en-US" b="true" sz="1600">
                  <a:solidFill>
                    <a:srgbClr val="7C3AED"/>
                  </a:solidFill>
                  <a:latin typeface="프리텐다드 Bold"/>
                  <a:ea typeface="프리텐다드 Bold"/>
                  <a:cs typeface="프리텐다드 Bold"/>
                  <a:sym typeface="프리텐다드 Bold"/>
                </a:rPr>
                <a:t>K-means </a:t>
              </a:r>
              <a:r>
                <a:rPr lang="en-US" sz="1600">
                  <a:solidFill>
                    <a:srgbClr val="475569"/>
                  </a:solidFill>
                  <a:latin typeface="프리텐다드"/>
                  <a:ea typeface="프리텐다드"/>
                  <a:cs typeface="프리텐다드"/>
                  <a:sym typeface="프리텐다드"/>
                </a:rPr>
                <a:t>집단별 침해 프로파일링 ( k=3, Silhouette=0.312 )</a:t>
              </a:r>
            </a:p>
            <a:p>
              <a:pPr algn="l">
                <a:lnSpc>
                  <a:spcPts val="1920"/>
                </a:lnSpc>
              </a:pPr>
              <a:r>
                <a:rPr lang="en-US" b="true" sz="1600">
                  <a:solidFill>
                    <a:srgbClr val="7C3AED"/>
                  </a:solidFill>
                  <a:latin typeface="프리텐다드 Bold"/>
                  <a:ea typeface="프리텐다드 Bold"/>
                  <a:cs typeface="프리텐다드 Bold"/>
                  <a:sym typeface="프리텐다드 Bold"/>
                </a:rPr>
                <a:t>Brunner-Munzel test  </a:t>
              </a:r>
              <a:r>
                <a:rPr lang="en-US" sz="1600">
                  <a:solidFill>
                    <a:srgbClr val="475569"/>
                  </a:solidFill>
                  <a:latin typeface="프리텐다드"/>
                  <a:ea typeface="프리텐다드"/>
                  <a:cs typeface="프리텐다드"/>
                  <a:sym typeface="프리텐다드"/>
                </a:rPr>
                <a:t>등분산 가정을 필요로 하지 않는 제도공백의 통계 검증</a:t>
              </a:r>
            </a:p>
            <a:p>
              <a:pPr algn="l">
                <a:lnSpc>
                  <a:spcPts val="1920"/>
                </a:lnSpc>
              </a:pPr>
              <a:r>
                <a:rPr lang="en-US" b="true" sz="1600">
                  <a:solidFill>
                    <a:srgbClr val="7C3AED"/>
                  </a:solidFill>
                  <a:latin typeface="프리텐다드 Bold"/>
                  <a:ea typeface="프리텐다드 Bold"/>
                  <a:cs typeface="프리텐다드 Bold"/>
                  <a:sym typeface="프리텐다드 Bold"/>
                </a:rPr>
                <a:t>PAF  </a:t>
              </a:r>
              <a:r>
                <a:rPr lang="en-US" sz="1600">
                  <a:solidFill>
                    <a:srgbClr val="475569"/>
                  </a:solidFill>
                  <a:latin typeface="프리텐다드"/>
                  <a:ea typeface="프리텐다드"/>
                  <a:cs typeface="프리텐다드"/>
                  <a:sym typeface="프리텐다드"/>
                </a:rPr>
                <a:t>인구기여위험분율 시뮬레이션. Q3 제도 도입 효과 추정</a:t>
              </a:r>
            </a:p>
          </p:txBody>
        </p:sp>
      </p:grpSp>
      <p:sp>
        <p:nvSpPr>
          <p:cNvPr name="TextBox 30" id="30"/>
          <p:cNvSpPr txBox="true"/>
          <p:nvPr/>
        </p:nvSpPr>
        <p:spPr>
          <a:xfrm rot="0">
            <a:off x="1107376" y="7410298"/>
            <a:ext cx="6959546" cy="971550"/>
          </a:xfrm>
          <a:prstGeom prst="rect">
            <a:avLst/>
          </a:prstGeom>
        </p:spPr>
        <p:txBody>
          <a:bodyPr anchor="t" rtlCol="false" tIns="0" lIns="0" bIns="0" rIns="0">
            <a:spAutoFit/>
          </a:bodyPr>
          <a:lstStyle/>
          <a:p>
            <a:pPr algn="l">
              <a:lnSpc>
                <a:spcPts val="2159"/>
              </a:lnSpc>
            </a:pPr>
            <a:r>
              <a:rPr lang="en-US" b="true" sz="1799">
                <a:solidFill>
                  <a:srgbClr val="0284C7"/>
                </a:solidFill>
                <a:latin typeface="프리텐다드 Bold"/>
                <a:ea typeface="프리텐다드 Bold"/>
                <a:cs typeface="프리텐다드 Bold"/>
                <a:sym typeface="프리텐다드 Bold"/>
              </a:rPr>
              <a:t>교육부</a:t>
            </a:r>
            <a:r>
              <a:rPr lang="en-US" b="true" sz="1799">
                <a:solidFill>
                  <a:srgbClr val="1E293B"/>
                </a:solidFill>
                <a:latin typeface="프리텐다드 Bold"/>
                <a:ea typeface="프리텐다드 Bold"/>
                <a:cs typeface="프리텐다드 Bold"/>
                <a:sym typeface="프리텐다드 Bold"/>
              </a:rPr>
              <a:t> 교권보호위원회 개최 현황 </a:t>
            </a:r>
          </a:p>
          <a:p>
            <a:pPr algn="l">
              <a:lnSpc>
                <a:spcPts val="1080"/>
              </a:lnSpc>
            </a:pPr>
            <a:r>
              <a:rPr lang="en-US" b="true" sz="900">
                <a:solidFill>
                  <a:srgbClr val="1E293B"/>
                </a:solidFill>
                <a:latin typeface="프리텐다드 Bold"/>
                <a:ea typeface="프리텐다드 Bold"/>
                <a:cs typeface="프리텐다드 Bold"/>
                <a:sym typeface="프리텐다드 Bold"/>
              </a:rPr>
              <a:t>(2024) </a:t>
            </a:r>
            <a:r>
              <a:rPr lang="en-US" b="true" sz="900">
                <a:solidFill>
                  <a:srgbClr val="0F172A"/>
                </a:solidFill>
                <a:latin typeface="프리텐다드 Bold"/>
                <a:ea typeface="프리텐다드 Bold"/>
                <a:cs typeface="프리텐다드 Bold"/>
                <a:sym typeface="프리텐다드 Bold"/>
              </a:rPr>
              <a:t>|  교육부_교권보호위원회 개최 현황_20240229</a:t>
            </a:r>
          </a:p>
          <a:p>
            <a:pPr algn="l">
              <a:lnSpc>
                <a:spcPts val="1559"/>
              </a:lnSpc>
            </a:pPr>
            <a:r>
              <a:rPr lang="en-US" sz="1299">
                <a:solidFill>
                  <a:srgbClr val="475569"/>
                </a:solidFill>
                <a:latin typeface="프리텐다드"/>
                <a:ea typeface="프리텐다드"/>
                <a:cs typeface="프리텐다드"/>
                <a:sym typeface="프리텐다드"/>
              </a:rPr>
              <a:t>교권보호위원회 개최 횟수와 교권침해 유형</a:t>
            </a:r>
          </a:p>
          <a:p>
            <a:pPr algn="l">
              <a:lnSpc>
                <a:spcPts val="1559"/>
              </a:lnSpc>
            </a:pPr>
            <a:r>
              <a:rPr lang="en-US" b="true" sz="1299">
                <a:solidFill>
                  <a:srgbClr val="475569"/>
                </a:solidFill>
                <a:latin typeface="프리텐다드 Bold"/>
                <a:ea typeface="프리텐다드 Bold"/>
                <a:cs typeface="프리텐다드 Bold"/>
                <a:sym typeface="프리텐다드 Bold"/>
              </a:rPr>
              <a:t>주요 변수</a:t>
            </a:r>
            <a:r>
              <a:rPr lang="en-US" sz="1299">
                <a:solidFill>
                  <a:srgbClr val="475569"/>
                </a:solidFill>
                <a:latin typeface="프리텐다드"/>
                <a:ea typeface="프리텐다드"/>
                <a:cs typeface="프리텐다드"/>
                <a:sym typeface="프리텐다드"/>
              </a:rPr>
              <a:t>: 학교급, 심의 건수(%), 모욕·명예훼손, 교육활동 반복·부당 간섭</a:t>
            </a:r>
          </a:p>
          <a:p>
            <a:pPr algn="l">
              <a:lnSpc>
                <a:spcPts val="1559"/>
              </a:lnSpc>
            </a:pPr>
            <a:r>
              <a:rPr lang="en-US" b="true" sz="1299">
                <a:solidFill>
                  <a:srgbClr val="475569"/>
                </a:solidFill>
                <a:latin typeface="프리텐다드 Bold"/>
                <a:ea typeface="프리텐다드 Bold"/>
                <a:cs typeface="프리텐다드 Bold"/>
                <a:sym typeface="프리텐다드 Bold"/>
              </a:rPr>
              <a:t>인사이트</a:t>
            </a:r>
            <a:r>
              <a:rPr lang="en-US" sz="1299">
                <a:solidFill>
                  <a:srgbClr val="475569"/>
                </a:solidFill>
                <a:latin typeface="프리텐다드"/>
                <a:ea typeface="프리텐다드"/>
                <a:cs typeface="프리텐다드"/>
                <a:sym typeface="프리텐다드"/>
              </a:rPr>
              <a:t>: 2020 → 2023년 심의 건수 4.2배 급등, '교육활동 반복·부당 간섭' 항목이 22.7% 차지</a:t>
            </a:r>
          </a:p>
        </p:txBody>
      </p:sp>
      <p:sp>
        <p:nvSpPr>
          <p:cNvPr name="TextBox 31" id="31"/>
          <p:cNvSpPr txBox="true"/>
          <p:nvPr/>
        </p:nvSpPr>
        <p:spPr>
          <a:xfrm rot="0">
            <a:off x="876300" y="-9525"/>
            <a:ext cx="16535400" cy="733425"/>
          </a:xfrm>
          <a:prstGeom prst="rect">
            <a:avLst/>
          </a:prstGeom>
        </p:spPr>
        <p:txBody>
          <a:bodyPr anchor="t" rtlCol="false" tIns="0" lIns="0" bIns="0" rIns="0">
            <a:spAutoFit/>
          </a:bodyPr>
          <a:lstStyle/>
          <a:p>
            <a:pPr algn="l">
              <a:lnSpc>
                <a:spcPts val="5759"/>
              </a:lnSpc>
            </a:pPr>
            <a:r>
              <a:rPr lang="en-US" b="true" sz="4800">
                <a:solidFill>
                  <a:srgbClr val="1E293B"/>
                </a:solidFill>
                <a:latin typeface="프리텐다드 Bold"/>
                <a:ea typeface="프리텐다드 Bold"/>
                <a:cs typeface="프리텐다드 Bold"/>
                <a:sym typeface="프리텐다드 Bold"/>
              </a:rPr>
              <a:t>3. 데이터 선택 및 분석방법</a:t>
            </a:r>
          </a:p>
        </p:txBody>
      </p:sp>
      <p:sp>
        <p:nvSpPr>
          <p:cNvPr name="AutoShape 32" id="32"/>
          <p:cNvSpPr/>
          <p:nvPr/>
        </p:nvSpPr>
        <p:spPr>
          <a:xfrm rot="2040">
            <a:off x="866775" y="738978"/>
            <a:ext cx="16554450" cy="0"/>
          </a:xfrm>
          <a:prstGeom prst="line">
            <a:avLst/>
          </a:prstGeom>
          <a:ln cap="rnd" w="9525">
            <a:solidFill>
              <a:srgbClr val="E2E8F0"/>
            </a:solidFill>
            <a:prstDash val="solid"/>
            <a:headEnd type="none" len="sm" w="sm"/>
            <a:tailEnd type="none" len="sm" w="sm"/>
          </a:ln>
        </p:spPr>
      </p:sp>
      <p:sp>
        <p:nvSpPr>
          <p:cNvPr name="TextBox 33" id="33"/>
          <p:cNvSpPr txBox="true"/>
          <p:nvPr/>
        </p:nvSpPr>
        <p:spPr>
          <a:xfrm rot="0">
            <a:off x="1107376" y="8534248"/>
            <a:ext cx="6959546" cy="971550"/>
          </a:xfrm>
          <a:prstGeom prst="rect">
            <a:avLst/>
          </a:prstGeom>
        </p:spPr>
        <p:txBody>
          <a:bodyPr anchor="t" rtlCol="false" tIns="0" lIns="0" bIns="0" rIns="0">
            <a:spAutoFit/>
          </a:bodyPr>
          <a:lstStyle/>
          <a:p>
            <a:pPr algn="l">
              <a:lnSpc>
                <a:spcPts val="2159"/>
              </a:lnSpc>
            </a:pPr>
            <a:r>
              <a:rPr lang="en-US" b="true" sz="1799">
                <a:solidFill>
                  <a:srgbClr val="0284C7"/>
                </a:solidFill>
                <a:latin typeface="프리텐다드 Bold"/>
                <a:ea typeface="프리텐다드 Bold"/>
                <a:cs typeface="프리텐다드 Bold"/>
                <a:sym typeface="프리텐다드 Bold"/>
              </a:rPr>
              <a:t>한국교총</a:t>
            </a:r>
            <a:r>
              <a:rPr lang="en-US" b="true" sz="1799">
                <a:solidFill>
                  <a:srgbClr val="1E293B"/>
                </a:solidFill>
                <a:latin typeface="프리텐다드 Bold"/>
                <a:ea typeface="프리텐다드 Bold"/>
                <a:cs typeface="프리텐다드 Bold"/>
                <a:sym typeface="프리텐다드 Bold"/>
              </a:rPr>
              <a:t> 교권상담 실적</a:t>
            </a:r>
          </a:p>
          <a:p>
            <a:pPr algn="l">
              <a:lnSpc>
                <a:spcPts val="1080"/>
              </a:lnSpc>
            </a:pPr>
            <a:r>
              <a:rPr lang="en-US" b="true" sz="900">
                <a:solidFill>
                  <a:srgbClr val="1E293B"/>
                </a:solidFill>
                <a:latin typeface="프리텐다드 Bold"/>
                <a:ea typeface="프리텐다드 Bold"/>
                <a:cs typeface="프리텐다드 Bold"/>
                <a:sym typeface="프리텐다드 Bold"/>
              </a:rPr>
              <a:t>(2018) </a:t>
            </a:r>
            <a:r>
              <a:rPr lang="en-US" b="true" sz="900">
                <a:solidFill>
                  <a:srgbClr val="0F172A"/>
                </a:solidFill>
                <a:latin typeface="프리텐다드 Bold"/>
                <a:ea typeface="프리텐다드 Bold"/>
                <a:cs typeface="프리텐다드 Bold"/>
                <a:sym typeface="프리텐다드 Bold"/>
              </a:rPr>
              <a:t>n = 501건 |  교총_교권상담실적.xlsx</a:t>
            </a:r>
          </a:p>
          <a:p>
            <a:pPr algn="l">
              <a:lnSpc>
                <a:spcPts val="1559"/>
              </a:lnSpc>
            </a:pPr>
            <a:r>
              <a:rPr lang="en-US" sz="1299">
                <a:solidFill>
                  <a:srgbClr val="475569"/>
                </a:solidFill>
                <a:latin typeface="프리텐다드"/>
                <a:ea typeface="프리텐다드"/>
                <a:cs typeface="프리텐다드"/>
                <a:sym typeface="프리텐다드"/>
              </a:rPr>
              <a:t>교사 직접 신고·상담 접수 기록</a:t>
            </a:r>
          </a:p>
          <a:p>
            <a:pPr algn="l">
              <a:lnSpc>
                <a:spcPts val="1559"/>
              </a:lnSpc>
            </a:pPr>
            <a:r>
              <a:rPr lang="en-US" b="true" sz="1299">
                <a:solidFill>
                  <a:srgbClr val="475569"/>
                </a:solidFill>
                <a:latin typeface="프리텐다드 Bold"/>
                <a:ea typeface="프리텐다드 Bold"/>
                <a:cs typeface="프리텐다드 Bold"/>
                <a:sym typeface="프리텐다드 Bold"/>
              </a:rPr>
              <a:t>주요 변수 </a:t>
            </a:r>
            <a:r>
              <a:rPr lang="en-US" sz="1299">
                <a:solidFill>
                  <a:srgbClr val="475569"/>
                </a:solidFill>
                <a:latin typeface="프리텐다드"/>
                <a:ea typeface="프리텐다드"/>
                <a:cs typeface="프리텐다드"/>
                <a:sym typeface="프리텐다드"/>
              </a:rPr>
              <a:t>: 침해 주체 5종, 행위유형(학생지도간섭·명예훼손 등), 학교급,시도별</a:t>
            </a:r>
          </a:p>
          <a:p>
            <a:pPr algn="l">
              <a:lnSpc>
                <a:spcPts val="1559"/>
              </a:lnSpc>
            </a:pPr>
            <a:r>
              <a:rPr lang="en-US" b="true" sz="1299">
                <a:solidFill>
                  <a:srgbClr val="475569"/>
                </a:solidFill>
                <a:latin typeface="프리텐다드 Bold"/>
                <a:ea typeface="프리텐다드 Bold"/>
                <a:cs typeface="프리텐다드 Bold"/>
                <a:sym typeface="프리텐다드 Bold"/>
              </a:rPr>
              <a:t>인사이트 </a:t>
            </a:r>
            <a:r>
              <a:rPr lang="en-US" sz="1299">
                <a:solidFill>
                  <a:srgbClr val="475569"/>
                </a:solidFill>
                <a:latin typeface="프리텐다드"/>
                <a:ea typeface="프리텐다드"/>
                <a:cs typeface="프리텐다드"/>
                <a:sym typeface="프리텐다드"/>
              </a:rPr>
              <a:t>:  학부모 피해 48.5% 최대, 2024 비교 맥락 제공</a:t>
            </a:r>
          </a:p>
        </p:txBody>
      </p:sp>
    </p:spTree>
  </p:cSld>
  <p:clrMapOvr>
    <a:masterClrMapping/>
  </p:clrMapOvr>
</p:sld>
</file>

<file path=ppt/slides/slide5.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AutoShape 2" id="2"/>
          <p:cNvSpPr/>
          <p:nvPr/>
        </p:nvSpPr>
        <p:spPr>
          <a:xfrm>
            <a:off x="5668604" y="7830612"/>
            <a:ext cx="349146" cy="0"/>
          </a:xfrm>
          <a:prstGeom prst="line">
            <a:avLst/>
          </a:prstGeom>
          <a:ln cap="flat" w="9525">
            <a:solidFill>
              <a:srgbClr val="94A3B8"/>
            </a:solidFill>
            <a:prstDash val="solid"/>
            <a:headEnd type="none" len="sm" w="sm"/>
            <a:tailEnd type="none" len="sm" w="sm"/>
          </a:ln>
        </p:spPr>
      </p:sp>
      <p:sp>
        <p:nvSpPr>
          <p:cNvPr name="AutoShape 3" id="3"/>
          <p:cNvSpPr/>
          <p:nvPr/>
        </p:nvSpPr>
        <p:spPr>
          <a:xfrm>
            <a:off x="4421654" y="8025596"/>
            <a:ext cx="349146" cy="0"/>
          </a:xfrm>
          <a:prstGeom prst="line">
            <a:avLst/>
          </a:prstGeom>
          <a:ln cap="flat" w="9525">
            <a:solidFill>
              <a:srgbClr val="94A3B8"/>
            </a:solidFill>
            <a:prstDash val="solid"/>
            <a:headEnd type="none" len="sm" w="sm"/>
            <a:tailEnd type="none" len="sm" w="sm"/>
          </a:ln>
        </p:spPr>
      </p:sp>
      <p:sp>
        <p:nvSpPr>
          <p:cNvPr name="AutoShape 4" id="4"/>
          <p:cNvSpPr/>
          <p:nvPr/>
        </p:nvSpPr>
        <p:spPr>
          <a:xfrm>
            <a:off x="3174704" y="8361401"/>
            <a:ext cx="349146" cy="0"/>
          </a:xfrm>
          <a:prstGeom prst="line">
            <a:avLst/>
          </a:prstGeom>
          <a:ln cap="flat" w="9525">
            <a:solidFill>
              <a:srgbClr val="94A3B8"/>
            </a:solidFill>
            <a:prstDash val="solid"/>
            <a:headEnd type="none" len="sm" w="sm"/>
            <a:tailEnd type="none" len="sm" w="sm"/>
          </a:ln>
        </p:spPr>
      </p:sp>
      <p:sp>
        <p:nvSpPr>
          <p:cNvPr name="AutoShape 5" id="5"/>
          <p:cNvSpPr/>
          <p:nvPr/>
        </p:nvSpPr>
        <p:spPr>
          <a:xfrm>
            <a:off x="1927755" y="8708038"/>
            <a:ext cx="349146" cy="0"/>
          </a:xfrm>
          <a:prstGeom prst="line">
            <a:avLst/>
          </a:prstGeom>
          <a:ln cap="flat" w="9525">
            <a:solidFill>
              <a:srgbClr val="94A3B8"/>
            </a:solidFill>
            <a:prstDash val="solid"/>
            <a:headEnd type="none" len="sm" w="sm"/>
            <a:tailEnd type="none" len="sm" w="sm"/>
          </a:ln>
        </p:spPr>
      </p:sp>
      <p:sp>
        <p:nvSpPr>
          <p:cNvPr name="TextBox 6" id="6"/>
          <p:cNvSpPr txBox="true"/>
          <p:nvPr/>
        </p:nvSpPr>
        <p:spPr>
          <a:xfrm rot="0">
            <a:off x="4436973" y="1452448"/>
            <a:ext cx="2223119" cy="223256"/>
          </a:xfrm>
          <a:prstGeom prst="rect">
            <a:avLst/>
          </a:prstGeom>
        </p:spPr>
        <p:txBody>
          <a:bodyPr anchor="t" rtlCol="false" tIns="0" lIns="0" bIns="0" rIns="0">
            <a:spAutoFit/>
          </a:bodyPr>
          <a:lstStyle/>
          <a:p>
            <a:pPr algn="ctr" marL="0" indent="0" lvl="0">
              <a:lnSpc>
                <a:spcPts val="1737"/>
              </a:lnSpc>
              <a:spcBef>
                <a:spcPct val="0"/>
              </a:spcBef>
            </a:pPr>
            <a:r>
              <a:rPr lang="en-US" b="true" sz="1240" strike="noStrike" u="none">
                <a:solidFill>
                  <a:srgbClr val="1565C0"/>
                </a:solidFill>
                <a:latin typeface="프리텐다드 Bold"/>
                <a:ea typeface="프리텐다드 Bold"/>
                <a:cs typeface="프리텐다드 Bold"/>
                <a:sym typeface="프리텐다드 Bold"/>
              </a:rPr>
              <a:t>학생침해</a:t>
            </a:r>
          </a:p>
        </p:txBody>
      </p:sp>
      <p:sp>
        <p:nvSpPr>
          <p:cNvPr name="AutoShape 7" id="7"/>
          <p:cNvSpPr/>
          <p:nvPr/>
        </p:nvSpPr>
        <p:spPr>
          <a:xfrm>
            <a:off x="3038514" y="1756464"/>
            <a:ext cx="0" cy="2659160"/>
          </a:xfrm>
          <a:prstGeom prst="line">
            <a:avLst/>
          </a:prstGeom>
          <a:ln cap="flat" w="9525">
            <a:solidFill>
              <a:srgbClr val="E2E8F0"/>
            </a:solidFill>
            <a:prstDash val="solid"/>
            <a:headEnd type="none" len="sm" w="sm"/>
            <a:tailEnd type="none" len="sm" w="sm"/>
          </a:ln>
        </p:spPr>
      </p:sp>
      <p:sp>
        <p:nvSpPr>
          <p:cNvPr name="AutoShape 8" id="8"/>
          <p:cNvSpPr/>
          <p:nvPr/>
        </p:nvSpPr>
        <p:spPr>
          <a:xfrm>
            <a:off x="6282082" y="1756464"/>
            <a:ext cx="0" cy="2659160"/>
          </a:xfrm>
          <a:prstGeom prst="line">
            <a:avLst/>
          </a:prstGeom>
          <a:ln cap="flat" w="9525">
            <a:solidFill>
              <a:srgbClr val="E2E8F0"/>
            </a:solidFill>
            <a:prstDash val="solid"/>
            <a:headEnd type="none" len="sm" w="sm"/>
            <a:tailEnd type="none" len="sm" w="sm"/>
          </a:ln>
        </p:spPr>
      </p:sp>
      <p:sp>
        <p:nvSpPr>
          <p:cNvPr name="TextBox 9" id="9"/>
          <p:cNvSpPr txBox="true"/>
          <p:nvPr/>
        </p:nvSpPr>
        <p:spPr>
          <a:xfrm rot="0">
            <a:off x="930195" y="1964259"/>
            <a:ext cx="1067097" cy="179589"/>
          </a:xfrm>
          <a:prstGeom prst="rect">
            <a:avLst/>
          </a:prstGeom>
        </p:spPr>
        <p:txBody>
          <a:bodyPr anchor="t" rtlCol="false" tIns="0" lIns="0" bIns="0" rIns="0">
            <a:spAutoFit/>
          </a:bodyPr>
          <a:lstStyle/>
          <a:p>
            <a:pPr algn="l" marL="0" indent="0" lvl="0">
              <a:lnSpc>
                <a:spcPts val="1447"/>
              </a:lnSpc>
              <a:spcBef>
                <a:spcPct val="0"/>
              </a:spcBef>
            </a:pPr>
            <a:r>
              <a:rPr lang="en-US" sz="1033" strike="noStrike" u="none">
                <a:solidFill>
                  <a:srgbClr val="1E293B"/>
                </a:solidFill>
                <a:latin typeface="프리텐다드"/>
                <a:ea typeface="프리텐다드"/>
                <a:cs typeface="프리텐다드"/>
                <a:sym typeface="프리텐다드"/>
              </a:rPr>
              <a:t>초등학교</a:t>
            </a:r>
          </a:p>
        </p:txBody>
      </p:sp>
      <p:sp>
        <p:nvSpPr>
          <p:cNvPr name="AutoShape 10" id="10"/>
          <p:cNvSpPr/>
          <p:nvPr/>
        </p:nvSpPr>
        <p:spPr>
          <a:xfrm>
            <a:off x="3107556" y="2071624"/>
            <a:ext cx="440761" cy="0"/>
          </a:xfrm>
          <a:prstGeom prst="line">
            <a:avLst/>
          </a:prstGeom>
          <a:ln cap="flat" w="9525">
            <a:solidFill>
              <a:srgbClr val="94A3B8"/>
            </a:solidFill>
            <a:prstDash val="solid"/>
            <a:headEnd type="none" len="sm" w="sm"/>
            <a:tailEnd type="none" len="sm" w="sm"/>
          </a:ln>
        </p:spPr>
      </p:sp>
      <p:grpSp>
        <p:nvGrpSpPr>
          <p:cNvPr name="Group 11" id="11"/>
          <p:cNvGrpSpPr/>
          <p:nvPr/>
        </p:nvGrpSpPr>
        <p:grpSpPr>
          <a:xfrm rot="0">
            <a:off x="3292675" y="2032229"/>
            <a:ext cx="70522" cy="78790"/>
            <a:chOff x="0" y="0"/>
            <a:chExt cx="90938" cy="101600"/>
          </a:xfrm>
        </p:grpSpPr>
        <p:sp>
          <p:nvSpPr>
            <p:cNvPr name="Freeform 12" id="12"/>
            <p:cNvSpPr/>
            <p:nvPr/>
          </p:nvSpPr>
          <p:spPr>
            <a:xfrm flipH="false" flipV="false" rot="0">
              <a:off x="0" y="0"/>
              <a:ext cx="90938" cy="101600"/>
            </a:xfrm>
            <a:custGeom>
              <a:avLst/>
              <a:gdLst/>
              <a:ahLst/>
              <a:cxnLst/>
              <a:rect r="r" b="b" t="t" l="l"/>
              <a:pathLst>
                <a:path h="101600" w="90938">
                  <a:moveTo>
                    <a:pt x="45469" y="0"/>
                  </a:moveTo>
                  <a:cubicBezTo>
                    <a:pt x="20357" y="0"/>
                    <a:pt x="0" y="22744"/>
                    <a:pt x="0" y="50800"/>
                  </a:cubicBezTo>
                  <a:cubicBezTo>
                    <a:pt x="0" y="78856"/>
                    <a:pt x="20357" y="101600"/>
                    <a:pt x="45469" y="101600"/>
                  </a:cubicBezTo>
                  <a:cubicBezTo>
                    <a:pt x="70581" y="101600"/>
                    <a:pt x="90938" y="78856"/>
                    <a:pt x="90938" y="50800"/>
                  </a:cubicBezTo>
                  <a:cubicBezTo>
                    <a:pt x="90938" y="22744"/>
                    <a:pt x="70581" y="0"/>
                    <a:pt x="45469" y="0"/>
                  </a:cubicBezTo>
                  <a:close/>
                </a:path>
              </a:pathLst>
            </a:custGeom>
            <a:solidFill>
              <a:srgbClr val="C0392B"/>
            </a:solidFill>
          </p:spPr>
        </p:sp>
        <p:sp>
          <p:nvSpPr>
            <p:cNvPr name="TextBox 13" id="13"/>
            <p:cNvSpPr txBox="true"/>
            <p:nvPr/>
          </p:nvSpPr>
          <p:spPr>
            <a:xfrm>
              <a:off x="0" y="-28575"/>
              <a:ext cx="90938" cy="130175"/>
            </a:xfrm>
            <a:prstGeom prst="rect">
              <a:avLst/>
            </a:prstGeom>
          </p:spPr>
          <p:txBody>
            <a:bodyPr anchor="ctr" rtlCol="false" tIns="50800" lIns="50800" bIns="50800" rIns="50800"/>
            <a:lstStyle/>
            <a:p>
              <a:pPr algn="l">
                <a:lnSpc>
                  <a:spcPts val="1679"/>
                </a:lnSpc>
              </a:pPr>
            </a:p>
          </p:txBody>
        </p:sp>
      </p:grpSp>
      <p:sp>
        <p:nvSpPr>
          <p:cNvPr name="TextBox 14" id="14"/>
          <p:cNvSpPr txBox="true"/>
          <p:nvPr/>
        </p:nvSpPr>
        <p:spPr>
          <a:xfrm rot="0">
            <a:off x="3586986" y="1974108"/>
            <a:ext cx="622473" cy="162518"/>
          </a:xfrm>
          <a:prstGeom prst="rect">
            <a:avLst/>
          </a:prstGeom>
        </p:spPr>
        <p:txBody>
          <a:bodyPr anchor="t" rtlCol="false" tIns="0" lIns="0" bIns="0" rIns="0">
            <a:spAutoFit/>
          </a:bodyPr>
          <a:lstStyle/>
          <a:p>
            <a:pPr algn="l" marL="0" indent="0" lvl="0">
              <a:lnSpc>
                <a:spcPts val="1302"/>
              </a:lnSpc>
              <a:spcBef>
                <a:spcPct val="0"/>
              </a:spcBef>
            </a:pPr>
            <a:r>
              <a:rPr lang="en-US" sz="930" strike="noStrike" u="none">
                <a:solidFill>
                  <a:srgbClr val="C0392B"/>
                </a:solidFill>
                <a:latin typeface="프리텐다드"/>
                <a:ea typeface="프리텐다드"/>
                <a:cs typeface="프리텐다드"/>
                <a:sym typeface="프리텐다드"/>
              </a:rPr>
              <a:t>1.72***</a:t>
            </a:r>
          </a:p>
        </p:txBody>
      </p:sp>
      <p:sp>
        <p:nvSpPr>
          <p:cNvPr name="AutoShape 15" id="15"/>
          <p:cNvSpPr/>
          <p:nvPr/>
        </p:nvSpPr>
        <p:spPr>
          <a:xfrm>
            <a:off x="5893167" y="2071624"/>
            <a:ext cx="555359" cy="0"/>
          </a:xfrm>
          <a:prstGeom prst="line">
            <a:avLst/>
          </a:prstGeom>
          <a:ln cap="flat" w="9525">
            <a:solidFill>
              <a:srgbClr val="94A3B8"/>
            </a:solidFill>
            <a:prstDash val="solid"/>
            <a:headEnd type="none" len="sm" w="sm"/>
            <a:tailEnd type="none" len="sm" w="sm"/>
          </a:ln>
        </p:spPr>
      </p:sp>
      <p:grpSp>
        <p:nvGrpSpPr>
          <p:cNvPr name="Group 16" id="16"/>
          <p:cNvGrpSpPr/>
          <p:nvPr/>
        </p:nvGrpSpPr>
        <p:grpSpPr>
          <a:xfrm rot="0">
            <a:off x="6139994" y="2032229"/>
            <a:ext cx="70522" cy="78790"/>
            <a:chOff x="0" y="0"/>
            <a:chExt cx="90938" cy="101600"/>
          </a:xfrm>
        </p:grpSpPr>
        <p:sp>
          <p:nvSpPr>
            <p:cNvPr name="Freeform 17" id="17"/>
            <p:cNvSpPr/>
            <p:nvPr/>
          </p:nvSpPr>
          <p:spPr>
            <a:xfrm flipH="false" flipV="false" rot="0">
              <a:off x="0" y="0"/>
              <a:ext cx="90938" cy="101600"/>
            </a:xfrm>
            <a:custGeom>
              <a:avLst/>
              <a:gdLst/>
              <a:ahLst/>
              <a:cxnLst/>
              <a:rect r="r" b="b" t="t" l="l"/>
              <a:pathLst>
                <a:path h="101600" w="90938">
                  <a:moveTo>
                    <a:pt x="45469" y="0"/>
                  </a:moveTo>
                  <a:cubicBezTo>
                    <a:pt x="20357" y="0"/>
                    <a:pt x="0" y="22744"/>
                    <a:pt x="0" y="50800"/>
                  </a:cubicBezTo>
                  <a:cubicBezTo>
                    <a:pt x="0" y="78856"/>
                    <a:pt x="20357" y="101600"/>
                    <a:pt x="45469" y="101600"/>
                  </a:cubicBezTo>
                  <a:cubicBezTo>
                    <a:pt x="70581" y="101600"/>
                    <a:pt x="90938" y="78856"/>
                    <a:pt x="90938" y="50800"/>
                  </a:cubicBezTo>
                  <a:cubicBezTo>
                    <a:pt x="90938" y="22744"/>
                    <a:pt x="70581" y="0"/>
                    <a:pt x="45469" y="0"/>
                  </a:cubicBezTo>
                  <a:close/>
                </a:path>
              </a:pathLst>
            </a:custGeom>
            <a:solidFill>
              <a:srgbClr val="1565C0"/>
            </a:solidFill>
          </p:spPr>
        </p:sp>
        <p:sp>
          <p:nvSpPr>
            <p:cNvPr name="TextBox 18" id="18"/>
            <p:cNvSpPr txBox="true"/>
            <p:nvPr/>
          </p:nvSpPr>
          <p:spPr>
            <a:xfrm>
              <a:off x="0" y="-28575"/>
              <a:ext cx="90938" cy="130175"/>
            </a:xfrm>
            <a:prstGeom prst="rect">
              <a:avLst/>
            </a:prstGeom>
          </p:spPr>
          <p:txBody>
            <a:bodyPr anchor="ctr" rtlCol="false" tIns="50800" lIns="50800" bIns="50800" rIns="50800"/>
            <a:lstStyle/>
            <a:p>
              <a:pPr algn="l">
                <a:lnSpc>
                  <a:spcPts val="1679"/>
                </a:lnSpc>
              </a:pPr>
            </a:p>
          </p:txBody>
        </p:sp>
      </p:grpSp>
      <p:sp>
        <p:nvSpPr>
          <p:cNvPr name="TextBox 19" id="19"/>
          <p:cNvSpPr txBox="true"/>
          <p:nvPr/>
        </p:nvSpPr>
        <p:spPr>
          <a:xfrm rot="0">
            <a:off x="6487195" y="1974108"/>
            <a:ext cx="622473" cy="162518"/>
          </a:xfrm>
          <a:prstGeom prst="rect">
            <a:avLst/>
          </a:prstGeom>
        </p:spPr>
        <p:txBody>
          <a:bodyPr anchor="t" rtlCol="false" tIns="0" lIns="0" bIns="0" rIns="0">
            <a:spAutoFit/>
          </a:bodyPr>
          <a:lstStyle/>
          <a:p>
            <a:pPr algn="l" marL="0" indent="0" lvl="0">
              <a:lnSpc>
                <a:spcPts val="1302"/>
              </a:lnSpc>
              <a:spcBef>
                <a:spcPct val="0"/>
              </a:spcBef>
            </a:pPr>
            <a:r>
              <a:rPr lang="en-US" sz="930" strike="noStrike" u="none">
                <a:solidFill>
                  <a:srgbClr val="1565C0"/>
                </a:solidFill>
                <a:latin typeface="프리텐다드"/>
                <a:ea typeface="프리텐다드"/>
                <a:cs typeface="프리텐다드"/>
                <a:sym typeface="프리텐다드"/>
              </a:rPr>
              <a:t>2.06***</a:t>
            </a:r>
          </a:p>
        </p:txBody>
      </p:sp>
      <p:sp>
        <p:nvSpPr>
          <p:cNvPr name="TextBox 20" id="20"/>
          <p:cNvSpPr txBox="true"/>
          <p:nvPr/>
        </p:nvSpPr>
        <p:spPr>
          <a:xfrm rot="0">
            <a:off x="930195" y="2407452"/>
            <a:ext cx="1067097" cy="179589"/>
          </a:xfrm>
          <a:prstGeom prst="rect">
            <a:avLst/>
          </a:prstGeom>
        </p:spPr>
        <p:txBody>
          <a:bodyPr anchor="t" rtlCol="false" tIns="0" lIns="0" bIns="0" rIns="0">
            <a:spAutoFit/>
          </a:bodyPr>
          <a:lstStyle/>
          <a:p>
            <a:pPr algn="l" marL="0" indent="0" lvl="0">
              <a:lnSpc>
                <a:spcPts val="1447"/>
              </a:lnSpc>
              <a:spcBef>
                <a:spcPct val="0"/>
              </a:spcBef>
            </a:pPr>
            <a:r>
              <a:rPr lang="en-US" sz="1033" strike="noStrike" u="none">
                <a:solidFill>
                  <a:srgbClr val="1E293B"/>
                </a:solidFill>
                <a:latin typeface="프리텐다드"/>
                <a:ea typeface="프리텐다드"/>
                <a:cs typeface="프리텐다드"/>
                <a:sym typeface="프리텐다드"/>
              </a:rPr>
              <a:t>중학교</a:t>
            </a:r>
          </a:p>
        </p:txBody>
      </p:sp>
      <p:sp>
        <p:nvSpPr>
          <p:cNvPr name="AutoShape 21" id="21"/>
          <p:cNvSpPr/>
          <p:nvPr/>
        </p:nvSpPr>
        <p:spPr>
          <a:xfrm>
            <a:off x="2402338" y="2514817"/>
            <a:ext cx="334979" cy="0"/>
          </a:xfrm>
          <a:prstGeom prst="line">
            <a:avLst/>
          </a:prstGeom>
          <a:ln cap="flat" w="9525">
            <a:solidFill>
              <a:srgbClr val="94A3B8"/>
            </a:solidFill>
            <a:prstDash val="solid"/>
            <a:headEnd type="none" len="sm" w="sm"/>
            <a:tailEnd type="none" len="sm" w="sm"/>
          </a:ln>
        </p:spPr>
      </p:sp>
      <p:grpSp>
        <p:nvGrpSpPr>
          <p:cNvPr name="Group 22" id="22"/>
          <p:cNvGrpSpPr/>
          <p:nvPr/>
        </p:nvGrpSpPr>
        <p:grpSpPr>
          <a:xfrm rot="0">
            <a:off x="2534566" y="2475422"/>
            <a:ext cx="70522" cy="78790"/>
            <a:chOff x="0" y="0"/>
            <a:chExt cx="90938" cy="101600"/>
          </a:xfrm>
        </p:grpSpPr>
        <p:sp>
          <p:nvSpPr>
            <p:cNvPr name="Freeform 23" id="23"/>
            <p:cNvSpPr/>
            <p:nvPr/>
          </p:nvSpPr>
          <p:spPr>
            <a:xfrm flipH="false" flipV="false" rot="0">
              <a:off x="0" y="0"/>
              <a:ext cx="90938" cy="101600"/>
            </a:xfrm>
            <a:custGeom>
              <a:avLst/>
              <a:gdLst/>
              <a:ahLst/>
              <a:cxnLst/>
              <a:rect r="r" b="b" t="t" l="l"/>
              <a:pathLst>
                <a:path h="101600" w="90938">
                  <a:moveTo>
                    <a:pt x="45469" y="0"/>
                  </a:moveTo>
                  <a:cubicBezTo>
                    <a:pt x="20357" y="0"/>
                    <a:pt x="0" y="22744"/>
                    <a:pt x="0" y="50800"/>
                  </a:cubicBezTo>
                  <a:cubicBezTo>
                    <a:pt x="0" y="78856"/>
                    <a:pt x="20357" y="101600"/>
                    <a:pt x="45469" y="101600"/>
                  </a:cubicBezTo>
                  <a:cubicBezTo>
                    <a:pt x="70581" y="101600"/>
                    <a:pt x="90938" y="78856"/>
                    <a:pt x="90938" y="50800"/>
                  </a:cubicBezTo>
                  <a:cubicBezTo>
                    <a:pt x="90938" y="22744"/>
                    <a:pt x="70581" y="0"/>
                    <a:pt x="45469" y="0"/>
                  </a:cubicBezTo>
                  <a:close/>
                </a:path>
              </a:pathLst>
            </a:custGeom>
            <a:solidFill>
              <a:srgbClr val="C0392B"/>
            </a:solidFill>
          </p:spPr>
        </p:sp>
        <p:sp>
          <p:nvSpPr>
            <p:cNvPr name="TextBox 24" id="24"/>
            <p:cNvSpPr txBox="true"/>
            <p:nvPr/>
          </p:nvSpPr>
          <p:spPr>
            <a:xfrm>
              <a:off x="0" y="-28575"/>
              <a:ext cx="90938" cy="130175"/>
            </a:xfrm>
            <a:prstGeom prst="rect">
              <a:avLst/>
            </a:prstGeom>
          </p:spPr>
          <p:txBody>
            <a:bodyPr anchor="ctr" rtlCol="false" tIns="50800" lIns="50800" bIns="50800" rIns="50800"/>
            <a:lstStyle/>
            <a:p>
              <a:pPr algn="l">
                <a:lnSpc>
                  <a:spcPts val="1679"/>
                </a:lnSpc>
              </a:pPr>
            </a:p>
          </p:txBody>
        </p:sp>
      </p:grpSp>
      <p:sp>
        <p:nvSpPr>
          <p:cNvPr name="TextBox 25" id="25"/>
          <p:cNvSpPr txBox="true"/>
          <p:nvPr/>
        </p:nvSpPr>
        <p:spPr>
          <a:xfrm rot="0">
            <a:off x="2775985" y="2417301"/>
            <a:ext cx="622473" cy="162518"/>
          </a:xfrm>
          <a:prstGeom prst="rect">
            <a:avLst/>
          </a:prstGeom>
        </p:spPr>
        <p:txBody>
          <a:bodyPr anchor="t" rtlCol="false" tIns="0" lIns="0" bIns="0" rIns="0">
            <a:spAutoFit/>
          </a:bodyPr>
          <a:lstStyle/>
          <a:p>
            <a:pPr algn="l" marL="0" indent="0" lvl="0">
              <a:lnSpc>
                <a:spcPts val="1302"/>
              </a:lnSpc>
              <a:spcBef>
                <a:spcPct val="0"/>
              </a:spcBef>
            </a:pPr>
            <a:r>
              <a:rPr lang="en-US" sz="930" strike="noStrike" u="none">
                <a:solidFill>
                  <a:srgbClr val="C0392B"/>
                </a:solidFill>
                <a:latin typeface="프리텐다드"/>
                <a:ea typeface="프리텐다드"/>
                <a:cs typeface="프리텐다드"/>
                <a:sym typeface="프리텐다드"/>
              </a:rPr>
              <a:t>1.03</a:t>
            </a:r>
          </a:p>
        </p:txBody>
      </p:sp>
      <p:sp>
        <p:nvSpPr>
          <p:cNvPr name="AutoShape 26" id="26"/>
          <p:cNvSpPr/>
          <p:nvPr/>
        </p:nvSpPr>
        <p:spPr>
          <a:xfrm>
            <a:off x="5187949" y="2514817"/>
            <a:ext cx="396685" cy="0"/>
          </a:xfrm>
          <a:prstGeom prst="line">
            <a:avLst/>
          </a:prstGeom>
          <a:ln cap="flat" w="9525">
            <a:solidFill>
              <a:srgbClr val="94A3B8"/>
            </a:solidFill>
            <a:prstDash val="solid"/>
            <a:headEnd type="none" len="sm" w="sm"/>
            <a:tailEnd type="none" len="sm" w="sm"/>
          </a:ln>
        </p:spPr>
      </p:sp>
      <p:grpSp>
        <p:nvGrpSpPr>
          <p:cNvPr name="Group 27" id="27"/>
          <p:cNvGrpSpPr/>
          <p:nvPr/>
        </p:nvGrpSpPr>
        <p:grpSpPr>
          <a:xfrm rot="0">
            <a:off x="5355438" y="2475422"/>
            <a:ext cx="70522" cy="78790"/>
            <a:chOff x="0" y="0"/>
            <a:chExt cx="90938" cy="101600"/>
          </a:xfrm>
        </p:grpSpPr>
        <p:sp>
          <p:nvSpPr>
            <p:cNvPr name="Freeform 28" id="28"/>
            <p:cNvSpPr/>
            <p:nvPr/>
          </p:nvSpPr>
          <p:spPr>
            <a:xfrm flipH="false" flipV="false" rot="0">
              <a:off x="0" y="0"/>
              <a:ext cx="90938" cy="101600"/>
            </a:xfrm>
            <a:custGeom>
              <a:avLst/>
              <a:gdLst/>
              <a:ahLst/>
              <a:cxnLst/>
              <a:rect r="r" b="b" t="t" l="l"/>
              <a:pathLst>
                <a:path h="101600" w="90938">
                  <a:moveTo>
                    <a:pt x="45469" y="0"/>
                  </a:moveTo>
                  <a:cubicBezTo>
                    <a:pt x="20357" y="0"/>
                    <a:pt x="0" y="22744"/>
                    <a:pt x="0" y="50800"/>
                  </a:cubicBezTo>
                  <a:cubicBezTo>
                    <a:pt x="0" y="78856"/>
                    <a:pt x="20357" y="101600"/>
                    <a:pt x="45469" y="101600"/>
                  </a:cubicBezTo>
                  <a:cubicBezTo>
                    <a:pt x="70581" y="101600"/>
                    <a:pt x="90938" y="78856"/>
                    <a:pt x="90938" y="50800"/>
                  </a:cubicBezTo>
                  <a:cubicBezTo>
                    <a:pt x="90938" y="22744"/>
                    <a:pt x="70581" y="0"/>
                    <a:pt x="45469" y="0"/>
                  </a:cubicBezTo>
                  <a:close/>
                </a:path>
              </a:pathLst>
            </a:custGeom>
            <a:solidFill>
              <a:srgbClr val="1565C0"/>
            </a:solidFill>
          </p:spPr>
        </p:sp>
        <p:sp>
          <p:nvSpPr>
            <p:cNvPr name="TextBox 29" id="29"/>
            <p:cNvSpPr txBox="true"/>
            <p:nvPr/>
          </p:nvSpPr>
          <p:spPr>
            <a:xfrm>
              <a:off x="0" y="-28575"/>
              <a:ext cx="90938" cy="130175"/>
            </a:xfrm>
            <a:prstGeom prst="rect">
              <a:avLst/>
            </a:prstGeom>
          </p:spPr>
          <p:txBody>
            <a:bodyPr anchor="ctr" rtlCol="false" tIns="50800" lIns="50800" bIns="50800" rIns="50800"/>
            <a:lstStyle/>
            <a:p>
              <a:pPr algn="l">
                <a:lnSpc>
                  <a:spcPts val="1679"/>
                </a:lnSpc>
              </a:pPr>
            </a:p>
          </p:txBody>
        </p:sp>
      </p:grpSp>
      <p:sp>
        <p:nvSpPr>
          <p:cNvPr name="TextBox 30" id="30"/>
          <p:cNvSpPr txBox="true"/>
          <p:nvPr/>
        </p:nvSpPr>
        <p:spPr>
          <a:xfrm rot="0">
            <a:off x="5623303" y="2417301"/>
            <a:ext cx="622473" cy="162518"/>
          </a:xfrm>
          <a:prstGeom prst="rect">
            <a:avLst/>
          </a:prstGeom>
        </p:spPr>
        <p:txBody>
          <a:bodyPr anchor="t" rtlCol="false" tIns="0" lIns="0" bIns="0" rIns="0">
            <a:spAutoFit/>
          </a:bodyPr>
          <a:lstStyle/>
          <a:p>
            <a:pPr algn="l" marL="0" indent="0" lvl="0">
              <a:lnSpc>
                <a:spcPts val="1302"/>
              </a:lnSpc>
              <a:spcBef>
                <a:spcPct val="0"/>
              </a:spcBef>
            </a:pPr>
            <a:r>
              <a:rPr lang="en-US" sz="930" strike="noStrike" u="none">
                <a:solidFill>
                  <a:srgbClr val="1565C0"/>
                </a:solidFill>
                <a:latin typeface="프리텐다드"/>
                <a:ea typeface="프리텐다드"/>
                <a:cs typeface="프리텐다드"/>
                <a:sym typeface="프리텐다드"/>
              </a:rPr>
              <a:t>1.35***</a:t>
            </a:r>
          </a:p>
        </p:txBody>
      </p:sp>
      <p:sp>
        <p:nvSpPr>
          <p:cNvPr name="TextBox 31" id="31"/>
          <p:cNvSpPr txBox="true"/>
          <p:nvPr/>
        </p:nvSpPr>
        <p:spPr>
          <a:xfrm rot="0">
            <a:off x="930195" y="2850646"/>
            <a:ext cx="1067097" cy="179589"/>
          </a:xfrm>
          <a:prstGeom prst="rect">
            <a:avLst/>
          </a:prstGeom>
        </p:spPr>
        <p:txBody>
          <a:bodyPr anchor="t" rtlCol="false" tIns="0" lIns="0" bIns="0" rIns="0">
            <a:spAutoFit/>
          </a:bodyPr>
          <a:lstStyle/>
          <a:p>
            <a:pPr algn="l" marL="0" indent="0" lvl="0">
              <a:lnSpc>
                <a:spcPts val="1447"/>
              </a:lnSpc>
              <a:spcBef>
                <a:spcPct val="0"/>
              </a:spcBef>
            </a:pPr>
            <a:r>
              <a:rPr lang="en-US" sz="1033" strike="noStrike" u="none">
                <a:solidFill>
                  <a:srgbClr val="1E293B"/>
                </a:solidFill>
                <a:latin typeface="프리텐다드"/>
                <a:ea typeface="프리텐다드"/>
                <a:cs typeface="프리텐다드"/>
                <a:sym typeface="프리텐다드"/>
              </a:rPr>
              <a:t>학교규모 (1단계 ↑)</a:t>
            </a:r>
          </a:p>
        </p:txBody>
      </p:sp>
      <p:sp>
        <p:nvSpPr>
          <p:cNvPr name="AutoShape 32" id="32"/>
          <p:cNvSpPr/>
          <p:nvPr/>
        </p:nvSpPr>
        <p:spPr>
          <a:xfrm>
            <a:off x="2561012" y="2958011"/>
            <a:ext cx="88152" cy="0"/>
          </a:xfrm>
          <a:prstGeom prst="line">
            <a:avLst/>
          </a:prstGeom>
          <a:ln cap="flat" w="9525">
            <a:solidFill>
              <a:srgbClr val="94A3B8"/>
            </a:solidFill>
            <a:prstDash val="solid"/>
            <a:headEnd type="none" len="sm" w="sm"/>
            <a:tailEnd type="none" len="sm" w="sm"/>
          </a:ln>
        </p:spPr>
      </p:sp>
      <p:grpSp>
        <p:nvGrpSpPr>
          <p:cNvPr name="Group 33" id="33"/>
          <p:cNvGrpSpPr/>
          <p:nvPr/>
        </p:nvGrpSpPr>
        <p:grpSpPr>
          <a:xfrm rot="0">
            <a:off x="2569827" y="2918616"/>
            <a:ext cx="70522" cy="78790"/>
            <a:chOff x="0" y="0"/>
            <a:chExt cx="90938" cy="101600"/>
          </a:xfrm>
        </p:grpSpPr>
        <p:sp>
          <p:nvSpPr>
            <p:cNvPr name="Freeform 34" id="34"/>
            <p:cNvSpPr/>
            <p:nvPr/>
          </p:nvSpPr>
          <p:spPr>
            <a:xfrm flipH="false" flipV="false" rot="0">
              <a:off x="0" y="0"/>
              <a:ext cx="90938" cy="101600"/>
            </a:xfrm>
            <a:custGeom>
              <a:avLst/>
              <a:gdLst/>
              <a:ahLst/>
              <a:cxnLst/>
              <a:rect r="r" b="b" t="t" l="l"/>
              <a:pathLst>
                <a:path h="101600" w="90938">
                  <a:moveTo>
                    <a:pt x="45469" y="0"/>
                  </a:moveTo>
                  <a:cubicBezTo>
                    <a:pt x="20357" y="0"/>
                    <a:pt x="0" y="22744"/>
                    <a:pt x="0" y="50800"/>
                  </a:cubicBezTo>
                  <a:cubicBezTo>
                    <a:pt x="0" y="78856"/>
                    <a:pt x="20357" y="101600"/>
                    <a:pt x="45469" y="101600"/>
                  </a:cubicBezTo>
                  <a:cubicBezTo>
                    <a:pt x="70581" y="101600"/>
                    <a:pt x="90938" y="78856"/>
                    <a:pt x="90938" y="50800"/>
                  </a:cubicBezTo>
                  <a:cubicBezTo>
                    <a:pt x="90938" y="22744"/>
                    <a:pt x="70581" y="0"/>
                    <a:pt x="45469" y="0"/>
                  </a:cubicBezTo>
                  <a:close/>
                </a:path>
              </a:pathLst>
            </a:custGeom>
            <a:solidFill>
              <a:srgbClr val="C0392B"/>
            </a:solidFill>
          </p:spPr>
        </p:sp>
        <p:sp>
          <p:nvSpPr>
            <p:cNvPr name="TextBox 35" id="35"/>
            <p:cNvSpPr txBox="true"/>
            <p:nvPr/>
          </p:nvSpPr>
          <p:spPr>
            <a:xfrm>
              <a:off x="0" y="-28575"/>
              <a:ext cx="90938" cy="130175"/>
            </a:xfrm>
            <a:prstGeom prst="rect">
              <a:avLst/>
            </a:prstGeom>
          </p:spPr>
          <p:txBody>
            <a:bodyPr anchor="ctr" rtlCol="false" tIns="50800" lIns="50800" bIns="50800" rIns="50800"/>
            <a:lstStyle/>
            <a:p>
              <a:pPr algn="l">
                <a:lnSpc>
                  <a:spcPts val="1679"/>
                </a:lnSpc>
              </a:pPr>
            </a:p>
          </p:txBody>
        </p:sp>
      </p:grpSp>
      <p:sp>
        <p:nvSpPr>
          <p:cNvPr name="TextBox 36" id="36"/>
          <p:cNvSpPr txBox="true"/>
          <p:nvPr/>
        </p:nvSpPr>
        <p:spPr>
          <a:xfrm rot="0">
            <a:off x="2687833" y="2860495"/>
            <a:ext cx="622473" cy="162518"/>
          </a:xfrm>
          <a:prstGeom prst="rect">
            <a:avLst/>
          </a:prstGeom>
        </p:spPr>
        <p:txBody>
          <a:bodyPr anchor="t" rtlCol="false" tIns="0" lIns="0" bIns="0" rIns="0">
            <a:spAutoFit/>
          </a:bodyPr>
          <a:lstStyle/>
          <a:p>
            <a:pPr algn="l" marL="0" indent="0" lvl="0">
              <a:lnSpc>
                <a:spcPts val="1302"/>
              </a:lnSpc>
              <a:spcBef>
                <a:spcPct val="0"/>
              </a:spcBef>
            </a:pPr>
            <a:r>
              <a:rPr lang="en-US" sz="930" strike="noStrike" u="none">
                <a:solidFill>
                  <a:srgbClr val="C0392B"/>
                </a:solidFill>
                <a:latin typeface="프리텐다드"/>
                <a:ea typeface="프리텐다드"/>
                <a:cs typeface="프리텐다드"/>
                <a:sym typeface="프리텐다드"/>
              </a:rPr>
              <a:t>1.06***</a:t>
            </a:r>
          </a:p>
        </p:txBody>
      </p:sp>
      <p:sp>
        <p:nvSpPr>
          <p:cNvPr name="AutoShape 37" id="37"/>
          <p:cNvSpPr/>
          <p:nvPr/>
        </p:nvSpPr>
        <p:spPr>
          <a:xfrm>
            <a:off x="5223210" y="2958011"/>
            <a:ext cx="132228" cy="0"/>
          </a:xfrm>
          <a:prstGeom prst="line">
            <a:avLst/>
          </a:prstGeom>
          <a:ln cap="flat" w="9525">
            <a:solidFill>
              <a:srgbClr val="94A3B8"/>
            </a:solidFill>
            <a:prstDash val="solid"/>
            <a:headEnd type="none" len="sm" w="sm"/>
            <a:tailEnd type="none" len="sm" w="sm"/>
          </a:ln>
        </p:spPr>
      </p:sp>
      <p:grpSp>
        <p:nvGrpSpPr>
          <p:cNvPr name="Group 38" id="38"/>
          <p:cNvGrpSpPr/>
          <p:nvPr/>
        </p:nvGrpSpPr>
        <p:grpSpPr>
          <a:xfrm rot="0">
            <a:off x="5258471" y="2918616"/>
            <a:ext cx="70522" cy="78790"/>
            <a:chOff x="0" y="0"/>
            <a:chExt cx="90938" cy="101600"/>
          </a:xfrm>
        </p:grpSpPr>
        <p:sp>
          <p:nvSpPr>
            <p:cNvPr name="Freeform 39" id="39"/>
            <p:cNvSpPr/>
            <p:nvPr/>
          </p:nvSpPr>
          <p:spPr>
            <a:xfrm flipH="false" flipV="false" rot="0">
              <a:off x="0" y="0"/>
              <a:ext cx="90938" cy="101600"/>
            </a:xfrm>
            <a:custGeom>
              <a:avLst/>
              <a:gdLst/>
              <a:ahLst/>
              <a:cxnLst/>
              <a:rect r="r" b="b" t="t" l="l"/>
              <a:pathLst>
                <a:path h="101600" w="90938">
                  <a:moveTo>
                    <a:pt x="45469" y="0"/>
                  </a:moveTo>
                  <a:cubicBezTo>
                    <a:pt x="20357" y="0"/>
                    <a:pt x="0" y="22744"/>
                    <a:pt x="0" y="50800"/>
                  </a:cubicBezTo>
                  <a:cubicBezTo>
                    <a:pt x="0" y="78856"/>
                    <a:pt x="20357" y="101600"/>
                    <a:pt x="45469" y="101600"/>
                  </a:cubicBezTo>
                  <a:cubicBezTo>
                    <a:pt x="70581" y="101600"/>
                    <a:pt x="90938" y="78856"/>
                    <a:pt x="90938" y="50800"/>
                  </a:cubicBezTo>
                  <a:cubicBezTo>
                    <a:pt x="90938" y="22744"/>
                    <a:pt x="70581" y="0"/>
                    <a:pt x="45469" y="0"/>
                  </a:cubicBezTo>
                  <a:close/>
                </a:path>
              </a:pathLst>
            </a:custGeom>
            <a:solidFill>
              <a:srgbClr val="1565C0"/>
            </a:solidFill>
          </p:spPr>
        </p:sp>
        <p:sp>
          <p:nvSpPr>
            <p:cNvPr name="TextBox 40" id="40"/>
            <p:cNvSpPr txBox="true"/>
            <p:nvPr/>
          </p:nvSpPr>
          <p:spPr>
            <a:xfrm>
              <a:off x="0" y="-28575"/>
              <a:ext cx="90938" cy="130175"/>
            </a:xfrm>
            <a:prstGeom prst="rect">
              <a:avLst/>
            </a:prstGeom>
          </p:spPr>
          <p:txBody>
            <a:bodyPr anchor="ctr" rtlCol="false" tIns="50800" lIns="50800" bIns="50800" rIns="50800"/>
            <a:lstStyle/>
            <a:p>
              <a:pPr algn="l">
                <a:lnSpc>
                  <a:spcPts val="1679"/>
                </a:lnSpc>
              </a:pPr>
            </a:p>
          </p:txBody>
        </p:sp>
      </p:grpSp>
      <p:sp>
        <p:nvSpPr>
          <p:cNvPr name="TextBox 41" id="41"/>
          <p:cNvSpPr txBox="true"/>
          <p:nvPr/>
        </p:nvSpPr>
        <p:spPr>
          <a:xfrm rot="0">
            <a:off x="5394107" y="2860495"/>
            <a:ext cx="622473" cy="162518"/>
          </a:xfrm>
          <a:prstGeom prst="rect">
            <a:avLst/>
          </a:prstGeom>
        </p:spPr>
        <p:txBody>
          <a:bodyPr anchor="t" rtlCol="false" tIns="0" lIns="0" bIns="0" rIns="0">
            <a:spAutoFit/>
          </a:bodyPr>
          <a:lstStyle/>
          <a:p>
            <a:pPr algn="l" marL="0" indent="0" lvl="0">
              <a:lnSpc>
                <a:spcPts val="1302"/>
              </a:lnSpc>
              <a:spcBef>
                <a:spcPct val="0"/>
              </a:spcBef>
            </a:pPr>
            <a:r>
              <a:rPr lang="en-US" sz="930" strike="noStrike" u="none">
                <a:solidFill>
                  <a:srgbClr val="1565C0"/>
                </a:solidFill>
                <a:latin typeface="프리텐다드"/>
                <a:ea typeface="프리텐다드"/>
                <a:cs typeface="프리텐다드"/>
                <a:sym typeface="프리텐다드"/>
              </a:rPr>
              <a:t>1.26***</a:t>
            </a:r>
          </a:p>
        </p:txBody>
      </p:sp>
      <p:sp>
        <p:nvSpPr>
          <p:cNvPr name="TextBox 42" id="42"/>
          <p:cNvSpPr txBox="true"/>
          <p:nvPr/>
        </p:nvSpPr>
        <p:spPr>
          <a:xfrm rot="0">
            <a:off x="930195" y="3293839"/>
            <a:ext cx="1067097" cy="179589"/>
          </a:xfrm>
          <a:prstGeom prst="rect">
            <a:avLst/>
          </a:prstGeom>
        </p:spPr>
        <p:txBody>
          <a:bodyPr anchor="t" rtlCol="false" tIns="0" lIns="0" bIns="0" rIns="0">
            <a:spAutoFit/>
          </a:bodyPr>
          <a:lstStyle/>
          <a:p>
            <a:pPr algn="l" marL="0" indent="0" lvl="0">
              <a:lnSpc>
                <a:spcPts val="1447"/>
              </a:lnSpc>
              <a:spcBef>
                <a:spcPct val="0"/>
              </a:spcBef>
            </a:pPr>
            <a:r>
              <a:rPr lang="en-US" sz="1033" strike="noStrike" u="none">
                <a:solidFill>
                  <a:srgbClr val="1E293B"/>
                </a:solidFill>
                <a:latin typeface="프리텐다드"/>
                <a:ea typeface="프리텐다드"/>
                <a:cs typeface="프리텐다드"/>
                <a:sym typeface="프리텐다드"/>
              </a:rPr>
              <a:t>사립학교</a:t>
            </a:r>
          </a:p>
        </p:txBody>
      </p:sp>
      <p:sp>
        <p:nvSpPr>
          <p:cNvPr name="AutoShape 43" id="43"/>
          <p:cNvSpPr/>
          <p:nvPr/>
        </p:nvSpPr>
        <p:spPr>
          <a:xfrm>
            <a:off x="2120250" y="3401204"/>
            <a:ext cx="264457" cy="0"/>
          </a:xfrm>
          <a:prstGeom prst="line">
            <a:avLst/>
          </a:prstGeom>
          <a:ln cap="flat" w="9525">
            <a:solidFill>
              <a:srgbClr val="94A3B8"/>
            </a:solidFill>
            <a:prstDash val="solid"/>
            <a:headEnd type="none" len="sm" w="sm"/>
            <a:tailEnd type="none" len="sm" w="sm"/>
          </a:ln>
        </p:spPr>
      </p:sp>
      <p:grpSp>
        <p:nvGrpSpPr>
          <p:cNvPr name="Group 44" id="44"/>
          <p:cNvGrpSpPr/>
          <p:nvPr/>
        </p:nvGrpSpPr>
        <p:grpSpPr>
          <a:xfrm rot="0">
            <a:off x="2217218" y="3361809"/>
            <a:ext cx="70522" cy="78790"/>
            <a:chOff x="0" y="0"/>
            <a:chExt cx="90938" cy="101600"/>
          </a:xfrm>
        </p:grpSpPr>
        <p:sp>
          <p:nvSpPr>
            <p:cNvPr name="Freeform 45" id="45"/>
            <p:cNvSpPr/>
            <p:nvPr/>
          </p:nvSpPr>
          <p:spPr>
            <a:xfrm flipH="false" flipV="false" rot="0">
              <a:off x="0" y="0"/>
              <a:ext cx="90938" cy="101600"/>
            </a:xfrm>
            <a:custGeom>
              <a:avLst/>
              <a:gdLst/>
              <a:ahLst/>
              <a:cxnLst/>
              <a:rect r="r" b="b" t="t" l="l"/>
              <a:pathLst>
                <a:path h="101600" w="90938">
                  <a:moveTo>
                    <a:pt x="45469" y="0"/>
                  </a:moveTo>
                  <a:cubicBezTo>
                    <a:pt x="20357" y="0"/>
                    <a:pt x="0" y="22744"/>
                    <a:pt x="0" y="50800"/>
                  </a:cubicBezTo>
                  <a:cubicBezTo>
                    <a:pt x="0" y="78856"/>
                    <a:pt x="20357" y="101600"/>
                    <a:pt x="45469" y="101600"/>
                  </a:cubicBezTo>
                  <a:cubicBezTo>
                    <a:pt x="70581" y="101600"/>
                    <a:pt x="90938" y="78856"/>
                    <a:pt x="90938" y="50800"/>
                  </a:cubicBezTo>
                  <a:cubicBezTo>
                    <a:pt x="90938" y="22744"/>
                    <a:pt x="70581" y="0"/>
                    <a:pt x="45469" y="0"/>
                  </a:cubicBezTo>
                  <a:close/>
                </a:path>
              </a:pathLst>
            </a:custGeom>
            <a:solidFill>
              <a:srgbClr val="C0392B"/>
            </a:solidFill>
          </p:spPr>
        </p:sp>
        <p:sp>
          <p:nvSpPr>
            <p:cNvPr name="TextBox 46" id="46"/>
            <p:cNvSpPr txBox="true"/>
            <p:nvPr/>
          </p:nvSpPr>
          <p:spPr>
            <a:xfrm>
              <a:off x="0" y="-28575"/>
              <a:ext cx="90938" cy="130175"/>
            </a:xfrm>
            <a:prstGeom prst="rect">
              <a:avLst/>
            </a:prstGeom>
          </p:spPr>
          <p:txBody>
            <a:bodyPr anchor="ctr" rtlCol="false" tIns="50800" lIns="50800" bIns="50800" rIns="50800"/>
            <a:lstStyle/>
            <a:p>
              <a:pPr algn="l">
                <a:lnSpc>
                  <a:spcPts val="1679"/>
                </a:lnSpc>
              </a:pPr>
            </a:p>
          </p:txBody>
        </p:sp>
      </p:grpSp>
      <p:sp>
        <p:nvSpPr>
          <p:cNvPr name="TextBox 47" id="47"/>
          <p:cNvSpPr txBox="true"/>
          <p:nvPr/>
        </p:nvSpPr>
        <p:spPr>
          <a:xfrm rot="0">
            <a:off x="2423376" y="3303688"/>
            <a:ext cx="622473" cy="162518"/>
          </a:xfrm>
          <a:prstGeom prst="rect">
            <a:avLst/>
          </a:prstGeom>
        </p:spPr>
        <p:txBody>
          <a:bodyPr anchor="t" rtlCol="false" tIns="0" lIns="0" bIns="0" rIns="0">
            <a:spAutoFit/>
          </a:bodyPr>
          <a:lstStyle/>
          <a:p>
            <a:pPr algn="l" marL="0" indent="0" lvl="0">
              <a:lnSpc>
                <a:spcPts val="1302"/>
              </a:lnSpc>
              <a:spcBef>
                <a:spcPct val="0"/>
              </a:spcBef>
            </a:pPr>
            <a:r>
              <a:rPr lang="en-US" sz="930" strike="noStrike" u="none">
                <a:solidFill>
                  <a:srgbClr val="C0392B"/>
                </a:solidFill>
                <a:latin typeface="프리텐다드"/>
                <a:ea typeface="프리텐다드"/>
                <a:cs typeface="프리텐다드"/>
                <a:sym typeface="프리텐다드"/>
              </a:rPr>
              <a:t>0.74*</a:t>
            </a:r>
          </a:p>
        </p:txBody>
      </p:sp>
      <p:sp>
        <p:nvSpPr>
          <p:cNvPr name="AutoShape 48" id="48"/>
          <p:cNvSpPr/>
          <p:nvPr/>
        </p:nvSpPr>
        <p:spPr>
          <a:xfrm>
            <a:off x="4720742" y="3401204"/>
            <a:ext cx="308533" cy="0"/>
          </a:xfrm>
          <a:prstGeom prst="line">
            <a:avLst/>
          </a:prstGeom>
          <a:ln cap="flat" w="9525">
            <a:solidFill>
              <a:srgbClr val="94A3B8"/>
            </a:solidFill>
            <a:prstDash val="solid"/>
            <a:headEnd type="none" len="sm" w="sm"/>
            <a:tailEnd type="none" len="sm" w="sm"/>
          </a:ln>
        </p:spPr>
      </p:sp>
      <p:grpSp>
        <p:nvGrpSpPr>
          <p:cNvPr name="Group 49" id="49"/>
          <p:cNvGrpSpPr/>
          <p:nvPr/>
        </p:nvGrpSpPr>
        <p:grpSpPr>
          <a:xfrm rot="0">
            <a:off x="4835340" y="3361809"/>
            <a:ext cx="70522" cy="78790"/>
            <a:chOff x="0" y="0"/>
            <a:chExt cx="90938" cy="101600"/>
          </a:xfrm>
        </p:grpSpPr>
        <p:sp>
          <p:nvSpPr>
            <p:cNvPr name="Freeform 50" id="50"/>
            <p:cNvSpPr/>
            <p:nvPr/>
          </p:nvSpPr>
          <p:spPr>
            <a:xfrm flipH="false" flipV="false" rot="0">
              <a:off x="0" y="0"/>
              <a:ext cx="90938" cy="101600"/>
            </a:xfrm>
            <a:custGeom>
              <a:avLst/>
              <a:gdLst/>
              <a:ahLst/>
              <a:cxnLst/>
              <a:rect r="r" b="b" t="t" l="l"/>
              <a:pathLst>
                <a:path h="101600" w="90938">
                  <a:moveTo>
                    <a:pt x="45469" y="0"/>
                  </a:moveTo>
                  <a:cubicBezTo>
                    <a:pt x="20357" y="0"/>
                    <a:pt x="0" y="22744"/>
                    <a:pt x="0" y="50800"/>
                  </a:cubicBezTo>
                  <a:cubicBezTo>
                    <a:pt x="0" y="78856"/>
                    <a:pt x="20357" y="101600"/>
                    <a:pt x="45469" y="101600"/>
                  </a:cubicBezTo>
                  <a:cubicBezTo>
                    <a:pt x="70581" y="101600"/>
                    <a:pt x="90938" y="78856"/>
                    <a:pt x="90938" y="50800"/>
                  </a:cubicBezTo>
                  <a:cubicBezTo>
                    <a:pt x="90938" y="22744"/>
                    <a:pt x="70581" y="0"/>
                    <a:pt x="45469" y="0"/>
                  </a:cubicBezTo>
                  <a:close/>
                </a:path>
              </a:pathLst>
            </a:custGeom>
            <a:solidFill>
              <a:srgbClr val="1565C0"/>
            </a:solidFill>
          </p:spPr>
        </p:sp>
        <p:sp>
          <p:nvSpPr>
            <p:cNvPr name="TextBox 51" id="51"/>
            <p:cNvSpPr txBox="true"/>
            <p:nvPr/>
          </p:nvSpPr>
          <p:spPr>
            <a:xfrm>
              <a:off x="0" y="-28575"/>
              <a:ext cx="90938" cy="130175"/>
            </a:xfrm>
            <a:prstGeom prst="rect">
              <a:avLst/>
            </a:prstGeom>
          </p:spPr>
          <p:txBody>
            <a:bodyPr anchor="ctr" rtlCol="false" tIns="50800" lIns="50800" bIns="50800" rIns="50800"/>
            <a:lstStyle/>
            <a:p>
              <a:pPr algn="l">
                <a:lnSpc>
                  <a:spcPts val="1679"/>
                </a:lnSpc>
              </a:pPr>
            </a:p>
          </p:txBody>
        </p:sp>
      </p:grpSp>
      <p:sp>
        <p:nvSpPr>
          <p:cNvPr name="TextBox 52" id="52"/>
          <p:cNvSpPr txBox="true"/>
          <p:nvPr/>
        </p:nvSpPr>
        <p:spPr>
          <a:xfrm rot="0">
            <a:off x="5067944" y="3303688"/>
            <a:ext cx="622473" cy="162518"/>
          </a:xfrm>
          <a:prstGeom prst="rect">
            <a:avLst/>
          </a:prstGeom>
        </p:spPr>
        <p:txBody>
          <a:bodyPr anchor="t" rtlCol="false" tIns="0" lIns="0" bIns="0" rIns="0">
            <a:spAutoFit/>
          </a:bodyPr>
          <a:lstStyle/>
          <a:p>
            <a:pPr algn="l" marL="0" indent="0" lvl="0">
              <a:lnSpc>
                <a:spcPts val="1302"/>
              </a:lnSpc>
              <a:spcBef>
                <a:spcPct val="0"/>
              </a:spcBef>
            </a:pPr>
            <a:r>
              <a:rPr lang="en-US" sz="930" strike="noStrike" u="none">
                <a:solidFill>
                  <a:srgbClr val="1565C0"/>
                </a:solidFill>
                <a:latin typeface="프리텐다드"/>
                <a:ea typeface="프리텐다드"/>
                <a:cs typeface="프리텐다드"/>
                <a:sym typeface="프리텐다드"/>
              </a:rPr>
              <a:t>0.88</a:t>
            </a:r>
          </a:p>
        </p:txBody>
      </p:sp>
      <p:sp>
        <p:nvSpPr>
          <p:cNvPr name="TextBox 53" id="53"/>
          <p:cNvSpPr txBox="true"/>
          <p:nvPr/>
        </p:nvSpPr>
        <p:spPr>
          <a:xfrm rot="0">
            <a:off x="930195" y="3737033"/>
            <a:ext cx="1067097" cy="179589"/>
          </a:xfrm>
          <a:prstGeom prst="rect">
            <a:avLst/>
          </a:prstGeom>
        </p:spPr>
        <p:txBody>
          <a:bodyPr anchor="t" rtlCol="false" tIns="0" lIns="0" bIns="0" rIns="0">
            <a:spAutoFit/>
          </a:bodyPr>
          <a:lstStyle/>
          <a:p>
            <a:pPr algn="l" marL="0" indent="0" lvl="0">
              <a:lnSpc>
                <a:spcPts val="1447"/>
              </a:lnSpc>
              <a:spcBef>
                <a:spcPct val="0"/>
              </a:spcBef>
            </a:pPr>
            <a:r>
              <a:rPr lang="en-US" sz="1033" strike="noStrike" u="none">
                <a:solidFill>
                  <a:srgbClr val="1E293B"/>
                </a:solidFill>
                <a:latin typeface="프리텐다드"/>
                <a:ea typeface="프리텐다드"/>
                <a:cs typeface="프리텐다드"/>
                <a:sym typeface="프리텐다드"/>
              </a:rPr>
              <a:t>기간제 교원</a:t>
            </a:r>
          </a:p>
        </p:txBody>
      </p:sp>
      <p:sp>
        <p:nvSpPr>
          <p:cNvPr name="AutoShape 54" id="54"/>
          <p:cNvSpPr/>
          <p:nvPr/>
        </p:nvSpPr>
        <p:spPr>
          <a:xfrm>
            <a:off x="2084989" y="3844398"/>
            <a:ext cx="220381" cy="0"/>
          </a:xfrm>
          <a:prstGeom prst="line">
            <a:avLst/>
          </a:prstGeom>
          <a:ln cap="flat" w="9525">
            <a:solidFill>
              <a:srgbClr val="94A3B8"/>
            </a:solidFill>
            <a:prstDash val="solid"/>
            <a:headEnd type="none" len="sm" w="sm"/>
            <a:tailEnd type="none" len="sm" w="sm"/>
          </a:ln>
        </p:spPr>
      </p:sp>
      <p:grpSp>
        <p:nvGrpSpPr>
          <p:cNvPr name="Group 55" id="55"/>
          <p:cNvGrpSpPr/>
          <p:nvPr/>
        </p:nvGrpSpPr>
        <p:grpSpPr>
          <a:xfrm rot="0">
            <a:off x="2155511" y="3805003"/>
            <a:ext cx="70522" cy="78790"/>
            <a:chOff x="0" y="0"/>
            <a:chExt cx="90938" cy="101600"/>
          </a:xfrm>
        </p:grpSpPr>
        <p:sp>
          <p:nvSpPr>
            <p:cNvPr name="Freeform 56" id="56"/>
            <p:cNvSpPr/>
            <p:nvPr/>
          </p:nvSpPr>
          <p:spPr>
            <a:xfrm flipH="false" flipV="false" rot="0">
              <a:off x="0" y="0"/>
              <a:ext cx="90938" cy="101600"/>
            </a:xfrm>
            <a:custGeom>
              <a:avLst/>
              <a:gdLst/>
              <a:ahLst/>
              <a:cxnLst/>
              <a:rect r="r" b="b" t="t" l="l"/>
              <a:pathLst>
                <a:path h="101600" w="90938">
                  <a:moveTo>
                    <a:pt x="45469" y="0"/>
                  </a:moveTo>
                  <a:cubicBezTo>
                    <a:pt x="20357" y="0"/>
                    <a:pt x="0" y="22744"/>
                    <a:pt x="0" y="50800"/>
                  </a:cubicBezTo>
                  <a:cubicBezTo>
                    <a:pt x="0" y="78856"/>
                    <a:pt x="20357" y="101600"/>
                    <a:pt x="45469" y="101600"/>
                  </a:cubicBezTo>
                  <a:cubicBezTo>
                    <a:pt x="70581" y="101600"/>
                    <a:pt x="90938" y="78856"/>
                    <a:pt x="90938" y="50800"/>
                  </a:cubicBezTo>
                  <a:cubicBezTo>
                    <a:pt x="90938" y="22744"/>
                    <a:pt x="70581" y="0"/>
                    <a:pt x="45469" y="0"/>
                  </a:cubicBezTo>
                  <a:close/>
                </a:path>
              </a:pathLst>
            </a:custGeom>
            <a:solidFill>
              <a:srgbClr val="C0392B"/>
            </a:solidFill>
          </p:spPr>
        </p:sp>
        <p:sp>
          <p:nvSpPr>
            <p:cNvPr name="TextBox 57" id="57"/>
            <p:cNvSpPr txBox="true"/>
            <p:nvPr/>
          </p:nvSpPr>
          <p:spPr>
            <a:xfrm>
              <a:off x="0" y="-28575"/>
              <a:ext cx="90938" cy="130175"/>
            </a:xfrm>
            <a:prstGeom prst="rect">
              <a:avLst/>
            </a:prstGeom>
          </p:spPr>
          <p:txBody>
            <a:bodyPr anchor="ctr" rtlCol="false" tIns="50800" lIns="50800" bIns="50800" rIns="50800"/>
            <a:lstStyle/>
            <a:p>
              <a:pPr algn="l">
                <a:lnSpc>
                  <a:spcPts val="1679"/>
                </a:lnSpc>
              </a:pPr>
            </a:p>
          </p:txBody>
        </p:sp>
      </p:grpSp>
      <p:sp>
        <p:nvSpPr>
          <p:cNvPr name="TextBox 58" id="58"/>
          <p:cNvSpPr txBox="true"/>
          <p:nvPr/>
        </p:nvSpPr>
        <p:spPr>
          <a:xfrm rot="0">
            <a:off x="2344039" y="3746881"/>
            <a:ext cx="622473" cy="162518"/>
          </a:xfrm>
          <a:prstGeom prst="rect">
            <a:avLst/>
          </a:prstGeom>
        </p:spPr>
        <p:txBody>
          <a:bodyPr anchor="t" rtlCol="false" tIns="0" lIns="0" bIns="0" rIns="0">
            <a:spAutoFit/>
          </a:bodyPr>
          <a:lstStyle/>
          <a:p>
            <a:pPr algn="l" marL="0" indent="0" lvl="0">
              <a:lnSpc>
                <a:spcPts val="1302"/>
              </a:lnSpc>
              <a:spcBef>
                <a:spcPct val="0"/>
              </a:spcBef>
            </a:pPr>
            <a:r>
              <a:rPr lang="en-US" sz="930" strike="noStrike" u="none">
                <a:solidFill>
                  <a:srgbClr val="C0392B"/>
                </a:solidFill>
                <a:latin typeface="프리텐다드"/>
                <a:ea typeface="프리텐다드"/>
                <a:cs typeface="프리텐다드"/>
                <a:sym typeface="프리텐다드"/>
              </a:rPr>
              <a:t>0.69**</a:t>
            </a:r>
          </a:p>
        </p:txBody>
      </p:sp>
      <p:sp>
        <p:nvSpPr>
          <p:cNvPr name="AutoShape 59" id="59"/>
          <p:cNvSpPr/>
          <p:nvPr/>
        </p:nvSpPr>
        <p:spPr>
          <a:xfrm>
            <a:off x="4509177" y="3844398"/>
            <a:ext cx="264457" cy="0"/>
          </a:xfrm>
          <a:prstGeom prst="line">
            <a:avLst/>
          </a:prstGeom>
          <a:ln cap="flat" w="9525">
            <a:solidFill>
              <a:srgbClr val="94A3B8"/>
            </a:solidFill>
            <a:prstDash val="solid"/>
            <a:headEnd type="none" len="sm" w="sm"/>
            <a:tailEnd type="none" len="sm" w="sm"/>
          </a:ln>
        </p:spPr>
      </p:sp>
      <p:grpSp>
        <p:nvGrpSpPr>
          <p:cNvPr name="Group 60" id="60"/>
          <p:cNvGrpSpPr/>
          <p:nvPr/>
        </p:nvGrpSpPr>
        <p:grpSpPr>
          <a:xfrm rot="0">
            <a:off x="4606144" y="3805003"/>
            <a:ext cx="70522" cy="78790"/>
            <a:chOff x="0" y="0"/>
            <a:chExt cx="90938" cy="101600"/>
          </a:xfrm>
        </p:grpSpPr>
        <p:sp>
          <p:nvSpPr>
            <p:cNvPr name="Freeform 61" id="61"/>
            <p:cNvSpPr/>
            <p:nvPr/>
          </p:nvSpPr>
          <p:spPr>
            <a:xfrm flipH="false" flipV="false" rot="0">
              <a:off x="0" y="0"/>
              <a:ext cx="90938" cy="101600"/>
            </a:xfrm>
            <a:custGeom>
              <a:avLst/>
              <a:gdLst/>
              <a:ahLst/>
              <a:cxnLst/>
              <a:rect r="r" b="b" t="t" l="l"/>
              <a:pathLst>
                <a:path h="101600" w="90938">
                  <a:moveTo>
                    <a:pt x="45469" y="0"/>
                  </a:moveTo>
                  <a:cubicBezTo>
                    <a:pt x="20357" y="0"/>
                    <a:pt x="0" y="22744"/>
                    <a:pt x="0" y="50800"/>
                  </a:cubicBezTo>
                  <a:cubicBezTo>
                    <a:pt x="0" y="78856"/>
                    <a:pt x="20357" y="101600"/>
                    <a:pt x="45469" y="101600"/>
                  </a:cubicBezTo>
                  <a:cubicBezTo>
                    <a:pt x="70581" y="101600"/>
                    <a:pt x="90938" y="78856"/>
                    <a:pt x="90938" y="50800"/>
                  </a:cubicBezTo>
                  <a:cubicBezTo>
                    <a:pt x="90938" y="22744"/>
                    <a:pt x="70581" y="0"/>
                    <a:pt x="45469" y="0"/>
                  </a:cubicBezTo>
                  <a:close/>
                </a:path>
              </a:pathLst>
            </a:custGeom>
            <a:solidFill>
              <a:srgbClr val="1565C0"/>
            </a:solidFill>
          </p:spPr>
        </p:sp>
        <p:sp>
          <p:nvSpPr>
            <p:cNvPr name="TextBox 62" id="62"/>
            <p:cNvSpPr txBox="true"/>
            <p:nvPr/>
          </p:nvSpPr>
          <p:spPr>
            <a:xfrm>
              <a:off x="0" y="-28575"/>
              <a:ext cx="90938" cy="130175"/>
            </a:xfrm>
            <a:prstGeom prst="rect">
              <a:avLst/>
            </a:prstGeom>
          </p:spPr>
          <p:txBody>
            <a:bodyPr anchor="ctr" rtlCol="false" tIns="50800" lIns="50800" bIns="50800" rIns="50800"/>
            <a:lstStyle/>
            <a:p>
              <a:pPr algn="l">
                <a:lnSpc>
                  <a:spcPts val="1679"/>
                </a:lnSpc>
              </a:pPr>
            </a:p>
          </p:txBody>
        </p:sp>
      </p:grpSp>
      <p:sp>
        <p:nvSpPr>
          <p:cNvPr name="TextBox 63" id="63"/>
          <p:cNvSpPr txBox="true"/>
          <p:nvPr/>
        </p:nvSpPr>
        <p:spPr>
          <a:xfrm rot="0">
            <a:off x="4812302" y="3746881"/>
            <a:ext cx="622473" cy="162518"/>
          </a:xfrm>
          <a:prstGeom prst="rect">
            <a:avLst/>
          </a:prstGeom>
        </p:spPr>
        <p:txBody>
          <a:bodyPr anchor="t" rtlCol="false" tIns="0" lIns="0" bIns="0" rIns="0">
            <a:spAutoFit/>
          </a:bodyPr>
          <a:lstStyle/>
          <a:p>
            <a:pPr algn="l" marL="0" indent="0" lvl="0">
              <a:lnSpc>
                <a:spcPts val="1302"/>
              </a:lnSpc>
              <a:spcBef>
                <a:spcPct val="0"/>
              </a:spcBef>
            </a:pPr>
            <a:r>
              <a:rPr lang="en-US" sz="930" strike="noStrike" u="none">
                <a:solidFill>
                  <a:srgbClr val="1565C0"/>
                </a:solidFill>
                <a:latin typeface="프리텐다드"/>
                <a:ea typeface="프리텐다드"/>
                <a:cs typeface="프리텐다드"/>
                <a:sym typeface="프리텐다드"/>
              </a:rPr>
              <a:t>0.67**</a:t>
            </a:r>
          </a:p>
        </p:txBody>
      </p:sp>
      <p:sp>
        <p:nvSpPr>
          <p:cNvPr name="TextBox 64" id="64"/>
          <p:cNvSpPr txBox="true"/>
          <p:nvPr/>
        </p:nvSpPr>
        <p:spPr>
          <a:xfrm rot="0">
            <a:off x="930195" y="4180226"/>
            <a:ext cx="1067097" cy="179589"/>
          </a:xfrm>
          <a:prstGeom prst="rect">
            <a:avLst/>
          </a:prstGeom>
        </p:spPr>
        <p:txBody>
          <a:bodyPr anchor="t" rtlCol="false" tIns="0" lIns="0" bIns="0" rIns="0">
            <a:spAutoFit/>
          </a:bodyPr>
          <a:lstStyle/>
          <a:p>
            <a:pPr algn="l" marL="0" indent="0" lvl="0">
              <a:lnSpc>
                <a:spcPts val="1447"/>
              </a:lnSpc>
              <a:spcBef>
                <a:spcPct val="0"/>
              </a:spcBef>
            </a:pPr>
            <a:r>
              <a:rPr lang="en-US" sz="1033" strike="noStrike" u="none">
                <a:solidFill>
                  <a:srgbClr val="1E293B"/>
                </a:solidFill>
                <a:latin typeface="프리텐다드"/>
                <a:ea typeface="프리텐다드"/>
                <a:cs typeface="프리텐다드"/>
                <a:sym typeface="프리텐다드"/>
              </a:rPr>
              <a:t>남성</a:t>
            </a:r>
          </a:p>
        </p:txBody>
      </p:sp>
      <p:sp>
        <p:nvSpPr>
          <p:cNvPr name="AutoShape 65" id="65"/>
          <p:cNvSpPr/>
          <p:nvPr/>
        </p:nvSpPr>
        <p:spPr>
          <a:xfrm>
            <a:off x="2226033" y="4287591"/>
            <a:ext cx="176305" cy="0"/>
          </a:xfrm>
          <a:prstGeom prst="line">
            <a:avLst/>
          </a:prstGeom>
          <a:ln cap="flat" w="9525">
            <a:solidFill>
              <a:srgbClr val="94A3B8"/>
            </a:solidFill>
            <a:prstDash val="solid"/>
            <a:headEnd type="none" len="sm" w="sm"/>
            <a:tailEnd type="none" len="sm" w="sm"/>
          </a:ln>
        </p:spPr>
      </p:sp>
      <p:grpSp>
        <p:nvGrpSpPr>
          <p:cNvPr name="Group 66" id="66"/>
          <p:cNvGrpSpPr/>
          <p:nvPr/>
        </p:nvGrpSpPr>
        <p:grpSpPr>
          <a:xfrm rot="0">
            <a:off x="2278924" y="4248196"/>
            <a:ext cx="70522" cy="78790"/>
            <a:chOff x="0" y="0"/>
            <a:chExt cx="90938" cy="101600"/>
          </a:xfrm>
        </p:grpSpPr>
        <p:sp>
          <p:nvSpPr>
            <p:cNvPr name="Freeform 67" id="67"/>
            <p:cNvSpPr/>
            <p:nvPr/>
          </p:nvSpPr>
          <p:spPr>
            <a:xfrm flipH="false" flipV="false" rot="0">
              <a:off x="0" y="0"/>
              <a:ext cx="90938" cy="101600"/>
            </a:xfrm>
            <a:custGeom>
              <a:avLst/>
              <a:gdLst/>
              <a:ahLst/>
              <a:cxnLst/>
              <a:rect r="r" b="b" t="t" l="l"/>
              <a:pathLst>
                <a:path h="101600" w="90938">
                  <a:moveTo>
                    <a:pt x="45469" y="0"/>
                  </a:moveTo>
                  <a:cubicBezTo>
                    <a:pt x="20357" y="0"/>
                    <a:pt x="0" y="22744"/>
                    <a:pt x="0" y="50800"/>
                  </a:cubicBezTo>
                  <a:cubicBezTo>
                    <a:pt x="0" y="78856"/>
                    <a:pt x="20357" y="101600"/>
                    <a:pt x="45469" y="101600"/>
                  </a:cubicBezTo>
                  <a:cubicBezTo>
                    <a:pt x="70581" y="101600"/>
                    <a:pt x="90938" y="78856"/>
                    <a:pt x="90938" y="50800"/>
                  </a:cubicBezTo>
                  <a:cubicBezTo>
                    <a:pt x="90938" y="22744"/>
                    <a:pt x="70581" y="0"/>
                    <a:pt x="45469" y="0"/>
                  </a:cubicBezTo>
                  <a:close/>
                </a:path>
              </a:pathLst>
            </a:custGeom>
            <a:solidFill>
              <a:srgbClr val="C0392B"/>
            </a:solidFill>
          </p:spPr>
        </p:sp>
        <p:sp>
          <p:nvSpPr>
            <p:cNvPr name="TextBox 68" id="68"/>
            <p:cNvSpPr txBox="true"/>
            <p:nvPr/>
          </p:nvSpPr>
          <p:spPr>
            <a:xfrm>
              <a:off x="0" y="-28575"/>
              <a:ext cx="90938" cy="130175"/>
            </a:xfrm>
            <a:prstGeom prst="rect">
              <a:avLst/>
            </a:prstGeom>
          </p:spPr>
          <p:txBody>
            <a:bodyPr anchor="ctr" rtlCol="false" tIns="50800" lIns="50800" bIns="50800" rIns="50800"/>
            <a:lstStyle/>
            <a:p>
              <a:pPr algn="l">
                <a:lnSpc>
                  <a:spcPts val="1679"/>
                </a:lnSpc>
              </a:pPr>
            </a:p>
          </p:txBody>
        </p:sp>
      </p:grpSp>
      <p:sp>
        <p:nvSpPr>
          <p:cNvPr name="TextBox 69" id="69"/>
          <p:cNvSpPr txBox="true"/>
          <p:nvPr/>
        </p:nvSpPr>
        <p:spPr>
          <a:xfrm rot="0">
            <a:off x="2441006" y="4190075"/>
            <a:ext cx="622473" cy="162518"/>
          </a:xfrm>
          <a:prstGeom prst="rect">
            <a:avLst/>
          </a:prstGeom>
        </p:spPr>
        <p:txBody>
          <a:bodyPr anchor="t" rtlCol="false" tIns="0" lIns="0" bIns="0" rIns="0">
            <a:spAutoFit/>
          </a:bodyPr>
          <a:lstStyle/>
          <a:p>
            <a:pPr algn="l" marL="0" indent="0" lvl="0">
              <a:lnSpc>
                <a:spcPts val="1302"/>
              </a:lnSpc>
              <a:spcBef>
                <a:spcPct val="0"/>
              </a:spcBef>
            </a:pPr>
            <a:r>
              <a:rPr lang="en-US" sz="930" strike="noStrike" u="none">
                <a:solidFill>
                  <a:srgbClr val="C0392B"/>
                </a:solidFill>
                <a:latin typeface="프리텐다드"/>
                <a:ea typeface="프리텐다드"/>
                <a:cs typeface="프리텐다드"/>
                <a:sym typeface="프리텐다드"/>
              </a:rPr>
              <a:t>0.8***</a:t>
            </a:r>
          </a:p>
        </p:txBody>
      </p:sp>
      <p:sp>
        <p:nvSpPr>
          <p:cNvPr name="AutoShape 70" id="70"/>
          <p:cNvSpPr/>
          <p:nvPr/>
        </p:nvSpPr>
        <p:spPr>
          <a:xfrm>
            <a:off x="4509177" y="4287591"/>
            <a:ext cx="220381" cy="0"/>
          </a:xfrm>
          <a:prstGeom prst="line">
            <a:avLst/>
          </a:prstGeom>
          <a:ln cap="flat" w="9525">
            <a:solidFill>
              <a:srgbClr val="94A3B8"/>
            </a:solidFill>
            <a:prstDash val="solid"/>
            <a:headEnd type="none" len="sm" w="sm"/>
            <a:tailEnd type="none" len="sm" w="sm"/>
          </a:ln>
        </p:spPr>
      </p:sp>
      <p:grpSp>
        <p:nvGrpSpPr>
          <p:cNvPr name="Group 71" id="71"/>
          <p:cNvGrpSpPr/>
          <p:nvPr/>
        </p:nvGrpSpPr>
        <p:grpSpPr>
          <a:xfrm rot="0">
            <a:off x="4579699" y="4248196"/>
            <a:ext cx="70522" cy="78790"/>
            <a:chOff x="0" y="0"/>
            <a:chExt cx="90938" cy="101600"/>
          </a:xfrm>
        </p:grpSpPr>
        <p:sp>
          <p:nvSpPr>
            <p:cNvPr name="Freeform 72" id="72"/>
            <p:cNvSpPr/>
            <p:nvPr/>
          </p:nvSpPr>
          <p:spPr>
            <a:xfrm flipH="false" flipV="false" rot="0">
              <a:off x="0" y="0"/>
              <a:ext cx="90938" cy="101600"/>
            </a:xfrm>
            <a:custGeom>
              <a:avLst/>
              <a:gdLst/>
              <a:ahLst/>
              <a:cxnLst/>
              <a:rect r="r" b="b" t="t" l="l"/>
              <a:pathLst>
                <a:path h="101600" w="90938">
                  <a:moveTo>
                    <a:pt x="45469" y="0"/>
                  </a:moveTo>
                  <a:cubicBezTo>
                    <a:pt x="20357" y="0"/>
                    <a:pt x="0" y="22744"/>
                    <a:pt x="0" y="50800"/>
                  </a:cubicBezTo>
                  <a:cubicBezTo>
                    <a:pt x="0" y="78856"/>
                    <a:pt x="20357" y="101600"/>
                    <a:pt x="45469" y="101600"/>
                  </a:cubicBezTo>
                  <a:cubicBezTo>
                    <a:pt x="70581" y="101600"/>
                    <a:pt x="90938" y="78856"/>
                    <a:pt x="90938" y="50800"/>
                  </a:cubicBezTo>
                  <a:cubicBezTo>
                    <a:pt x="90938" y="22744"/>
                    <a:pt x="70581" y="0"/>
                    <a:pt x="45469" y="0"/>
                  </a:cubicBezTo>
                  <a:close/>
                </a:path>
              </a:pathLst>
            </a:custGeom>
            <a:solidFill>
              <a:srgbClr val="1565C0"/>
            </a:solidFill>
          </p:spPr>
        </p:sp>
        <p:sp>
          <p:nvSpPr>
            <p:cNvPr name="TextBox 73" id="73"/>
            <p:cNvSpPr txBox="true"/>
            <p:nvPr/>
          </p:nvSpPr>
          <p:spPr>
            <a:xfrm>
              <a:off x="0" y="-28575"/>
              <a:ext cx="90938" cy="130175"/>
            </a:xfrm>
            <a:prstGeom prst="rect">
              <a:avLst/>
            </a:prstGeom>
          </p:spPr>
          <p:txBody>
            <a:bodyPr anchor="ctr" rtlCol="false" tIns="50800" lIns="50800" bIns="50800" rIns="50800"/>
            <a:lstStyle/>
            <a:p>
              <a:pPr algn="l">
                <a:lnSpc>
                  <a:spcPts val="1679"/>
                </a:lnSpc>
              </a:pPr>
            </a:p>
          </p:txBody>
        </p:sp>
      </p:grpSp>
      <p:sp>
        <p:nvSpPr>
          <p:cNvPr name="TextBox 74" id="74"/>
          <p:cNvSpPr txBox="true"/>
          <p:nvPr/>
        </p:nvSpPr>
        <p:spPr>
          <a:xfrm rot="0">
            <a:off x="4768226" y="4190075"/>
            <a:ext cx="622473" cy="162518"/>
          </a:xfrm>
          <a:prstGeom prst="rect">
            <a:avLst/>
          </a:prstGeom>
        </p:spPr>
        <p:txBody>
          <a:bodyPr anchor="t" rtlCol="false" tIns="0" lIns="0" bIns="0" rIns="0">
            <a:spAutoFit/>
          </a:bodyPr>
          <a:lstStyle/>
          <a:p>
            <a:pPr algn="l" marL="0" indent="0" lvl="0">
              <a:lnSpc>
                <a:spcPts val="1302"/>
              </a:lnSpc>
              <a:spcBef>
                <a:spcPct val="0"/>
              </a:spcBef>
            </a:pPr>
            <a:r>
              <a:rPr lang="en-US" sz="930" strike="noStrike" u="none">
                <a:solidFill>
                  <a:srgbClr val="1565C0"/>
                </a:solidFill>
                <a:latin typeface="프리텐다드"/>
                <a:ea typeface="프리텐다드"/>
                <a:cs typeface="프리텐다드"/>
                <a:sym typeface="프리텐다드"/>
              </a:rPr>
              <a:t>0.65***</a:t>
            </a:r>
          </a:p>
        </p:txBody>
      </p:sp>
      <p:sp>
        <p:nvSpPr>
          <p:cNvPr name="TextBox 75" id="75"/>
          <p:cNvSpPr txBox="true"/>
          <p:nvPr/>
        </p:nvSpPr>
        <p:spPr>
          <a:xfrm rot="0">
            <a:off x="7741528" y="1901571"/>
            <a:ext cx="9517772" cy="2479929"/>
          </a:xfrm>
          <a:prstGeom prst="rect">
            <a:avLst/>
          </a:prstGeom>
        </p:spPr>
        <p:txBody>
          <a:bodyPr anchor="t" rtlCol="false" tIns="0" lIns="0" bIns="0" rIns="0">
            <a:spAutoFit/>
          </a:bodyPr>
          <a:lstStyle/>
          <a:p>
            <a:pPr algn="l">
              <a:lnSpc>
                <a:spcPts val="1518"/>
              </a:lnSpc>
            </a:pPr>
            <a:r>
              <a:rPr lang="en-US" sz="1100">
                <a:solidFill>
                  <a:srgbClr val="475569"/>
                </a:solidFill>
                <a:latin typeface="프리텐다드"/>
                <a:ea typeface="프리텐다드"/>
                <a:cs typeface="프리텐다드"/>
                <a:sym typeface="프리텐다드"/>
              </a:rPr>
              <a:t>분석 결과, </a:t>
            </a:r>
            <a:r>
              <a:rPr lang="en-US" b="true" sz="1100">
                <a:solidFill>
                  <a:srgbClr val="475569"/>
                </a:solidFill>
                <a:latin typeface="프리텐다드 Bold"/>
                <a:ea typeface="프리텐다드 Bold"/>
                <a:cs typeface="프리텐다드 Bold"/>
                <a:sym typeface="프리텐다드 Bold"/>
              </a:rPr>
              <a:t>초등학교 교사</a:t>
            </a:r>
            <a:r>
              <a:rPr lang="en-US" sz="1100">
                <a:solidFill>
                  <a:srgbClr val="475569"/>
                </a:solidFill>
                <a:latin typeface="프리텐다드"/>
                <a:ea typeface="프리텐다드"/>
                <a:cs typeface="프리텐다드"/>
                <a:sym typeface="프리텐다드"/>
              </a:rPr>
              <a:t>는 고등학교 교사에 비해 </a:t>
            </a:r>
            <a:r>
              <a:rPr lang="en-US" b="true" sz="1100">
                <a:solidFill>
                  <a:srgbClr val="475569"/>
                </a:solidFill>
                <a:latin typeface="프리텐다드 Bold"/>
                <a:ea typeface="프리텐다드 Bold"/>
                <a:cs typeface="프리텐다드 Bold"/>
                <a:sym typeface="프리텐다드 Bold"/>
              </a:rPr>
              <a:t>보호자 침해를 경험할 가능성이 약 1.72배</a:t>
            </a:r>
            <a:r>
              <a:rPr lang="en-US" sz="1100">
                <a:solidFill>
                  <a:srgbClr val="475569"/>
                </a:solidFill>
                <a:latin typeface="프리텐다드"/>
                <a:ea typeface="프리텐다드"/>
                <a:cs typeface="프리텐다드"/>
                <a:sym typeface="프리텐다드"/>
              </a:rPr>
              <a:t>, </a:t>
            </a:r>
            <a:r>
              <a:rPr lang="en-US" b="true" sz="1100">
                <a:solidFill>
                  <a:srgbClr val="475569"/>
                </a:solidFill>
                <a:latin typeface="프리텐다드 Bold"/>
                <a:ea typeface="프리텐다드 Bold"/>
                <a:cs typeface="프리텐다드 Bold"/>
                <a:sym typeface="프리텐다드 Bold"/>
              </a:rPr>
              <a:t>학생 침해를 경험할 가능성은 약 2.06배 </a:t>
            </a:r>
            <a:r>
              <a:rPr lang="en-US" sz="1100">
                <a:solidFill>
                  <a:srgbClr val="475569"/>
                </a:solidFill>
                <a:latin typeface="프리텐다드"/>
                <a:ea typeface="프리텐다드"/>
                <a:cs typeface="프리텐다드"/>
                <a:sym typeface="프리텐다드"/>
              </a:rPr>
              <a:t>높게 나타났다. 이는 모든 구조 변수 가운데 가장 큰 영향력을 보인 결과로, 초등학교가 교권침해에 가장 취약한 학교급임을 의미한다.</a:t>
            </a:r>
          </a:p>
          <a:p>
            <a:pPr algn="l">
              <a:lnSpc>
                <a:spcPts val="1518"/>
              </a:lnSpc>
            </a:pPr>
          </a:p>
          <a:p>
            <a:pPr algn="l">
              <a:lnSpc>
                <a:spcPts val="1518"/>
              </a:lnSpc>
            </a:pPr>
            <a:r>
              <a:rPr lang="en-US" sz="1100">
                <a:solidFill>
                  <a:srgbClr val="475569"/>
                </a:solidFill>
                <a:latin typeface="프리텐다드"/>
                <a:ea typeface="프리텐다드"/>
                <a:cs typeface="프리텐다드"/>
                <a:sym typeface="프리텐다드"/>
              </a:rPr>
              <a:t>또한, </a:t>
            </a:r>
            <a:r>
              <a:rPr lang="en-US" b="true" sz="1100">
                <a:solidFill>
                  <a:srgbClr val="475569"/>
                </a:solidFill>
                <a:latin typeface="프리텐다드 Bold"/>
                <a:ea typeface="프리텐다드 Bold"/>
                <a:cs typeface="프리텐다드 Bold"/>
                <a:sym typeface="프리텐다드 Bold"/>
              </a:rPr>
              <a:t>학교 규모</a:t>
            </a:r>
            <a:r>
              <a:rPr lang="en-US" sz="1100">
                <a:solidFill>
                  <a:srgbClr val="475569"/>
                </a:solidFill>
                <a:latin typeface="프리텐다드"/>
                <a:ea typeface="프리텐다드"/>
                <a:cs typeface="프리텐다드"/>
                <a:sym typeface="프리텐다드"/>
              </a:rPr>
              <a:t>가 한 단계 증가할 때마다 </a:t>
            </a:r>
            <a:r>
              <a:rPr lang="en-US" b="true" sz="1100">
                <a:solidFill>
                  <a:srgbClr val="475569"/>
                </a:solidFill>
                <a:latin typeface="프리텐다드 Bold"/>
                <a:ea typeface="프리텐다드 Bold"/>
                <a:cs typeface="프리텐다드 Bold"/>
                <a:sym typeface="프리텐다드 Bold"/>
              </a:rPr>
              <a:t>학생에 의한 교권침해 위험은 약 26% 증가</a:t>
            </a:r>
            <a:r>
              <a:rPr lang="en-US" sz="1100">
                <a:solidFill>
                  <a:srgbClr val="475569"/>
                </a:solidFill>
                <a:latin typeface="프리텐다드"/>
                <a:ea typeface="프리텐다드"/>
                <a:cs typeface="프리텐다드"/>
                <a:sym typeface="프리텐다드"/>
              </a:rPr>
              <a:t>하는 것으로 나타났다. 이는 학생 수가 많아질수록 학생 간 접촉 빈도와 갈등 상황이 증가하고, 학부모와 상호작용 또한 확대되면서 교권침해에 노출될 가능성이 높아지는 구조적 특성을 반영하는 것으로 해석된다.</a:t>
            </a:r>
          </a:p>
          <a:p>
            <a:pPr algn="l">
              <a:lnSpc>
                <a:spcPts val="1518"/>
              </a:lnSpc>
            </a:pPr>
          </a:p>
          <a:p>
            <a:pPr algn="l">
              <a:lnSpc>
                <a:spcPts val="1518"/>
              </a:lnSpc>
            </a:pPr>
            <a:r>
              <a:rPr lang="en-US" sz="1100">
                <a:solidFill>
                  <a:srgbClr val="475569"/>
                </a:solidFill>
                <a:latin typeface="프리텐다드"/>
                <a:ea typeface="프리텐다드"/>
                <a:cs typeface="프리텐다드"/>
                <a:sym typeface="프리텐다드"/>
              </a:rPr>
              <a:t>한편 </a:t>
            </a:r>
            <a:r>
              <a:rPr lang="en-US" b="true" sz="1100">
                <a:solidFill>
                  <a:srgbClr val="475569"/>
                </a:solidFill>
                <a:latin typeface="프리텐다드 Bold"/>
                <a:ea typeface="프리텐다드 Bold"/>
                <a:cs typeface="프리텐다드 Bold"/>
                <a:sym typeface="프리텐다드 Bold"/>
              </a:rPr>
              <a:t>기간제 교원</a:t>
            </a:r>
            <a:r>
              <a:rPr lang="en-US" sz="1100">
                <a:solidFill>
                  <a:srgbClr val="475569"/>
                </a:solidFill>
                <a:latin typeface="프리텐다드"/>
                <a:ea typeface="프리텐다드"/>
                <a:cs typeface="프리텐다드"/>
                <a:sym typeface="프리텐다드"/>
              </a:rPr>
              <a:t>은 정규교원보다 </a:t>
            </a:r>
            <a:r>
              <a:rPr lang="en-US" b="true" sz="1100">
                <a:solidFill>
                  <a:srgbClr val="475569"/>
                </a:solidFill>
                <a:latin typeface="프리텐다드 Bold"/>
                <a:ea typeface="프리텐다드 Bold"/>
                <a:cs typeface="프리텐다드 Bold"/>
                <a:sym typeface="프리텐다드 Bold"/>
              </a:rPr>
              <a:t>보호자 침해와 학생 침해 경험이 모두 낮게</a:t>
            </a:r>
            <a:r>
              <a:rPr lang="en-US" sz="1100">
                <a:solidFill>
                  <a:srgbClr val="475569"/>
                </a:solidFill>
                <a:latin typeface="프리텐다드"/>
                <a:ea typeface="프리텐다드"/>
                <a:cs typeface="프리텐다드"/>
                <a:sym typeface="프리텐다드"/>
              </a:rPr>
              <a:t> 나타났다. 이는 기간제 교원이 상대적으로 담임이나 생활지도와 같은 민원 발생 가능성이 높은 업무를 맡는 비율이 낮고, 근무 기간 역시 짧아 교권침해에 장기간 노출될 가능성이 상대적으로 적기 때문으로 해석된다.</a:t>
            </a:r>
          </a:p>
          <a:p>
            <a:pPr algn="l">
              <a:lnSpc>
                <a:spcPts val="1518"/>
              </a:lnSpc>
            </a:pPr>
          </a:p>
          <a:p>
            <a:pPr algn="l">
              <a:lnSpc>
                <a:spcPts val="1518"/>
              </a:lnSpc>
            </a:pPr>
            <a:r>
              <a:rPr lang="en-US" sz="1100">
                <a:solidFill>
                  <a:srgbClr val="475569"/>
                </a:solidFill>
                <a:latin typeface="프리텐다드"/>
                <a:ea typeface="프리텐다드"/>
                <a:cs typeface="프리텐다드"/>
                <a:sym typeface="프리텐다드"/>
              </a:rPr>
              <a:t>성별에서는 </a:t>
            </a:r>
            <a:r>
              <a:rPr lang="en-US" b="true" sz="1100">
                <a:solidFill>
                  <a:srgbClr val="475569"/>
                </a:solidFill>
                <a:latin typeface="프리텐다드 Bold"/>
                <a:ea typeface="프리텐다드 Bold"/>
                <a:cs typeface="프리텐다드 Bold"/>
                <a:sym typeface="프리텐다드 Bold"/>
              </a:rPr>
              <a:t>여성 교사</a:t>
            </a:r>
            <a:r>
              <a:rPr lang="en-US" sz="1100">
                <a:solidFill>
                  <a:srgbClr val="475569"/>
                </a:solidFill>
                <a:latin typeface="프리텐다드"/>
                <a:ea typeface="프리텐다드"/>
                <a:cs typeface="프리텐다드"/>
                <a:sym typeface="프리텐다드"/>
              </a:rPr>
              <a:t>가 남성 교사보다 교권침해를 경험할 가능성이 높게 나타났다. 이는 초등학교 여성 교사의 비중이 높고, 보호자와의 상담 및 생활지도 역할을 담당하는 경우가 많다는 교육 현장의 구조적 특성이 반영된 결과로 볼 수 있다.</a:t>
            </a:r>
          </a:p>
          <a:p>
            <a:pPr algn="l">
              <a:lnSpc>
                <a:spcPts val="1518"/>
              </a:lnSpc>
            </a:pPr>
          </a:p>
          <a:p>
            <a:pPr algn="l">
              <a:lnSpc>
                <a:spcPts val="1518"/>
              </a:lnSpc>
            </a:pPr>
            <a:r>
              <a:rPr lang="en-US" sz="1100">
                <a:solidFill>
                  <a:srgbClr val="475569"/>
                </a:solidFill>
                <a:latin typeface="프리텐다드"/>
                <a:ea typeface="프리텐다드"/>
                <a:cs typeface="프리텐다드"/>
                <a:sym typeface="프리텐다드"/>
              </a:rPr>
              <a:t>종합하면, 교권침해는 교사의 개인 역량보다는 </a:t>
            </a:r>
            <a:r>
              <a:rPr lang="en-US" b="true" sz="1100">
                <a:solidFill>
                  <a:srgbClr val="475569"/>
                </a:solidFill>
                <a:latin typeface="프리텐다드 Bold"/>
                <a:ea typeface="프리텐다드 Bold"/>
                <a:cs typeface="프리텐다드 Bold"/>
                <a:sym typeface="프리텐다드 Bold"/>
              </a:rPr>
              <a:t>학교급, 학교 규모, 고용 형태, 성별</a:t>
            </a:r>
            <a:r>
              <a:rPr lang="en-US" sz="1100">
                <a:solidFill>
                  <a:srgbClr val="475569"/>
                </a:solidFill>
                <a:latin typeface="프리텐다드"/>
                <a:ea typeface="프리텐다드"/>
                <a:cs typeface="프리텐다드"/>
                <a:sym typeface="프리텐다드"/>
              </a:rPr>
              <a:t>과 같은 </a:t>
            </a:r>
            <a:r>
              <a:rPr lang="en-US" b="true" sz="1100">
                <a:solidFill>
                  <a:srgbClr val="475569"/>
                </a:solidFill>
                <a:latin typeface="프리텐다드 Bold"/>
                <a:ea typeface="프리텐다드 Bold"/>
                <a:cs typeface="프리텐다드 Bold"/>
                <a:sym typeface="프리텐다드 Bold"/>
              </a:rPr>
              <a:t>구조적 특성</a:t>
            </a:r>
            <a:r>
              <a:rPr lang="en-US" sz="1100">
                <a:solidFill>
                  <a:srgbClr val="475569"/>
                </a:solidFill>
                <a:latin typeface="프리텐다드"/>
                <a:ea typeface="프리텐다드"/>
                <a:cs typeface="프리텐다드"/>
                <a:sym typeface="프리텐다드"/>
              </a:rPr>
              <a:t>에 의해 영향을 받는 현상임을 확인할 수 있었다.</a:t>
            </a:r>
          </a:p>
        </p:txBody>
      </p:sp>
      <p:grpSp>
        <p:nvGrpSpPr>
          <p:cNvPr name="Group 76" id="76"/>
          <p:cNvGrpSpPr/>
          <p:nvPr/>
        </p:nvGrpSpPr>
        <p:grpSpPr>
          <a:xfrm rot="0">
            <a:off x="2544790" y="7261701"/>
            <a:ext cx="102752" cy="118185"/>
            <a:chOff x="0" y="0"/>
            <a:chExt cx="132499" cy="152400"/>
          </a:xfrm>
        </p:grpSpPr>
        <p:sp>
          <p:nvSpPr>
            <p:cNvPr name="Freeform 77" id="77"/>
            <p:cNvSpPr/>
            <p:nvPr/>
          </p:nvSpPr>
          <p:spPr>
            <a:xfrm flipH="false" flipV="false" rot="0">
              <a:off x="0" y="0"/>
              <a:ext cx="132499" cy="152400"/>
            </a:xfrm>
            <a:custGeom>
              <a:avLst/>
              <a:gdLst/>
              <a:ahLst/>
              <a:cxnLst/>
              <a:rect r="r" b="b" t="t" l="l"/>
              <a:pathLst>
                <a:path h="152400" w="132499">
                  <a:moveTo>
                    <a:pt x="0" y="0"/>
                  </a:moveTo>
                  <a:lnTo>
                    <a:pt x="132499" y="0"/>
                  </a:lnTo>
                  <a:lnTo>
                    <a:pt x="132499" y="152400"/>
                  </a:lnTo>
                  <a:lnTo>
                    <a:pt x="0" y="152400"/>
                  </a:lnTo>
                  <a:close/>
                </a:path>
              </a:pathLst>
            </a:custGeom>
            <a:solidFill>
              <a:srgbClr val="C0392B"/>
            </a:solidFill>
          </p:spPr>
        </p:sp>
        <p:sp>
          <p:nvSpPr>
            <p:cNvPr name="TextBox 78" id="78"/>
            <p:cNvSpPr txBox="true"/>
            <p:nvPr/>
          </p:nvSpPr>
          <p:spPr>
            <a:xfrm>
              <a:off x="0" y="-28575"/>
              <a:ext cx="132499" cy="180975"/>
            </a:xfrm>
            <a:prstGeom prst="rect">
              <a:avLst/>
            </a:prstGeom>
          </p:spPr>
          <p:txBody>
            <a:bodyPr anchor="ctr" rtlCol="false" tIns="50800" lIns="50800" bIns="50800" rIns="50800"/>
            <a:lstStyle/>
            <a:p>
              <a:pPr algn="l">
                <a:lnSpc>
                  <a:spcPts val="1679"/>
                </a:lnSpc>
              </a:pPr>
            </a:p>
          </p:txBody>
        </p:sp>
      </p:grpSp>
      <p:sp>
        <p:nvSpPr>
          <p:cNvPr name="TextBox 79" id="79"/>
          <p:cNvSpPr txBox="true"/>
          <p:nvPr/>
        </p:nvSpPr>
        <p:spPr>
          <a:xfrm rot="0">
            <a:off x="2681793" y="7233126"/>
            <a:ext cx="856268" cy="179589"/>
          </a:xfrm>
          <a:prstGeom prst="rect">
            <a:avLst/>
          </a:prstGeom>
        </p:spPr>
        <p:txBody>
          <a:bodyPr anchor="t" rtlCol="false" tIns="0" lIns="0" bIns="0" rIns="0">
            <a:spAutoFit/>
          </a:bodyPr>
          <a:lstStyle/>
          <a:p>
            <a:pPr algn="l" marL="0" indent="0" lvl="0">
              <a:lnSpc>
                <a:spcPts val="1447"/>
              </a:lnSpc>
              <a:spcBef>
                <a:spcPct val="0"/>
              </a:spcBef>
            </a:pPr>
            <a:r>
              <a:rPr lang="en-US" sz="1033" strike="noStrike" u="none">
                <a:solidFill>
                  <a:srgbClr val="1E293B"/>
                </a:solidFill>
                <a:latin typeface="프리텐다드"/>
                <a:ea typeface="프리텐다드"/>
                <a:cs typeface="프리텐다드"/>
                <a:sym typeface="프리텐다드"/>
              </a:rPr>
              <a:t>침해율 높음</a:t>
            </a:r>
          </a:p>
        </p:txBody>
      </p:sp>
      <p:grpSp>
        <p:nvGrpSpPr>
          <p:cNvPr name="Group 80" id="80"/>
          <p:cNvGrpSpPr/>
          <p:nvPr/>
        </p:nvGrpSpPr>
        <p:grpSpPr>
          <a:xfrm rot="0">
            <a:off x="3657939" y="7261701"/>
            <a:ext cx="102752" cy="118185"/>
            <a:chOff x="0" y="0"/>
            <a:chExt cx="132499" cy="152400"/>
          </a:xfrm>
        </p:grpSpPr>
        <p:sp>
          <p:nvSpPr>
            <p:cNvPr name="Freeform 81" id="81"/>
            <p:cNvSpPr/>
            <p:nvPr/>
          </p:nvSpPr>
          <p:spPr>
            <a:xfrm flipH="false" flipV="false" rot="0">
              <a:off x="0" y="0"/>
              <a:ext cx="132499" cy="152400"/>
            </a:xfrm>
            <a:custGeom>
              <a:avLst/>
              <a:gdLst/>
              <a:ahLst/>
              <a:cxnLst/>
              <a:rect r="r" b="b" t="t" l="l"/>
              <a:pathLst>
                <a:path h="152400" w="132499">
                  <a:moveTo>
                    <a:pt x="0" y="0"/>
                  </a:moveTo>
                  <a:lnTo>
                    <a:pt x="132499" y="0"/>
                  </a:lnTo>
                  <a:lnTo>
                    <a:pt x="132499" y="152400"/>
                  </a:lnTo>
                  <a:lnTo>
                    <a:pt x="0" y="152400"/>
                  </a:lnTo>
                  <a:close/>
                </a:path>
              </a:pathLst>
            </a:custGeom>
            <a:solidFill>
              <a:srgbClr val="1565C0"/>
            </a:solidFill>
          </p:spPr>
        </p:sp>
        <p:sp>
          <p:nvSpPr>
            <p:cNvPr name="TextBox 82" id="82"/>
            <p:cNvSpPr txBox="true"/>
            <p:nvPr/>
          </p:nvSpPr>
          <p:spPr>
            <a:xfrm>
              <a:off x="0" y="-28575"/>
              <a:ext cx="132499" cy="180975"/>
            </a:xfrm>
            <a:prstGeom prst="rect">
              <a:avLst/>
            </a:prstGeom>
          </p:spPr>
          <p:txBody>
            <a:bodyPr anchor="ctr" rtlCol="false" tIns="50800" lIns="50800" bIns="50800" rIns="50800"/>
            <a:lstStyle/>
            <a:p>
              <a:pPr algn="l">
                <a:lnSpc>
                  <a:spcPts val="1679"/>
                </a:lnSpc>
              </a:pPr>
            </a:p>
          </p:txBody>
        </p:sp>
      </p:grpSp>
      <p:sp>
        <p:nvSpPr>
          <p:cNvPr name="TextBox 83" id="83"/>
          <p:cNvSpPr txBox="true"/>
          <p:nvPr/>
        </p:nvSpPr>
        <p:spPr>
          <a:xfrm rot="0">
            <a:off x="3794942" y="7233126"/>
            <a:ext cx="1027522" cy="179589"/>
          </a:xfrm>
          <a:prstGeom prst="rect">
            <a:avLst/>
          </a:prstGeom>
        </p:spPr>
        <p:txBody>
          <a:bodyPr anchor="t" rtlCol="false" tIns="0" lIns="0" bIns="0" rIns="0">
            <a:spAutoFit/>
          </a:bodyPr>
          <a:lstStyle/>
          <a:p>
            <a:pPr algn="l" marL="0" indent="0" lvl="0">
              <a:lnSpc>
                <a:spcPts val="1447"/>
              </a:lnSpc>
              <a:spcBef>
                <a:spcPct val="0"/>
              </a:spcBef>
            </a:pPr>
            <a:r>
              <a:rPr lang="en-US" sz="1033" strike="noStrike" u="none">
                <a:solidFill>
                  <a:srgbClr val="1E293B"/>
                </a:solidFill>
                <a:latin typeface="프리텐다드"/>
                <a:ea typeface="프리텐다드"/>
                <a:cs typeface="프리텐다드"/>
                <a:sym typeface="프리텐다드"/>
              </a:rPr>
              <a:t>결과 발현율 높음</a:t>
            </a:r>
          </a:p>
        </p:txBody>
      </p:sp>
      <p:sp>
        <p:nvSpPr>
          <p:cNvPr name="TextBox 84" id="84"/>
          <p:cNvSpPr txBox="true"/>
          <p:nvPr/>
        </p:nvSpPr>
        <p:spPr>
          <a:xfrm rot="0">
            <a:off x="1657192" y="4640626"/>
            <a:ext cx="3271486" cy="204738"/>
          </a:xfrm>
          <a:prstGeom prst="rect">
            <a:avLst/>
          </a:prstGeom>
        </p:spPr>
        <p:txBody>
          <a:bodyPr anchor="t" rtlCol="false" tIns="0" lIns="0" bIns="0" rIns="0">
            <a:spAutoFit/>
          </a:bodyPr>
          <a:lstStyle/>
          <a:p>
            <a:pPr algn="ctr" marL="0" indent="0" lvl="0">
              <a:lnSpc>
                <a:spcPts val="1689"/>
              </a:lnSpc>
              <a:spcBef>
                <a:spcPct val="0"/>
              </a:spcBef>
            </a:pPr>
            <a:r>
              <a:rPr lang="en-US" sz="1207" strike="noStrike" u="none">
                <a:solidFill>
                  <a:srgbClr val="1E293B"/>
                </a:solidFill>
                <a:latin typeface="프리텐다드"/>
                <a:ea typeface="프리텐다드"/>
                <a:cs typeface="프리텐다드"/>
                <a:sym typeface="프리텐다드"/>
              </a:rPr>
              <a:t>【 침해 유형 】</a:t>
            </a:r>
          </a:p>
        </p:txBody>
      </p:sp>
      <p:sp>
        <p:nvSpPr>
          <p:cNvPr name="TextBox 85" id="85"/>
          <p:cNvSpPr txBox="true"/>
          <p:nvPr/>
        </p:nvSpPr>
        <p:spPr>
          <a:xfrm rot="0">
            <a:off x="4928678" y="4640626"/>
            <a:ext cx="2180991" cy="204738"/>
          </a:xfrm>
          <a:prstGeom prst="rect">
            <a:avLst/>
          </a:prstGeom>
        </p:spPr>
        <p:txBody>
          <a:bodyPr anchor="t" rtlCol="false" tIns="0" lIns="0" bIns="0" rIns="0">
            <a:spAutoFit/>
          </a:bodyPr>
          <a:lstStyle/>
          <a:p>
            <a:pPr algn="ctr" marL="0" indent="0" lvl="0">
              <a:lnSpc>
                <a:spcPts val="1689"/>
              </a:lnSpc>
              <a:spcBef>
                <a:spcPct val="0"/>
              </a:spcBef>
            </a:pPr>
            <a:r>
              <a:rPr lang="en-US" sz="1207" strike="noStrike" u="none">
                <a:solidFill>
                  <a:srgbClr val="1E293B"/>
                </a:solidFill>
                <a:latin typeface="프리텐다드"/>
                <a:ea typeface="프리텐다드"/>
                <a:cs typeface="프리텐다드"/>
                <a:sym typeface="프리텐다드"/>
              </a:rPr>
              <a:t>【 결과 】</a:t>
            </a:r>
          </a:p>
        </p:txBody>
      </p:sp>
      <p:sp>
        <p:nvSpPr>
          <p:cNvPr name="TextBox 86" id="86"/>
          <p:cNvSpPr txBox="true"/>
          <p:nvPr/>
        </p:nvSpPr>
        <p:spPr>
          <a:xfrm rot="0">
            <a:off x="1657192" y="4849069"/>
            <a:ext cx="1090495" cy="187828"/>
          </a:xfrm>
          <a:prstGeom prst="rect">
            <a:avLst/>
          </a:prstGeom>
        </p:spPr>
        <p:txBody>
          <a:bodyPr anchor="t" rtlCol="false" tIns="0" lIns="0" bIns="0" rIns="0">
            <a:spAutoFit/>
          </a:bodyPr>
          <a:lstStyle/>
          <a:p>
            <a:pPr algn="ctr" marL="0" indent="0" lvl="0">
              <a:lnSpc>
                <a:spcPts val="1536"/>
              </a:lnSpc>
              <a:spcBef>
                <a:spcPct val="0"/>
              </a:spcBef>
            </a:pPr>
            <a:r>
              <a:rPr lang="en-US" sz="1097" strike="noStrike" u="none">
                <a:solidFill>
                  <a:srgbClr val="1E293B"/>
                </a:solidFill>
                <a:latin typeface="프리텐다드"/>
                <a:ea typeface="프리텐다드"/>
                <a:cs typeface="프리텐다드"/>
                <a:sym typeface="프리텐다드"/>
              </a:rPr>
              <a:t>학생 침해</a:t>
            </a:r>
          </a:p>
        </p:txBody>
      </p:sp>
      <p:sp>
        <p:nvSpPr>
          <p:cNvPr name="TextBox 87" id="87"/>
          <p:cNvSpPr txBox="true"/>
          <p:nvPr/>
        </p:nvSpPr>
        <p:spPr>
          <a:xfrm rot="0">
            <a:off x="2747687" y="4849069"/>
            <a:ext cx="1090495" cy="187828"/>
          </a:xfrm>
          <a:prstGeom prst="rect">
            <a:avLst/>
          </a:prstGeom>
        </p:spPr>
        <p:txBody>
          <a:bodyPr anchor="t" rtlCol="false" tIns="0" lIns="0" bIns="0" rIns="0">
            <a:spAutoFit/>
          </a:bodyPr>
          <a:lstStyle/>
          <a:p>
            <a:pPr algn="ctr" marL="0" indent="0" lvl="0">
              <a:lnSpc>
                <a:spcPts val="1536"/>
              </a:lnSpc>
              <a:spcBef>
                <a:spcPct val="0"/>
              </a:spcBef>
            </a:pPr>
            <a:r>
              <a:rPr lang="en-US" sz="1097" strike="noStrike" u="none">
                <a:solidFill>
                  <a:srgbClr val="1E293B"/>
                </a:solidFill>
                <a:latin typeface="프리텐다드"/>
                <a:ea typeface="프리텐다드"/>
                <a:cs typeface="프리텐다드"/>
                <a:sym typeface="프리텐다드"/>
              </a:rPr>
              <a:t>보호자 침해</a:t>
            </a:r>
          </a:p>
        </p:txBody>
      </p:sp>
      <p:sp>
        <p:nvSpPr>
          <p:cNvPr name="TextBox 88" id="88"/>
          <p:cNvSpPr txBox="true"/>
          <p:nvPr/>
        </p:nvSpPr>
        <p:spPr>
          <a:xfrm rot="0">
            <a:off x="3838182" y="4849069"/>
            <a:ext cx="1090495" cy="187828"/>
          </a:xfrm>
          <a:prstGeom prst="rect">
            <a:avLst/>
          </a:prstGeom>
        </p:spPr>
        <p:txBody>
          <a:bodyPr anchor="t" rtlCol="false" tIns="0" lIns="0" bIns="0" rIns="0">
            <a:spAutoFit/>
          </a:bodyPr>
          <a:lstStyle/>
          <a:p>
            <a:pPr algn="ctr" marL="0" indent="0" lvl="0">
              <a:lnSpc>
                <a:spcPts val="1536"/>
              </a:lnSpc>
              <a:spcBef>
                <a:spcPct val="0"/>
              </a:spcBef>
            </a:pPr>
            <a:r>
              <a:rPr lang="en-US" sz="1097" strike="noStrike" u="none">
                <a:solidFill>
                  <a:srgbClr val="1E293B"/>
                </a:solidFill>
                <a:latin typeface="프리텐다드"/>
                <a:ea typeface="프리텐다드"/>
                <a:cs typeface="프리텐다드"/>
                <a:sym typeface="프리텐다드"/>
              </a:rPr>
              <a:t>관리자 침해</a:t>
            </a:r>
          </a:p>
        </p:txBody>
      </p:sp>
      <p:sp>
        <p:nvSpPr>
          <p:cNvPr name="TextBox 89" id="89"/>
          <p:cNvSpPr txBox="true"/>
          <p:nvPr/>
        </p:nvSpPr>
        <p:spPr>
          <a:xfrm rot="0">
            <a:off x="4928678" y="4849069"/>
            <a:ext cx="1090495" cy="187828"/>
          </a:xfrm>
          <a:prstGeom prst="rect">
            <a:avLst/>
          </a:prstGeom>
        </p:spPr>
        <p:txBody>
          <a:bodyPr anchor="t" rtlCol="false" tIns="0" lIns="0" bIns="0" rIns="0">
            <a:spAutoFit/>
          </a:bodyPr>
          <a:lstStyle/>
          <a:p>
            <a:pPr algn="ctr" marL="0" indent="0" lvl="0">
              <a:lnSpc>
                <a:spcPts val="1536"/>
              </a:lnSpc>
              <a:spcBef>
                <a:spcPct val="0"/>
              </a:spcBef>
            </a:pPr>
            <a:r>
              <a:rPr lang="en-US" sz="1097" strike="noStrike" u="none">
                <a:solidFill>
                  <a:srgbClr val="1E293B"/>
                </a:solidFill>
                <a:latin typeface="프리텐다드"/>
                <a:ea typeface="프리텐다드"/>
                <a:cs typeface="프리텐다드"/>
                <a:sym typeface="프리텐다드"/>
              </a:rPr>
              <a:t>이직 고려</a:t>
            </a:r>
          </a:p>
        </p:txBody>
      </p:sp>
      <p:sp>
        <p:nvSpPr>
          <p:cNvPr name="TextBox 90" id="90"/>
          <p:cNvSpPr txBox="true"/>
          <p:nvPr/>
        </p:nvSpPr>
        <p:spPr>
          <a:xfrm rot="0">
            <a:off x="6019173" y="4849069"/>
            <a:ext cx="1090495" cy="187828"/>
          </a:xfrm>
          <a:prstGeom prst="rect">
            <a:avLst/>
          </a:prstGeom>
        </p:spPr>
        <p:txBody>
          <a:bodyPr anchor="t" rtlCol="false" tIns="0" lIns="0" bIns="0" rIns="0">
            <a:spAutoFit/>
          </a:bodyPr>
          <a:lstStyle/>
          <a:p>
            <a:pPr algn="ctr" marL="0" indent="0" lvl="0">
              <a:lnSpc>
                <a:spcPts val="1536"/>
              </a:lnSpc>
              <a:spcBef>
                <a:spcPct val="0"/>
              </a:spcBef>
            </a:pPr>
            <a:r>
              <a:rPr lang="en-US" sz="1097" strike="noStrike" u="none">
                <a:solidFill>
                  <a:srgbClr val="1E293B"/>
                </a:solidFill>
                <a:latin typeface="프리텐다드"/>
                <a:ea typeface="프리텐다드"/>
                <a:cs typeface="프리텐다드"/>
                <a:sym typeface="프리텐다드"/>
              </a:rPr>
              <a:t>자살 사고</a:t>
            </a:r>
          </a:p>
        </p:txBody>
      </p:sp>
      <p:sp>
        <p:nvSpPr>
          <p:cNvPr name="AutoShape 91" id="91"/>
          <p:cNvSpPr/>
          <p:nvPr/>
        </p:nvSpPr>
        <p:spPr>
          <a:xfrm>
            <a:off x="4928678" y="4877136"/>
            <a:ext cx="0" cy="2404039"/>
          </a:xfrm>
          <a:prstGeom prst="line">
            <a:avLst/>
          </a:prstGeom>
          <a:ln cap="flat" w="19050">
            <a:solidFill>
              <a:srgbClr val="94A3B8"/>
            </a:solidFill>
            <a:prstDash val="solid"/>
            <a:headEnd type="none" len="sm" w="sm"/>
            <a:tailEnd type="none" len="sm" w="sm"/>
          </a:ln>
        </p:spPr>
      </p:sp>
      <p:sp>
        <p:nvSpPr>
          <p:cNvPr name="TextBox 92" id="92"/>
          <p:cNvSpPr txBox="true"/>
          <p:nvPr/>
        </p:nvSpPr>
        <p:spPr>
          <a:xfrm rot="0">
            <a:off x="930195" y="5382742"/>
            <a:ext cx="726997" cy="204738"/>
          </a:xfrm>
          <a:prstGeom prst="rect">
            <a:avLst/>
          </a:prstGeom>
        </p:spPr>
        <p:txBody>
          <a:bodyPr anchor="t" rtlCol="false" tIns="0" lIns="0" bIns="0" rIns="0">
            <a:spAutoFit/>
          </a:bodyPr>
          <a:lstStyle/>
          <a:p>
            <a:pPr algn="l" marL="0" indent="0" lvl="0">
              <a:lnSpc>
                <a:spcPts val="1689"/>
              </a:lnSpc>
              <a:spcBef>
                <a:spcPct val="0"/>
              </a:spcBef>
            </a:pPr>
            <a:r>
              <a:rPr lang="en-US" sz="1207" strike="noStrike" u="none">
                <a:solidFill>
                  <a:srgbClr val="1E293B"/>
                </a:solidFill>
                <a:latin typeface="프리텐다드"/>
                <a:ea typeface="프리텐다드"/>
                <a:cs typeface="프리텐다드"/>
                <a:sym typeface="프리텐다드"/>
              </a:rPr>
              <a:t>초등학교</a:t>
            </a:r>
          </a:p>
        </p:txBody>
      </p:sp>
      <p:grpSp>
        <p:nvGrpSpPr>
          <p:cNvPr name="Group 93" id="93"/>
          <p:cNvGrpSpPr/>
          <p:nvPr/>
        </p:nvGrpSpPr>
        <p:grpSpPr>
          <a:xfrm rot="0">
            <a:off x="1666279" y="5201159"/>
            <a:ext cx="1072320" cy="606236"/>
            <a:chOff x="0" y="0"/>
            <a:chExt cx="1302911" cy="736600"/>
          </a:xfrm>
        </p:grpSpPr>
        <p:sp>
          <p:nvSpPr>
            <p:cNvPr name="Freeform 94" id="94"/>
            <p:cNvSpPr/>
            <p:nvPr/>
          </p:nvSpPr>
          <p:spPr>
            <a:xfrm flipH="false" flipV="false" rot="0">
              <a:off x="0" y="0"/>
              <a:ext cx="1302911" cy="736600"/>
            </a:xfrm>
            <a:custGeom>
              <a:avLst/>
              <a:gdLst/>
              <a:ahLst/>
              <a:cxnLst/>
              <a:rect r="r" b="b" t="t" l="l"/>
              <a:pathLst>
                <a:path h="736600" w="1302911">
                  <a:moveTo>
                    <a:pt x="0" y="0"/>
                  </a:moveTo>
                  <a:lnTo>
                    <a:pt x="1302911" y="0"/>
                  </a:lnTo>
                  <a:lnTo>
                    <a:pt x="1302911" y="736600"/>
                  </a:lnTo>
                  <a:lnTo>
                    <a:pt x="0" y="736600"/>
                  </a:lnTo>
                  <a:close/>
                </a:path>
              </a:pathLst>
            </a:custGeom>
            <a:solidFill>
              <a:srgbClr val="C0392B"/>
            </a:solidFill>
            <a:ln w="9525" cap="sq">
              <a:solidFill>
                <a:srgbClr val="E2E8F0"/>
              </a:solidFill>
              <a:prstDash val="solid"/>
              <a:miter/>
            </a:ln>
          </p:spPr>
        </p:sp>
        <p:sp>
          <p:nvSpPr>
            <p:cNvPr name="TextBox 95" id="95"/>
            <p:cNvSpPr txBox="true"/>
            <p:nvPr/>
          </p:nvSpPr>
          <p:spPr>
            <a:xfrm>
              <a:off x="0" y="-28575"/>
              <a:ext cx="1302911" cy="765175"/>
            </a:xfrm>
            <a:prstGeom prst="rect">
              <a:avLst/>
            </a:prstGeom>
          </p:spPr>
          <p:txBody>
            <a:bodyPr anchor="ctr" rtlCol="false" tIns="50800" lIns="50800" bIns="50800" rIns="50800"/>
            <a:lstStyle/>
            <a:p>
              <a:pPr algn="l">
                <a:lnSpc>
                  <a:spcPts val="1679"/>
                </a:lnSpc>
              </a:pPr>
            </a:p>
          </p:txBody>
        </p:sp>
      </p:grpSp>
      <p:sp>
        <p:nvSpPr>
          <p:cNvPr name="TextBox 96" id="96"/>
          <p:cNvSpPr txBox="true"/>
          <p:nvPr/>
        </p:nvSpPr>
        <p:spPr>
          <a:xfrm rot="0">
            <a:off x="1675367" y="5343671"/>
            <a:ext cx="1054146" cy="264994"/>
          </a:xfrm>
          <a:prstGeom prst="rect">
            <a:avLst/>
          </a:prstGeom>
        </p:spPr>
        <p:txBody>
          <a:bodyPr anchor="t" rtlCol="false" tIns="0" lIns="0" bIns="0" rIns="0">
            <a:spAutoFit/>
          </a:bodyPr>
          <a:lstStyle/>
          <a:p>
            <a:pPr algn="ctr" marL="0" indent="0" lvl="0">
              <a:lnSpc>
                <a:spcPts val="2150"/>
              </a:lnSpc>
              <a:spcBef>
                <a:spcPct val="0"/>
              </a:spcBef>
            </a:pPr>
            <a:r>
              <a:rPr lang="en-US" b="true" sz="1536" strike="noStrike" u="none">
                <a:solidFill>
                  <a:srgbClr val="FFFFFF"/>
                </a:solidFill>
                <a:latin typeface="프리텐다드 Bold"/>
                <a:ea typeface="프리텐다드 Bold"/>
                <a:cs typeface="프리텐다드 Bold"/>
                <a:sym typeface="프리텐다드 Bold"/>
              </a:rPr>
              <a:t>83.0%</a:t>
            </a:r>
          </a:p>
        </p:txBody>
      </p:sp>
      <p:grpSp>
        <p:nvGrpSpPr>
          <p:cNvPr name="Group 97" id="97"/>
          <p:cNvGrpSpPr/>
          <p:nvPr/>
        </p:nvGrpSpPr>
        <p:grpSpPr>
          <a:xfrm rot="0">
            <a:off x="2756775" y="5201159"/>
            <a:ext cx="1072320" cy="606236"/>
            <a:chOff x="0" y="0"/>
            <a:chExt cx="1302911" cy="736600"/>
          </a:xfrm>
        </p:grpSpPr>
        <p:sp>
          <p:nvSpPr>
            <p:cNvPr name="Freeform 98" id="98"/>
            <p:cNvSpPr/>
            <p:nvPr/>
          </p:nvSpPr>
          <p:spPr>
            <a:xfrm flipH="false" flipV="false" rot="0">
              <a:off x="0" y="0"/>
              <a:ext cx="1302911" cy="736600"/>
            </a:xfrm>
            <a:custGeom>
              <a:avLst/>
              <a:gdLst/>
              <a:ahLst/>
              <a:cxnLst/>
              <a:rect r="r" b="b" t="t" l="l"/>
              <a:pathLst>
                <a:path h="736600" w="1302911">
                  <a:moveTo>
                    <a:pt x="0" y="0"/>
                  </a:moveTo>
                  <a:lnTo>
                    <a:pt x="1302911" y="0"/>
                  </a:lnTo>
                  <a:lnTo>
                    <a:pt x="1302911" y="736600"/>
                  </a:lnTo>
                  <a:lnTo>
                    <a:pt x="0" y="736600"/>
                  </a:lnTo>
                  <a:close/>
                </a:path>
              </a:pathLst>
            </a:custGeom>
            <a:solidFill>
              <a:srgbClr val="C0392B"/>
            </a:solidFill>
            <a:ln w="9525" cap="sq">
              <a:solidFill>
                <a:srgbClr val="E2E8F0"/>
              </a:solidFill>
              <a:prstDash val="solid"/>
              <a:miter/>
            </a:ln>
          </p:spPr>
        </p:sp>
        <p:sp>
          <p:nvSpPr>
            <p:cNvPr name="TextBox 99" id="99"/>
            <p:cNvSpPr txBox="true"/>
            <p:nvPr/>
          </p:nvSpPr>
          <p:spPr>
            <a:xfrm>
              <a:off x="0" y="-28575"/>
              <a:ext cx="1302911" cy="765175"/>
            </a:xfrm>
            <a:prstGeom prst="rect">
              <a:avLst/>
            </a:prstGeom>
          </p:spPr>
          <p:txBody>
            <a:bodyPr anchor="ctr" rtlCol="false" tIns="50800" lIns="50800" bIns="50800" rIns="50800"/>
            <a:lstStyle/>
            <a:p>
              <a:pPr algn="l">
                <a:lnSpc>
                  <a:spcPts val="1679"/>
                </a:lnSpc>
              </a:pPr>
            </a:p>
          </p:txBody>
        </p:sp>
      </p:grpSp>
      <p:sp>
        <p:nvSpPr>
          <p:cNvPr name="TextBox 100" id="100"/>
          <p:cNvSpPr txBox="true"/>
          <p:nvPr/>
        </p:nvSpPr>
        <p:spPr>
          <a:xfrm rot="0">
            <a:off x="2765862" y="5343671"/>
            <a:ext cx="1054146" cy="264994"/>
          </a:xfrm>
          <a:prstGeom prst="rect">
            <a:avLst/>
          </a:prstGeom>
        </p:spPr>
        <p:txBody>
          <a:bodyPr anchor="t" rtlCol="false" tIns="0" lIns="0" bIns="0" rIns="0">
            <a:spAutoFit/>
          </a:bodyPr>
          <a:lstStyle/>
          <a:p>
            <a:pPr algn="ctr" marL="0" indent="0" lvl="0">
              <a:lnSpc>
                <a:spcPts val="2150"/>
              </a:lnSpc>
              <a:spcBef>
                <a:spcPct val="0"/>
              </a:spcBef>
            </a:pPr>
            <a:r>
              <a:rPr lang="en-US" b="true" sz="1536" strike="noStrike" u="none">
                <a:solidFill>
                  <a:srgbClr val="FFFFFF"/>
                </a:solidFill>
                <a:latin typeface="프리텐다드 Bold"/>
                <a:ea typeface="프리텐다드 Bold"/>
                <a:cs typeface="프리텐다드 Bold"/>
                <a:sym typeface="프리텐다드 Bold"/>
              </a:rPr>
              <a:t>64.1%</a:t>
            </a:r>
          </a:p>
        </p:txBody>
      </p:sp>
      <p:grpSp>
        <p:nvGrpSpPr>
          <p:cNvPr name="Group 101" id="101"/>
          <p:cNvGrpSpPr/>
          <p:nvPr/>
        </p:nvGrpSpPr>
        <p:grpSpPr>
          <a:xfrm rot="0">
            <a:off x="3847270" y="5201159"/>
            <a:ext cx="1072320" cy="606236"/>
            <a:chOff x="0" y="0"/>
            <a:chExt cx="1302911" cy="736600"/>
          </a:xfrm>
        </p:grpSpPr>
        <p:sp>
          <p:nvSpPr>
            <p:cNvPr name="Freeform 102" id="102"/>
            <p:cNvSpPr/>
            <p:nvPr/>
          </p:nvSpPr>
          <p:spPr>
            <a:xfrm flipH="false" flipV="false" rot="0">
              <a:off x="0" y="0"/>
              <a:ext cx="1302911" cy="736600"/>
            </a:xfrm>
            <a:custGeom>
              <a:avLst/>
              <a:gdLst/>
              <a:ahLst/>
              <a:cxnLst/>
              <a:rect r="r" b="b" t="t" l="l"/>
              <a:pathLst>
                <a:path h="736600" w="1302911">
                  <a:moveTo>
                    <a:pt x="0" y="0"/>
                  </a:moveTo>
                  <a:lnTo>
                    <a:pt x="1302911" y="0"/>
                  </a:lnTo>
                  <a:lnTo>
                    <a:pt x="1302911" y="736600"/>
                  </a:lnTo>
                  <a:lnTo>
                    <a:pt x="0" y="736600"/>
                  </a:lnTo>
                  <a:close/>
                </a:path>
              </a:pathLst>
            </a:custGeom>
            <a:solidFill>
              <a:srgbClr val="FFFFFF"/>
            </a:solidFill>
            <a:ln w="9525" cap="sq">
              <a:solidFill>
                <a:srgbClr val="E2E8F0"/>
              </a:solidFill>
              <a:prstDash val="solid"/>
              <a:miter/>
            </a:ln>
          </p:spPr>
        </p:sp>
        <p:sp>
          <p:nvSpPr>
            <p:cNvPr name="TextBox 103" id="103"/>
            <p:cNvSpPr txBox="true"/>
            <p:nvPr/>
          </p:nvSpPr>
          <p:spPr>
            <a:xfrm>
              <a:off x="0" y="-28575"/>
              <a:ext cx="1302911" cy="765175"/>
            </a:xfrm>
            <a:prstGeom prst="rect">
              <a:avLst/>
            </a:prstGeom>
          </p:spPr>
          <p:txBody>
            <a:bodyPr anchor="ctr" rtlCol="false" tIns="50800" lIns="50800" bIns="50800" rIns="50800"/>
            <a:lstStyle/>
            <a:p>
              <a:pPr algn="l">
                <a:lnSpc>
                  <a:spcPts val="1679"/>
                </a:lnSpc>
              </a:pPr>
            </a:p>
          </p:txBody>
        </p:sp>
      </p:grpSp>
      <p:sp>
        <p:nvSpPr>
          <p:cNvPr name="TextBox 104" id="104"/>
          <p:cNvSpPr txBox="true"/>
          <p:nvPr/>
        </p:nvSpPr>
        <p:spPr>
          <a:xfrm rot="0">
            <a:off x="3856357" y="5343671"/>
            <a:ext cx="1054146" cy="264994"/>
          </a:xfrm>
          <a:prstGeom prst="rect">
            <a:avLst/>
          </a:prstGeom>
        </p:spPr>
        <p:txBody>
          <a:bodyPr anchor="t" rtlCol="false" tIns="0" lIns="0" bIns="0" rIns="0">
            <a:spAutoFit/>
          </a:bodyPr>
          <a:lstStyle/>
          <a:p>
            <a:pPr algn="ctr" marL="0" indent="0" lvl="0">
              <a:lnSpc>
                <a:spcPts val="2150"/>
              </a:lnSpc>
              <a:spcBef>
                <a:spcPct val="0"/>
              </a:spcBef>
            </a:pPr>
            <a:r>
              <a:rPr lang="en-US" b="true" sz="1536" strike="noStrike" u="none">
                <a:solidFill>
                  <a:srgbClr val="1E293B"/>
                </a:solidFill>
                <a:latin typeface="프리텐다드 Bold"/>
                <a:ea typeface="프리텐다드 Bold"/>
                <a:cs typeface="프리텐다드 Bold"/>
                <a:sym typeface="프리텐다드 Bold"/>
              </a:rPr>
              <a:t>21.1%</a:t>
            </a:r>
          </a:p>
        </p:txBody>
      </p:sp>
      <p:grpSp>
        <p:nvGrpSpPr>
          <p:cNvPr name="Group 105" id="105"/>
          <p:cNvGrpSpPr/>
          <p:nvPr/>
        </p:nvGrpSpPr>
        <p:grpSpPr>
          <a:xfrm rot="0">
            <a:off x="4937765" y="5201159"/>
            <a:ext cx="1072320" cy="606236"/>
            <a:chOff x="0" y="0"/>
            <a:chExt cx="1302911" cy="736600"/>
          </a:xfrm>
        </p:grpSpPr>
        <p:sp>
          <p:nvSpPr>
            <p:cNvPr name="Freeform 106" id="106"/>
            <p:cNvSpPr/>
            <p:nvPr/>
          </p:nvSpPr>
          <p:spPr>
            <a:xfrm flipH="false" flipV="false" rot="0">
              <a:off x="0" y="0"/>
              <a:ext cx="1302911" cy="736600"/>
            </a:xfrm>
            <a:custGeom>
              <a:avLst/>
              <a:gdLst/>
              <a:ahLst/>
              <a:cxnLst/>
              <a:rect r="r" b="b" t="t" l="l"/>
              <a:pathLst>
                <a:path h="736600" w="1302911">
                  <a:moveTo>
                    <a:pt x="0" y="0"/>
                  </a:moveTo>
                  <a:lnTo>
                    <a:pt x="1302911" y="0"/>
                  </a:lnTo>
                  <a:lnTo>
                    <a:pt x="1302911" y="736600"/>
                  </a:lnTo>
                  <a:lnTo>
                    <a:pt x="0" y="736600"/>
                  </a:lnTo>
                  <a:close/>
                </a:path>
              </a:pathLst>
            </a:custGeom>
            <a:solidFill>
              <a:srgbClr val="1565C0"/>
            </a:solidFill>
            <a:ln w="9525" cap="sq">
              <a:solidFill>
                <a:srgbClr val="E2E8F0"/>
              </a:solidFill>
              <a:prstDash val="solid"/>
              <a:miter/>
            </a:ln>
          </p:spPr>
        </p:sp>
        <p:sp>
          <p:nvSpPr>
            <p:cNvPr name="TextBox 107" id="107"/>
            <p:cNvSpPr txBox="true"/>
            <p:nvPr/>
          </p:nvSpPr>
          <p:spPr>
            <a:xfrm>
              <a:off x="0" y="-28575"/>
              <a:ext cx="1302911" cy="765175"/>
            </a:xfrm>
            <a:prstGeom prst="rect">
              <a:avLst/>
            </a:prstGeom>
          </p:spPr>
          <p:txBody>
            <a:bodyPr anchor="ctr" rtlCol="false" tIns="50800" lIns="50800" bIns="50800" rIns="50800"/>
            <a:lstStyle/>
            <a:p>
              <a:pPr algn="l">
                <a:lnSpc>
                  <a:spcPts val="1679"/>
                </a:lnSpc>
              </a:pPr>
            </a:p>
          </p:txBody>
        </p:sp>
      </p:grpSp>
      <p:sp>
        <p:nvSpPr>
          <p:cNvPr name="TextBox 108" id="108"/>
          <p:cNvSpPr txBox="true"/>
          <p:nvPr/>
        </p:nvSpPr>
        <p:spPr>
          <a:xfrm rot="0">
            <a:off x="4946853" y="5343671"/>
            <a:ext cx="1054146" cy="264994"/>
          </a:xfrm>
          <a:prstGeom prst="rect">
            <a:avLst/>
          </a:prstGeom>
        </p:spPr>
        <p:txBody>
          <a:bodyPr anchor="t" rtlCol="false" tIns="0" lIns="0" bIns="0" rIns="0">
            <a:spAutoFit/>
          </a:bodyPr>
          <a:lstStyle/>
          <a:p>
            <a:pPr algn="ctr" marL="0" indent="0" lvl="0">
              <a:lnSpc>
                <a:spcPts val="2150"/>
              </a:lnSpc>
              <a:spcBef>
                <a:spcPct val="0"/>
              </a:spcBef>
            </a:pPr>
            <a:r>
              <a:rPr lang="en-US" b="true" sz="1536" strike="noStrike" u="none">
                <a:solidFill>
                  <a:srgbClr val="FFFFFF"/>
                </a:solidFill>
                <a:latin typeface="프리텐다드 Bold"/>
                <a:ea typeface="프리텐다드 Bold"/>
                <a:cs typeface="프리텐다드 Bold"/>
                <a:sym typeface="프리텐다드 Bold"/>
              </a:rPr>
              <a:t>48.0%</a:t>
            </a:r>
          </a:p>
        </p:txBody>
      </p:sp>
      <p:grpSp>
        <p:nvGrpSpPr>
          <p:cNvPr name="Group 109" id="109"/>
          <p:cNvGrpSpPr/>
          <p:nvPr/>
        </p:nvGrpSpPr>
        <p:grpSpPr>
          <a:xfrm rot="0">
            <a:off x="6028261" y="5201159"/>
            <a:ext cx="1072320" cy="606236"/>
            <a:chOff x="0" y="0"/>
            <a:chExt cx="1302911" cy="736600"/>
          </a:xfrm>
        </p:grpSpPr>
        <p:sp>
          <p:nvSpPr>
            <p:cNvPr name="Freeform 110" id="110"/>
            <p:cNvSpPr/>
            <p:nvPr/>
          </p:nvSpPr>
          <p:spPr>
            <a:xfrm flipH="false" flipV="false" rot="0">
              <a:off x="0" y="0"/>
              <a:ext cx="1302911" cy="736600"/>
            </a:xfrm>
            <a:custGeom>
              <a:avLst/>
              <a:gdLst/>
              <a:ahLst/>
              <a:cxnLst/>
              <a:rect r="r" b="b" t="t" l="l"/>
              <a:pathLst>
                <a:path h="736600" w="1302911">
                  <a:moveTo>
                    <a:pt x="0" y="0"/>
                  </a:moveTo>
                  <a:lnTo>
                    <a:pt x="1302911" y="0"/>
                  </a:lnTo>
                  <a:lnTo>
                    <a:pt x="1302911" y="736600"/>
                  </a:lnTo>
                  <a:lnTo>
                    <a:pt x="0" y="736600"/>
                  </a:lnTo>
                  <a:close/>
                </a:path>
              </a:pathLst>
            </a:custGeom>
            <a:solidFill>
              <a:srgbClr val="1565C0"/>
            </a:solidFill>
            <a:ln w="9525" cap="sq">
              <a:solidFill>
                <a:srgbClr val="E2E8F0"/>
              </a:solidFill>
              <a:prstDash val="solid"/>
              <a:miter/>
            </a:ln>
          </p:spPr>
        </p:sp>
        <p:sp>
          <p:nvSpPr>
            <p:cNvPr name="TextBox 111" id="111"/>
            <p:cNvSpPr txBox="true"/>
            <p:nvPr/>
          </p:nvSpPr>
          <p:spPr>
            <a:xfrm>
              <a:off x="0" y="-28575"/>
              <a:ext cx="1302911" cy="765175"/>
            </a:xfrm>
            <a:prstGeom prst="rect">
              <a:avLst/>
            </a:prstGeom>
          </p:spPr>
          <p:txBody>
            <a:bodyPr anchor="ctr" rtlCol="false" tIns="50800" lIns="50800" bIns="50800" rIns="50800"/>
            <a:lstStyle/>
            <a:p>
              <a:pPr algn="l">
                <a:lnSpc>
                  <a:spcPts val="1679"/>
                </a:lnSpc>
              </a:pPr>
            </a:p>
          </p:txBody>
        </p:sp>
      </p:grpSp>
      <p:sp>
        <p:nvSpPr>
          <p:cNvPr name="TextBox 112" id="112"/>
          <p:cNvSpPr txBox="true"/>
          <p:nvPr/>
        </p:nvSpPr>
        <p:spPr>
          <a:xfrm rot="0">
            <a:off x="6037348" y="5343671"/>
            <a:ext cx="1054146" cy="264994"/>
          </a:xfrm>
          <a:prstGeom prst="rect">
            <a:avLst/>
          </a:prstGeom>
        </p:spPr>
        <p:txBody>
          <a:bodyPr anchor="t" rtlCol="false" tIns="0" lIns="0" bIns="0" rIns="0">
            <a:spAutoFit/>
          </a:bodyPr>
          <a:lstStyle/>
          <a:p>
            <a:pPr algn="ctr" marL="0" indent="0" lvl="0">
              <a:lnSpc>
                <a:spcPts val="2150"/>
              </a:lnSpc>
              <a:spcBef>
                <a:spcPct val="0"/>
              </a:spcBef>
            </a:pPr>
            <a:r>
              <a:rPr lang="en-US" b="true" sz="1536" strike="noStrike" u="none">
                <a:solidFill>
                  <a:srgbClr val="FFFFFF"/>
                </a:solidFill>
                <a:latin typeface="프리텐다드 Bold"/>
                <a:ea typeface="프리텐다드 Bold"/>
                <a:cs typeface="프리텐다드 Bold"/>
                <a:sym typeface="프리텐다드 Bold"/>
              </a:rPr>
              <a:t>17.5%</a:t>
            </a:r>
          </a:p>
        </p:txBody>
      </p:sp>
      <p:sp>
        <p:nvSpPr>
          <p:cNvPr name="TextBox 113" id="113"/>
          <p:cNvSpPr txBox="true"/>
          <p:nvPr/>
        </p:nvSpPr>
        <p:spPr>
          <a:xfrm rot="0">
            <a:off x="930195" y="6009883"/>
            <a:ext cx="726997" cy="204738"/>
          </a:xfrm>
          <a:prstGeom prst="rect">
            <a:avLst/>
          </a:prstGeom>
        </p:spPr>
        <p:txBody>
          <a:bodyPr anchor="t" rtlCol="false" tIns="0" lIns="0" bIns="0" rIns="0">
            <a:spAutoFit/>
          </a:bodyPr>
          <a:lstStyle/>
          <a:p>
            <a:pPr algn="l" marL="0" indent="0" lvl="0">
              <a:lnSpc>
                <a:spcPts val="1689"/>
              </a:lnSpc>
              <a:spcBef>
                <a:spcPct val="0"/>
              </a:spcBef>
            </a:pPr>
            <a:r>
              <a:rPr lang="en-US" sz="1207" strike="noStrike" u="none">
                <a:solidFill>
                  <a:srgbClr val="1E293B"/>
                </a:solidFill>
                <a:latin typeface="프리텐다드"/>
                <a:ea typeface="프리텐다드"/>
                <a:cs typeface="프리텐다드"/>
                <a:sym typeface="프리텐다드"/>
              </a:rPr>
              <a:t>중학교</a:t>
            </a:r>
          </a:p>
        </p:txBody>
      </p:sp>
      <p:grpSp>
        <p:nvGrpSpPr>
          <p:cNvPr name="Group 114" id="114"/>
          <p:cNvGrpSpPr/>
          <p:nvPr/>
        </p:nvGrpSpPr>
        <p:grpSpPr>
          <a:xfrm rot="0">
            <a:off x="1666279" y="5828299"/>
            <a:ext cx="1072320" cy="606236"/>
            <a:chOff x="0" y="0"/>
            <a:chExt cx="1302911" cy="736600"/>
          </a:xfrm>
        </p:grpSpPr>
        <p:sp>
          <p:nvSpPr>
            <p:cNvPr name="Freeform 115" id="115"/>
            <p:cNvSpPr/>
            <p:nvPr/>
          </p:nvSpPr>
          <p:spPr>
            <a:xfrm flipH="false" flipV="false" rot="0">
              <a:off x="0" y="0"/>
              <a:ext cx="1302911" cy="736600"/>
            </a:xfrm>
            <a:custGeom>
              <a:avLst/>
              <a:gdLst/>
              <a:ahLst/>
              <a:cxnLst/>
              <a:rect r="r" b="b" t="t" l="l"/>
              <a:pathLst>
                <a:path h="736600" w="1302911">
                  <a:moveTo>
                    <a:pt x="0" y="0"/>
                  </a:moveTo>
                  <a:lnTo>
                    <a:pt x="1302911" y="0"/>
                  </a:lnTo>
                  <a:lnTo>
                    <a:pt x="1302911" y="736600"/>
                  </a:lnTo>
                  <a:lnTo>
                    <a:pt x="0" y="736600"/>
                  </a:lnTo>
                  <a:close/>
                </a:path>
              </a:pathLst>
            </a:custGeom>
            <a:solidFill>
              <a:srgbClr val="FFCDD2"/>
            </a:solidFill>
            <a:ln w="9525" cap="sq">
              <a:solidFill>
                <a:srgbClr val="E2E8F0"/>
              </a:solidFill>
              <a:prstDash val="solid"/>
              <a:miter/>
            </a:ln>
          </p:spPr>
        </p:sp>
        <p:sp>
          <p:nvSpPr>
            <p:cNvPr name="TextBox 116" id="116"/>
            <p:cNvSpPr txBox="true"/>
            <p:nvPr/>
          </p:nvSpPr>
          <p:spPr>
            <a:xfrm>
              <a:off x="0" y="-28575"/>
              <a:ext cx="1302911" cy="765175"/>
            </a:xfrm>
            <a:prstGeom prst="rect">
              <a:avLst/>
            </a:prstGeom>
          </p:spPr>
          <p:txBody>
            <a:bodyPr anchor="ctr" rtlCol="false" tIns="50800" lIns="50800" bIns="50800" rIns="50800"/>
            <a:lstStyle/>
            <a:p>
              <a:pPr algn="l">
                <a:lnSpc>
                  <a:spcPts val="1679"/>
                </a:lnSpc>
              </a:pPr>
            </a:p>
          </p:txBody>
        </p:sp>
      </p:grpSp>
      <p:sp>
        <p:nvSpPr>
          <p:cNvPr name="TextBox 117" id="117"/>
          <p:cNvSpPr txBox="true"/>
          <p:nvPr/>
        </p:nvSpPr>
        <p:spPr>
          <a:xfrm rot="0">
            <a:off x="1675367" y="5970812"/>
            <a:ext cx="1054146" cy="264994"/>
          </a:xfrm>
          <a:prstGeom prst="rect">
            <a:avLst/>
          </a:prstGeom>
        </p:spPr>
        <p:txBody>
          <a:bodyPr anchor="t" rtlCol="false" tIns="0" lIns="0" bIns="0" rIns="0">
            <a:spAutoFit/>
          </a:bodyPr>
          <a:lstStyle/>
          <a:p>
            <a:pPr algn="ctr" marL="0" indent="0" lvl="0">
              <a:lnSpc>
                <a:spcPts val="2150"/>
              </a:lnSpc>
              <a:spcBef>
                <a:spcPct val="0"/>
              </a:spcBef>
            </a:pPr>
            <a:r>
              <a:rPr lang="en-US" b="true" sz="1536" strike="noStrike" u="none">
                <a:solidFill>
                  <a:srgbClr val="1E293B"/>
                </a:solidFill>
                <a:latin typeface="프리텐다드 Bold"/>
                <a:ea typeface="프리텐다드 Bold"/>
                <a:cs typeface="프리텐다드 Bold"/>
                <a:sym typeface="프리텐다드 Bold"/>
              </a:rPr>
              <a:t>73.5%</a:t>
            </a:r>
          </a:p>
        </p:txBody>
      </p:sp>
      <p:grpSp>
        <p:nvGrpSpPr>
          <p:cNvPr name="Group 118" id="118"/>
          <p:cNvGrpSpPr/>
          <p:nvPr/>
        </p:nvGrpSpPr>
        <p:grpSpPr>
          <a:xfrm rot="0">
            <a:off x="2756775" y="5828299"/>
            <a:ext cx="1072320" cy="606236"/>
            <a:chOff x="0" y="0"/>
            <a:chExt cx="1302911" cy="736600"/>
          </a:xfrm>
        </p:grpSpPr>
        <p:sp>
          <p:nvSpPr>
            <p:cNvPr name="Freeform 119" id="119"/>
            <p:cNvSpPr/>
            <p:nvPr/>
          </p:nvSpPr>
          <p:spPr>
            <a:xfrm flipH="false" flipV="false" rot="0">
              <a:off x="0" y="0"/>
              <a:ext cx="1302911" cy="736600"/>
            </a:xfrm>
            <a:custGeom>
              <a:avLst/>
              <a:gdLst/>
              <a:ahLst/>
              <a:cxnLst/>
              <a:rect r="r" b="b" t="t" l="l"/>
              <a:pathLst>
                <a:path h="736600" w="1302911">
                  <a:moveTo>
                    <a:pt x="0" y="0"/>
                  </a:moveTo>
                  <a:lnTo>
                    <a:pt x="1302911" y="0"/>
                  </a:lnTo>
                  <a:lnTo>
                    <a:pt x="1302911" y="736600"/>
                  </a:lnTo>
                  <a:lnTo>
                    <a:pt x="0" y="736600"/>
                  </a:lnTo>
                  <a:close/>
                </a:path>
              </a:pathLst>
            </a:custGeom>
            <a:solidFill>
              <a:srgbClr val="FFCDD2"/>
            </a:solidFill>
            <a:ln w="9525" cap="sq">
              <a:solidFill>
                <a:srgbClr val="E2E8F0"/>
              </a:solidFill>
              <a:prstDash val="solid"/>
              <a:miter/>
            </a:ln>
          </p:spPr>
        </p:sp>
        <p:sp>
          <p:nvSpPr>
            <p:cNvPr name="TextBox 120" id="120"/>
            <p:cNvSpPr txBox="true"/>
            <p:nvPr/>
          </p:nvSpPr>
          <p:spPr>
            <a:xfrm>
              <a:off x="0" y="-28575"/>
              <a:ext cx="1302911" cy="765175"/>
            </a:xfrm>
            <a:prstGeom prst="rect">
              <a:avLst/>
            </a:prstGeom>
          </p:spPr>
          <p:txBody>
            <a:bodyPr anchor="ctr" rtlCol="false" tIns="50800" lIns="50800" bIns="50800" rIns="50800"/>
            <a:lstStyle/>
            <a:p>
              <a:pPr algn="l">
                <a:lnSpc>
                  <a:spcPts val="1679"/>
                </a:lnSpc>
              </a:pPr>
            </a:p>
          </p:txBody>
        </p:sp>
      </p:grpSp>
      <p:sp>
        <p:nvSpPr>
          <p:cNvPr name="TextBox 121" id="121"/>
          <p:cNvSpPr txBox="true"/>
          <p:nvPr/>
        </p:nvSpPr>
        <p:spPr>
          <a:xfrm rot="0">
            <a:off x="2765862" y="5970812"/>
            <a:ext cx="1054146" cy="264994"/>
          </a:xfrm>
          <a:prstGeom prst="rect">
            <a:avLst/>
          </a:prstGeom>
        </p:spPr>
        <p:txBody>
          <a:bodyPr anchor="t" rtlCol="false" tIns="0" lIns="0" bIns="0" rIns="0">
            <a:spAutoFit/>
          </a:bodyPr>
          <a:lstStyle/>
          <a:p>
            <a:pPr algn="ctr" marL="0" indent="0" lvl="0">
              <a:lnSpc>
                <a:spcPts val="2150"/>
              </a:lnSpc>
              <a:spcBef>
                <a:spcPct val="0"/>
              </a:spcBef>
            </a:pPr>
            <a:r>
              <a:rPr lang="en-US" b="true" sz="1536" strike="noStrike" u="none">
                <a:solidFill>
                  <a:srgbClr val="1E293B"/>
                </a:solidFill>
                <a:latin typeface="프리텐다드 Bold"/>
                <a:ea typeface="프리텐다드 Bold"/>
                <a:cs typeface="프리텐다드 Bold"/>
                <a:sym typeface="프리텐다드 Bold"/>
              </a:rPr>
              <a:t>50.2%</a:t>
            </a:r>
          </a:p>
        </p:txBody>
      </p:sp>
      <p:grpSp>
        <p:nvGrpSpPr>
          <p:cNvPr name="Group 122" id="122"/>
          <p:cNvGrpSpPr/>
          <p:nvPr/>
        </p:nvGrpSpPr>
        <p:grpSpPr>
          <a:xfrm rot="0">
            <a:off x="3847270" y="5828299"/>
            <a:ext cx="1072320" cy="606236"/>
            <a:chOff x="0" y="0"/>
            <a:chExt cx="1302911" cy="736600"/>
          </a:xfrm>
        </p:grpSpPr>
        <p:sp>
          <p:nvSpPr>
            <p:cNvPr name="Freeform 123" id="123"/>
            <p:cNvSpPr/>
            <p:nvPr/>
          </p:nvSpPr>
          <p:spPr>
            <a:xfrm flipH="false" flipV="false" rot="0">
              <a:off x="0" y="0"/>
              <a:ext cx="1302911" cy="736600"/>
            </a:xfrm>
            <a:custGeom>
              <a:avLst/>
              <a:gdLst/>
              <a:ahLst/>
              <a:cxnLst/>
              <a:rect r="r" b="b" t="t" l="l"/>
              <a:pathLst>
                <a:path h="736600" w="1302911">
                  <a:moveTo>
                    <a:pt x="0" y="0"/>
                  </a:moveTo>
                  <a:lnTo>
                    <a:pt x="1302911" y="0"/>
                  </a:lnTo>
                  <a:lnTo>
                    <a:pt x="1302911" y="736600"/>
                  </a:lnTo>
                  <a:lnTo>
                    <a:pt x="0" y="736600"/>
                  </a:lnTo>
                  <a:close/>
                </a:path>
              </a:pathLst>
            </a:custGeom>
            <a:solidFill>
              <a:srgbClr val="E57373"/>
            </a:solidFill>
            <a:ln w="9525" cap="sq">
              <a:solidFill>
                <a:srgbClr val="E2E8F0"/>
              </a:solidFill>
              <a:prstDash val="solid"/>
              <a:miter/>
            </a:ln>
          </p:spPr>
        </p:sp>
        <p:sp>
          <p:nvSpPr>
            <p:cNvPr name="TextBox 124" id="124"/>
            <p:cNvSpPr txBox="true"/>
            <p:nvPr/>
          </p:nvSpPr>
          <p:spPr>
            <a:xfrm>
              <a:off x="0" y="-28575"/>
              <a:ext cx="1302911" cy="765175"/>
            </a:xfrm>
            <a:prstGeom prst="rect">
              <a:avLst/>
            </a:prstGeom>
          </p:spPr>
          <p:txBody>
            <a:bodyPr anchor="ctr" rtlCol="false" tIns="50800" lIns="50800" bIns="50800" rIns="50800"/>
            <a:lstStyle/>
            <a:p>
              <a:pPr algn="l">
                <a:lnSpc>
                  <a:spcPts val="1679"/>
                </a:lnSpc>
              </a:pPr>
            </a:p>
          </p:txBody>
        </p:sp>
      </p:grpSp>
      <p:sp>
        <p:nvSpPr>
          <p:cNvPr name="TextBox 125" id="125"/>
          <p:cNvSpPr txBox="true"/>
          <p:nvPr/>
        </p:nvSpPr>
        <p:spPr>
          <a:xfrm rot="0">
            <a:off x="3856357" y="5970812"/>
            <a:ext cx="1054146" cy="264994"/>
          </a:xfrm>
          <a:prstGeom prst="rect">
            <a:avLst/>
          </a:prstGeom>
        </p:spPr>
        <p:txBody>
          <a:bodyPr anchor="t" rtlCol="false" tIns="0" lIns="0" bIns="0" rIns="0">
            <a:spAutoFit/>
          </a:bodyPr>
          <a:lstStyle/>
          <a:p>
            <a:pPr algn="ctr" marL="0" indent="0" lvl="0">
              <a:lnSpc>
                <a:spcPts val="2150"/>
              </a:lnSpc>
              <a:spcBef>
                <a:spcPct val="0"/>
              </a:spcBef>
            </a:pPr>
            <a:r>
              <a:rPr lang="en-US" b="true" sz="1536" strike="noStrike" u="none">
                <a:solidFill>
                  <a:srgbClr val="1E293B"/>
                </a:solidFill>
                <a:latin typeface="프리텐다드 Bold"/>
                <a:ea typeface="프리텐다드 Bold"/>
                <a:cs typeface="프리텐다드 Bold"/>
                <a:sym typeface="프리텐다드 Bold"/>
              </a:rPr>
              <a:t>24.1%</a:t>
            </a:r>
          </a:p>
        </p:txBody>
      </p:sp>
      <p:grpSp>
        <p:nvGrpSpPr>
          <p:cNvPr name="Group 126" id="126"/>
          <p:cNvGrpSpPr/>
          <p:nvPr/>
        </p:nvGrpSpPr>
        <p:grpSpPr>
          <a:xfrm rot="0">
            <a:off x="4937765" y="5828299"/>
            <a:ext cx="1072320" cy="606236"/>
            <a:chOff x="0" y="0"/>
            <a:chExt cx="1302911" cy="736600"/>
          </a:xfrm>
        </p:grpSpPr>
        <p:sp>
          <p:nvSpPr>
            <p:cNvPr name="Freeform 127" id="127"/>
            <p:cNvSpPr/>
            <p:nvPr/>
          </p:nvSpPr>
          <p:spPr>
            <a:xfrm flipH="false" flipV="false" rot="0">
              <a:off x="0" y="0"/>
              <a:ext cx="1302911" cy="736600"/>
            </a:xfrm>
            <a:custGeom>
              <a:avLst/>
              <a:gdLst/>
              <a:ahLst/>
              <a:cxnLst/>
              <a:rect r="r" b="b" t="t" l="l"/>
              <a:pathLst>
                <a:path h="736600" w="1302911">
                  <a:moveTo>
                    <a:pt x="0" y="0"/>
                  </a:moveTo>
                  <a:lnTo>
                    <a:pt x="1302911" y="0"/>
                  </a:lnTo>
                  <a:lnTo>
                    <a:pt x="1302911" y="736600"/>
                  </a:lnTo>
                  <a:lnTo>
                    <a:pt x="0" y="736600"/>
                  </a:lnTo>
                  <a:close/>
                </a:path>
              </a:pathLst>
            </a:custGeom>
            <a:solidFill>
              <a:srgbClr val="BBDEFB"/>
            </a:solidFill>
            <a:ln w="9525" cap="sq">
              <a:solidFill>
                <a:srgbClr val="E2E8F0"/>
              </a:solidFill>
              <a:prstDash val="solid"/>
              <a:miter/>
            </a:ln>
          </p:spPr>
        </p:sp>
        <p:sp>
          <p:nvSpPr>
            <p:cNvPr name="TextBox 128" id="128"/>
            <p:cNvSpPr txBox="true"/>
            <p:nvPr/>
          </p:nvSpPr>
          <p:spPr>
            <a:xfrm>
              <a:off x="0" y="-28575"/>
              <a:ext cx="1302911" cy="765175"/>
            </a:xfrm>
            <a:prstGeom prst="rect">
              <a:avLst/>
            </a:prstGeom>
          </p:spPr>
          <p:txBody>
            <a:bodyPr anchor="ctr" rtlCol="false" tIns="50800" lIns="50800" bIns="50800" rIns="50800"/>
            <a:lstStyle/>
            <a:p>
              <a:pPr algn="l">
                <a:lnSpc>
                  <a:spcPts val="1679"/>
                </a:lnSpc>
              </a:pPr>
            </a:p>
          </p:txBody>
        </p:sp>
      </p:grpSp>
      <p:sp>
        <p:nvSpPr>
          <p:cNvPr name="TextBox 129" id="129"/>
          <p:cNvSpPr txBox="true"/>
          <p:nvPr/>
        </p:nvSpPr>
        <p:spPr>
          <a:xfrm rot="0">
            <a:off x="4946853" y="5970812"/>
            <a:ext cx="1054146" cy="264994"/>
          </a:xfrm>
          <a:prstGeom prst="rect">
            <a:avLst/>
          </a:prstGeom>
        </p:spPr>
        <p:txBody>
          <a:bodyPr anchor="t" rtlCol="false" tIns="0" lIns="0" bIns="0" rIns="0">
            <a:spAutoFit/>
          </a:bodyPr>
          <a:lstStyle/>
          <a:p>
            <a:pPr algn="ctr" marL="0" indent="0" lvl="0">
              <a:lnSpc>
                <a:spcPts val="2150"/>
              </a:lnSpc>
              <a:spcBef>
                <a:spcPct val="0"/>
              </a:spcBef>
            </a:pPr>
            <a:r>
              <a:rPr lang="en-US" b="true" sz="1536" strike="noStrike" u="none">
                <a:solidFill>
                  <a:srgbClr val="1E293B"/>
                </a:solidFill>
                <a:latin typeface="프리텐다드 Bold"/>
                <a:ea typeface="프리텐다드 Bold"/>
                <a:cs typeface="프리텐다드 Bold"/>
                <a:sym typeface="프리텐다드 Bold"/>
              </a:rPr>
              <a:t>36.8%</a:t>
            </a:r>
          </a:p>
        </p:txBody>
      </p:sp>
      <p:grpSp>
        <p:nvGrpSpPr>
          <p:cNvPr name="Group 130" id="130"/>
          <p:cNvGrpSpPr/>
          <p:nvPr/>
        </p:nvGrpSpPr>
        <p:grpSpPr>
          <a:xfrm rot="0">
            <a:off x="6028261" y="5828299"/>
            <a:ext cx="1072320" cy="606236"/>
            <a:chOff x="0" y="0"/>
            <a:chExt cx="1302911" cy="736600"/>
          </a:xfrm>
        </p:grpSpPr>
        <p:sp>
          <p:nvSpPr>
            <p:cNvPr name="Freeform 131" id="131"/>
            <p:cNvSpPr/>
            <p:nvPr/>
          </p:nvSpPr>
          <p:spPr>
            <a:xfrm flipH="false" flipV="false" rot="0">
              <a:off x="0" y="0"/>
              <a:ext cx="1302911" cy="736600"/>
            </a:xfrm>
            <a:custGeom>
              <a:avLst/>
              <a:gdLst/>
              <a:ahLst/>
              <a:cxnLst/>
              <a:rect r="r" b="b" t="t" l="l"/>
              <a:pathLst>
                <a:path h="736600" w="1302911">
                  <a:moveTo>
                    <a:pt x="0" y="0"/>
                  </a:moveTo>
                  <a:lnTo>
                    <a:pt x="1302911" y="0"/>
                  </a:lnTo>
                  <a:lnTo>
                    <a:pt x="1302911" y="736600"/>
                  </a:lnTo>
                  <a:lnTo>
                    <a:pt x="0" y="736600"/>
                  </a:lnTo>
                  <a:close/>
                </a:path>
              </a:pathLst>
            </a:custGeom>
            <a:solidFill>
              <a:srgbClr val="64B5F6"/>
            </a:solidFill>
            <a:ln w="9525" cap="sq">
              <a:solidFill>
                <a:srgbClr val="E2E8F0"/>
              </a:solidFill>
              <a:prstDash val="solid"/>
              <a:miter/>
            </a:ln>
          </p:spPr>
        </p:sp>
        <p:sp>
          <p:nvSpPr>
            <p:cNvPr name="TextBox 132" id="132"/>
            <p:cNvSpPr txBox="true"/>
            <p:nvPr/>
          </p:nvSpPr>
          <p:spPr>
            <a:xfrm>
              <a:off x="0" y="-28575"/>
              <a:ext cx="1302911" cy="765175"/>
            </a:xfrm>
            <a:prstGeom prst="rect">
              <a:avLst/>
            </a:prstGeom>
          </p:spPr>
          <p:txBody>
            <a:bodyPr anchor="ctr" rtlCol="false" tIns="50800" lIns="50800" bIns="50800" rIns="50800"/>
            <a:lstStyle/>
            <a:p>
              <a:pPr algn="l">
                <a:lnSpc>
                  <a:spcPts val="1679"/>
                </a:lnSpc>
              </a:pPr>
            </a:p>
          </p:txBody>
        </p:sp>
      </p:grpSp>
      <p:sp>
        <p:nvSpPr>
          <p:cNvPr name="TextBox 133" id="133"/>
          <p:cNvSpPr txBox="true"/>
          <p:nvPr/>
        </p:nvSpPr>
        <p:spPr>
          <a:xfrm rot="0">
            <a:off x="6037348" y="5970812"/>
            <a:ext cx="1054146" cy="264994"/>
          </a:xfrm>
          <a:prstGeom prst="rect">
            <a:avLst/>
          </a:prstGeom>
        </p:spPr>
        <p:txBody>
          <a:bodyPr anchor="t" rtlCol="false" tIns="0" lIns="0" bIns="0" rIns="0">
            <a:spAutoFit/>
          </a:bodyPr>
          <a:lstStyle/>
          <a:p>
            <a:pPr algn="ctr" marL="0" indent="0" lvl="0">
              <a:lnSpc>
                <a:spcPts val="2150"/>
              </a:lnSpc>
              <a:spcBef>
                <a:spcPct val="0"/>
              </a:spcBef>
            </a:pPr>
            <a:r>
              <a:rPr lang="en-US" b="true" sz="1536" strike="noStrike" u="none">
                <a:solidFill>
                  <a:srgbClr val="1E293B"/>
                </a:solidFill>
                <a:latin typeface="프리텐다드 Bold"/>
                <a:ea typeface="프리텐다드 Bold"/>
                <a:cs typeface="프리텐다드 Bold"/>
                <a:sym typeface="프리텐다드 Bold"/>
              </a:rPr>
              <a:t>15.9%</a:t>
            </a:r>
          </a:p>
        </p:txBody>
      </p:sp>
      <p:sp>
        <p:nvSpPr>
          <p:cNvPr name="TextBox 134" id="134"/>
          <p:cNvSpPr txBox="true"/>
          <p:nvPr/>
        </p:nvSpPr>
        <p:spPr>
          <a:xfrm rot="0">
            <a:off x="930195" y="6637023"/>
            <a:ext cx="726997" cy="204738"/>
          </a:xfrm>
          <a:prstGeom prst="rect">
            <a:avLst/>
          </a:prstGeom>
        </p:spPr>
        <p:txBody>
          <a:bodyPr anchor="t" rtlCol="false" tIns="0" lIns="0" bIns="0" rIns="0">
            <a:spAutoFit/>
          </a:bodyPr>
          <a:lstStyle/>
          <a:p>
            <a:pPr algn="l" marL="0" indent="0" lvl="0">
              <a:lnSpc>
                <a:spcPts val="1689"/>
              </a:lnSpc>
              <a:spcBef>
                <a:spcPct val="0"/>
              </a:spcBef>
            </a:pPr>
            <a:r>
              <a:rPr lang="en-US" sz="1207" strike="noStrike" u="none">
                <a:solidFill>
                  <a:srgbClr val="1E293B"/>
                </a:solidFill>
                <a:latin typeface="프리텐다드"/>
                <a:ea typeface="프리텐다드"/>
                <a:cs typeface="프리텐다드"/>
                <a:sym typeface="프리텐다드"/>
              </a:rPr>
              <a:t>고등학교</a:t>
            </a:r>
          </a:p>
        </p:txBody>
      </p:sp>
      <p:grpSp>
        <p:nvGrpSpPr>
          <p:cNvPr name="Group 135" id="135"/>
          <p:cNvGrpSpPr/>
          <p:nvPr/>
        </p:nvGrpSpPr>
        <p:grpSpPr>
          <a:xfrm rot="0">
            <a:off x="1666279" y="6455440"/>
            <a:ext cx="1072320" cy="606236"/>
            <a:chOff x="0" y="0"/>
            <a:chExt cx="1302911" cy="736600"/>
          </a:xfrm>
        </p:grpSpPr>
        <p:sp>
          <p:nvSpPr>
            <p:cNvPr name="Freeform 136" id="136"/>
            <p:cNvSpPr/>
            <p:nvPr/>
          </p:nvSpPr>
          <p:spPr>
            <a:xfrm flipH="false" flipV="false" rot="0">
              <a:off x="0" y="0"/>
              <a:ext cx="1302911" cy="736600"/>
            </a:xfrm>
            <a:custGeom>
              <a:avLst/>
              <a:gdLst/>
              <a:ahLst/>
              <a:cxnLst/>
              <a:rect r="r" b="b" t="t" l="l"/>
              <a:pathLst>
                <a:path h="736600" w="1302911">
                  <a:moveTo>
                    <a:pt x="0" y="0"/>
                  </a:moveTo>
                  <a:lnTo>
                    <a:pt x="1302911" y="0"/>
                  </a:lnTo>
                  <a:lnTo>
                    <a:pt x="1302911" y="736600"/>
                  </a:lnTo>
                  <a:lnTo>
                    <a:pt x="0" y="736600"/>
                  </a:lnTo>
                  <a:close/>
                </a:path>
              </a:pathLst>
            </a:custGeom>
            <a:solidFill>
              <a:srgbClr val="FFFFFF"/>
            </a:solidFill>
            <a:ln w="9525" cap="sq">
              <a:solidFill>
                <a:srgbClr val="E2E8F0"/>
              </a:solidFill>
              <a:prstDash val="solid"/>
              <a:miter/>
            </a:ln>
          </p:spPr>
        </p:sp>
        <p:sp>
          <p:nvSpPr>
            <p:cNvPr name="TextBox 137" id="137"/>
            <p:cNvSpPr txBox="true"/>
            <p:nvPr/>
          </p:nvSpPr>
          <p:spPr>
            <a:xfrm>
              <a:off x="0" y="-28575"/>
              <a:ext cx="1302911" cy="765175"/>
            </a:xfrm>
            <a:prstGeom prst="rect">
              <a:avLst/>
            </a:prstGeom>
          </p:spPr>
          <p:txBody>
            <a:bodyPr anchor="ctr" rtlCol="false" tIns="50800" lIns="50800" bIns="50800" rIns="50800"/>
            <a:lstStyle/>
            <a:p>
              <a:pPr algn="l">
                <a:lnSpc>
                  <a:spcPts val="1679"/>
                </a:lnSpc>
              </a:pPr>
            </a:p>
          </p:txBody>
        </p:sp>
      </p:grpSp>
      <p:sp>
        <p:nvSpPr>
          <p:cNvPr name="TextBox 138" id="138"/>
          <p:cNvSpPr txBox="true"/>
          <p:nvPr/>
        </p:nvSpPr>
        <p:spPr>
          <a:xfrm rot="0">
            <a:off x="1675367" y="6597952"/>
            <a:ext cx="1054146" cy="264994"/>
          </a:xfrm>
          <a:prstGeom prst="rect">
            <a:avLst/>
          </a:prstGeom>
        </p:spPr>
        <p:txBody>
          <a:bodyPr anchor="t" rtlCol="false" tIns="0" lIns="0" bIns="0" rIns="0">
            <a:spAutoFit/>
          </a:bodyPr>
          <a:lstStyle/>
          <a:p>
            <a:pPr algn="ctr" marL="0" indent="0" lvl="0">
              <a:lnSpc>
                <a:spcPts val="2150"/>
              </a:lnSpc>
              <a:spcBef>
                <a:spcPct val="0"/>
              </a:spcBef>
            </a:pPr>
            <a:r>
              <a:rPr lang="en-US" b="true" sz="1536" strike="noStrike" u="none">
                <a:solidFill>
                  <a:srgbClr val="1E293B"/>
                </a:solidFill>
                <a:latin typeface="프리텐다드 Bold"/>
                <a:ea typeface="프리텐다드 Bold"/>
                <a:cs typeface="프리텐다드 Bold"/>
                <a:sym typeface="프리텐다드 Bold"/>
              </a:rPr>
              <a:t>62.8%</a:t>
            </a:r>
          </a:p>
        </p:txBody>
      </p:sp>
      <p:grpSp>
        <p:nvGrpSpPr>
          <p:cNvPr name="Group 139" id="139"/>
          <p:cNvGrpSpPr/>
          <p:nvPr/>
        </p:nvGrpSpPr>
        <p:grpSpPr>
          <a:xfrm rot="0">
            <a:off x="2756775" y="6455440"/>
            <a:ext cx="1072320" cy="606236"/>
            <a:chOff x="0" y="0"/>
            <a:chExt cx="1302911" cy="736600"/>
          </a:xfrm>
        </p:grpSpPr>
        <p:sp>
          <p:nvSpPr>
            <p:cNvPr name="Freeform 140" id="140"/>
            <p:cNvSpPr/>
            <p:nvPr/>
          </p:nvSpPr>
          <p:spPr>
            <a:xfrm flipH="false" flipV="false" rot="0">
              <a:off x="0" y="0"/>
              <a:ext cx="1302911" cy="736600"/>
            </a:xfrm>
            <a:custGeom>
              <a:avLst/>
              <a:gdLst/>
              <a:ahLst/>
              <a:cxnLst/>
              <a:rect r="r" b="b" t="t" l="l"/>
              <a:pathLst>
                <a:path h="736600" w="1302911">
                  <a:moveTo>
                    <a:pt x="0" y="0"/>
                  </a:moveTo>
                  <a:lnTo>
                    <a:pt x="1302911" y="0"/>
                  </a:lnTo>
                  <a:lnTo>
                    <a:pt x="1302911" y="736600"/>
                  </a:lnTo>
                  <a:lnTo>
                    <a:pt x="0" y="736600"/>
                  </a:lnTo>
                  <a:close/>
                </a:path>
              </a:pathLst>
            </a:custGeom>
            <a:solidFill>
              <a:srgbClr val="FFFFFF"/>
            </a:solidFill>
            <a:ln w="9525" cap="sq">
              <a:solidFill>
                <a:srgbClr val="E2E8F0"/>
              </a:solidFill>
              <a:prstDash val="solid"/>
              <a:miter/>
            </a:ln>
          </p:spPr>
        </p:sp>
        <p:sp>
          <p:nvSpPr>
            <p:cNvPr name="TextBox 141" id="141"/>
            <p:cNvSpPr txBox="true"/>
            <p:nvPr/>
          </p:nvSpPr>
          <p:spPr>
            <a:xfrm>
              <a:off x="0" y="-28575"/>
              <a:ext cx="1302911" cy="765175"/>
            </a:xfrm>
            <a:prstGeom prst="rect">
              <a:avLst/>
            </a:prstGeom>
          </p:spPr>
          <p:txBody>
            <a:bodyPr anchor="ctr" rtlCol="false" tIns="50800" lIns="50800" bIns="50800" rIns="50800"/>
            <a:lstStyle/>
            <a:p>
              <a:pPr algn="l">
                <a:lnSpc>
                  <a:spcPts val="1679"/>
                </a:lnSpc>
              </a:pPr>
            </a:p>
          </p:txBody>
        </p:sp>
      </p:grpSp>
      <p:sp>
        <p:nvSpPr>
          <p:cNvPr name="TextBox 142" id="142"/>
          <p:cNvSpPr txBox="true"/>
          <p:nvPr/>
        </p:nvSpPr>
        <p:spPr>
          <a:xfrm rot="0">
            <a:off x="2765862" y="6597952"/>
            <a:ext cx="1054146" cy="264994"/>
          </a:xfrm>
          <a:prstGeom prst="rect">
            <a:avLst/>
          </a:prstGeom>
        </p:spPr>
        <p:txBody>
          <a:bodyPr anchor="t" rtlCol="false" tIns="0" lIns="0" bIns="0" rIns="0">
            <a:spAutoFit/>
          </a:bodyPr>
          <a:lstStyle/>
          <a:p>
            <a:pPr algn="ctr" marL="0" indent="0" lvl="0">
              <a:lnSpc>
                <a:spcPts val="2150"/>
              </a:lnSpc>
              <a:spcBef>
                <a:spcPct val="0"/>
              </a:spcBef>
            </a:pPr>
            <a:r>
              <a:rPr lang="en-US" b="true" sz="1536" strike="noStrike" u="none">
                <a:solidFill>
                  <a:srgbClr val="1E293B"/>
                </a:solidFill>
                <a:latin typeface="프리텐다드 Bold"/>
                <a:ea typeface="프리텐다드 Bold"/>
                <a:cs typeface="프리텐다드 Bold"/>
                <a:sym typeface="프리텐다드 Bold"/>
              </a:rPr>
              <a:t>41.4%</a:t>
            </a:r>
          </a:p>
        </p:txBody>
      </p:sp>
      <p:grpSp>
        <p:nvGrpSpPr>
          <p:cNvPr name="Group 143" id="143"/>
          <p:cNvGrpSpPr/>
          <p:nvPr/>
        </p:nvGrpSpPr>
        <p:grpSpPr>
          <a:xfrm rot="0">
            <a:off x="3847270" y="6455440"/>
            <a:ext cx="1072320" cy="606236"/>
            <a:chOff x="0" y="0"/>
            <a:chExt cx="1302911" cy="736600"/>
          </a:xfrm>
        </p:grpSpPr>
        <p:sp>
          <p:nvSpPr>
            <p:cNvPr name="Freeform 144" id="144"/>
            <p:cNvSpPr/>
            <p:nvPr/>
          </p:nvSpPr>
          <p:spPr>
            <a:xfrm flipH="false" flipV="false" rot="0">
              <a:off x="0" y="0"/>
              <a:ext cx="1302911" cy="736600"/>
            </a:xfrm>
            <a:custGeom>
              <a:avLst/>
              <a:gdLst/>
              <a:ahLst/>
              <a:cxnLst/>
              <a:rect r="r" b="b" t="t" l="l"/>
              <a:pathLst>
                <a:path h="736600" w="1302911">
                  <a:moveTo>
                    <a:pt x="0" y="0"/>
                  </a:moveTo>
                  <a:lnTo>
                    <a:pt x="1302911" y="0"/>
                  </a:lnTo>
                  <a:lnTo>
                    <a:pt x="1302911" y="736600"/>
                  </a:lnTo>
                  <a:lnTo>
                    <a:pt x="0" y="736600"/>
                  </a:lnTo>
                  <a:close/>
                </a:path>
              </a:pathLst>
            </a:custGeom>
            <a:solidFill>
              <a:srgbClr val="C0392B"/>
            </a:solidFill>
            <a:ln w="9525" cap="sq">
              <a:solidFill>
                <a:srgbClr val="E2E8F0"/>
              </a:solidFill>
              <a:prstDash val="solid"/>
              <a:miter/>
            </a:ln>
          </p:spPr>
        </p:sp>
        <p:sp>
          <p:nvSpPr>
            <p:cNvPr name="TextBox 145" id="145"/>
            <p:cNvSpPr txBox="true"/>
            <p:nvPr/>
          </p:nvSpPr>
          <p:spPr>
            <a:xfrm>
              <a:off x="0" y="-28575"/>
              <a:ext cx="1302911" cy="765175"/>
            </a:xfrm>
            <a:prstGeom prst="rect">
              <a:avLst/>
            </a:prstGeom>
          </p:spPr>
          <p:txBody>
            <a:bodyPr anchor="ctr" rtlCol="false" tIns="50800" lIns="50800" bIns="50800" rIns="50800"/>
            <a:lstStyle/>
            <a:p>
              <a:pPr algn="l">
                <a:lnSpc>
                  <a:spcPts val="1679"/>
                </a:lnSpc>
              </a:pPr>
            </a:p>
          </p:txBody>
        </p:sp>
      </p:grpSp>
      <p:sp>
        <p:nvSpPr>
          <p:cNvPr name="TextBox 146" id="146"/>
          <p:cNvSpPr txBox="true"/>
          <p:nvPr/>
        </p:nvSpPr>
        <p:spPr>
          <a:xfrm rot="0">
            <a:off x="3856357" y="6597952"/>
            <a:ext cx="1054146" cy="264994"/>
          </a:xfrm>
          <a:prstGeom prst="rect">
            <a:avLst/>
          </a:prstGeom>
        </p:spPr>
        <p:txBody>
          <a:bodyPr anchor="t" rtlCol="false" tIns="0" lIns="0" bIns="0" rIns="0">
            <a:spAutoFit/>
          </a:bodyPr>
          <a:lstStyle/>
          <a:p>
            <a:pPr algn="ctr" marL="0" indent="0" lvl="0">
              <a:lnSpc>
                <a:spcPts val="2150"/>
              </a:lnSpc>
              <a:spcBef>
                <a:spcPct val="0"/>
              </a:spcBef>
            </a:pPr>
            <a:r>
              <a:rPr lang="en-US" b="true" sz="1536" strike="noStrike" u="none">
                <a:solidFill>
                  <a:srgbClr val="FFFFFF"/>
                </a:solidFill>
                <a:latin typeface="프리텐다드 Bold"/>
                <a:ea typeface="프리텐다드 Bold"/>
                <a:cs typeface="프리텐다드 Bold"/>
                <a:sym typeface="프리텐다드 Bold"/>
              </a:rPr>
              <a:t>25.4%</a:t>
            </a:r>
          </a:p>
        </p:txBody>
      </p:sp>
      <p:grpSp>
        <p:nvGrpSpPr>
          <p:cNvPr name="Group 147" id="147"/>
          <p:cNvGrpSpPr/>
          <p:nvPr/>
        </p:nvGrpSpPr>
        <p:grpSpPr>
          <a:xfrm rot="0">
            <a:off x="4937765" y="6455440"/>
            <a:ext cx="1072320" cy="606236"/>
            <a:chOff x="0" y="0"/>
            <a:chExt cx="1302911" cy="736600"/>
          </a:xfrm>
        </p:grpSpPr>
        <p:sp>
          <p:nvSpPr>
            <p:cNvPr name="Freeform 148" id="148"/>
            <p:cNvSpPr/>
            <p:nvPr/>
          </p:nvSpPr>
          <p:spPr>
            <a:xfrm flipH="false" flipV="false" rot="0">
              <a:off x="0" y="0"/>
              <a:ext cx="1302911" cy="736600"/>
            </a:xfrm>
            <a:custGeom>
              <a:avLst/>
              <a:gdLst/>
              <a:ahLst/>
              <a:cxnLst/>
              <a:rect r="r" b="b" t="t" l="l"/>
              <a:pathLst>
                <a:path h="736600" w="1302911">
                  <a:moveTo>
                    <a:pt x="0" y="0"/>
                  </a:moveTo>
                  <a:lnTo>
                    <a:pt x="1302911" y="0"/>
                  </a:lnTo>
                  <a:lnTo>
                    <a:pt x="1302911" y="736600"/>
                  </a:lnTo>
                  <a:lnTo>
                    <a:pt x="0" y="736600"/>
                  </a:lnTo>
                  <a:close/>
                </a:path>
              </a:pathLst>
            </a:custGeom>
            <a:solidFill>
              <a:srgbClr val="FFFFFF"/>
            </a:solidFill>
            <a:ln w="9525" cap="sq">
              <a:solidFill>
                <a:srgbClr val="E2E8F0"/>
              </a:solidFill>
              <a:prstDash val="solid"/>
              <a:miter/>
            </a:ln>
          </p:spPr>
        </p:sp>
        <p:sp>
          <p:nvSpPr>
            <p:cNvPr name="TextBox 149" id="149"/>
            <p:cNvSpPr txBox="true"/>
            <p:nvPr/>
          </p:nvSpPr>
          <p:spPr>
            <a:xfrm>
              <a:off x="0" y="-28575"/>
              <a:ext cx="1302911" cy="765175"/>
            </a:xfrm>
            <a:prstGeom prst="rect">
              <a:avLst/>
            </a:prstGeom>
          </p:spPr>
          <p:txBody>
            <a:bodyPr anchor="ctr" rtlCol="false" tIns="50800" lIns="50800" bIns="50800" rIns="50800"/>
            <a:lstStyle/>
            <a:p>
              <a:pPr algn="l">
                <a:lnSpc>
                  <a:spcPts val="1679"/>
                </a:lnSpc>
              </a:pPr>
            </a:p>
          </p:txBody>
        </p:sp>
      </p:grpSp>
      <p:sp>
        <p:nvSpPr>
          <p:cNvPr name="TextBox 150" id="150"/>
          <p:cNvSpPr txBox="true"/>
          <p:nvPr/>
        </p:nvSpPr>
        <p:spPr>
          <a:xfrm rot="0">
            <a:off x="4946853" y="6597952"/>
            <a:ext cx="1054146" cy="264994"/>
          </a:xfrm>
          <a:prstGeom prst="rect">
            <a:avLst/>
          </a:prstGeom>
        </p:spPr>
        <p:txBody>
          <a:bodyPr anchor="t" rtlCol="false" tIns="0" lIns="0" bIns="0" rIns="0">
            <a:spAutoFit/>
          </a:bodyPr>
          <a:lstStyle/>
          <a:p>
            <a:pPr algn="ctr" marL="0" indent="0" lvl="0">
              <a:lnSpc>
                <a:spcPts val="2150"/>
              </a:lnSpc>
              <a:spcBef>
                <a:spcPct val="0"/>
              </a:spcBef>
            </a:pPr>
            <a:r>
              <a:rPr lang="en-US" b="true" sz="1536" strike="noStrike" u="none">
                <a:solidFill>
                  <a:srgbClr val="1E293B"/>
                </a:solidFill>
                <a:latin typeface="프리텐다드 Bold"/>
                <a:ea typeface="프리텐다드 Bold"/>
                <a:cs typeface="프리텐다드 Bold"/>
                <a:sym typeface="프리텐다드 Bold"/>
              </a:rPr>
              <a:t>35.9%</a:t>
            </a:r>
          </a:p>
        </p:txBody>
      </p:sp>
      <p:grpSp>
        <p:nvGrpSpPr>
          <p:cNvPr name="Group 151" id="151"/>
          <p:cNvGrpSpPr/>
          <p:nvPr/>
        </p:nvGrpSpPr>
        <p:grpSpPr>
          <a:xfrm rot="0">
            <a:off x="6028261" y="6455440"/>
            <a:ext cx="1072320" cy="606236"/>
            <a:chOff x="0" y="0"/>
            <a:chExt cx="1302911" cy="736600"/>
          </a:xfrm>
        </p:grpSpPr>
        <p:sp>
          <p:nvSpPr>
            <p:cNvPr name="Freeform 152" id="152"/>
            <p:cNvSpPr/>
            <p:nvPr/>
          </p:nvSpPr>
          <p:spPr>
            <a:xfrm flipH="false" flipV="false" rot="0">
              <a:off x="0" y="0"/>
              <a:ext cx="1302911" cy="736600"/>
            </a:xfrm>
            <a:custGeom>
              <a:avLst/>
              <a:gdLst/>
              <a:ahLst/>
              <a:cxnLst/>
              <a:rect r="r" b="b" t="t" l="l"/>
              <a:pathLst>
                <a:path h="736600" w="1302911">
                  <a:moveTo>
                    <a:pt x="0" y="0"/>
                  </a:moveTo>
                  <a:lnTo>
                    <a:pt x="1302911" y="0"/>
                  </a:lnTo>
                  <a:lnTo>
                    <a:pt x="1302911" y="736600"/>
                  </a:lnTo>
                  <a:lnTo>
                    <a:pt x="0" y="736600"/>
                  </a:lnTo>
                  <a:close/>
                </a:path>
              </a:pathLst>
            </a:custGeom>
            <a:solidFill>
              <a:srgbClr val="FFFFFF"/>
            </a:solidFill>
            <a:ln w="9525" cap="sq">
              <a:solidFill>
                <a:srgbClr val="E2E8F0"/>
              </a:solidFill>
              <a:prstDash val="solid"/>
              <a:miter/>
            </a:ln>
          </p:spPr>
        </p:sp>
        <p:sp>
          <p:nvSpPr>
            <p:cNvPr name="TextBox 153" id="153"/>
            <p:cNvSpPr txBox="true"/>
            <p:nvPr/>
          </p:nvSpPr>
          <p:spPr>
            <a:xfrm>
              <a:off x="0" y="-28575"/>
              <a:ext cx="1302911" cy="765175"/>
            </a:xfrm>
            <a:prstGeom prst="rect">
              <a:avLst/>
            </a:prstGeom>
          </p:spPr>
          <p:txBody>
            <a:bodyPr anchor="ctr" rtlCol="false" tIns="50800" lIns="50800" bIns="50800" rIns="50800"/>
            <a:lstStyle/>
            <a:p>
              <a:pPr algn="l">
                <a:lnSpc>
                  <a:spcPts val="1679"/>
                </a:lnSpc>
              </a:pPr>
            </a:p>
          </p:txBody>
        </p:sp>
      </p:grpSp>
      <p:sp>
        <p:nvSpPr>
          <p:cNvPr name="TextBox 154" id="154"/>
          <p:cNvSpPr txBox="true"/>
          <p:nvPr/>
        </p:nvSpPr>
        <p:spPr>
          <a:xfrm rot="0">
            <a:off x="6037348" y="6597952"/>
            <a:ext cx="1054146" cy="264994"/>
          </a:xfrm>
          <a:prstGeom prst="rect">
            <a:avLst/>
          </a:prstGeom>
        </p:spPr>
        <p:txBody>
          <a:bodyPr anchor="t" rtlCol="false" tIns="0" lIns="0" bIns="0" rIns="0">
            <a:spAutoFit/>
          </a:bodyPr>
          <a:lstStyle/>
          <a:p>
            <a:pPr algn="ctr" marL="0" indent="0" lvl="0">
              <a:lnSpc>
                <a:spcPts val="2150"/>
              </a:lnSpc>
              <a:spcBef>
                <a:spcPct val="0"/>
              </a:spcBef>
            </a:pPr>
            <a:r>
              <a:rPr lang="en-US" b="true" sz="1536" strike="noStrike" u="none">
                <a:solidFill>
                  <a:srgbClr val="1E293B"/>
                </a:solidFill>
                <a:latin typeface="프리텐다드 Bold"/>
                <a:ea typeface="프리텐다드 Bold"/>
                <a:cs typeface="프리텐다드 Bold"/>
                <a:sym typeface="프리텐다드 Bold"/>
              </a:rPr>
              <a:t>14.7%</a:t>
            </a:r>
          </a:p>
        </p:txBody>
      </p:sp>
      <p:sp>
        <p:nvSpPr>
          <p:cNvPr name="TextBox 155" id="155"/>
          <p:cNvSpPr txBox="true"/>
          <p:nvPr/>
        </p:nvSpPr>
        <p:spPr>
          <a:xfrm rot="0">
            <a:off x="876300" y="-9525"/>
            <a:ext cx="16535400" cy="733425"/>
          </a:xfrm>
          <a:prstGeom prst="rect">
            <a:avLst/>
          </a:prstGeom>
        </p:spPr>
        <p:txBody>
          <a:bodyPr anchor="t" rtlCol="false" tIns="0" lIns="0" bIns="0" rIns="0">
            <a:spAutoFit/>
          </a:bodyPr>
          <a:lstStyle/>
          <a:p>
            <a:pPr algn="l">
              <a:lnSpc>
                <a:spcPts val="5759"/>
              </a:lnSpc>
            </a:pPr>
            <a:r>
              <a:rPr lang="en-US" b="true" sz="4800">
                <a:solidFill>
                  <a:srgbClr val="1E293B"/>
                </a:solidFill>
                <a:latin typeface="프리텐다드 Bold"/>
                <a:ea typeface="프리텐다드 Bold"/>
                <a:cs typeface="프리텐다드 Bold"/>
                <a:sym typeface="프리텐다드 Bold"/>
              </a:rPr>
              <a:t>4. Q1) 어떤 학교 구조의 교사가 더 취약한가?</a:t>
            </a:r>
          </a:p>
        </p:txBody>
      </p:sp>
      <p:sp>
        <p:nvSpPr>
          <p:cNvPr name="AutoShape 156" id="156"/>
          <p:cNvSpPr/>
          <p:nvPr/>
        </p:nvSpPr>
        <p:spPr>
          <a:xfrm rot="2040">
            <a:off x="866775" y="738978"/>
            <a:ext cx="16554450" cy="0"/>
          </a:xfrm>
          <a:prstGeom prst="line">
            <a:avLst/>
          </a:prstGeom>
          <a:ln cap="rnd" w="9525">
            <a:solidFill>
              <a:srgbClr val="E2E8F0"/>
            </a:solidFill>
            <a:prstDash val="solid"/>
            <a:headEnd type="none" len="sm" w="sm"/>
            <a:tailEnd type="none" len="sm" w="sm"/>
          </a:ln>
        </p:spPr>
      </p:sp>
      <p:sp>
        <p:nvSpPr>
          <p:cNvPr name="TextBox 157" id="157"/>
          <p:cNvSpPr txBox="true"/>
          <p:nvPr/>
        </p:nvSpPr>
        <p:spPr>
          <a:xfrm rot="0">
            <a:off x="7741528" y="5315321"/>
            <a:ext cx="9705975" cy="1908429"/>
          </a:xfrm>
          <a:prstGeom prst="rect">
            <a:avLst/>
          </a:prstGeom>
        </p:spPr>
        <p:txBody>
          <a:bodyPr anchor="t" rtlCol="false" tIns="0" lIns="0" bIns="0" rIns="0">
            <a:spAutoFit/>
          </a:bodyPr>
          <a:lstStyle/>
          <a:p>
            <a:pPr algn="l">
              <a:lnSpc>
                <a:spcPts val="1518"/>
              </a:lnSpc>
            </a:pPr>
            <a:r>
              <a:rPr lang="en-US" sz="1100">
                <a:solidFill>
                  <a:srgbClr val="475569"/>
                </a:solidFill>
                <a:latin typeface="프리텐다드"/>
                <a:ea typeface="프리텐다드"/>
                <a:cs typeface="프리텐다드"/>
                <a:sym typeface="프리텐다드"/>
              </a:rPr>
              <a:t>학교급별 교권침해 유형과 그 결과를 비교한 결과에서도 </a:t>
            </a:r>
            <a:r>
              <a:rPr lang="en-US" sz="1100" b="true">
                <a:solidFill>
                  <a:srgbClr val="475569"/>
                </a:solidFill>
                <a:latin typeface="프리텐다드 Bold"/>
                <a:ea typeface="프리텐다드 Bold"/>
                <a:cs typeface="프리텐다드 Bold"/>
                <a:sym typeface="프리텐다드 Bold"/>
              </a:rPr>
              <a:t>초등학교 교사의 취약성</a:t>
            </a:r>
            <a:r>
              <a:rPr lang="en-US" sz="1100">
                <a:solidFill>
                  <a:srgbClr val="475569"/>
                </a:solidFill>
                <a:latin typeface="프리텐다드"/>
                <a:ea typeface="프리텐다드"/>
                <a:cs typeface="프리텐다드"/>
                <a:sym typeface="프리텐다드"/>
              </a:rPr>
              <a:t>이 가장 뚜렷하게 나타났다.</a:t>
            </a:r>
          </a:p>
          <a:p>
            <a:pPr algn="l">
              <a:lnSpc>
                <a:spcPts val="1518"/>
              </a:lnSpc>
            </a:pPr>
          </a:p>
          <a:p>
            <a:pPr algn="l">
              <a:lnSpc>
                <a:spcPts val="1518"/>
              </a:lnSpc>
            </a:pPr>
            <a:r>
              <a:rPr lang="en-US" sz="1100">
                <a:solidFill>
                  <a:srgbClr val="475569"/>
                </a:solidFill>
                <a:latin typeface="프리텐다드"/>
                <a:ea typeface="프리텐다드"/>
                <a:cs typeface="프리텐다드"/>
                <a:sym typeface="프리텐다드"/>
              </a:rPr>
              <a:t>우선 </a:t>
            </a:r>
            <a:r>
              <a:rPr lang="en-US" b="true" sz="1100">
                <a:solidFill>
                  <a:srgbClr val="475569"/>
                </a:solidFill>
                <a:latin typeface="프리텐다드 Bold"/>
                <a:ea typeface="프리텐다드 Bold"/>
                <a:cs typeface="프리텐다드 Bold"/>
                <a:sym typeface="프리텐다드 Bold"/>
              </a:rPr>
              <a:t>학생에 의한 교권침해 경험률은 초등학교가 83.0%</a:t>
            </a:r>
            <a:r>
              <a:rPr lang="en-US" sz="1100">
                <a:solidFill>
                  <a:srgbClr val="475569"/>
                </a:solidFill>
                <a:latin typeface="프리텐다드"/>
                <a:ea typeface="프리텐다드"/>
                <a:cs typeface="프리텐다드"/>
                <a:sym typeface="프리텐다드"/>
              </a:rPr>
              <a:t>로 가장 높았으며, 중학교(73.5%), 고등학교(62.8%) 순으로 감소하였다. 보호자 침해 역시 </a:t>
            </a:r>
            <a:r>
              <a:rPr lang="en-US" b="true" sz="1100">
                <a:solidFill>
                  <a:srgbClr val="475569"/>
                </a:solidFill>
                <a:latin typeface="프리텐다드 Bold"/>
                <a:ea typeface="프리텐다드 Bold"/>
                <a:cs typeface="프리텐다드 Bold"/>
                <a:sym typeface="프리텐다드 Bold"/>
              </a:rPr>
              <a:t>초등학교가 64.1%</a:t>
            </a:r>
            <a:r>
              <a:rPr lang="en-US" sz="1100">
                <a:solidFill>
                  <a:srgbClr val="475569"/>
                </a:solidFill>
                <a:latin typeface="프리텐다드"/>
                <a:ea typeface="프리텐다드"/>
                <a:cs typeface="프리텐다드"/>
                <a:sym typeface="프리텐다드"/>
              </a:rPr>
              <a:t>로 가장 높아, 학생뿐 아니라 학부모와의 갈등 역시 초등학교에서 집중적으로 발생하고 있음을 확인하였다.</a:t>
            </a:r>
          </a:p>
          <a:p>
            <a:pPr algn="l">
              <a:lnSpc>
                <a:spcPts val="1518"/>
              </a:lnSpc>
            </a:pPr>
            <a:r>
              <a:rPr lang="en-US" sz="1100">
                <a:solidFill>
                  <a:srgbClr val="475569"/>
                </a:solidFill>
                <a:latin typeface="프리텐다드"/>
                <a:ea typeface="프리텐다드"/>
                <a:cs typeface="프리텐다드"/>
                <a:sym typeface="프리텐다드"/>
              </a:rPr>
              <a:t>반면 </a:t>
            </a:r>
            <a:r>
              <a:rPr lang="en-US" b="true" sz="1100">
                <a:solidFill>
                  <a:srgbClr val="475569"/>
                </a:solidFill>
                <a:latin typeface="프리텐다드 Bold"/>
                <a:ea typeface="프리텐다드 Bold"/>
                <a:cs typeface="프리텐다드 Bold"/>
                <a:sym typeface="프리텐다드 Bold"/>
              </a:rPr>
              <a:t>관리자에 의한 침해는 고등학교에서 가장 높은 비</a:t>
            </a:r>
            <a:r>
              <a:rPr lang="en-US" sz="1100">
                <a:solidFill>
                  <a:srgbClr val="475569"/>
                </a:solidFill>
                <a:latin typeface="프리텐다드"/>
                <a:ea typeface="프리텐다드"/>
                <a:cs typeface="프리텐다드"/>
                <a:sym typeface="프리텐다드"/>
              </a:rPr>
              <a:t>율을 보였다. 이는 입시 중심의 학교 운영과 성과 관리가 강조되는 환경에서 관리자 중심의 업무 부담과 조직 내 압력이 상대적으로 크게 작용할 가능성을 시사한다.</a:t>
            </a:r>
          </a:p>
          <a:p>
            <a:pPr algn="l">
              <a:lnSpc>
                <a:spcPts val="1518"/>
              </a:lnSpc>
            </a:pPr>
            <a:r>
              <a:rPr lang="en-US" sz="1100">
                <a:solidFill>
                  <a:srgbClr val="475569"/>
                </a:solidFill>
                <a:latin typeface="프리텐다드"/>
                <a:ea typeface="프리텐다드"/>
                <a:cs typeface="프리텐다드"/>
                <a:sym typeface="프리텐다드"/>
              </a:rPr>
              <a:t>교권침해의 결과 역시 학교급별 차이가 명확하게 나타났다. 이직을 고려한 비율은 초등학교가 48.0%로 가장 높았으며, 이는 교권침해가 단순한 심리적 스트레스를 넘어 교직 이탈 의사까지 연결될 수 있음을 보여준다. 또한 자살 사고 역시 초등학교 교사가 17.5%로 가장 높게 나타나, 교권침해가 교사의 정신건강에 매우 심각한 영향을 미치고 있음을 확인하였다</a:t>
            </a:r>
          </a:p>
          <a:p>
            <a:pPr algn="l">
              <a:lnSpc>
                <a:spcPts val="1518"/>
              </a:lnSpc>
            </a:pPr>
          </a:p>
          <a:p>
            <a:pPr algn="l">
              <a:lnSpc>
                <a:spcPts val="1518"/>
              </a:lnSpc>
            </a:pPr>
            <a:r>
              <a:rPr lang="en-US" sz="1100">
                <a:solidFill>
                  <a:srgbClr val="475569"/>
                </a:solidFill>
                <a:latin typeface="프리텐다드"/>
                <a:ea typeface="프리텐다드"/>
                <a:cs typeface="프리텐다드"/>
                <a:sym typeface="프리텐다드"/>
              </a:rPr>
              <a:t>즉, </a:t>
            </a:r>
            <a:r>
              <a:rPr lang="en-US" b="true" sz="1100">
                <a:solidFill>
                  <a:srgbClr val="475569"/>
                </a:solidFill>
                <a:latin typeface="프리텐다드 Bold"/>
                <a:ea typeface="프리텐다드 Bold"/>
                <a:cs typeface="프리텐다드 Bold"/>
                <a:sym typeface="프리텐다드 Bold"/>
              </a:rPr>
              <a:t>초등학교는 교권침해 발생률뿐 아니라 그로 인한 심리적 피해까지 가장 크게 나타나는 학교급</a:t>
            </a:r>
            <a:r>
              <a:rPr lang="en-US" sz="1100">
                <a:solidFill>
                  <a:srgbClr val="475569"/>
                </a:solidFill>
                <a:latin typeface="프리텐다드"/>
                <a:ea typeface="프리텐다드"/>
                <a:cs typeface="프리텐다드"/>
                <a:sym typeface="프리텐다드"/>
              </a:rPr>
              <a:t>으로 확인되었다.</a:t>
            </a:r>
          </a:p>
        </p:txBody>
      </p:sp>
      <p:sp>
        <p:nvSpPr>
          <p:cNvPr name="TextBox 158" id="158"/>
          <p:cNvSpPr txBox="true"/>
          <p:nvPr/>
        </p:nvSpPr>
        <p:spPr>
          <a:xfrm rot="0">
            <a:off x="7741528" y="8018045"/>
            <a:ext cx="9731320" cy="1908429"/>
          </a:xfrm>
          <a:prstGeom prst="rect">
            <a:avLst/>
          </a:prstGeom>
        </p:spPr>
        <p:txBody>
          <a:bodyPr anchor="t" rtlCol="false" tIns="0" lIns="0" bIns="0" rIns="0">
            <a:spAutoFit/>
          </a:bodyPr>
          <a:lstStyle/>
          <a:p>
            <a:pPr algn="l">
              <a:lnSpc>
                <a:spcPts val="1518"/>
              </a:lnSpc>
            </a:pPr>
            <a:r>
              <a:rPr lang="en-US" sz="1100">
                <a:solidFill>
                  <a:srgbClr val="475569"/>
                </a:solidFill>
                <a:latin typeface="프리텐다드"/>
                <a:ea typeface="프리텐다드"/>
                <a:cs typeface="프리텐다드"/>
                <a:sym typeface="프리텐다드"/>
              </a:rPr>
              <a:t>교권침해 위험요인을</a:t>
            </a:r>
            <a:r>
              <a:rPr lang="en-US" sz="1100">
                <a:solidFill>
                  <a:srgbClr val="475569"/>
                </a:solidFill>
                <a:latin typeface="프리텐다드"/>
                <a:ea typeface="프리텐다드"/>
                <a:cs typeface="프리텐다드"/>
                <a:sym typeface="프리텐다드"/>
              </a:rPr>
              <a:t> 누적하여 분석한 결과, 구조적 취약성이 중첩될수록 교권침해 경험 확률이 지속적으로 증가하는 경향을 확인하였다.</a:t>
            </a:r>
          </a:p>
          <a:p>
            <a:pPr algn="l">
              <a:lnSpc>
                <a:spcPts val="1518"/>
              </a:lnSpc>
            </a:pPr>
          </a:p>
          <a:p>
            <a:pPr algn="l">
              <a:lnSpc>
                <a:spcPts val="1518"/>
              </a:lnSpc>
            </a:pPr>
            <a:r>
              <a:rPr lang="en-US" sz="1100">
                <a:solidFill>
                  <a:srgbClr val="475569"/>
                </a:solidFill>
                <a:latin typeface="프리텐다드"/>
                <a:ea typeface="프리텐다드"/>
                <a:cs typeface="프리텐다드"/>
                <a:sym typeface="프리텐다드"/>
              </a:rPr>
              <a:t>기준 집단인 고등학교·소형학교·남성·기간제 교원의 예상 교권침해 경험률은 약 49.6%였다. 여기에 초등학교 조건이 추가되면 약 64.2%, 대형학교 조건까지 포함하면 78.3%, 여성 조건을 추가하면 86.8%, 마지막으로 정규직 조건까지 모두 포함할 경우 약 </a:t>
            </a:r>
            <a:r>
              <a:rPr lang="en-US" b="true" sz="1100">
                <a:solidFill>
                  <a:srgbClr val="475569"/>
                </a:solidFill>
                <a:latin typeface="프리텐다드 Bold"/>
                <a:ea typeface="프리텐다드 Bold"/>
                <a:cs typeface="프리텐다드 Bold"/>
                <a:sym typeface="프리텐다드 Bold"/>
              </a:rPr>
              <a:t>91.4%</a:t>
            </a:r>
            <a:r>
              <a:rPr lang="en-US" sz="1100">
                <a:solidFill>
                  <a:srgbClr val="475569"/>
                </a:solidFill>
                <a:latin typeface="프리텐다드"/>
                <a:ea typeface="프리텐다드"/>
                <a:cs typeface="프리텐다드"/>
                <a:sym typeface="프리텐다드"/>
              </a:rPr>
              <a:t>까지 상승하였다.</a:t>
            </a:r>
          </a:p>
          <a:p>
            <a:pPr algn="l">
              <a:lnSpc>
                <a:spcPts val="1518"/>
              </a:lnSpc>
            </a:pPr>
          </a:p>
          <a:p>
            <a:pPr algn="l">
              <a:lnSpc>
                <a:spcPts val="1518"/>
              </a:lnSpc>
            </a:pPr>
            <a:r>
              <a:rPr lang="en-US" sz="1100">
                <a:solidFill>
                  <a:srgbClr val="475569"/>
                </a:solidFill>
                <a:latin typeface="프리텐다드"/>
                <a:ea typeface="프리텐다드"/>
                <a:cs typeface="프리텐다드"/>
                <a:sym typeface="프리텐다드"/>
              </a:rPr>
              <a:t>이는 개별 요인이 독립적으로 영향을 미치는 것뿐 아니라, 여러 구조적 특성이 동시에 존재할 경우 교권침해 위험이 누적적으로 증가한다는 점을 보여준다. 특히 초등학교, 대형학교, 여성, 정규직이라는 조합은 현재 학교 현장에서 가장 취약한 교사 프로파일로 나타났으며, 학생과 학부모의 접점이 많아져 교권침해에 크게 노출되는 것을 확인할 수 있다.</a:t>
            </a:r>
          </a:p>
          <a:p>
            <a:pPr algn="l">
              <a:lnSpc>
                <a:spcPts val="1518"/>
              </a:lnSpc>
            </a:pPr>
          </a:p>
          <a:p>
            <a:pPr algn="l">
              <a:lnSpc>
                <a:spcPts val="1518"/>
              </a:lnSpc>
            </a:pPr>
            <a:r>
              <a:rPr lang="en-US" sz="1100">
                <a:solidFill>
                  <a:srgbClr val="475569"/>
                </a:solidFill>
                <a:latin typeface="프리텐다드"/>
                <a:ea typeface="프리텐다드"/>
                <a:cs typeface="프리텐다드"/>
                <a:sym typeface="프리텐다드"/>
              </a:rPr>
              <a:t>따라서 교권침해는 특정 교사의 개인적 문제가 아니라 학교 구조와 직무 특성이 복합적으로 작용하여 발생하는 구조적 위험으로 이해할 필요가 있다. 이는 교권침해 예방 정책 역시 모든 교사에게 동일하게 적용하는 방식이 아니라, </a:t>
            </a:r>
            <a:r>
              <a:rPr lang="en-US" b="true" sz="1100">
                <a:solidFill>
                  <a:srgbClr val="475569"/>
                </a:solidFill>
                <a:latin typeface="프리텐다드 Bold"/>
                <a:ea typeface="프리텐다드 Bold"/>
                <a:cs typeface="프리텐다드 Bold"/>
                <a:sym typeface="프리텐다드 Bold"/>
              </a:rPr>
              <a:t>취약한 학교급과 고위험 집단을 우선적으로 보호하는 맞춤형 정책이 필요함</a:t>
            </a:r>
            <a:r>
              <a:rPr lang="en-US" sz="1100">
                <a:solidFill>
                  <a:srgbClr val="475569"/>
                </a:solidFill>
                <a:latin typeface="프리텐다드"/>
                <a:ea typeface="프리텐다드"/>
                <a:cs typeface="프리텐다드"/>
                <a:sym typeface="프리텐다드"/>
              </a:rPr>
              <a:t>을 시사한다.</a:t>
            </a:r>
          </a:p>
        </p:txBody>
      </p:sp>
      <p:sp>
        <p:nvSpPr>
          <p:cNvPr name="TextBox 159" id="159"/>
          <p:cNvSpPr txBox="true"/>
          <p:nvPr/>
        </p:nvSpPr>
        <p:spPr>
          <a:xfrm rot="0">
            <a:off x="866327" y="922649"/>
            <a:ext cx="12877352" cy="400050"/>
          </a:xfrm>
          <a:prstGeom prst="rect">
            <a:avLst/>
          </a:prstGeom>
        </p:spPr>
        <p:txBody>
          <a:bodyPr anchor="t" rtlCol="false" tIns="0" lIns="0" bIns="0" rIns="0">
            <a:spAutoFit/>
          </a:bodyPr>
          <a:lstStyle/>
          <a:p>
            <a:pPr algn="l">
              <a:lnSpc>
                <a:spcPts val="3120"/>
              </a:lnSpc>
            </a:pPr>
            <a:r>
              <a:rPr lang="en-US" b="true" sz="2600">
                <a:solidFill>
                  <a:srgbClr val="4285F4"/>
                </a:solidFill>
                <a:latin typeface="프리텐다드 Bold"/>
                <a:ea typeface="프리텐다드 Bold"/>
                <a:cs typeface="프리텐다드 Bold"/>
                <a:sym typeface="프리텐다드 Bold"/>
              </a:rPr>
              <a:t>여성 정규직 교사 그리고 초등학교 및 대형 학교가 교권 침해에 대해 구조적으로 더 취약하다.</a:t>
            </a:r>
          </a:p>
        </p:txBody>
      </p:sp>
      <p:sp>
        <p:nvSpPr>
          <p:cNvPr name="TextBox 160" id="160"/>
          <p:cNvSpPr txBox="true"/>
          <p:nvPr/>
        </p:nvSpPr>
        <p:spPr>
          <a:xfrm rot="0">
            <a:off x="-24591121" y="-2939625"/>
            <a:ext cx="23746949" cy="13135204"/>
          </a:xfrm>
          <a:prstGeom prst="rect">
            <a:avLst/>
          </a:prstGeom>
        </p:spPr>
        <p:txBody>
          <a:bodyPr anchor="t" rtlCol="false" tIns="0" lIns="0" bIns="0" rIns="0">
            <a:spAutoFit/>
          </a:bodyPr>
          <a:lstStyle/>
          <a:p>
            <a:pPr algn="l">
              <a:lnSpc>
                <a:spcPts val="3359"/>
              </a:lnSpc>
            </a:pPr>
            <a:r>
              <a:rPr lang="en-US" sz="2799">
                <a:solidFill>
                  <a:srgbClr val="000000"/>
                </a:solidFill>
                <a:latin typeface="Arial"/>
                <a:ea typeface="Arial"/>
                <a:cs typeface="Arial"/>
                <a:sym typeface="Arial"/>
              </a:rPr>
              <a:t>---</a:t>
            </a:r>
          </a:p>
          <a:p>
            <a:pPr algn="l">
              <a:lnSpc>
                <a:spcPts val="3359"/>
              </a:lnSpc>
            </a:pPr>
          </a:p>
          <a:p>
            <a:pPr algn="l">
              <a:lnSpc>
                <a:spcPts val="3359"/>
              </a:lnSpc>
            </a:pPr>
          </a:p>
          <a:p>
            <a:pPr algn="l">
              <a:lnSpc>
                <a:spcPts val="3359"/>
              </a:lnSpc>
            </a:pPr>
            <a:r>
              <a:rPr lang="en-US" sz="2799">
                <a:solidFill>
                  <a:srgbClr val="000000"/>
                </a:solidFill>
                <a:latin typeface="Arial"/>
                <a:ea typeface="Arial"/>
                <a:cs typeface="Arial"/>
                <a:sym typeface="Arial"/>
              </a:rPr>
              <a:t>---</a:t>
            </a:r>
          </a:p>
          <a:p>
            <a:pPr algn="l">
              <a:lnSpc>
                <a:spcPts val="3359"/>
              </a:lnSpc>
            </a:pPr>
            <a:r>
              <a:rPr lang="en-US" sz="2799">
                <a:solidFill>
                  <a:srgbClr val="000000"/>
                </a:solidFill>
                <a:latin typeface="Arial"/>
                <a:ea typeface="Arial"/>
                <a:cs typeface="Arial"/>
                <a:sym typeface="Arial"/>
              </a:rPr>
              <a:t>📊 차트 2 — 학교급 × 침해유형·결과 히트맵</a:t>
            </a:r>
          </a:p>
          <a:p>
            <a:pPr algn="l">
              <a:lnSpc>
                <a:spcPts val="3359"/>
              </a:lnSpc>
            </a:pPr>
          </a:p>
          <a:p>
            <a:pPr algn="l">
              <a:lnSpc>
                <a:spcPts val="3359"/>
              </a:lnSpc>
            </a:pPr>
            <a:r>
              <a:rPr lang="en-US" sz="2799">
                <a:solidFill>
                  <a:srgbClr val="000000"/>
                </a:solidFill>
                <a:latin typeface="Arial"/>
                <a:ea typeface="Arial"/>
                <a:cs typeface="Arial"/>
                <a:sym typeface="Arial"/>
              </a:rPr>
              <a:t>설명 및 해석</a:t>
            </a:r>
          </a:p>
          <a:p>
            <a:pPr algn="l">
              <a:lnSpc>
                <a:spcPts val="3359"/>
              </a:lnSpc>
            </a:pPr>
          </a:p>
          <a:p>
            <a:pPr algn="l">
              <a:lnSpc>
                <a:spcPts val="3359"/>
              </a:lnSpc>
            </a:pPr>
            <a:r>
              <a:rPr lang="en-US" sz="2799">
                <a:solidFill>
                  <a:srgbClr val="000000"/>
                </a:solidFill>
                <a:latin typeface="Arial"/>
                <a:ea typeface="Arial"/>
                <a:cs typeface="Arial"/>
                <a:sym typeface="Arial"/>
              </a:rPr>
              <a:t>초등·중·고등학교 세 학교급별로 5개 지표(학생침해·보호자침해·관리자침해·이직고려·자살사고) 경험률을 열 내 상대 강도로 색상화하였다. 붉은 계열은 침해 유형, 파란</a:t>
            </a:r>
          </a:p>
          <a:p>
            <a:pPr algn="l">
              <a:lnSpc>
                <a:spcPts val="3359"/>
              </a:lnSpc>
            </a:pPr>
            <a:r>
              <a:rPr lang="en-US" sz="2799">
                <a:solidFill>
                  <a:srgbClr val="000000"/>
                </a:solidFill>
                <a:latin typeface="Arial"/>
                <a:ea typeface="Arial"/>
                <a:cs typeface="Arial"/>
                <a:sym typeface="Arial"/>
              </a:rPr>
              <a:t>계열은 결과 지표를 나타낸다.</a:t>
            </a:r>
          </a:p>
          <a:p>
            <a:pPr algn="l">
              <a:lnSpc>
                <a:spcPts val="3359"/>
              </a:lnSpc>
            </a:pPr>
          </a:p>
          <a:p>
            <a:pPr algn="l">
              <a:lnSpc>
                <a:spcPts val="3359"/>
              </a:lnSpc>
            </a:pPr>
            <a:r>
              <a:rPr lang="en-US" sz="2799">
                <a:solidFill>
                  <a:srgbClr val="000000"/>
                </a:solidFill>
                <a:latin typeface="Arial"/>
                <a:ea typeface="Arial"/>
                <a:cs typeface="Arial"/>
                <a:sym typeface="Arial"/>
              </a:rPr>
              <a:t>- 초등학교의 학생침해(83.0%)와 보호자침해(64.1%)는 다른 학교급과에서 보호자 민원이 집중되는 구조는 '아동 보호 논리'와 교원지도권의 충돌이 가장 첨예하게 나타나는 현장임을 시사한다.</a:t>
            </a:r>
          </a:p>
          <a:p>
            <a:pPr algn="l">
              <a:lnSpc>
                <a:spcPts val="3359"/>
              </a:lnSpc>
            </a:pPr>
            <a:r>
              <a:rPr lang="en-US" sz="2799">
                <a:solidFill>
                  <a:srgbClr val="000000"/>
                </a:solidFill>
                <a:latin typeface="Arial"/>
                <a:ea typeface="Arial"/>
                <a:cs typeface="Arial"/>
                <a:sym typeface="Arial"/>
              </a:rPr>
              <a:t>- 관리자 침해는 오히려 고등학교(25.4%)에서 상대적으로 높아 학교 는 입시 압박이 강한 고등학교에서 관리자 주도의 성과 압박이교원에게 전가되는 구조를 반영한다.</a:t>
            </a:r>
          </a:p>
          <a:p>
            <a:pPr algn="l">
              <a:lnSpc>
                <a:spcPts val="3359"/>
              </a:lnSpc>
            </a:pPr>
            <a:r>
              <a:rPr lang="en-US" sz="2799">
                <a:solidFill>
                  <a:srgbClr val="000000"/>
                </a:solidFill>
                <a:latin typeface="Arial"/>
                <a:ea typeface="Arial"/>
                <a:cs typeface="Arial"/>
                <a:sym typeface="Arial"/>
              </a:rPr>
              <a:t>- 이직 고려는 초등학교에서 48.0%로 가장 높다. 침해 경험이 직업   초등 교원의 교권침해는 단순 피해를 넘어 교원 수급 위기로 이어질수 있는 심각성을 내포한다.</a:t>
            </a:r>
          </a:p>
          <a:p>
            <a:pPr algn="l">
              <a:lnSpc>
                <a:spcPts val="3359"/>
              </a:lnSpc>
            </a:pPr>
            <a:r>
              <a:rPr lang="en-US" sz="2799">
                <a:solidFill>
                  <a:srgbClr val="000000"/>
                </a:solidFill>
                <a:latin typeface="Arial"/>
                <a:ea typeface="Arial"/>
                <a:cs typeface="Arial"/>
                <a:sym typeface="Arial"/>
              </a:rPr>
              <a:t>- 자살 사고 역시 초등(17.5%)에서 가장 높아, 침해의 심리적 결과가 됨을 확인할 수 있다.</a:t>
            </a:r>
          </a:p>
          <a:p>
            <a:pPr algn="l">
              <a:lnSpc>
                <a:spcPts val="3359"/>
              </a:lnSpc>
            </a:pPr>
          </a:p>
          <a:p>
            <a:pPr algn="l">
              <a:lnSpc>
                <a:spcPts val="3359"/>
              </a:lnSpc>
            </a:pPr>
            <a:r>
              <a:rPr lang="en-US" sz="2799">
                <a:solidFill>
                  <a:srgbClr val="000000"/>
                </a:solidFill>
                <a:latin typeface="Arial"/>
                <a:ea typeface="Arial"/>
                <a:cs typeface="Arial"/>
                <a:sym typeface="Arial"/>
              </a:rPr>
              <a:t>▎ 분석방법: D1 교원 인권상황 실태조사 2024 (n=10,888) | 학교급별| 열 내 색상 강도: 해당 열 최솟값~최댓값 기준 선형 정규화 (Min-Max Scaling) | 침해유형 Red계열(ACCENT), 결과지표 Blue계열(BLUE1)</a:t>
            </a:r>
          </a:p>
          <a:p>
            <a:pPr algn="l">
              <a:lnSpc>
                <a:spcPts val="3359"/>
              </a:lnSpc>
            </a:pPr>
          </a:p>
          <a:p>
            <a:pPr algn="l">
              <a:lnSpc>
                <a:spcPts val="3359"/>
              </a:lnSpc>
            </a:pPr>
            <a:r>
              <a:rPr lang="en-US" sz="2799">
                <a:solidFill>
                  <a:srgbClr val="000000"/>
                </a:solidFill>
                <a:latin typeface="Arial"/>
                <a:ea typeface="Arial"/>
                <a:cs typeface="Arial"/>
                <a:sym typeface="Arial"/>
              </a:rPr>
              <a:t>---</a:t>
            </a:r>
          </a:p>
          <a:p>
            <a:pPr algn="l">
              <a:lnSpc>
                <a:spcPts val="3359"/>
              </a:lnSpc>
            </a:pPr>
            <a:r>
              <a:rPr lang="en-US" sz="2799">
                <a:solidFill>
                  <a:srgbClr val="000000"/>
                </a:solidFill>
                <a:latin typeface="Arial"/>
                <a:ea typeface="Arial"/>
                <a:cs typeface="Arial"/>
                <a:sym typeface="Arial"/>
              </a:rPr>
              <a:t>📊 차트 3 — 최취약 프로파일 누적 리스크 워터폴</a:t>
            </a:r>
          </a:p>
          <a:p>
            <a:pPr algn="l">
              <a:lnSpc>
                <a:spcPts val="3359"/>
              </a:lnSpc>
            </a:pPr>
          </a:p>
          <a:p>
            <a:pPr algn="l">
              <a:lnSpc>
                <a:spcPts val="3359"/>
              </a:lnSpc>
            </a:pPr>
            <a:r>
              <a:rPr lang="en-US" sz="2799">
                <a:solidFill>
                  <a:srgbClr val="000000"/>
                </a:solidFill>
                <a:latin typeface="Arial"/>
                <a:ea typeface="Arial"/>
                <a:cs typeface="Arial"/>
                <a:sym typeface="Arial"/>
              </a:rPr>
              <a:t>설명 및 해석</a:t>
            </a:r>
          </a:p>
          <a:p>
            <a:pPr algn="l">
              <a:lnSpc>
                <a:spcPts val="3359"/>
              </a:lnSpc>
            </a:pPr>
          </a:p>
          <a:p>
            <a:pPr algn="l">
              <a:lnSpc>
                <a:spcPts val="3359"/>
              </a:lnSpc>
            </a:pPr>
            <a:r>
              <a:rPr lang="en-US" sz="2799">
                <a:solidFill>
                  <a:srgbClr val="000000"/>
                </a:solidFill>
                <a:latin typeface="Arial"/>
                <a:ea typeface="Arial"/>
                <a:cs typeface="Arial"/>
                <a:sym typeface="Arial"/>
              </a:rPr>
              <a:t>로지스틱 회귀 예측확률을 기반으로, 기준 프로파일(고등학교·소형학험 요인을 하나씩 추가할 때 예측 침해 확률이 어떻게 누적상승하는지를 시각화하였다.</a:t>
            </a:r>
          </a:p>
          <a:p>
            <a:pPr algn="l">
              <a:lnSpc>
                <a:spcPts val="3359"/>
              </a:lnSpc>
            </a:pPr>
          </a:p>
          <a:p>
            <a:pPr algn="l">
              <a:lnSpc>
                <a:spcPts val="3359"/>
              </a:lnSpc>
            </a:pPr>
            <a:r>
              <a:rPr lang="en-US" sz="2799">
                <a:solidFill>
                  <a:srgbClr val="000000"/>
                </a:solidFill>
                <a:latin typeface="Arial"/>
                <a:ea typeface="Arial"/>
                <a:cs typeface="Arial"/>
                <a:sym typeface="Arial"/>
              </a:rPr>
              <a:t>▎ 결론: 초등학교·대형학교·여성·정규직 교사가 교권침해에 가장 취  침해 확률은 91.4%에 달한다.</a:t>
            </a:r>
          </a:p>
          <a:p>
            <a:pPr algn="l">
              <a:lnSpc>
                <a:spcPts val="3359"/>
              </a:lnSpc>
            </a:pPr>
          </a:p>
          <a:p>
            <a:pPr algn="l">
              <a:lnSpc>
                <a:spcPts val="3359"/>
              </a:lnSpc>
            </a:pPr>
            <a:r>
              <a:rPr lang="en-US" sz="2799">
                <a:solidFill>
                  <a:srgbClr val="000000"/>
                </a:solidFill>
                <a:latin typeface="Arial"/>
                <a:ea typeface="Arial"/>
                <a:cs typeface="Arial"/>
                <a:sym typeface="Arial"/>
              </a:rPr>
              <a:t>✻ Worked for 1m 16s</a:t>
            </a:r>
          </a:p>
        </p:txBody>
      </p:sp>
      <p:sp>
        <p:nvSpPr>
          <p:cNvPr name="TextBox 161" id="161"/>
          <p:cNvSpPr txBox="true"/>
          <p:nvPr/>
        </p:nvSpPr>
        <p:spPr>
          <a:xfrm rot="0">
            <a:off x="5917994" y="9967874"/>
            <a:ext cx="1097316" cy="157244"/>
          </a:xfrm>
          <a:prstGeom prst="rect">
            <a:avLst/>
          </a:prstGeom>
        </p:spPr>
        <p:txBody>
          <a:bodyPr anchor="t" rtlCol="false" tIns="0" lIns="0" bIns="0" rIns="0">
            <a:spAutoFit/>
          </a:bodyPr>
          <a:lstStyle/>
          <a:p>
            <a:pPr algn="ctr" marL="0" indent="0" lvl="0">
              <a:lnSpc>
                <a:spcPts val="1228"/>
              </a:lnSpc>
              <a:spcBef>
                <a:spcPct val="0"/>
              </a:spcBef>
            </a:pPr>
            <a:r>
              <a:rPr lang="en-US" sz="1023" strike="noStrike" u="none">
                <a:solidFill>
                  <a:srgbClr val="1E293B"/>
                </a:solidFill>
                <a:latin typeface="프리텐다드"/>
                <a:ea typeface="프리텐다드"/>
                <a:cs typeface="프리텐다드"/>
                <a:sym typeface="프리텐다드"/>
              </a:rPr>
              <a:t>+ 정규직</a:t>
            </a:r>
          </a:p>
        </p:txBody>
      </p:sp>
      <p:sp>
        <p:nvSpPr>
          <p:cNvPr name="TextBox 162" id="162"/>
          <p:cNvSpPr txBox="true"/>
          <p:nvPr/>
        </p:nvSpPr>
        <p:spPr>
          <a:xfrm rot="0">
            <a:off x="6017750" y="7414359"/>
            <a:ext cx="897804" cy="239787"/>
          </a:xfrm>
          <a:prstGeom prst="rect">
            <a:avLst/>
          </a:prstGeom>
        </p:spPr>
        <p:txBody>
          <a:bodyPr anchor="t" rtlCol="false" tIns="0" lIns="0" bIns="0" rIns="0">
            <a:spAutoFit/>
          </a:bodyPr>
          <a:lstStyle/>
          <a:p>
            <a:pPr algn="ctr" marL="0" indent="0" lvl="0">
              <a:lnSpc>
                <a:spcPts val="1910"/>
              </a:lnSpc>
              <a:spcBef>
                <a:spcPct val="0"/>
              </a:spcBef>
            </a:pPr>
            <a:r>
              <a:rPr lang="en-US" b="true" sz="1364" strike="noStrike" u="none">
                <a:solidFill>
                  <a:srgbClr val="1A202C"/>
                </a:solidFill>
                <a:latin typeface="프리텐다드 Bold"/>
                <a:ea typeface="프리텐다드 Bold"/>
                <a:cs typeface="프리텐다드 Bold"/>
                <a:sym typeface="프리텐다드 Bold"/>
              </a:rPr>
              <a:t>91.4%</a:t>
            </a:r>
          </a:p>
        </p:txBody>
      </p:sp>
      <p:sp>
        <p:nvSpPr>
          <p:cNvPr name="TextBox 163" id="163"/>
          <p:cNvSpPr txBox="true"/>
          <p:nvPr/>
        </p:nvSpPr>
        <p:spPr>
          <a:xfrm rot="0">
            <a:off x="6017750" y="7649396"/>
            <a:ext cx="897804" cy="196648"/>
          </a:xfrm>
          <a:prstGeom prst="rect">
            <a:avLst/>
          </a:prstGeom>
        </p:spPr>
        <p:txBody>
          <a:bodyPr anchor="t" rtlCol="false" tIns="0" lIns="0" bIns="0" rIns="0">
            <a:spAutoFit/>
          </a:bodyPr>
          <a:lstStyle/>
          <a:p>
            <a:pPr algn="ctr" marL="0" indent="0" lvl="0">
              <a:lnSpc>
                <a:spcPts val="1592"/>
              </a:lnSpc>
              <a:spcBef>
                <a:spcPct val="0"/>
              </a:spcBef>
            </a:pPr>
            <a:r>
              <a:rPr lang="en-US" b="true" sz="1137" strike="noStrike" u="none">
                <a:solidFill>
                  <a:srgbClr val="FFFFFF"/>
                </a:solidFill>
                <a:latin typeface="프리텐다드 Bold"/>
                <a:ea typeface="프리텐다드 Bold"/>
                <a:cs typeface="프리텐다드 Bold"/>
                <a:sym typeface="프리텐다드 Bold"/>
              </a:rPr>
              <a:t>+4.6%p</a:t>
            </a:r>
          </a:p>
        </p:txBody>
      </p:sp>
      <p:grpSp>
        <p:nvGrpSpPr>
          <p:cNvPr name="Group 164" id="164"/>
          <p:cNvGrpSpPr/>
          <p:nvPr/>
        </p:nvGrpSpPr>
        <p:grpSpPr>
          <a:xfrm rot="0">
            <a:off x="6017750" y="7711456"/>
            <a:ext cx="897804" cy="108324"/>
            <a:chOff x="0" y="0"/>
            <a:chExt cx="1052591" cy="127000"/>
          </a:xfrm>
        </p:grpSpPr>
        <p:sp>
          <p:nvSpPr>
            <p:cNvPr name="Freeform 165" id="165"/>
            <p:cNvSpPr/>
            <p:nvPr/>
          </p:nvSpPr>
          <p:spPr>
            <a:xfrm flipH="false" flipV="false" rot="0">
              <a:off x="0" y="0"/>
              <a:ext cx="1052591" cy="127000"/>
            </a:xfrm>
            <a:custGeom>
              <a:avLst/>
              <a:gdLst/>
              <a:ahLst/>
              <a:cxnLst/>
              <a:rect r="r" b="b" t="t" l="l"/>
              <a:pathLst>
                <a:path h="127000" w="1052591">
                  <a:moveTo>
                    <a:pt x="0" y="0"/>
                  </a:moveTo>
                  <a:lnTo>
                    <a:pt x="1052591" y="0"/>
                  </a:lnTo>
                  <a:lnTo>
                    <a:pt x="1052591" y="127000"/>
                  </a:lnTo>
                  <a:lnTo>
                    <a:pt x="0" y="127000"/>
                  </a:lnTo>
                  <a:close/>
                </a:path>
              </a:pathLst>
            </a:custGeom>
            <a:solidFill>
              <a:srgbClr val="1A202C"/>
            </a:solidFill>
          </p:spPr>
        </p:sp>
        <p:sp>
          <p:nvSpPr>
            <p:cNvPr name="TextBox 166" id="166"/>
            <p:cNvSpPr txBox="true"/>
            <p:nvPr/>
          </p:nvSpPr>
          <p:spPr>
            <a:xfrm>
              <a:off x="0" y="-28575"/>
              <a:ext cx="1052591" cy="155575"/>
            </a:xfrm>
            <a:prstGeom prst="rect">
              <a:avLst/>
            </a:prstGeom>
          </p:spPr>
          <p:txBody>
            <a:bodyPr anchor="ctr" rtlCol="false" tIns="50800" lIns="50800" bIns="50800" rIns="50800"/>
            <a:lstStyle/>
            <a:p>
              <a:pPr algn="l">
                <a:lnSpc>
                  <a:spcPts val="1679"/>
                </a:lnSpc>
              </a:pPr>
            </a:p>
          </p:txBody>
        </p:sp>
      </p:grpSp>
      <p:grpSp>
        <p:nvGrpSpPr>
          <p:cNvPr name="Group 167" id="167"/>
          <p:cNvGrpSpPr/>
          <p:nvPr/>
        </p:nvGrpSpPr>
        <p:grpSpPr>
          <a:xfrm rot="0">
            <a:off x="6017750" y="7819780"/>
            <a:ext cx="897804" cy="2068993"/>
            <a:chOff x="0" y="0"/>
            <a:chExt cx="1052591" cy="2425700"/>
          </a:xfrm>
        </p:grpSpPr>
        <p:sp>
          <p:nvSpPr>
            <p:cNvPr name="Freeform 168" id="168"/>
            <p:cNvSpPr/>
            <p:nvPr/>
          </p:nvSpPr>
          <p:spPr>
            <a:xfrm flipH="false" flipV="false" rot="0">
              <a:off x="0" y="0"/>
              <a:ext cx="1052591" cy="2425700"/>
            </a:xfrm>
            <a:custGeom>
              <a:avLst/>
              <a:gdLst/>
              <a:ahLst/>
              <a:cxnLst/>
              <a:rect r="r" b="b" t="t" l="l"/>
              <a:pathLst>
                <a:path h="2425700" w="1052591">
                  <a:moveTo>
                    <a:pt x="0" y="0"/>
                  </a:moveTo>
                  <a:lnTo>
                    <a:pt x="1052591" y="0"/>
                  </a:lnTo>
                  <a:lnTo>
                    <a:pt x="1052591" y="2425700"/>
                  </a:lnTo>
                  <a:lnTo>
                    <a:pt x="0" y="2425700"/>
                  </a:lnTo>
                  <a:close/>
                </a:path>
              </a:pathLst>
            </a:custGeom>
            <a:solidFill>
              <a:srgbClr val="E2E8F0"/>
            </a:solidFill>
          </p:spPr>
        </p:sp>
        <p:sp>
          <p:nvSpPr>
            <p:cNvPr name="TextBox 169" id="169"/>
            <p:cNvSpPr txBox="true"/>
            <p:nvPr/>
          </p:nvSpPr>
          <p:spPr>
            <a:xfrm>
              <a:off x="0" y="-28575"/>
              <a:ext cx="1052591" cy="2454275"/>
            </a:xfrm>
            <a:prstGeom prst="rect">
              <a:avLst/>
            </a:prstGeom>
          </p:spPr>
          <p:txBody>
            <a:bodyPr anchor="ctr" rtlCol="false" tIns="50800" lIns="50800" bIns="50800" rIns="50800"/>
            <a:lstStyle/>
            <a:p>
              <a:pPr algn="l">
                <a:lnSpc>
                  <a:spcPts val="1679"/>
                </a:lnSpc>
              </a:pPr>
            </a:p>
          </p:txBody>
        </p:sp>
      </p:grpSp>
      <p:sp>
        <p:nvSpPr>
          <p:cNvPr name="TextBox 170" id="170"/>
          <p:cNvSpPr txBox="true"/>
          <p:nvPr/>
        </p:nvSpPr>
        <p:spPr>
          <a:xfrm rot="0">
            <a:off x="6129887" y="7881830"/>
            <a:ext cx="629228" cy="469722"/>
          </a:xfrm>
          <a:prstGeom prst="rect">
            <a:avLst/>
          </a:prstGeom>
        </p:spPr>
        <p:txBody>
          <a:bodyPr anchor="t" rtlCol="false" tIns="0" lIns="0" bIns="0" rIns="0">
            <a:spAutoFit/>
          </a:bodyPr>
          <a:lstStyle/>
          <a:p>
            <a:pPr algn="ctr" marL="0" indent="0" lvl="0">
              <a:lnSpc>
                <a:spcPts val="1283"/>
              </a:lnSpc>
              <a:spcBef>
                <a:spcPct val="0"/>
              </a:spcBef>
            </a:pPr>
            <a:r>
              <a:rPr lang="en-US" b="true" sz="987" strike="noStrike" u="none">
                <a:solidFill>
                  <a:srgbClr val="1A202C"/>
                </a:solidFill>
                <a:latin typeface="프리텐다드 Bold"/>
                <a:ea typeface="프리텐다드 Bold"/>
                <a:cs typeface="프리텐다드 Bold"/>
                <a:sym typeface="프리텐다드 Bold"/>
              </a:rPr>
              <a:t>최취약 교사</a:t>
            </a:r>
          </a:p>
          <a:p>
            <a:pPr algn="ctr" marL="0" indent="0" lvl="0">
              <a:lnSpc>
                <a:spcPts val="1283"/>
              </a:lnSpc>
              <a:spcBef>
                <a:spcPct val="0"/>
              </a:spcBef>
            </a:pPr>
            <a:r>
              <a:rPr lang="en-US" sz="987" strike="noStrike" u="none">
                <a:solidFill>
                  <a:srgbClr val="1A202C"/>
                </a:solidFill>
                <a:latin typeface="프리텐다드"/>
                <a:ea typeface="프리텐다드"/>
                <a:cs typeface="프리텐다드"/>
                <a:sym typeface="프리텐다드"/>
              </a:rPr>
              <a:t>초등·대형·여성·정규직</a:t>
            </a:r>
          </a:p>
        </p:txBody>
      </p:sp>
      <p:sp>
        <p:nvSpPr>
          <p:cNvPr name="TextBox 171" id="171"/>
          <p:cNvSpPr txBox="true"/>
          <p:nvPr/>
        </p:nvSpPr>
        <p:spPr>
          <a:xfrm rot="0">
            <a:off x="4671044" y="9967874"/>
            <a:ext cx="1097316" cy="157244"/>
          </a:xfrm>
          <a:prstGeom prst="rect">
            <a:avLst/>
          </a:prstGeom>
        </p:spPr>
        <p:txBody>
          <a:bodyPr anchor="t" rtlCol="false" tIns="0" lIns="0" bIns="0" rIns="0">
            <a:spAutoFit/>
          </a:bodyPr>
          <a:lstStyle/>
          <a:p>
            <a:pPr algn="ctr" marL="0" indent="0" lvl="0">
              <a:lnSpc>
                <a:spcPts val="1228"/>
              </a:lnSpc>
              <a:spcBef>
                <a:spcPct val="0"/>
              </a:spcBef>
            </a:pPr>
            <a:r>
              <a:rPr lang="en-US" sz="1023" strike="noStrike" u="none">
                <a:solidFill>
                  <a:srgbClr val="1E293B"/>
                </a:solidFill>
                <a:latin typeface="프리텐다드"/>
                <a:ea typeface="프리텐다드"/>
                <a:cs typeface="프리텐다드"/>
                <a:sym typeface="프리텐다드"/>
              </a:rPr>
              <a:t>+ 여성 교원</a:t>
            </a:r>
          </a:p>
        </p:txBody>
      </p:sp>
      <p:sp>
        <p:nvSpPr>
          <p:cNvPr name="TextBox 172" id="172"/>
          <p:cNvSpPr txBox="true"/>
          <p:nvPr/>
        </p:nvSpPr>
        <p:spPr>
          <a:xfrm rot="0">
            <a:off x="4770800" y="7533515"/>
            <a:ext cx="897804" cy="239787"/>
          </a:xfrm>
          <a:prstGeom prst="rect">
            <a:avLst/>
          </a:prstGeom>
        </p:spPr>
        <p:txBody>
          <a:bodyPr anchor="t" rtlCol="false" tIns="0" lIns="0" bIns="0" rIns="0">
            <a:spAutoFit/>
          </a:bodyPr>
          <a:lstStyle/>
          <a:p>
            <a:pPr algn="ctr" marL="0" indent="0" lvl="0">
              <a:lnSpc>
                <a:spcPts val="1910"/>
              </a:lnSpc>
              <a:spcBef>
                <a:spcPct val="0"/>
              </a:spcBef>
            </a:pPr>
            <a:r>
              <a:rPr lang="en-US" b="true" sz="1364" strike="noStrike" u="none">
                <a:solidFill>
                  <a:srgbClr val="C0392B"/>
                </a:solidFill>
                <a:latin typeface="프리텐다드 Bold"/>
                <a:ea typeface="프리텐다드 Bold"/>
                <a:cs typeface="프리텐다드 Bold"/>
                <a:sym typeface="프리텐다드 Bold"/>
              </a:rPr>
              <a:t>86.8%</a:t>
            </a:r>
          </a:p>
        </p:txBody>
      </p:sp>
      <p:sp>
        <p:nvSpPr>
          <p:cNvPr name="TextBox 173" id="173"/>
          <p:cNvSpPr txBox="true"/>
          <p:nvPr/>
        </p:nvSpPr>
        <p:spPr>
          <a:xfrm rot="0">
            <a:off x="4770800" y="7811882"/>
            <a:ext cx="897804" cy="196648"/>
          </a:xfrm>
          <a:prstGeom prst="rect">
            <a:avLst/>
          </a:prstGeom>
        </p:spPr>
        <p:txBody>
          <a:bodyPr anchor="t" rtlCol="false" tIns="0" lIns="0" bIns="0" rIns="0">
            <a:spAutoFit/>
          </a:bodyPr>
          <a:lstStyle/>
          <a:p>
            <a:pPr algn="ctr" marL="0" indent="0" lvl="0">
              <a:lnSpc>
                <a:spcPts val="1592"/>
              </a:lnSpc>
              <a:spcBef>
                <a:spcPct val="0"/>
              </a:spcBef>
            </a:pPr>
            <a:r>
              <a:rPr lang="en-US" b="true" sz="1137" strike="noStrike" u="none">
                <a:solidFill>
                  <a:srgbClr val="FFFFFF"/>
                </a:solidFill>
                <a:latin typeface="프리텐다드 Bold"/>
                <a:ea typeface="프리텐다드 Bold"/>
                <a:cs typeface="프리텐다드 Bold"/>
                <a:sym typeface="프리텐다드 Bold"/>
              </a:rPr>
              <a:t>+8.5%p</a:t>
            </a:r>
          </a:p>
        </p:txBody>
      </p:sp>
      <p:grpSp>
        <p:nvGrpSpPr>
          <p:cNvPr name="Group 174" id="174"/>
          <p:cNvGrpSpPr/>
          <p:nvPr/>
        </p:nvGrpSpPr>
        <p:grpSpPr>
          <a:xfrm rot="0">
            <a:off x="4770800" y="7830612"/>
            <a:ext cx="897804" cy="194984"/>
            <a:chOff x="0" y="0"/>
            <a:chExt cx="1052591" cy="228600"/>
          </a:xfrm>
        </p:grpSpPr>
        <p:sp>
          <p:nvSpPr>
            <p:cNvPr name="Freeform 175" id="175"/>
            <p:cNvSpPr/>
            <p:nvPr/>
          </p:nvSpPr>
          <p:spPr>
            <a:xfrm flipH="false" flipV="false" rot="0">
              <a:off x="0" y="0"/>
              <a:ext cx="1052591" cy="228600"/>
            </a:xfrm>
            <a:custGeom>
              <a:avLst/>
              <a:gdLst/>
              <a:ahLst/>
              <a:cxnLst/>
              <a:rect r="r" b="b" t="t" l="l"/>
              <a:pathLst>
                <a:path h="228600" w="1052591">
                  <a:moveTo>
                    <a:pt x="0" y="0"/>
                  </a:moveTo>
                  <a:lnTo>
                    <a:pt x="1052591" y="0"/>
                  </a:lnTo>
                  <a:lnTo>
                    <a:pt x="1052591" y="228600"/>
                  </a:lnTo>
                  <a:lnTo>
                    <a:pt x="0" y="228600"/>
                  </a:lnTo>
                  <a:close/>
                </a:path>
              </a:pathLst>
            </a:custGeom>
            <a:solidFill>
              <a:srgbClr val="C0392B"/>
            </a:solidFill>
          </p:spPr>
        </p:sp>
        <p:sp>
          <p:nvSpPr>
            <p:cNvPr name="TextBox 176" id="176"/>
            <p:cNvSpPr txBox="true"/>
            <p:nvPr/>
          </p:nvSpPr>
          <p:spPr>
            <a:xfrm>
              <a:off x="0" y="-28575"/>
              <a:ext cx="1052591" cy="257175"/>
            </a:xfrm>
            <a:prstGeom prst="rect">
              <a:avLst/>
            </a:prstGeom>
          </p:spPr>
          <p:txBody>
            <a:bodyPr anchor="ctr" rtlCol="false" tIns="50800" lIns="50800" bIns="50800" rIns="50800"/>
            <a:lstStyle/>
            <a:p>
              <a:pPr algn="l">
                <a:lnSpc>
                  <a:spcPts val="1679"/>
                </a:lnSpc>
              </a:pPr>
            </a:p>
          </p:txBody>
        </p:sp>
      </p:grpSp>
      <p:grpSp>
        <p:nvGrpSpPr>
          <p:cNvPr name="Group 177" id="177"/>
          <p:cNvGrpSpPr/>
          <p:nvPr/>
        </p:nvGrpSpPr>
        <p:grpSpPr>
          <a:xfrm rot="0">
            <a:off x="4770800" y="8025596"/>
            <a:ext cx="897804" cy="1863177"/>
            <a:chOff x="0" y="0"/>
            <a:chExt cx="1052591" cy="2184400"/>
          </a:xfrm>
        </p:grpSpPr>
        <p:sp>
          <p:nvSpPr>
            <p:cNvPr name="Freeform 178" id="178"/>
            <p:cNvSpPr/>
            <p:nvPr/>
          </p:nvSpPr>
          <p:spPr>
            <a:xfrm flipH="false" flipV="false" rot="0">
              <a:off x="0" y="0"/>
              <a:ext cx="1052591" cy="2184400"/>
            </a:xfrm>
            <a:custGeom>
              <a:avLst/>
              <a:gdLst/>
              <a:ahLst/>
              <a:cxnLst/>
              <a:rect r="r" b="b" t="t" l="l"/>
              <a:pathLst>
                <a:path h="2184400" w="1052591">
                  <a:moveTo>
                    <a:pt x="0" y="0"/>
                  </a:moveTo>
                  <a:lnTo>
                    <a:pt x="1052591" y="0"/>
                  </a:lnTo>
                  <a:lnTo>
                    <a:pt x="1052591" y="2184400"/>
                  </a:lnTo>
                  <a:lnTo>
                    <a:pt x="0" y="2184400"/>
                  </a:lnTo>
                  <a:close/>
                </a:path>
              </a:pathLst>
            </a:custGeom>
            <a:solidFill>
              <a:srgbClr val="FCE4EC"/>
            </a:solidFill>
          </p:spPr>
        </p:sp>
        <p:sp>
          <p:nvSpPr>
            <p:cNvPr name="TextBox 179" id="179"/>
            <p:cNvSpPr txBox="true"/>
            <p:nvPr/>
          </p:nvSpPr>
          <p:spPr>
            <a:xfrm>
              <a:off x="0" y="-28575"/>
              <a:ext cx="1052591" cy="2212975"/>
            </a:xfrm>
            <a:prstGeom prst="rect">
              <a:avLst/>
            </a:prstGeom>
          </p:spPr>
          <p:txBody>
            <a:bodyPr anchor="ctr" rtlCol="false" tIns="50800" lIns="50800" bIns="50800" rIns="50800"/>
            <a:lstStyle/>
            <a:p>
              <a:pPr algn="l">
                <a:lnSpc>
                  <a:spcPts val="1679"/>
                </a:lnSpc>
              </a:pPr>
            </a:p>
          </p:txBody>
        </p:sp>
      </p:grpSp>
      <p:sp>
        <p:nvSpPr>
          <p:cNvPr name="TextBox 180" id="180"/>
          <p:cNvSpPr txBox="true"/>
          <p:nvPr/>
        </p:nvSpPr>
        <p:spPr>
          <a:xfrm rot="0">
            <a:off x="3424094" y="9969841"/>
            <a:ext cx="1097316" cy="304964"/>
          </a:xfrm>
          <a:prstGeom prst="rect">
            <a:avLst/>
          </a:prstGeom>
        </p:spPr>
        <p:txBody>
          <a:bodyPr anchor="t" rtlCol="false" tIns="0" lIns="0" bIns="0" rIns="0">
            <a:spAutoFit/>
          </a:bodyPr>
          <a:lstStyle/>
          <a:p>
            <a:pPr algn="ctr" marL="0" indent="0" lvl="0">
              <a:lnSpc>
                <a:spcPts val="1228"/>
              </a:lnSpc>
              <a:spcBef>
                <a:spcPct val="0"/>
              </a:spcBef>
            </a:pPr>
            <a:r>
              <a:rPr lang="en-US" sz="1023" strike="noStrike" u="none">
                <a:solidFill>
                  <a:srgbClr val="1E293B"/>
                </a:solidFill>
                <a:latin typeface="프리텐다드"/>
                <a:ea typeface="프리텐다드"/>
                <a:cs typeface="프리텐다드"/>
                <a:sym typeface="프리텐다드"/>
              </a:rPr>
              <a:t>+ 대형 학교</a:t>
            </a:r>
          </a:p>
          <a:p>
            <a:pPr algn="ctr" marL="0" indent="0" lvl="0">
              <a:lnSpc>
                <a:spcPts val="1228"/>
              </a:lnSpc>
              <a:spcBef>
                <a:spcPct val="0"/>
              </a:spcBef>
            </a:pPr>
            <a:r>
              <a:rPr lang="en-US" sz="1023" strike="noStrike" u="none">
                <a:solidFill>
                  <a:srgbClr val="1E293B"/>
                </a:solidFill>
                <a:latin typeface="프리텐다드"/>
                <a:ea typeface="프리텐다드"/>
                <a:cs typeface="프리텐다드"/>
                <a:sym typeface="프리텐다드"/>
              </a:rPr>
              <a:t>(규모 최대)</a:t>
            </a:r>
          </a:p>
        </p:txBody>
      </p:sp>
      <p:sp>
        <p:nvSpPr>
          <p:cNvPr name="TextBox 181" id="181"/>
          <p:cNvSpPr txBox="true"/>
          <p:nvPr/>
        </p:nvSpPr>
        <p:spPr>
          <a:xfrm rot="0">
            <a:off x="3523850" y="7728499"/>
            <a:ext cx="897804" cy="239787"/>
          </a:xfrm>
          <a:prstGeom prst="rect">
            <a:avLst/>
          </a:prstGeom>
        </p:spPr>
        <p:txBody>
          <a:bodyPr anchor="t" rtlCol="false" tIns="0" lIns="0" bIns="0" rIns="0">
            <a:spAutoFit/>
          </a:bodyPr>
          <a:lstStyle/>
          <a:p>
            <a:pPr algn="ctr" marL="0" indent="0" lvl="0">
              <a:lnSpc>
                <a:spcPts val="1910"/>
              </a:lnSpc>
              <a:spcBef>
                <a:spcPct val="0"/>
              </a:spcBef>
            </a:pPr>
            <a:r>
              <a:rPr lang="en-US" b="true" sz="1364" strike="noStrike" u="none">
                <a:solidFill>
                  <a:srgbClr val="C0392B"/>
                </a:solidFill>
                <a:latin typeface="프리텐다드 Bold"/>
                <a:ea typeface="프리텐다드 Bold"/>
                <a:cs typeface="프리텐다드 Bold"/>
                <a:sym typeface="프리텐다드 Bold"/>
              </a:rPr>
              <a:t>78.3%</a:t>
            </a:r>
          </a:p>
        </p:txBody>
      </p:sp>
      <p:sp>
        <p:nvSpPr>
          <p:cNvPr name="TextBox 182" id="182"/>
          <p:cNvSpPr txBox="true"/>
          <p:nvPr/>
        </p:nvSpPr>
        <p:spPr>
          <a:xfrm rot="0">
            <a:off x="3523850" y="8071860"/>
            <a:ext cx="897804" cy="196648"/>
          </a:xfrm>
          <a:prstGeom prst="rect">
            <a:avLst/>
          </a:prstGeom>
        </p:spPr>
        <p:txBody>
          <a:bodyPr anchor="t" rtlCol="false" tIns="0" lIns="0" bIns="0" rIns="0">
            <a:spAutoFit/>
          </a:bodyPr>
          <a:lstStyle/>
          <a:p>
            <a:pPr algn="ctr" marL="0" indent="0" lvl="0">
              <a:lnSpc>
                <a:spcPts val="1592"/>
              </a:lnSpc>
              <a:spcBef>
                <a:spcPct val="0"/>
              </a:spcBef>
            </a:pPr>
            <a:r>
              <a:rPr lang="en-US" b="true" sz="1137" strike="noStrike" u="none">
                <a:solidFill>
                  <a:srgbClr val="FFFFFF"/>
                </a:solidFill>
                <a:latin typeface="프리텐다드 Bold"/>
                <a:ea typeface="프리텐다드 Bold"/>
                <a:cs typeface="프리텐다드 Bold"/>
                <a:sym typeface="프리텐다드 Bold"/>
              </a:rPr>
              <a:t>+14.2%p</a:t>
            </a:r>
          </a:p>
        </p:txBody>
      </p:sp>
      <p:grpSp>
        <p:nvGrpSpPr>
          <p:cNvPr name="Group 183" id="183"/>
          <p:cNvGrpSpPr/>
          <p:nvPr/>
        </p:nvGrpSpPr>
        <p:grpSpPr>
          <a:xfrm rot="0">
            <a:off x="3523850" y="8025596"/>
            <a:ext cx="897804" cy="335805"/>
            <a:chOff x="0" y="0"/>
            <a:chExt cx="1052591" cy="393700"/>
          </a:xfrm>
        </p:grpSpPr>
        <p:sp>
          <p:nvSpPr>
            <p:cNvPr name="Freeform 184" id="184"/>
            <p:cNvSpPr/>
            <p:nvPr/>
          </p:nvSpPr>
          <p:spPr>
            <a:xfrm flipH="false" flipV="false" rot="0">
              <a:off x="0" y="0"/>
              <a:ext cx="1052591" cy="393700"/>
            </a:xfrm>
            <a:custGeom>
              <a:avLst/>
              <a:gdLst/>
              <a:ahLst/>
              <a:cxnLst/>
              <a:rect r="r" b="b" t="t" l="l"/>
              <a:pathLst>
                <a:path h="393700" w="1052591">
                  <a:moveTo>
                    <a:pt x="0" y="0"/>
                  </a:moveTo>
                  <a:lnTo>
                    <a:pt x="1052591" y="0"/>
                  </a:lnTo>
                  <a:lnTo>
                    <a:pt x="1052591" y="393700"/>
                  </a:lnTo>
                  <a:lnTo>
                    <a:pt x="0" y="393700"/>
                  </a:lnTo>
                  <a:close/>
                </a:path>
              </a:pathLst>
            </a:custGeom>
            <a:solidFill>
              <a:srgbClr val="C0392B"/>
            </a:solidFill>
          </p:spPr>
        </p:sp>
        <p:sp>
          <p:nvSpPr>
            <p:cNvPr name="TextBox 185" id="185"/>
            <p:cNvSpPr txBox="true"/>
            <p:nvPr/>
          </p:nvSpPr>
          <p:spPr>
            <a:xfrm>
              <a:off x="0" y="-28575"/>
              <a:ext cx="1052591" cy="422275"/>
            </a:xfrm>
            <a:prstGeom prst="rect">
              <a:avLst/>
            </a:prstGeom>
          </p:spPr>
          <p:txBody>
            <a:bodyPr anchor="ctr" rtlCol="false" tIns="50800" lIns="50800" bIns="50800" rIns="50800"/>
            <a:lstStyle/>
            <a:p>
              <a:pPr algn="l">
                <a:lnSpc>
                  <a:spcPts val="1679"/>
                </a:lnSpc>
              </a:pPr>
            </a:p>
          </p:txBody>
        </p:sp>
      </p:grpSp>
      <p:grpSp>
        <p:nvGrpSpPr>
          <p:cNvPr name="Group 186" id="186"/>
          <p:cNvGrpSpPr/>
          <p:nvPr/>
        </p:nvGrpSpPr>
        <p:grpSpPr>
          <a:xfrm rot="0">
            <a:off x="3523850" y="8361401"/>
            <a:ext cx="897804" cy="1527372"/>
            <a:chOff x="0" y="0"/>
            <a:chExt cx="1052591" cy="1790700"/>
          </a:xfrm>
        </p:grpSpPr>
        <p:sp>
          <p:nvSpPr>
            <p:cNvPr name="Freeform 187" id="187"/>
            <p:cNvSpPr/>
            <p:nvPr/>
          </p:nvSpPr>
          <p:spPr>
            <a:xfrm flipH="false" flipV="false" rot="0">
              <a:off x="0" y="0"/>
              <a:ext cx="1052591" cy="1790700"/>
            </a:xfrm>
            <a:custGeom>
              <a:avLst/>
              <a:gdLst/>
              <a:ahLst/>
              <a:cxnLst/>
              <a:rect r="r" b="b" t="t" l="l"/>
              <a:pathLst>
                <a:path h="1790700" w="1052591">
                  <a:moveTo>
                    <a:pt x="0" y="0"/>
                  </a:moveTo>
                  <a:lnTo>
                    <a:pt x="1052591" y="0"/>
                  </a:lnTo>
                  <a:lnTo>
                    <a:pt x="1052591" y="1790700"/>
                  </a:lnTo>
                  <a:lnTo>
                    <a:pt x="0" y="1790700"/>
                  </a:lnTo>
                  <a:close/>
                </a:path>
              </a:pathLst>
            </a:custGeom>
            <a:solidFill>
              <a:srgbClr val="FCE4EC"/>
            </a:solidFill>
          </p:spPr>
        </p:sp>
        <p:sp>
          <p:nvSpPr>
            <p:cNvPr name="TextBox 188" id="188"/>
            <p:cNvSpPr txBox="true"/>
            <p:nvPr/>
          </p:nvSpPr>
          <p:spPr>
            <a:xfrm>
              <a:off x="0" y="-28575"/>
              <a:ext cx="1052591" cy="1819275"/>
            </a:xfrm>
            <a:prstGeom prst="rect">
              <a:avLst/>
            </a:prstGeom>
          </p:spPr>
          <p:txBody>
            <a:bodyPr anchor="ctr" rtlCol="false" tIns="50800" lIns="50800" bIns="50800" rIns="50800"/>
            <a:lstStyle/>
            <a:p>
              <a:pPr algn="l">
                <a:lnSpc>
                  <a:spcPts val="1679"/>
                </a:lnSpc>
              </a:pPr>
            </a:p>
          </p:txBody>
        </p:sp>
      </p:grpSp>
      <p:sp>
        <p:nvSpPr>
          <p:cNvPr name="TextBox 189" id="189"/>
          <p:cNvSpPr txBox="true"/>
          <p:nvPr/>
        </p:nvSpPr>
        <p:spPr>
          <a:xfrm rot="0">
            <a:off x="2177145" y="9967874"/>
            <a:ext cx="1097316" cy="157244"/>
          </a:xfrm>
          <a:prstGeom prst="rect">
            <a:avLst/>
          </a:prstGeom>
        </p:spPr>
        <p:txBody>
          <a:bodyPr anchor="t" rtlCol="false" tIns="0" lIns="0" bIns="0" rIns="0">
            <a:spAutoFit/>
          </a:bodyPr>
          <a:lstStyle/>
          <a:p>
            <a:pPr algn="ctr" marL="0" indent="0" lvl="0">
              <a:lnSpc>
                <a:spcPts val="1228"/>
              </a:lnSpc>
              <a:spcBef>
                <a:spcPct val="0"/>
              </a:spcBef>
            </a:pPr>
            <a:r>
              <a:rPr lang="en-US" sz="1023" strike="noStrike" u="none">
                <a:solidFill>
                  <a:srgbClr val="1E293B"/>
                </a:solidFill>
                <a:latin typeface="프리텐다드"/>
                <a:ea typeface="프리텐다드"/>
                <a:cs typeface="프리텐다드"/>
                <a:sym typeface="프리텐다드"/>
              </a:rPr>
              <a:t>+ 초등학교</a:t>
            </a:r>
          </a:p>
        </p:txBody>
      </p:sp>
      <p:sp>
        <p:nvSpPr>
          <p:cNvPr name="TextBox 190" id="190"/>
          <p:cNvSpPr txBox="true"/>
          <p:nvPr/>
        </p:nvSpPr>
        <p:spPr>
          <a:xfrm rot="0">
            <a:off x="2276901" y="8064304"/>
            <a:ext cx="897804" cy="239787"/>
          </a:xfrm>
          <a:prstGeom prst="rect">
            <a:avLst/>
          </a:prstGeom>
        </p:spPr>
        <p:txBody>
          <a:bodyPr anchor="t" rtlCol="false" tIns="0" lIns="0" bIns="0" rIns="0">
            <a:spAutoFit/>
          </a:bodyPr>
          <a:lstStyle/>
          <a:p>
            <a:pPr algn="ctr" marL="0" indent="0" lvl="0">
              <a:lnSpc>
                <a:spcPts val="1910"/>
              </a:lnSpc>
              <a:spcBef>
                <a:spcPct val="0"/>
              </a:spcBef>
            </a:pPr>
            <a:r>
              <a:rPr lang="en-US" b="true" sz="1364" strike="noStrike" u="none">
                <a:solidFill>
                  <a:srgbClr val="C0392B"/>
                </a:solidFill>
                <a:latin typeface="프리텐다드 Bold"/>
                <a:ea typeface="프리텐다드 Bold"/>
                <a:cs typeface="프리텐다드 Bold"/>
                <a:sym typeface="프리텐다드 Bold"/>
              </a:rPr>
              <a:t>64.2%</a:t>
            </a:r>
          </a:p>
        </p:txBody>
      </p:sp>
      <p:sp>
        <p:nvSpPr>
          <p:cNvPr name="TextBox 191" id="191"/>
          <p:cNvSpPr txBox="true"/>
          <p:nvPr/>
        </p:nvSpPr>
        <p:spPr>
          <a:xfrm rot="0">
            <a:off x="2276901" y="8407665"/>
            <a:ext cx="897804" cy="196648"/>
          </a:xfrm>
          <a:prstGeom prst="rect">
            <a:avLst/>
          </a:prstGeom>
        </p:spPr>
        <p:txBody>
          <a:bodyPr anchor="t" rtlCol="false" tIns="0" lIns="0" bIns="0" rIns="0">
            <a:spAutoFit/>
          </a:bodyPr>
          <a:lstStyle/>
          <a:p>
            <a:pPr algn="ctr" marL="0" indent="0" lvl="0">
              <a:lnSpc>
                <a:spcPts val="1592"/>
              </a:lnSpc>
              <a:spcBef>
                <a:spcPct val="0"/>
              </a:spcBef>
            </a:pPr>
            <a:r>
              <a:rPr lang="en-US" b="true" sz="1137" strike="noStrike" u="none">
                <a:solidFill>
                  <a:srgbClr val="FFFFFF"/>
                </a:solidFill>
                <a:latin typeface="프리텐다드 Bold"/>
                <a:ea typeface="프리텐다드 Bold"/>
                <a:cs typeface="프리텐다드 Bold"/>
                <a:sym typeface="프리텐다드 Bold"/>
              </a:rPr>
              <a:t>+14.5%p</a:t>
            </a:r>
          </a:p>
        </p:txBody>
      </p:sp>
      <p:grpSp>
        <p:nvGrpSpPr>
          <p:cNvPr name="Group 192" id="192"/>
          <p:cNvGrpSpPr/>
          <p:nvPr/>
        </p:nvGrpSpPr>
        <p:grpSpPr>
          <a:xfrm rot="0">
            <a:off x="2276901" y="8361401"/>
            <a:ext cx="897804" cy="335805"/>
            <a:chOff x="0" y="0"/>
            <a:chExt cx="1052591" cy="393700"/>
          </a:xfrm>
        </p:grpSpPr>
        <p:sp>
          <p:nvSpPr>
            <p:cNvPr name="Freeform 193" id="193"/>
            <p:cNvSpPr/>
            <p:nvPr/>
          </p:nvSpPr>
          <p:spPr>
            <a:xfrm flipH="false" flipV="false" rot="0">
              <a:off x="0" y="0"/>
              <a:ext cx="1052591" cy="393700"/>
            </a:xfrm>
            <a:custGeom>
              <a:avLst/>
              <a:gdLst/>
              <a:ahLst/>
              <a:cxnLst/>
              <a:rect r="r" b="b" t="t" l="l"/>
              <a:pathLst>
                <a:path h="393700" w="1052591">
                  <a:moveTo>
                    <a:pt x="0" y="0"/>
                  </a:moveTo>
                  <a:lnTo>
                    <a:pt x="1052591" y="0"/>
                  </a:lnTo>
                  <a:lnTo>
                    <a:pt x="1052591" y="393700"/>
                  </a:lnTo>
                  <a:lnTo>
                    <a:pt x="0" y="393700"/>
                  </a:lnTo>
                  <a:close/>
                </a:path>
              </a:pathLst>
            </a:custGeom>
            <a:solidFill>
              <a:srgbClr val="C0392B"/>
            </a:solidFill>
          </p:spPr>
        </p:sp>
        <p:sp>
          <p:nvSpPr>
            <p:cNvPr name="TextBox 194" id="194"/>
            <p:cNvSpPr txBox="true"/>
            <p:nvPr/>
          </p:nvSpPr>
          <p:spPr>
            <a:xfrm>
              <a:off x="0" y="-28575"/>
              <a:ext cx="1052591" cy="422275"/>
            </a:xfrm>
            <a:prstGeom prst="rect">
              <a:avLst/>
            </a:prstGeom>
          </p:spPr>
          <p:txBody>
            <a:bodyPr anchor="ctr" rtlCol="false" tIns="50800" lIns="50800" bIns="50800" rIns="50800"/>
            <a:lstStyle/>
            <a:p>
              <a:pPr algn="l">
                <a:lnSpc>
                  <a:spcPts val="1679"/>
                </a:lnSpc>
              </a:pPr>
            </a:p>
          </p:txBody>
        </p:sp>
      </p:grpSp>
      <p:grpSp>
        <p:nvGrpSpPr>
          <p:cNvPr name="Group 195" id="195"/>
          <p:cNvGrpSpPr/>
          <p:nvPr/>
        </p:nvGrpSpPr>
        <p:grpSpPr>
          <a:xfrm rot="0">
            <a:off x="2276901" y="8697206"/>
            <a:ext cx="897804" cy="1191566"/>
            <a:chOff x="0" y="0"/>
            <a:chExt cx="1052591" cy="1397000"/>
          </a:xfrm>
        </p:grpSpPr>
        <p:sp>
          <p:nvSpPr>
            <p:cNvPr name="Freeform 196" id="196"/>
            <p:cNvSpPr/>
            <p:nvPr/>
          </p:nvSpPr>
          <p:spPr>
            <a:xfrm flipH="false" flipV="false" rot="0">
              <a:off x="0" y="0"/>
              <a:ext cx="1052591" cy="1397000"/>
            </a:xfrm>
            <a:custGeom>
              <a:avLst/>
              <a:gdLst/>
              <a:ahLst/>
              <a:cxnLst/>
              <a:rect r="r" b="b" t="t" l="l"/>
              <a:pathLst>
                <a:path h="1397000" w="1052591">
                  <a:moveTo>
                    <a:pt x="0" y="0"/>
                  </a:moveTo>
                  <a:lnTo>
                    <a:pt x="1052591" y="0"/>
                  </a:lnTo>
                  <a:lnTo>
                    <a:pt x="1052591" y="1397000"/>
                  </a:lnTo>
                  <a:lnTo>
                    <a:pt x="0" y="1397000"/>
                  </a:lnTo>
                  <a:close/>
                </a:path>
              </a:pathLst>
            </a:custGeom>
            <a:solidFill>
              <a:srgbClr val="FCE4EC"/>
            </a:solidFill>
          </p:spPr>
        </p:sp>
        <p:sp>
          <p:nvSpPr>
            <p:cNvPr name="TextBox 197" id="197"/>
            <p:cNvSpPr txBox="true"/>
            <p:nvPr/>
          </p:nvSpPr>
          <p:spPr>
            <a:xfrm>
              <a:off x="0" y="-28575"/>
              <a:ext cx="1052591" cy="1425575"/>
            </a:xfrm>
            <a:prstGeom prst="rect">
              <a:avLst/>
            </a:prstGeom>
          </p:spPr>
          <p:txBody>
            <a:bodyPr anchor="ctr" rtlCol="false" tIns="50800" lIns="50800" bIns="50800" rIns="50800"/>
            <a:lstStyle/>
            <a:p>
              <a:pPr algn="l">
                <a:lnSpc>
                  <a:spcPts val="1679"/>
                </a:lnSpc>
              </a:pPr>
            </a:p>
          </p:txBody>
        </p:sp>
      </p:grpSp>
      <p:sp>
        <p:nvSpPr>
          <p:cNvPr name="TextBox 198" id="198"/>
          <p:cNvSpPr txBox="true"/>
          <p:nvPr/>
        </p:nvSpPr>
        <p:spPr>
          <a:xfrm rot="0">
            <a:off x="930195" y="9969841"/>
            <a:ext cx="1097316" cy="304964"/>
          </a:xfrm>
          <a:prstGeom prst="rect">
            <a:avLst/>
          </a:prstGeom>
        </p:spPr>
        <p:txBody>
          <a:bodyPr anchor="t" rtlCol="false" tIns="0" lIns="0" bIns="0" rIns="0">
            <a:spAutoFit/>
          </a:bodyPr>
          <a:lstStyle/>
          <a:p>
            <a:pPr algn="ctr" marL="0" indent="0" lvl="0">
              <a:lnSpc>
                <a:spcPts val="1228"/>
              </a:lnSpc>
              <a:spcBef>
                <a:spcPct val="0"/>
              </a:spcBef>
            </a:pPr>
            <a:r>
              <a:rPr lang="en-US" sz="1023" strike="noStrike" u="none">
                <a:solidFill>
                  <a:srgbClr val="1E293B"/>
                </a:solidFill>
                <a:latin typeface="프리텐다드"/>
                <a:ea typeface="프리텐다드"/>
                <a:cs typeface="프리텐다드"/>
                <a:sym typeface="프리텐다드"/>
              </a:rPr>
              <a:t>기준</a:t>
            </a:r>
          </a:p>
          <a:p>
            <a:pPr algn="ctr" marL="0" indent="0" lvl="0">
              <a:lnSpc>
                <a:spcPts val="1228"/>
              </a:lnSpc>
              <a:spcBef>
                <a:spcPct val="0"/>
              </a:spcBef>
            </a:pPr>
            <a:r>
              <a:rPr lang="en-US" sz="1023" strike="noStrike" u="none">
                <a:solidFill>
                  <a:srgbClr val="1E293B"/>
                </a:solidFill>
                <a:latin typeface="프리텐다드"/>
                <a:ea typeface="프리텐다드"/>
                <a:cs typeface="프리텐다드"/>
                <a:sym typeface="프리텐다드"/>
              </a:rPr>
              <a:t>(고등·소형)</a:t>
            </a:r>
          </a:p>
        </p:txBody>
      </p:sp>
      <p:sp>
        <p:nvSpPr>
          <p:cNvPr name="TextBox 199" id="199"/>
          <p:cNvSpPr txBox="true"/>
          <p:nvPr/>
        </p:nvSpPr>
        <p:spPr>
          <a:xfrm rot="0">
            <a:off x="1029951" y="8345947"/>
            <a:ext cx="897804" cy="239787"/>
          </a:xfrm>
          <a:prstGeom prst="rect">
            <a:avLst/>
          </a:prstGeom>
        </p:spPr>
        <p:txBody>
          <a:bodyPr anchor="t" rtlCol="false" tIns="0" lIns="0" bIns="0" rIns="0">
            <a:spAutoFit/>
          </a:bodyPr>
          <a:lstStyle/>
          <a:p>
            <a:pPr algn="ctr" marL="0" indent="0" lvl="0">
              <a:lnSpc>
                <a:spcPts val="1910"/>
              </a:lnSpc>
              <a:spcBef>
                <a:spcPct val="0"/>
              </a:spcBef>
            </a:pPr>
            <a:r>
              <a:rPr lang="en-US" b="true" sz="1364" strike="noStrike" u="none">
                <a:solidFill>
                  <a:srgbClr val="4A5568"/>
                </a:solidFill>
                <a:latin typeface="프리텐다드 Bold"/>
                <a:ea typeface="프리텐다드 Bold"/>
                <a:cs typeface="프리텐다드 Bold"/>
                <a:sym typeface="프리텐다드 Bold"/>
              </a:rPr>
              <a:t>49.6%</a:t>
            </a:r>
          </a:p>
        </p:txBody>
      </p:sp>
      <p:grpSp>
        <p:nvGrpSpPr>
          <p:cNvPr name="Group 200" id="200"/>
          <p:cNvGrpSpPr/>
          <p:nvPr/>
        </p:nvGrpSpPr>
        <p:grpSpPr>
          <a:xfrm rot="0">
            <a:off x="1029951" y="8708038"/>
            <a:ext cx="897804" cy="1180734"/>
            <a:chOff x="0" y="0"/>
            <a:chExt cx="1052591" cy="1384300"/>
          </a:xfrm>
        </p:grpSpPr>
        <p:sp>
          <p:nvSpPr>
            <p:cNvPr name="Freeform 201" id="201"/>
            <p:cNvSpPr/>
            <p:nvPr/>
          </p:nvSpPr>
          <p:spPr>
            <a:xfrm flipH="false" flipV="false" rot="0">
              <a:off x="0" y="0"/>
              <a:ext cx="1052591" cy="1384300"/>
            </a:xfrm>
            <a:custGeom>
              <a:avLst/>
              <a:gdLst/>
              <a:ahLst/>
              <a:cxnLst/>
              <a:rect r="r" b="b" t="t" l="l"/>
              <a:pathLst>
                <a:path h="1384300" w="1052591">
                  <a:moveTo>
                    <a:pt x="0" y="0"/>
                  </a:moveTo>
                  <a:lnTo>
                    <a:pt x="1052591" y="0"/>
                  </a:lnTo>
                  <a:lnTo>
                    <a:pt x="1052591" y="1384300"/>
                  </a:lnTo>
                  <a:lnTo>
                    <a:pt x="0" y="1384300"/>
                  </a:lnTo>
                  <a:close/>
                </a:path>
              </a:pathLst>
            </a:custGeom>
            <a:solidFill>
              <a:srgbClr val="4285F4"/>
            </a:solidFill>
          </p:spPr>
        </p:sp>
        <p:sp>
          <p:nvSpPr>
            <p:cNvPr name="TextBox 202" id="202"/>
            <p:cNvSpPr txBox="true"/>
            <p:nvPr/>
          </p:nvSpPr>
          <p:spPr>
            <a:xfrm>
              <a:off x="0" y="-28575"/>
              <a:ext cx="1052591" cy="1412875"/>
            </a:xfrm>
            <a:prstGeom prst="rect">
              <a:avLst/>
            </a:prstGeom>
          </p:spPr>
          <p:txBody>
            <a:bodyPr anchor="ctr" rtlCol="false" tIns="50800" lIns="50800" bIns="50800" rIns="50800"/>
            <a:lstStyle/>
            <a:p>
              <a:pPr algn="l">
                <a:lnSpc>
                  <a:spcPts val="1679"/>
                </a:lnSpc>
              </a:pPr>
            </a:p>
          </p:txBody>
        </p:sp>
      </p:grpSp>
      <p:sp>
        <p:nvSpPr>
          <p:cNvPr name="TextBox 203" id="203"/>
          <p:cNvSpPr txBox="true"/>
          <p:nvPr/>
        </p:nvSpPr>
        <p:spPr>
          <a:xfrm rot="0">
            <a:off x="1111944" y="7190998"/>
            <a:ext cx="1817492" cy="204738"/>
          </a:xfrm>
          <a:prstGeom prst="rect">
            <a:avLst/>
          </a:prstGeom>
        </p:spPr>
        <p:txBody>
          <a:bodyPr anchor="t" rtlCol="false" tIns="0" lIns="0" bIns="0" rIns="0">
            <a:spAutoFit/>
          </a:bodyPr>
          <a:lstStyle/>
          <a:p>
            <a:pPr algn="l" marL="0" indent="0" lvl="0">
              <a:lnSpc>
                <a:spcPts val="1689"/>
              </a:lnSpc>
              <a:spcBef>
                <a:spcPct val="0"/>
              </a:spcBef>
            </a:pPr>
            <a:r>
              <a:rPr lang="en-US" sz="1207" strike="noStrike" u="none">
                <a:solidFill>
                  <a:srgbClr val="1E293B"/>
                </a:solidFill>
                <a:latin typeface="프리텐다드"/>
                <a:ea typeface="프리텐다드"/>
                <a:cs typeface="프리텐다드"/>
                <a:sym typeface="프리텐다드"/>
              </a:rPr>
              <a:t>예측 교권침해율 (%)</a:t>
            </a:r>
          </a:p>
        </p:txBody>
      </p:sp>
      <p:sp>
        <p:nvSpPr>
          <p:cNvPr name="TextBox 204" id="204"/>
          <p:cNvSpPr txBox="true"/>
          <p:nvPr/>
        </p:nvSpPr>
        <p:spPr>
          <a:xfrm rot="0">
            <a:off x="1968709" y="1452448"/>
            <a:ext cx="2223119" cy="223256"/>
          </a:xfrm>
          <a:prstGeom prst="rect">
            <a:avLst/>
          </a:prstGeom>
        </p:spPr>
        <p:txBody>
          <a:bodyPr anchor="t" rtlCol="false" tIns="0" lIns="0" bIns="0" rIns="0">
            <a:spAutoFit/>
          </a:bodyPr>
          <a:lstStyle/>
          <a:p>
            <a:pPr algn="ctr" marL="0" indent="0" lvl="0">
              <a:lnSpc>
                <a:spcPts val="1737"/>
              </a:lnSpc>
              <a:spcBef>
                <a:spcPct val="0"/>
              </a:spcBef>
            </a:pPr>
            <a:r>
              <a:rPr lang="en-US" b="true" sz="1240" strike="noStrike" u="none">
                <a:solidFill>
                  <a:srgbClr val="C0392B"/>
                </a:solidFill>
                <a:latin typeface="프리텐다드 Bold"/>
                <a:ea typeface="프리텐다드 Bold"/>
                <a:cs typeface="프리텐다드 Bold"/>
                <a:sym typeface="프리텐다드 Bold"/>
              </a:rPr>
              <a:t>보호자침해</a:t>
            </a:r>
          </a:p>
        </p:txBody>
      </p:sp>
      <p:sp>
        <p:nvSpPr>
          <p:cNvPr name="AutoShape 205" id="205"/>
          <p:cNvSpPr/>
          <p:nvPr/>
        </p:nvSpPr>
        <p:spPr>
          <a:xfrm flipH="true">
            <a:off x="7732003" y="4643438"/>
            <a:ext cx="9665603" cy="0"/>
          </a:xfrm>
          <a:prstGeom prst="line">
            <a:avLst/>
          </a:prstGeom>
          <a:ln cap="rnd" w="9525">
            <a:solidFill>
              <a:srgbClr val="E2E8F0"/>
            </a:solidFill>
            <a:prstDash val="solid"/>
            <a:headEnd type="none" len="sm" w="sm"/>
            <a:tailEnd type="none" len="sm" w="sm"/>
          </a:ln>
        </p:spPr>
      </p:sp>
      <p:sp>
        <p:nvSpPr>
          <p:cNvPr name="AutoShape 206" id="206"/>
          <p:cNvSpPr/>
          <p:nvPr/>
        </p:nvSpPr>
        <p:spPr>
          <a:xfrm flipH="true">
            <a:off x="7732003" y="7406322"/>
            <a:ext cx="9665603" cy="0"/>
          </a:xfrm>
          <a:prstGeom prst="line">
            <a:avLst/>
          </a:prstGeom>
          <a:ln cap="rnd" w="9525">
            <a:solidFill>
              <a:srgbClr val="E2E8F0"/>
            </a:solidFill>
            <a:prstDash val="solid"/>
            <a:headEnd type="none" len="sm" w="sm"/>
            <a:tailEnd type="none" len="sm" w="sm"/>
          </a:ln>
        </p:spPr>
      </p:sp>
      <p:sp>
        <p:nvSpPr>
          <p:cNvPr name="TextBox 207" id="207"/>
          <p:cNvSpPr txBox="true"/>
          <p:nvPr/>
        </p:nvSpPr>
        <p:spPr>
          <a:xfrm rot="0">
            <a:off x="7741528" y="4733925"/>
            <a:ext cx="2400672" cy="248011"/>
          </a:xfrm>
          <a:prstGeom prst="rect">
            <a:avLst/>
          </a:prstGeom>
        </p:spPr>
        <p:txBody>
          <a:bodyPr anchor="t" rtlCol="false" tIns="0" lIns="0" bIns="0" rIns="0">
            <a:spAutoFit/>
          </a:bodyPr>
          <a:lstStyle/>
          <a:p>
            <a:pPr algn="ctr">
              <a:lnSpc>
                <a:spcPts val="2080"/>
              </a:lnSpc>
              <a:spcBef>
                <a:spcPct val="0"/>
              </a:spcBef>
            </a:pPr>
            <a:r>
              <a:rPr lang="en-US" b="true" sz="1485">
                <a:solidFill>
                  <a:srgbClr val="000000"/>
                </a:solidFill>
                <a:latin typeface="프리텐다드 Bold"/>
                <a:ea typeface="프리텐다드 Bold"/>
                <a:cs typeface="프리텐다드 Bold"/>
                <a:sym typeface="프리텐다드 Bold"/>
              </a:rPr>
              <a:t>학교급 x 침해유형 &amp; 결과 히트맵</a:t>
            </a:r>
          </a:p>
        </p:txBody>
      </p:sp>
      <p:sp>
        <p:nvSpPr>
          <p:cNvPr name="TextBox 208" id="208"/>
          <p:cNvSpPr txBox="true"/>
          <p:nvPr/>
        </p:nvSpPr>
        <p:spPr>
          <a:xfrm rot="0">
            <a:off x="7741528" y="5020036"/>
            <a:ext cx="4218161" cy="165100"/>
          </a:xfrm>
          <a:prstGeom prst="rect">
            <a:avLst/>
          </a:prstGeom>
        </p:spPr>
        <p:txBody>
          <a:bodyPr anchor="t" rtlCol="false" tIns="0" lIns="0" bIns="0" rIns="0">
            <a:spAutoFit/>
          </a:bodyPr>
          <a:lstStyle/>
          <a:p>
            <a:pPr algn="ctr">
              <a:lnSpc>
                <a:spcPts val="1399"/>
              </a:lnSpc>
              <a:spcBef>
                <a:spcPct val="0"/>
              </a:spcBef>
            </a:pPr>
            <a:r>
              <a:rPr lang="en-US" sz="999">
                <a:solidFill>
                  <a:srgbClr val="000000"/>
                </a:solidFill>
                <a:latin typeface="프리텐다드"/>
                <a:ea typeface="프리텐다드"/>
                <a:cs typeface="프리텐다드"/>
                <a:sym typeface="프리텐다드"/>
              </a:rPr>
              <a:t>교원 인권상황 실태조사 (2024) | 이분형 로지스틱 회귀 | 기준 집단 = 고등학교, 여성)</a:t>
            </a:r>
          </a:p>
        </p:txBody>
      </p:sp>
      <p:sp>
        <p:nvSpPr>
          <p:cNvPr name="TextBox 209" id="209"/>
          <p:cNvSpPr txBox="true"/>
          <p:nvPr/>
        </p:nvSpPr>
        <p:spPr>
          <a:xfrm rot="0">
            <a:off x="7741528" y="1367924"/>
            <a:ext cx="3343424" cy="248011"/>
          </a:xfrm>
          <a:prstGeom prst="rect">
            <a:avLst/>
          </a:prstGeom>
        </p:spPr>
        <p:txBody>
          <a:bodyPr anchor="t" rtlCol="false" tIns="0" lIns="0" bIns="0" rIns="0">
            <a:spAutoFit/>
          </a:bodyPr>
          <a:lstStyle/>
          <a:p>
            <a:pPr algn="ctr">
              <a:lnSpc>
                <a:spcPts val="2080"/>
              </a:lnSpc>
              <a:spcBef>
                <a:spcPct val="0"/>
              </a:spcBef>
            </a:pPr>
            <a:r>
              <a:rPr lang="en-US" b="true" sz="1485">
                <a:solidFill>
                  <a:srgbClr val="000000"/>
                </a:solidFill>
                <a:latin typeface="프리텐다드 Bold"/>
                <a:ea typeface="프리텐다드 Bold"/>
                <a:cs typeface="프리텐다드 Bold"/>
                <a:sym typeface="프리텐다드 Bold"/>
              </a:rPr>
              <a:t>학교 구조적 변수 분석 (이분형 로지스틱 회귀)</a:t>
            </a:r>
          </a:p>
        </p:txBody>
      </p:sp>
      <p:sp>
        <p:nvSpPr>
          <p:cNvPr name="TextBox 210" id="210"/>
          <p:cNvSpPr txBox="true"/>
          <p:nvPr/>
        </p:nvSpPr>
        <p:spPr>
          <a:xfrm rot="0">
            <a:off x="7762875" y="1641043"/>
            <a:ext cx="7990880" cy="148590"/>
          </a:xfrm>
          <a:prstGeom prst="rect">
            <a:avLst/>
          </a:prstGeom>
        </p:spPr>
        <p:txBody>
          <a:bodyPr anchor="t" rtlCol="false" tIns="0" lIns="0" bIns="0" rIns="0">
            <a:spAutoFit/>
          </a:bodyPr>
          <a:lstStyle/>
          <a:p>
            <a:pPr algn="ctr">
              <a:lnSpc>
                <a:spcPts val="1260"/>
              </a:lnSpc>
              <a:spcBef>
                <a:spcPct val="0"/>
              </a:spcBef>
            </a:pPr>
            <a:r>
              <a:rPr lang="en-US" sz="900">
                <a:solidFill>
                  <a:srgbClr val="000000"/>
                </a:solidFill>
                <a:latin typeface="프리텐다드"/>
                <a:ea typeface="프리텐다드"/>
                <a:cs typeface="프리텐다드"/>
                <a:sym typeface="프리텐다드"/>
              </a:rPr>
              <a:t>학교 구조적 변수의 분석 교원 인권상황 실태조사 (2024) | 이분형 로지스틱 회귀분석(보호자침해·학생침해 ~ 학교급+규모+설립유형+고용형태+성별) | 기준 집단 = 고등학교, 여성)</a:t>
            </a:r>
          </a:p>
        </p:txBody>
      </p:sp>
      <p:sp>
        <p:nvSpPr>
          <p:cNvPr name="TextBox 211" id="211"/>
          <p:cNvSpPr txBox="true"/>
          <p:nvPr/>
        </p:nvSpPr>
        <p:spPr>
          <a:xfrm rot="0">
            <a:off x="7762875" y="7458710"/>
            <a:ext cx="1761232" cy="248011"/>
          </a:xfrm>
          <a:prstGeom prst="rect">
            <a:avLst/>
          </a:prstGeom>
        </p:spPr>
        <p:txBody>
          <a:bodyPr anchor="t" rtlCol="false" tIns="0" lIns="0" bIns="0" rIns="0">
            <a:spAutoFit/>
          </a:bodyPr>
          <a:lstStyle/>
          <a:p>
            <a:pPr algn="ctr">
              <a:lnSpc>
                <a:spcPts val="2080"/>
              </a:lnSpc>
              <a:spcBef>
                <a:spcPct val="0"/>
              </a:spcBef>
            </a:pPr>
            <a:r>
              <a:rPr lang="en-US" b="true" sz="1485">
                <a:solidFill>
                  <a:srgbClr val="000000"/>
                </a:solidFill>
                <a:latin typeface="프리텐다드 Bold"/>
                <a:ea typeface="프리텐다드 Bold"/>
                <a:cs typeface="프리텐다드 Bold"/>
                <a:sym typeface="프리텐다드 Bold"/>
              </a:rPr>
              <a:t>취약</a:t>
            </a:r>
            <a:r>
              <a:rPr lang="en-US" b="true" sz="1485">
                <a:solidFill>
                  <a:srgbClr val="000000"/>
                </a:solidFill>
                <a:latin typeface="프리텐다드 Bold"/>
                <a:ea typeface="프리텐다드 Bold"/>
                <a:cs typeface="프리텐다드 Bold"/>
                <a:sym typeface="프리텐다드 Bold"/>
              </a:rPr>
              <a:t> 프로파일 누적 분석</a:t>
            </a:r>
          </a:p>
        </p:txBody>
      </p:sp>
      <p:sp>
        <p:nvSpPr>
          <p:cNvPr name="TextBox 212" id="212"/>
          <p:cNvSpPr txBox="true"/>
          <p:nvPr/>
        </p:nvSpPr>
        <p:spPr>
          <a:xfrm rot="0">
            <a:off x="7732003" y="7735658"/>
            <a:ext cx="4218161" cy="165100"/>
          </a:xfrm>
          <a:prstGeom prst="rect">
            <a:avLst/>
          </a:prstGeom>
        </p:spPr>
        <p:txBody>
          <a:bodyPr anchor="t" rtlCol="false" tIns="0" lIns="0" bIns="0" rIns="0">
            <a:spAutoFit/>
          </a:bodyPr>
          <a:lstStyle/>
          <a:p>
            <a:pPr algn="ctr">
              <a:lnSpc>
                <a:spcPts val="1399"/>
              </a:lnSpc>
              <a:spcBef>
                <a:spcPct val="0"/>
              </a:spcBef>
            </a:pPr>
            <a:r>
              <a:rPr lang="en-US" sz="999">
                <a:solidFill>
                  <a:srgbClr val="000000"/>
                </a:solidFill>
                <a:latin typeface="프리텐다드"/>
                <a:ea typeface="프리텐다드"/>
                <a:cs typeface="프리텐다드"/>
                <a:sym typeface="프리텐다드"/>
              </a:rPr>
              <a:t>교원 인권상황 실태조사 (2024) | 이분형 로지스틱 회귀 | 기준 집단 = 고등학교, 여성)</a:t>
            </a:r>
          </a:p>
        </p:txBody>
      </p:sp>
      <p:sp>
        <p:nvSpPr>
          <p:cNvPr name="AutoShape 213" id="213"/>
          <p:cNvSpPr/>
          <p:nvPr/>
        </p:nvSpPr>
        <p:spPr>
          <a:xfrm>
            <a:off x="7295463" y="1516414"/>
            <a:ext cx="19082" cy="8410049"/>
          </a:xfrm>
          <a:prstGeom prst="line">
            <a:avLst/>
          </a:prstGeom>
          <a:ln cap="rnd" w="9525">
            <a:solidFill>
              <a:srgbClr val="E2E8F0"/>
            </a:solidFill>
            <a:prstDash val="solid"/>
            <a:headEnd type="none" len="sm" w="sm"/>
            <a:tailEnd type="none" len="sm" w="sm"/>
          </a:ln>
        </p:spPr>
      </p:sp>
    </p:spTree>
  </p:cSld>
  <p:clrMapOvr>
    <a:masterClrMapping/>
  </p:clrMapOvr>
</p:sld>
</file>

<file path=ppt/slides/slide6.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8635704" y="8541859"/>
            <a:ext cx="77562" cy="90693"/>
            <a:chOff x="0" y="0"/>
            <a:chExt cx="108613" cy="127000"/>
          </a:xfrm>
        </p:grpSpPr>
        <p:sp>
          <p:nvSpPr>
            <p:cNvPr name="Freeform 3" id="3"/>
            <p:cNvSpPr/>
            <p:nvPr/>
          </p:nvSpPr>
          <p:spPr>
            <a:xfrm flipH="false" flipV="false" rot="0">
              <a:off x="0" y="0"/>
              <a:ext cx="108613" cy="127000"/>
            </a:xfrm>
            <a:custGeom>
              <a:avLst/>
              <a:gdLst/>
              <a:ahLst/>
              <a:cxnLst/>
              <a:rect r="r" b="b" t="t" l="l"/>
              <a:pathLst>
                <a:path h="127000" w="108613">
                  <a:moveTo>
                    <a:pt x="0" y="0"/>
                  </a:moveTo>
                  <a:lnTo>
                    <a:pt x="108613" y="0"/>
                  </a:lnTo>
                  <a:lnTo>
                    <a:pt x="108613" y="127000"/>
                  </a:lnTo>
                  <a:lnTo>
                    <a:pt x="0" y="127000"/>
                  </a:lnTo>
                  <a:close/>
                </a:path>
              </a:pathLst>
            </a:custGeom>
            <a:solidFill>
              <a:srgbClr val="1565C0"/>
            </a:solidFill>
          </p:spPr>
        </p:sp>
        <p:sp>
          <p:nvSpPr>
            <p:cNvPr name="TextBox 4" id="4"/>
            <p:cNvSpPr txBox="true"/>
            <p:nvPr/>
          </p:nvSpPr>
          <p:spPr>
            <a:xfrm>
              <a:off x="0" y="-28575"/>
              <a:ext cx="108613" cy="155575"/>
            </a:xfrm>
            <a:prstGeom prst="rect">
              <a:avLst/>
            </a:prstGeom>
          </p:spPr>
          <p:txBody>
            <a:bodyPr anchor="ctr" rtlCol="false" tIns="50800" lIns="50800" bIns="50800" rIns="50800"/>
            <a:lstStyle/>
            <a:p>
              <a:pPr algn="l">
                <a:lnSpc>
                  <a:spcPts val="1679"/>
                </a:lnSpc>
              </a:pPr>
            </a:p>
          </p:txBody>
        </p:sp>
      </p:grpSp>
      <p:grpSp>
        <p:nvGrpSpPr>
          <p:cNvPr name="Group 5" id="5"/>
          <p:cNvGrpSpPr/>
          <p:nvPr/>
        </p:nvGrpSpPr>
        <p:grpSpPr>
          <a:xfrm rot="0">
            <a:off x="7084460" y="8541859"/>
            <a:ext cx="77562" cy="90693"/>
            <a:chOff x="0" y="0"/>
            <a:chExt cx="108613" cy="127000"/>
          </a:xfrm>
        </p:grpSpPr>
        <p:sp>
          <p:nvSpPr>
            <p:cNvPr name="Freeform 6" id="6"/>
            <p:cNvSpPr/>
            <p:nvPr/>
          </p:nvSpPr>
          <p:spPr>
            <a:xfrm flipH="false" flipV="false" rot="0">
              <a:off x="0" y="0"/>
              <a:ext cx="108613" cy="127000"/>
            </a:xfrm>
            <a:custGeom>
              <a:avLst/>
              <a:gdLst/>
              <a:ahLst/>
              <a:cxnLst/>
              <a:rect r="r" b="b" t="t" l="l"/>
              <a:pathLst>
                <a:path h="127000" w="108613">
                  <a:moveTo>
                    <a:pt x="0" y="0"/>
                  </a:moveTo>
                  <a:lnTo>
                    <a:pt x="108613" y="0"/>
                  </a:lnTo>
                  <a:lnTo>
                    <a:pt x="108613" y="127000"/>
                  </a:lnTo>
                  <a:lnTo>
                    <a:pt x="0" y="127000"/>
                  </a:lnTo>
                  <a:close/>
                </a:path>
              </a:pathLst>
            </a:custGeom>
            <a:solidFill>
              <a:srgbClr val="C0392B"/>
            </a:solidFill>
          </p:spPr>
        </p:sp>
        <p:sp>
          <p:nvSpPr>
            <p:cNvPr name="TextBox 7" id="7"/>
            <p:cNvSpPr txBox="true"/>
            <p:nvPr/>
          </p:nvSpPr>
          <p:spPr>
            <a:xfrm>
              <a:off x="0" y="-28575"/>
              <a:ext cx="108613" cy="155575"/>
            </a:xfrm>
            <a:prstGeom prst="rect">
              <a:avLst/>
            </a:prstGeom>
          </p:spPr>
          <p:txBody>
            <a:bodyPr anchor="ctr" rtlCol="false" tIns="50800" lIns="50800" bIns="50800" rIns="50800"/>
            <a:lstStyle/>
            <a:p>
              <a:pPr algn="l">
                <a:lnSpc>
                  <a:spcPts val="1679"/>
                </a:lnSpc>
              </a:pPr>
            </a:p>
          </p:txBody>
        </p:sp>
      </p:grpSp>
      <p:grpSp>
        <p:nvGrpSpPr>
          <p:cNvPr name="Group 8" id="8"/>
          <p:cNvGrpSpPr/>
          <p:nvPr/>
        </p:nvGrpSpPr>
        <p:grpSpPr>
          <a:xfrm rot="0">
            <a:off x="8891659" y="7816319"/>
            <a:ext cx="77562" cy="90693"/>
            <a:chOff x="0" y="0"/>
            <a:chExt cx="108613" cy="127000"/>
          </a:xfrm>
        </p:grpSpPr>
        <p:sp>
          <p:nvSpPr>
            <p:cNvPr name="Freeform 9" id="9"/>
            <p:cNvSpPr/>
            <p:nvPr/>
          </p:nvSpPr>
          <p:spPr>
            <a:xfrm flipH="false" flipV="false" rot="0">
              <a:off x="0" y="0"/>
              <a:ext cx="108613" cy="127000"/>
            </a:xfrm>
            <a:custGeom>
              <a:avLst/>
              <a:gdLst/>
              <a:ahLst/>
              <a:cxnLst/>
              <a:rect r="r" b="b" t="t" l="l"/>
              <a:pathLst>
                <a:path h="127000" w="108613">
                  <a:moveTo>
                    <a:pt x="54307" y="0"/>
                  </a:moveTo>
                  <a:cubicBezTo>
                    <a:pt x="24314" y="0"/>
                    <a:pt x="0" y="28430"/>
                    <a:pt x="0" y="63500"/>
                  </a:cubicBezTo>
                  <a:cubicBezTo>
                    <a:pt x="0" y="98570"/>
                    <a:pt x="24314" y="127000"/>
                    <a:pt x="54307" y="127000"/>
                  </a:cubicBezTo>
                  <a:cubicBezTo>
                    <a:pt x="84299" y="127000"/>
                    <a:pt x="108613" y="98570"/>
                    <a:pt x="108613" y="63500"/>
                  </a:cubicBezTo>
                  <a:cubicBezTo>
                    <a:pt x="108613" y="28430"/>
                    <a:pt x="84299" y="0"/>
                    <a:pt x="54307" y="0"/>
                  </a:cubicBezTo>
                  <a:close/>
                </a:path>
              </a:pathLst>
            </a:custGeom>
            <a:solidFill>
              <a:srgbClr val="1565C0"/>
            </a:solidFill>
          </p:spPr>
        </p:sp>
        <p:sp>
          <p:nvSpPr>
            <p:cNvPr name="TextBox 10" id="10"/>
            <p:cNvSpPr txBox="true"/>
            <p:nvPr/>
          </p:nvSpPr>
          <p:spPr>
            <a:xfrm>
              <a:off x="0" y="-28575"/>
              <a:ext cx="108613" cy="155575"/>
            </a:xfrm>
            <a:prstGeom prst="rect">
              <a:avLst/>
            </a:prstGeom>
          </p:spPr>
          <p:txBody>
            <a:bodyPr anchor="ctr" rtlCol="false" tIns="50800" lIns="50800" bIns="50800" rIns="50800"/>
            <a:lstStyle/>
            <a:p>
              <a:pPr algn="l">
                <a:lnSpc>
                  <a:spcPts val="1679"/>
                </a:lnSpc>
              </a:pPr>
            </a:p>
          </p:txBody>
        </p:sp>
      </p:grpSp>
      <p:grpSp>
        <p:nvGrpSpPr>
          <p:cNvPr name="Group 11" id="11"/>
          <p:cNvGrpSpPr/>
          <p:nvPr/>
        </p:nvGrpSpPr>
        <p:grpSpPr>
          <a:xfrm rot="0">
            <a:off x="8340968" y="7816319"/>
            <a:ext cx="77562" cy="90693"/>
            <a:chOff x="0" y="0"/>
            <a:chExt cx="108613" cy="127000"/>
          </a:xfrm>
        </p:grpSpPr>
        <p:sp>
          <p:nvSpPr>
            <p:cNvPr name="Freeform 12" id="12"/>
            <p:cNvSpPr/>
            <p:nvPr/>
          </p:nvSpPr>
          <p:spPr>
            <a:xfrm flipH="false" flipV="false" rot="0">
              <a:off x="0" y="0"/>
              <a:ext cx="108613" cy="127000"/>
            </a:xfrm>
            <a:custGeom>
              <a:avLst/>
              <a:gdLst/>
              <a:ahLst/>
              <a:cxnLst/>
              <a:rect r="r" b="b" t="t" l="l"/>
              <a:pathLst>
                <a:path h="127000" w="108613">
                  <a:moveTo>
                    <a:pt x="54307" y="0"/>
                  </a:moveTo>
                  <a:cubicBezTo>
                    <a:pt x="24314" y="0"/>
                    <a:pt x="0" y="28430"/>
                    <a:pt x="0" y="63500"/>
                  </a:cubicBezTo>
                  <a:cubicBezTo>
                    <a:pt x="0" y="98570"/>
                    <a:pt x="24314" y="127000"/>
                    <a:pt x="54307" y="127000"/>
                  </a:cubicBezTo>
                  <a:cubicBezTo>
                    <a:pt x="84299" y="127000"/>
                    <a:pt x="108613" y="98570"/>
                    <a:pt x="108613" y="63500"/>
                  </a:cubicBezTo>
                  <a:cubicBezTo>
                    <a:pt x="108613" y="28430"/>
                    <a:pt x="84299" y="0"/>
                    <a:pt x="54307" y="0"/>
                  </a:cubicBezTo>
                  <a:close/>
                </a:path>
              </a:pathLst>
            </a:custGeom>
            <a:solidFill>
              <a:srgbClr val="C0392B"/>
            </a:solidFill>
          </p:spPr>
        </p:sp>
        <p:sp>
          <p:nvSpPr>
            <p:cNvPr name="TextBox 13" id="13"/>
            <p:cNvSpPr txBox="true"/>
            <p:nvPr/>
          </p:nvSpPr>
          <p:spPr>
            <a:xfrm>
              <a:off x="0" y="-28575"/>
              <a:ext cx="108613" cy="155575"/>
            </a:xfrm>
            <a:prstGeom prst="rect">
              <a:avLst/>
            </a:prstGeom>
          </p:spPr>
          <p:txBody>
            <a:bodyPr anchor="ctr" rtlCol="false" tIns="50800" lIns="50800" bIns="50800" rIns="50800"/>
            <a:lstStyle/>
            <a:p>
              <a:pPr algn="l">
                <a:lnSpc>
                  <a:spcPts val="1679"/>
                </a:lnSpc>
              </a:pPr>
            </a:p>
          </p:txBody>
        </p:sp>
      </p:grpSp>
      <p:sp>
        <p:nvSpPr>
          <p:cNvPr name="AutoShape 14" id="14"/>
          <p:cNvSpPr/>
          <p:nvPr/>
        </p:nvSpPr>
        <p:spPr>
          <a:xfrm>
            <a:off x="8379749" y="7861666"/>
            <a:ext cx="550692" cy="0"/>
          </a:xfrm>
          <a:prstGeom prst="line">
            <a:avLst/>
          </a:prstGeom>
          <a:ln cap="flat" w="19050">
            <a:solidFill>
              <a:srgbClr val="CBD5E1"/>
            </a:solidFill>
            <a:prstDash val="solid"/>
            <a:headEnd type="none" len="sm" w="sm"/>
            <a:tailEnd type="none" len="sm" w="sm"/>
          </a:ln>
        </p:spPr>
      </p:sp>
      <p:grpSp>
        <p:nvGrpSpPr>
          <p:cNvPr name="Group 15" id="15"/>
          <p:cNvGrpSpPr/>
          <p:nvPr/>
        </p:nvGrpSpPr>
        <p:grpSpPr>
          <a:xfrm rot="0">
            <a:off x="8255649" y="7362857"/>
            <a:ext cx="77562" cy="90693"/>
            <a:chOff x="0" y="0"/>
            <a:chExt cx="108613" cy="127000"/>
          </a:xfrm>
        </p:grpSpPr>
        <p:sp>
          <p:nvSpPr>
            <p:cNvPr name="Freeform 16" id="16"/>
            <p:cNvSpPr/>
            <p:nvPr/>
          </p:nvSpPr>
          <p:spPr>
            <a:xfrm flipH="false" flipV="false" rot="0">
              <a:off x="0" y="0"/>
              <a:ext cx="108613" cy="127000"/>
            </a:xfrm>
            <a:custGeom>
              <a:avLst/>
              <a:gdLst/>
              <a:ahLst/>
              <a:cxnLst/>
              <a:rect r="r" b="b" t="t" l="l"/>
              <a:pathLst>
                <a:path h="127000" w="108613">
                  <a:moveTo>
                    <a:pt x="54307" y="0"/>
                  </a:moveTo>
                  <a:cubicBezTo>
                    <a:pt x="24314" y="0"/>
                    <a:pt x="0" y="28430"/>
                    <a:pt x="0" y="63500"/>
                  </a:cubicBezTo>
                  <a:cubicBezTo>
                    <a:pt x="0" y="98570"/>
                    <a:pt x="24314" y="127000"/>
                    <a:pt x="54307" y="127000"/>
                  </a:cubicBezTo>
                  <a:cubicBezTo>
                    <a:pt x="84299" y="127000"/>
                    <a:pt x="108613" y="98570"/>
                    <a:pt x="108613" y="63500"/>
                  </a:cubicBezTo>
                  <a:cubicBezTo>
                    <a:pt x="108613" y="28430"/>
                    <a:pt x="84299" y="0"/>
                    <a:pt x="54307" y="0"/>
                  </a:cubicBezTo>
                  <a:close/>
                </a:path>
              </a:pathLst>
            </a:custGeom>
            <a:solidFill>
              <a:srgbClr val="1565C0"/>
            </a:solidFill>
          </p:spPr>
        </p:sp>
        <p:sp>
          <p:nvSpPr>
            <p:cNvPr name="TextBox 17" id="17"/>
            <p:cNvSpPr txBox="true"/>
            <p:nvPr/>
          </p:nvSpPr>
          <p:spPr>
            <a:xfrm>
              <a:off x="0" y="-28575"/>
              <a:ext cx="108613" cy="155575"/>
            </a:xfrm>
            <a:prstGeom prst="rect">
              <a:avLst/>
            </a:prstGeom>
          </p:spPr>
          <p:txBody>
            <a:bodyPr anchor="ctr" rtlCol="false" tIns="50800" lIns="50800" bIns="50800" rIns="50800"/>
            <a:lstStyle/>
            <a:p>
              <a:pPr algn="l">
                <a:lnSpc>
                  <a:spcPts val="1679"/>
                </a:lnSpc>
              </a:pPr>
            </a:p>
          </p:txBody>
        </p:sp>
      </p:grpSp>
      <p:grpSp>
        <p:nvGrpSpPr>
          <p:cNvPr name="Group 18" id="18"/>
          <p:cNvGrpSpPr/>
          <p:nvPr/>
        </p:nvGrpSpPr>
        <p:grpSpPr>
          <a:xfrm rot="0">
            <a:off x="7642908" y="7362857"/>
            <a:ext cx="77562" cy="90693"/>
            <a:chOff x="0" y="0"/>
            <a:chExt cx="108613" cy="127000"/>
          </a:xfrm>
        </p:grpSpPr>
        <p:sp>
          <p:nvSpPr>
            <p:cNvPr name="Freeform 19" id="19"/>
            <p:cNvSpPr/>
            <p:nvPr/>
          </p:nvSpPr>
          <p:spPr>
            <a:xfrm flipH="false" flipV="false" rot="0">
              <a:off x="0" y="0"/>
              <a:ext cx="108613" cy="127000"/>
            </a:xfrm>
            <a:custGeom>
              <a:avLst/>
              <a:gdLst/>
              <a:ahLst/>
              <a:cxnLst/>
              <a:rect r="r" b="b" t="t" l="l"/>
              <a:pathLst>
                <a:path h="127000" w="108613">
                  <a:moveTo>
                    <a:pt x="54307" y="0"/>
                  </a:moveTo>
                  <a:cubicBezTo>
                    <a:pt x="24314" y="0"/>
                    <a:pt x="0" y="28430"/>
                    <a:pt x="0" y="63500"/>
                  </a:cubicBezTo>
                  <a:cubicBezTo>
                    <a:pt x="0" y="98570"/>
                    <a:pt x="24314" y="127000"/>
                    <a:pt x="54307" y="127000"/>
                  </a:cubicBezTo>
                  <a:cubicBezTo>
                    <a:pt x="84299" y="127000"/>
                    <a:pt x="108613" y="98570"/>
                    <a:pt x="108613" y="63500"/>
                  </a:cubicBezTo>
                  <a:cubicBezTo>
                    <a:pt x="108613" y="28430"/>
                    <a:pt x="84299" y="0"/>
                    <a:pt x="54307" y="0"/>
                  </a:cubicBezTo>
                  <a:close/>
                </a:path>
              </a:pathLst>
            </a:custGeom>
            <a:solidFill>
              <a:srgbClr val="C0392B"/>
            </a:solidFill>
          </p:spPr>
        </p:sp>
        <p:sp>
          <p:nvSpPr>
            <p:cNvPr name="TextBox 20" id="20"/>
            <p:cNvSpPr txBox="true"/>
            <p:nvPr/>
          </p:nvSpPr>
          <p:spPr>
            <a:xfrm>
              <a:off x="0" y="-28575"/>
              <a:ext cx="108613" cy="155575"/>
            </a:xfrm>
            <a:prstGeom prst="rect">
              <a:avLst/>
            </a:prstGeom>
          </p:spPr>
          <p:txBody>
            <a:bodyPr anchor="ctr" rtlCol="false" tIns="50800" lIns="50800" bIns="50800" rIns="50800"/>
            <a:lstStyle/>
            <a:p>
              <a:pPr algn="l">
                <a:lnSpc>
                  <a:spcPts val="1679"/>
                </a:lnSpc>
              </a:pPr>
            </a:p>
          </p:txBody>
        </p:sp>
      </p:grpSp>
      <p:sp>
        <p:nvSpPr>
          <p:cNvPr name="AutoShape 21" id="21"/>
          <p:cNvSpPr/>
          <p:nvPr/>
        </p:nvSpPr>
        <p:spPr>
          <a:xfrm>
            <a:off x="7681689" y="7408203"/>
            <a:ext cx="612741" cy="0"/>
          </a:xfrm>
          <a:prstGeom prst="line">
            <a:avLst/>
          </a:prstGeom>
          <a:ln cap="flat" w="19050">
            <a:solidFill>
              <a:srgbClr val="CBD5E1"/>
            </a:solidFill>
            <a:prstDash val="solid"/>
            <a:headEnd type="none" len="sm" w="sm"/>
            <a:tailEnd type="none" len="sm" w="sm"/>
          </a:ln>
        </p:spPr>
      </p:sp>
      <p:grpSp>
        <p:nvGrpSpPr>
          <p:cNvPr name="Group 22" id="22"/>
          <p:cNvGrpSpPr/>
          <p:nvPr/>
        </p:nvGrpSpPr>
        <p:grpSpPr>
          <a:xfrm rot="0">
            <a:off x="8488336" y="6909394"/>
            <a:ext cx="77562" cy="90693"/>
            <a:chOff x="0" y="0"/>
            <a:chExt cx="108613" cy="127000"/>
          </a:xfrm>
        </p:grpSpPr>
        <p:sp>
          <p:nvSpPr>
            <p:cNvPr name="Freeform 23" id="23"/>
            <p:cNvSpPr/>
            <p:nvPr/>
          </p:nvSpPr>
          <p:spPr>
            <a:xfrm flipH="false" flipV="false" rot="0">
              <a:off x="0" y="0"/>
              <a:ext cx="108613" cy="127000"/>
            </a:xfrm>
            <a:custGeom>
              <a:avLst/>
              <a:gdLst/>
              <a:ahLst/>
              <a:cxnLst/>
              <a:rect r="r" b="b" t="t" l="l"/>
              <a:pathLst>
                <a:path h="127000" w="108613">
                  <a:moveTo>
                    <a:pt x="54307" y="0"/>
                  </a:moveTo>
                  <a:cubicBezTo>
                    <a:pt x="24314" y="0"/>
                    <a:pt x="0" y="28430"/>
                    <a:pt x="0" y="63500"/>
                  </a:cubicBezTo>
                  <a:cubicBezTo>
                    <a:pt x="0" y="98570"/>
                    <a:pt x="24314" y="127000"/>
                    <a:pt x="54307" y="127000"/>
                  </a:cubicBezTo>
                  <a:cubicBezTo>
                    <a:pt x="84299" y="127000"/>
                    <a:pt x="108613" y="98570"/>
                    <a:pt x="108613" y="63500"/>
                  </a:cubicBezTo>
                  <a:cubicBezTo>
                    <a:pt x="108613" y="28430"/>
                    <a:pt x="84299" y="0"/>
                    <a:pt x="54307" y="0"/>
                  </a:cubicBezTo>
                  <a:close/>
                </a:path>
              </a:pathLst>
            </a:custGeom>
            <a:solidFill>
              <a:srgbClr val="1565C0"/>
            </a:solidFill>
          </p:spPr>
        </p:sp>
        <p:sp>
          <p:nvSpPr>
            <p:cNvPr name="TextBox 24" id="24"/>
            <p:cNvSpPr txBox="true"/>
            <p:nvPr/>
          </p:nvSpPr>
          <p:spPr>
            <a:xfrm>
              <a:off x="0" y="-28575"/>
              <a:ext cx="108613" cy="155575"/>
            </a:xfrm>
            <a:prstGeom prst="rect">
              <a:avLst/>
            </a:prstGeom>
          </p:spPr>
          <p:txBody>
            <a:bodyPr anchor="ctr" rtlCol="false" tIns="50800" lIns="50800" bIns="50800" rIns="50800"/>
            <a:lstStyle/>
            <a:p>
              <a:pPr algn="l">
                <a:lnSpc>
                  <a:spcPts val="1679"/>
                </a:lnSpc>
              </a:pPr>
            </a:p>
          </p:txBody>
        </p:sp>
      </p:grpSp>
      <p:grpSp>
        <p:nvGrpSpPr>
          <p:cNvPr name="Group 25" id="25"/>
          <p:cNvGrpSpPr/>
          <p:nvPr/>
        </p:nvGrpSpPr>
        <p:grpSpPr>
          <a:xfrm rot="0">
            <a:off x="7712714" y="6909394"/>
            <a:ext cx="77562" cy="90693"/>
            <a:chOff x="0" y="0"/>
            <a:chExt cx="108613" cy="127000"/>
          </a:xfrm>
        </p:grpSpPr>
        <p:sp>
          <p:nvSpPr>
            <p:cNvPr name="Freeform 26" id="26"/>
            <p:cNvSpPr/>
            <p:nvPr/>
          </p:nvSpPr>
          <p:spPr>
            <a:xfrm flipH="false" flipV="false" rot="0">
              <a:off x="0" y="0"/>
              <a:ext cx="108613" cy="127000"/>
            </a:xfrm>
            <a:custGeom>
              <a:avLst/>
              <a:gdLst/>
              <a:ahLst/>
              <a:cxnLst/>
              <a:rect r="r" b="b" t="t" l="l"/>
              <a:pathLst>
                <a:path h="127000" w="108613">
                  <a:moveTo>
                    <a:pt x="54307" y="0"/>
                  </a:moveTo>
                  <a:cubicBezTo>
                    <a:pt x="24314" y="0"/>
                    <a:pt x="0" y="28430"/>
                    <a:pt x="0" y="63500"/>
                  </a:cubicBezTo>
                  <a:cubicBezTo>
                    <a:pt x="0" y="98570"/>
                    <a:pt x="24314" y="127000"/>
                    <a:pt x="54307" y="127000"/>
                  </a:cubicBezTo>
                  <a:cubicBezTo>
                    <a:pt x="84299" y="127000"/>
                    <a:pt x="108613" y="98570"/>
                    <a:pt x="108613" y="63500"/>
                  </a:cubicBezTo>
                  <a:cubicBezTo>
                    <a:pt x="108613" y="28430"/>
                    <a:pt x="84299" y="0"/>
                    <a:pt x="54307" y="0"/>
                  </a:cubicBezTo>
                  <a:close/>
                </a:path>
              </a:pathLst>
            </a:custGeom>
            <a:solidFill>
              <a:srgbClr val="C0392B"/>
            </a:solidFill>
          </p:spPr>
        </p:sp>
        <p:sp>
          <p:nvSpPr>
            <p:cNvPr name="TextBox 27" id="27"/>
            <p:cNvSpPr txBox="true"/>
            <p:nvPr/>
          </p:nvSpPr>
          <p:spPr>
            <a:xfrm>
              <a:off x="0" y="-28575"/>
              <a:ext cx="108613" cy="155575"/>
            </a:xfrm>
            <a:prstGeom prst="rect">
              <a:avLst/>
            </a:prstGeom>
          </p:spPr>
          <p:txBody>
            <a:bodyPr anchor="ctr" rtlCol="false" tIns="50800" lIns="50800" bIns="50800" rIns="50800"/>
            <a:lstStyle/>
            <a:p>
              <a:pPr algn="l">
                <a:lnSpc>
                  <a:spcPts val="1679"/>
                </a:lnSpc>
              </a:pPr>
            </a:p>
          </p:txBody>
        </p:sp>
      </p:grpSp>
      <p:sp>
        <p:nvSpPr>
          <p:cNvPr name="AutoShape 28" id="28"/>
          <p:cNvSpPr/>
          <p:nvPr/>
        </p:nvSpPr>
        <p:spPr>
          <a:xfrm>
            <a:off x="7751495" y="6954741"/>
            <a:ext cx="775622" cy="0"/>
          </a:xfrm>
          <a:prstGeom prst="line">
            <a:avLst/>
          </a:prstGeom>
          <a:ln cap="flat" w="19050">
            <a:solidFill>
              <a:srgbClr val="CBD5E1"/>
            </a:solidFill>
            <a:prstDash val="solid"/>
            <a:headEnd type="none" len="sm" w="sm"/>
            <a:tailEnd type="none" len="sm" w="sm"/>
          </a:ln>
        </p:spPr>
      </p:sp>
      <p:grpSp>
        <p:nvGrpSpPr>
          <p:cNvPr name="Group 29" id="29"/>
          <p:cNvGrpSpPr/>
          <p:nvPr/>
        </p:nvGrpSpPr>
        <p:grpSpPr>
          <a:xfrm rot="0">
            <a:off x="8596923" y="6455932"/>
            <a:ext cx="77562" cy="90693"/>
            <a:chOff x="0" y="0"/>
            <a:chExt cx="108613" cy="127000"/>
          </a:xfrm>
        </p:grpSpPr>
        <p:sp>
          <p:nvSpPr>
            <p:cNvPr name="Freeform 30" id="30"/>
            <p:cNvSpPr/>
            <p:nvPr/>
          </p:nvSpPr>
          <p:spPr>
            <a:xfrm flipH="false" flipV="false" rot="0">
              <a:off x="0" y="0"/>
              <a:ext cx="108613" cy="127000"/>
            </a:xfrm>
            <a:custGeom>
              <a:avLst/>
              <a:gdLst/>
              <a:ahLst/>
              <a:cxnLst/>
              <a:rect r="r" b="b" t="t" l="l"/>
              <a:pathLst>
                <a:path h="127000" w="108613">
                  <a:moveTo>
                    <a:pt x="54307" y="0"/>
                  </a:moveTo>
                  <a:cubicBezTo>
                    <a:pt x="24314" y="0"/>
                    <a:pt x="0" y="28430"/>
                    <a:pt x="0" y="63500"/>
                  </a:cubicBezTo>
                  <a:cubicBezTo>
                    <a:pt x="0" y="98570"/>
                    <a:pt x="24314" y="127000"/>
                    <a:pt x="54307" y="127000"/>
                  </a:cubicBezTo>
                  <a:cubicBezTo>
                    <a:pt x="84299" y="127000"/>
                    <a:pt x="108613" y="98570"/>
                    <a:pt x="108613" y="63500"/>
                  </a:cubicBezTo>
                  <a:cubicBezTo>
                    <a:pt x="108613" y="28430"/>
                    <a:pt x="84299" y="0"/>
                    <a:pt x="54307" y="0"/>
                  </a:cubicBezTo>
                  <a:close/>
                </a:path>
              </a:pathLst>
            </a:custGeom>
            <a:solidFill>
              <a:srgbClr val="1565C0"/>
            </a:solidFill>
          </p:spPr>
        </p:sp>
        <p:sp>
          <p:nvSpPr>
            <p:cNvPr name="TextBox 31" id="31"/>
            <p:cNvSpPr txBox="true"/>
            <p:nvPr/>
          </p:nvSpPr>
          <p:spPr>
            <a:xfrm>
              <a:off x="0" y="-28575"/>
              <a:ext cx="108613" cy="155575"/>
            </a:xfrm>
            <a:prstGeom prst="rect">
              <a:avLst/>
            </a:prstGeom>
          </p:spPr>
          <p:txBody>
            <a:bodyPr anchor="ctr" rtlCol="false" tIns="50800" lIns="50800" bIns="50800" rIns="50800"/>
            <a:lstStyle/>
            <a:p>
              <a:pPr algn="l">
                <a:lnSpc>
                  <a:spcPts val="1679"/>
                </a:lnSpc>
              </a:pPr>
            </a:p>
          </p:txBody>
        </p:sp>
      </p:grpSp>
      <p:grpSp>
        <p:nvGrpSpPr>
          <p:cNvPr name="Group 32" id="32"/>
          <p:cNvGrpSpPr/>
          <p:nvPr/>
        </p:nvGrpSpPr>
        <p:grpSpPr>
          <a:xfrm rot="0">
            <a:off x="7681689" y="6455932"/>
            <a:ext cx="77562" cy="90693"/>
            <a:chOff x="0" y="0"/>
            <a:chExt cx="108613" cy="127000"/>
          </a:xfrm>
        </p:grpSpPr>
        <p:sp>
          <p:nvSpPr>
            <p:cNvPr name="Freeform 33" id="33"/>
            <p:cNvSpPr/>
            <p:nvPr/>
          </p:nvSpPr>
          <p:spPr>
            <a:xfrm flipH="false" flipV="false" rot="0">
              <a:off x="0" y="0"/>
              <a:ext cx="108613" cy="127000"/>
            </a:xfrm>
            <a:custGeom>
              <a:avLst/>
              <a:gdLst/>
              <a:ahLst/>
              <a:cxnLst/>
              <a:rect r="r" b="b" t="t" l="l"/>
              <a:pathLst>
                <a:path h="127000" w="108613">
                  <a:moveTo>
                    <a:pt x="54307" y="0"/>
                  </a:moveTo>
                  <a:cubicBezTo>
                    <a:pt x="24314" y="0"/>
                    <a:pt x="0" y="28430"/>
                    <a:pt x="0" y="63500"/>
                  </a:cubicBezTo>
                  <a:cubicBezTo>
                    <a:pt x="0" y="98570"/>
                    <a:pt x="24314" y="127000"/>
                    <a:pt x="54307" y="127000"/>
                  </a:cubicBezTo>
                  <a:cubicBezTo>
                    <a:pt x="84299" y="127000"/>
                    <a:pt x="108613" y="98570"/>
                    <a:pt x="108613" y="63500"/>
                  </a:cubicBezTo>
                  <a:cubicBezTo>
                    <a:pt x="108613" y="28430"/>
                    <a:pt x="84299" y="0"/>
                    <a:pt x="54307" y="0"/>
                  </a:cubicBezTo>
                  <a:close/>
                </a:path>
              </a:pathLst>
            </a:custGeom>
            <a:solidFill>
              <a:srgbClr val="C0392B"/>
            </a:solidFill>
          </p:spPr>
        </p:sp>
        <p:sp>
          <p:nvSpPr>
            <p:cNvPr name="TextBox 34" id="34"/>
            <p:cNvSpPr txBox="true"/>
            <p:nvPr/>
          </p:nvSpPr>
          <p:spPr>
            <a:xfrm>
              <a:off x="0" y="-28575"/>
              <a:ext cx="108613" cy="155575"/>
            </a:xfrm>
            <a:prstGeom prst="rect">
              <a:avLst/>
            </a:prstGeom>
          </p:spPr>
          <p:txBody>
            <a:bodyPr anchor="ctr" rtlCol="false" tIns="50800" lIns="50800" bIns="50800" rIns="50800"/>
            <a:lstStyle/>
            <a:p>
              <a:pPr algn="l">
                <a:lnSpc>
                  <a:spcPts val="1679"/>
                </a:lnSpc>
              </a:pPr>
            </a:p>
          </p:txBody>
        </p:sp>
      </p:grpSp>
      <p:sp>
        <p:nvSpPr>
          <p:cNvPr name="AutoShape 35" id="35"/>
          <p:cNvSpPr/>
          <p:nvPr/>
        </p:nvSpPr>
        <p:spPr>
          <a:xfrm>
            <a:off x="7720470" y="6501278"/>
            <a:ext cx="915234" cy="0"/>
          </a:xfrm>
          <a:prstGeom prst="line">
            <a:avLst/>
          </a:prstGeom>
          <a:ln cap="flat" w="19050">
            <a:solidFill>
              <a:srgbClr val="CBD5E1"/>
            </a:solidFill>
            <a:prstDash val="solid"/>
            <a:headEnd type="none" len="sm" w="sm"/>
            <a:tailEnd type="none" len="sm" w="sm"/>
          </a:ln>
        </p:spPr>
      </p:sp>
      <p:sp>
        <p:nvSpPr>
          <p:cNvPr name="AutoShape 36" id="36"/>
          <p:cNvSpPr/>
          <p:nvPr/>
        </p:nvSpPr>
        <p:spPr>
          <a:xfrm>
            <a:off x="9519897" y="6274547"/>
            <a:ext cx="0" cy="1904543"/>
          </a:xfrm>
          <a:prstGeom prst="line">
            <a:avLst/>
          </a:prstGeom>
          <a:ln cap="flat" w="9525">
            <a:solidFill>
              <a:srgbClr val="E2E8F0"/>
            </a:solidFill>
            <a:prstDash val="solid"/>
            <a:headEnd type="none" len="sm" w="sm"/>
            <a:tailEnd type="none" len="sm" w="sm"/>
          </a:ln>
        </p:spPr>
      </p:sp>
      <p:sp>
        <p:nvSpPr>
          <p:cNvPr name="TextBox 37" id="37"/>
          <p:cNvSpPr txBox="true"/>
          <p:nvPr/>
        </p:nvSpPr>
        <p:spPr>
          <a:xfrm rot="0">
            <a:off x="2668048" y="2736224"/>
            <a:ext cx="1005947" cy="183092"/>
          </a:xfrm>
          <a:prstGeom prst="rect">
            <a:avLst/>
          </a:prstGeom>
        </p:spPr>
        <p:txBody>
          <a:bodyPr anchor="t" rtlCol="false" tIns="0" lIns="0" bIns="0" rIns="0">
            <a:spAutoFit/>
          </a:bodyPr>
          <a:lstStyle/>
          <a:p>
            <a:pPr algn="ctr" marL="0" indent="0" lvl="0">
              <a:lnSpc>
                <a:spcPts val="1458"/>
              </a:lnSpc>
              <a:spcBef>
                <a:spcPct val="0"/>
              </a:spcBef>
            </a:pPr>
            <a:r>
              <a:rPr lang="en-US" sz="1041" strike="noStrike" u="none">
                <a:solidFill>
                  <a:srgbClr val="C0392B"/>
                </a:solidFill>
                <a:latin typeface="프리텐다드"/>
                <a:ea typeface="프리텐다드"/>
                <a:cs typeface="프리텐다드"/>
                <a:sym typeface="프리텐다드"/>
              </a:rPr>
              <a:t>b = 0.454***</a:t>
            </a:r>
          </a:p>
        </p:txBody>
      </p:sp>
      <p:sp>
        <p:nvSpPr>
          <p:cNvPr name="TextBox 38" id="38"/>
          <p:cNvSpPr txBox="true"/>
          <p:nvPr/>
        </p:nvSpPr>
        <p:spPr>
          <a:xfrm rot="0">
            <a:off x="5484700" y="3026999"/>
            <a:ext cx="1005947" cy="183092"/>
          </a:xfrm>
          <a:prstGeom prst="rect">
            <a:avLst/>
          </a:prstGeom>
        </p:spPr>
        <p:txBody>
          <a:bodyPr anchor="t" rtlCol="false" tIns="0" lIns="0" bIns="0" rIns="0">
            <a:spAutoFit/>
          </a:bodyPr>
          <a:lstStyle/>
          <a:p>
            <a:pPr algn="ctr" marL="0" indent="0" lvl="0">
              <a:lnSpc>
                <a:spcPts val="1458"/>
              </a:lnSpc>
              <a:spcBef>
                <a:spcPct val="0"/>
              </a:spcBef>
            </a:pPr>
            <a:r>
              <a:rPr lang="en-US" sz="1041" strike="noStrike" u="none">
                <a:solidFill>
                  <a:srgbClr val="1565C0"/>
                </a:solidFill>
                <a:latin typeface="프리텐다드"/>
                <a:ea typeface="프리텐다드"/>
                <a:cs typeface="프리텐다드"/>
                <a:sym typeface="프리텐다드"/>
              </a:rPr>
              <a:t>b = 0.350***</a:t>
            </a:r>
          </a:p>
        </p:txBody>
      </p:sp>
      <p:sp>
        <p:nvSpPr>
          <p:cNvPr name="TextBox 39" id="39"/>
          <p:cNvSpPr txBox="true"/>
          <p:nvPr/>
        </p:nvSpPr>
        <p:spPr>
          <a:xfrm rot="0">
            <a:off x="6037971" y="1693069"/>
            <a:ext cx="1408326" cy="183092"/>
          </a:xfrm>
          <a:prstGeom prst="rect">
            <a:avLst/>
          </a:prstGeom>
        </p:spPr>
        <p:txBody>
          <a:bodyPr anchor="t" rtlCol="false" tIns="0" lIns="0" bIns="0" rIns="0">
            <a:spAutoFit/>
          </a:bodyPr>
          <a:lstStyle/>
          <a:p>
            <a:pPr algn="ctr" marL="0" indent="0" lvl="0">
              <a:lnSpc>
                <a:spcPts val="1458"/>
              </a:lnSpc>
              <a:spcBef>
                <a:spcPct val="0"/>
              </a:spcBef>
            </a:pPr>
            <a:r>
              <a:rPr lang="en-US" sz="1041" strike="noStrike" u="none">
                <a:solidFill>
                  <a:srgbClr val="1565C0"/>
                </a:solidFill>
                <a:latin typeface="프리텐다드"/>
                <a:ea typeface="프리텐다드"/>
                <a:cs typeface="프리텐다드"/>
                <a:sym typeface="프리텐다드"/>
              </a:rPr>
              <a:t>b = 0.125*** (직접)</a:t>
            </a:r>
          </a:p>
        </p:txBody>
      </p:sp>
      <p:sp>
        <p:nvSpPr>
          <p:cNvPr name="TextBox 40" id="40"/>
          <p:cNvSpPr txBox="true"/>
          <p:nvPr/>
        </p:nvSpPr>
        <p:spPr>
          <a:xfrm rot="0">
            <a:off x="5851978" y="4559364"/>
            <a:ext cx="1408326" cy="183092"/>
          </a:xfrm>
          <a:prstGeom prst="rect">
            <a:avLst/>
          </a:prstGeom>
        </p:spPr>
        <p:txBody>
          <a:bodyPr anchor="t" rtlCol="false" tIns="0" lIns="0" bIns="0" rIns="0">
            <a:spAutoFit/>
          </a:bodyPr>
          <a:lstStyle/>
          <a:p>
            <a:pPr algn="ctr" marL="0" indent="0" lvl="0">
              <a:lnSpc>
                <a:spcPts val="1458"/>
              </a:lnSpc>
              <a:spcBef>
                <a:spcPct val="0"/>
              </a:spcBef>
            </a:pPr>
            <a:r>
              <a:rPr lang="en-US" sz="1041" strike="noStrike" u="none">
                <a:solidFill>
                  <a:srgbClr val="1565C0"/>
                </a:solidFill>
                <a:latin typeface="프리텐다드"/>
                <a:ea typeface="프리텐다드"/>
                <a:cs typeface="프리텐다드"/>
                <a:sym typeface="프리텐다드"/>
              </a:rPr>
              <a:t>b = 0.067*** (직접)</a:t>
            </a:r>
          </a:p>
        </p:txBody>
      </p:sp>
      <p:sp>
        <p:nvSpPr>
          <p:cNvPr name="AutoShape 41" id="41"/>
          <p:cNvSpPr/>
          <p:nvPr/>
        </p:nvSpPr>
        <p:spPr>
          <a:xfrm>
            <a:off x="857343" y="4473376"/>
            <a:ext cx="251487" cy="0"/>
          </a:xfrm>
          <a:prstGeom prst="line">
            <a:avLst/>
          </a:prstGeom>
          <a:ln cap="flat" w="19050">
            <a:solidFill>
              <a:srgbClr val="C0392B"/>
            </a:solidFill>
            <a:prstDash val="solid"/>
            <a:headEnd type="none" len="sm" w="sm"/>
            <a:tailEnd type="none" len="sm" w="sm"/>
          </a:ln>
        </p:spPr>
      </p:sp>
      <p:sp>
        <p:nvSpPr>
          <p:cNvPr name="AutoShape 42" id="42"/>
          <p:cNvSpPr/>
          <p:nvPr/>
        </p:nvSpPr>
        <p:spPr>
          <a:xfrm>
            <a:off x="857343" y="4671812"/>
            <a:ext cx="251487" cy="0"/>
          </a:xfrm>
          <a:prstGeom prst="line">
            <a:avLst/>
          </a:prstGeom>
          <a:ln cap="flat" w="19050">
            <a:solidFill>
              <a:srgbClr val="1565C0"/>
            </a:solidFill>
            <a:prstDash val="solid"/>
            <a:headEnd type="none" len="sm" w="sm"/>
            <a:tailEnd type="none" len="sm" w="sm"/>
          </a:ln>
        </p:spPr>
      </p:sp>
      <p:sp>
        <p:nvSpPr>
          <p:cNvPr name="AutoShape 43" id="43"/>
          <p:cNvSpPr/>
          <p:nvPr/>
        </p:nvSpPr>
        <p:spPr>
          <a:xfrm>
            <a:off x="857343" y="4870248"/>
            <a:ext cx="251487" cy="0"/>
          </a:xfrm>
          <a:prstGeom prst="line">
            <a:avLst/>
          </a:prstGeom>
          <a:ln cap="flat" w="9525">
            <a:solidFill>
              <a:srgbClr val="1565C0"/>
            </a:solidFill>
            <a:prstDash val="solid"/>
            <a:headEnd type="none" len="sm" w="sm"/>
            <a:tailEnd type="none" len="sm" w="sm"/>
          </a:ln>
        </p:spPr>
      </p:sp>
      <p:sp>
        <p:nvSpPr>
          <p:cNvPr name="AutoShape 44" id="44"/>
          <p:cNvSpPr/>
          <p:nvPr/>
        </p:nvSpPr>
        <p:spPr>
          <a:xfrm>
            <a:off x="866776" y="738829"/>
            <a:ext cx="16554447" cy="9824"/>
          </a:xfrm>
          <a:prstGeom prst="line">
            <a:avLst/>
          </a:prstGeom>
          <a:ln cap="rnd" w="9525">
            <a:solidFill>
              <a:srgbClr val="E2E8F0"/>
            </a:solidFill>
            <a:prstDash val="solid"/>
            <a:headEnd type="none" len="sm" w="sm"/>
            <a:tailEnd type="none" len="sm" w="sm"/>
          </a:ln>
        </p:spPr>
      </p:sp>
      <p:grpSp>
        <p:nvGrpSpPr>
          <p:cNvPr name="Group 45" id="45"/>
          <p:cNvGrpSpPr/>
          <p:nvPr/>
        </p:nvGrpSpPr>
        <p:grpSpPr>
          <a:xfrm rot="0">
            <a:off x="857343" y="2517681"/>
            <a:ext cx="1810705" cy="913545"/>
            <a:chOff x="0" y="0"/>
            <a:chExt cx="2085950" cy="1052413"/>
          </a:xfrm>
        </p:grpSpPr>
        <p:sp>
          <p:nvSpPr>
            <p:cNvPr name="Freeform 46" id="46"/>
            <p:cNvSpPr/>
            <p:nvPr/>
          </p:nvSpPr>
          <p:spPr>
            <a:xfrm flipH="false" flipV="false" rot="0">
              <a:off x="0" y="0"/>
              <a:ext cx="2085950" cy="1052413"/>
            </a:xfrm>
            <a:custGeom>
              <a:avLst/>
              <a:gdLst/>
              <a:ahLst/>
              <a:cxnLst/>
              <a:rect r="r" b="b" t="t" l="l"/>
              <a:pathLst>
                <a:path h="1052413" w="2085950">
                  <a:moveTo>
                    <a:pt x="95027" y="0"/>
                  </a:moveTo>
                  <a:lnTo>
                    <a:pt x="1990923" y="0"/>
                  </a:lnTo>
                  <a:cubicBezTo>
                    <a:pt x="2043405" y="0"/>
                    <a:pt x="2085950" y="47118"/>
                    <a:pt x="2085950" y="105241"/>
                  </a:cubicBezTo>
                  <a:lnTo>
                    <a:pt x="2085950" y="947172"/>
                  </a:lnTo>
                  <a:cubicBezTo>
                    <a:pt x="2085950" y="1005295"/>
                    <a:pt x="2043405" y="1052413"/>
                    <a:pt x="1990923" y="1052413"/>
                  </a:cubicBezTo>
                  <a:lnTo>
                    <a:pt x="95027" y="1052413"/>
                  </a:lnTo>
                  <a:cubicBezTo>
                    <a:pt x="42545" y="1052413"/>
                    <a:pt x="0" y="1005295"/>
                    <a:pt x="0" y="947172"/>
                  </a:cubicBezTo>
                  <a:lnTo>
                    <a:pt x="0" y="105241"/>
                  </a:lnTo>
                  <a:cubicBezTo>
                    <a:pt x="0" y="47118"/>
                    <a:pt x="42545" y="0"/>
                    <a:pt x="95027" y="0"/>
                  </a:cubicBezTo>
                  <a:close/>
                </a:path>
              </a:pathLst>
            </a:custGeom>
            <a:solidFill>
              <a:srgbClr val="C0392B"/>
            </a:solidFill>
          </p:spPr>
        </p:sp>
        <p:sp>
          <p:nvSpPr>
            <p:cNvPr name="TextBox 47" id="47"/>
            <p:cNvSpPr txBox="true"/>
            <p:nvPr/>
          </p:nvSpPr>
          <p:spPr>
            <a:xfrm>
              <a:off x="0" y="-19050"/>
              <a:ext cx="2085950" cy="1071463"/>
            </a:xfrm>
            <a:prstGeom prst="rect">
              <a:avLst/>
            </a:prstGeom>
          </p:spPr>
          <p:txBody>
            <a:bodyPr anchor="t" rtlCol="false" tIns="50800" lIns="50800" bIns="50800" rIns="50800"/>
            <a:lstStyle/>
            <a:p>
              <a:pPr algn="ctr" marL="0" indent="0" lvl="0">
                <a:lnSpc>
                  <a:spcPts val="1399"/>
                </a:lnSpc>
                <a:spcBef>
                  <a:spcPct val="0"/>
                </a:spcBef>
              </a:pPr>
              <a:r>
                <a:rPr lang="en-US" b="true" sz="999" strike="noStrike" u="none">
                  <a:solidFill>
                    <a:srgbClr val="FFFFFF"/>
                  </a:solidFill>
                  <a:latin typeface="프리텐다드 Bold"/>
                  <a:ea typeface="프리텐다드 Bold"/>
                  <a:cs typeface="프리텐다드 Bold"/>
                  <a:sym typeface="프리텐다드 Bold"/>
                </a:rPr>
                <a:t>제도공백</a:t>
              </a:r>
            </a:p>
            <a:p>
              <a:pPr algn="ctr" marL="0" indent="0" lvl="0">
                <a:lnSpc>
                  <a:spcPts val="1399"/>
                </a:lnSpc>
                <a:spcBef>
                  <a:spcPct val="0"/>
                </a:spcBef>
              </a:pPr>
              <a:r>
                <a:rPr lang="en-US" sz="999" strike="noStrike" u="none">
                  <a:solidFill>
                    <a:srgbClr val="FFFFFF"/>
                  </a:solidFill>
                  <a:latin typeface="프리텐다드"/>
                  <a:ea typeface="프리텐다드"/>
                  <a:cs typeface="프리텐다드"/>
                  <a:sym typeface="프리텐다드"/>
                </a:rPr>
                <a:t>(잠재변수)</a:t>
              </a:r>
            </a:p>
            <a:p>
              <a:pPr algn="ctr" marL="0" indent="0" lvl="0">
                <a:lnSpc>
                  <a:spcPts val="1399"/>
                </a:lnSpc>
                <a:spcBef>
                  <a:spcPct val="0"/>
                </a:spcBef>
              </a:pPr>
              <a:r>
                <a:rPr lang="en-US" sz="999" strike="noStrike" u="none">
                  <a:solidFill>
                    <a:srgbClr val="FFFFFF"/>
                  </a:solidFill>
                  <a:latin typeface="프리텐다드"/>
                  <a:ea typeface="프리텐다드"/>
                  <a:cs typeface="프리텐다드"/>
                  <a:sym typeface="프리텐다드"/>
                </a:rPr>
                <a:t>분리제도·민원응대</a:t>
              </a:r>
            </a:p>
            <a:p>
              <a:pPr algn="ctr" marL="0" indent="0" lvl="0">
                <a:lnSpc>
                  <a:spcPts val="1399"/>
                </a:lnSpc>
                <a:spcBef>
                  <a:spcPct val="0"/>
                </a:spcBef>
              </a:pPr>
              <a:r>
                <a:rPr lang="en-US" sz="999" strike="noStrike" u="none">
                  <a:solidFill>
                    <a:srgbClr val="FFFFFF"/>
                  </a:solidFill>
                  <a:latin typeface="프리텐다드"/>
                  <a:ea typeface="프리텐다드"/>
                  <a:cs typeface="프리텐다드"/>
                  <a:sym typeface="프리텐다드"/>
                </a:rPr>
                <a:t>공식절차·교원위·불신</a:t>
              </a:r>
            </a:p>
          </p:txBody>
        </p:sp>
      </p:grpSp>
      <p:grpSp>
        <p:nvGrpSpPr>
          <p:cNvPr name="Group 48" id="48"/>
          <p:cNvGrpSpPr/>
          <p:nvPr/>
        </p:nvGrpSpPr>
        <p:grpSpPr>
          <a:xfrm rot="0">
            <a:off x="3673995" y="2848408"/>
            <a:ext cx="1810705" cy="881937"/>
            <a:chOff x="0" y="0"/>
            <a:chExt cx="2085950" cy="1016000"/>
          </a:xfrm>
        </p:grpSpPr>
        <p:sp>
          <p:nvSpPr>
            <p:cNvPr name="Freeform 49" id="49"/>
            <p:cNvSpPr/>
            <p:nvPr/>
          </p:nvSpPr>
          <p:spPr>
            <a:xfrm flipH="false" flipV="false" rot="0">
              <a:off x="0" y="0"/>
              <a:ext cx="2085950" cy="1016000"/>
            </a:xfrm>
            <a:custGeom>
              <a:avLst/>
              <a:gdLst/>
              <a:ahLst/>
              <a:cxnLst/>
              <a:rect r="r" b="b" t="t" l="l"/>
              <a:pathLst>
                <a:path h="1016000" w="2085950">
                  <a:moveTo>
                    <a:pt x="92709" y="0"/>
                  </a:moveTo>
                  <a:lnTo>
                    <a:pt x="1993241" y="0"/>
                  </a:lnTo>
                  <a:cubicBezTo>
                    <a:pt x="2044443" y="0"/>
                    <a:pt x="2085950" y="45488"/>
                    <a:pt x="2085950" y="101600"/>
                  </a:cubicBezTo>
                  <a:lnTo>
                    <a:pt x="2085950" y="914400"/>
                  </a:lnTo>
                  <a:cubicBezTo>
                    <a:pt x="2085950" y="970512"/>
                    <a:pt x="2044443" y="1016000"/>
                    <a:pt x="1993241" y="1016000"/>
                  </a:cubicBezTo>
                  <a:lnTo>
                    <a:pt x="92709" y="1016000"/>
                  </a:lnTo>
                  <a:cubicBezTo>
                    <a:pt x="41507" y="1016000"/>
                    <a:pt x="0" y="970512"/>
                    <a:pt x="0" y="914400"/>
                  </a:cubicBezTo>
                  <a:lnTo>
                    <a:pt x="0" y="101600"/>
                  </a:lnTo>
                  <a:cubicBezTo>
                    <a:pt x="0" y="45488"/>
                    <a:pt x="41507" y="0"/>
                    <a:pt x="92709" y="0"/>
                  </a:cubicBezTo>
                  <a:close/>
                </a:path>
              </a:pathLst>
            </a:custGeom>
            <a:solidFill>
              <a:srgbClr val="1A202C"/>
            </a:solidFill>
          </p:spPr>
        </p:sp>
        <p:sp>
          <p:nvSpPr>
            <p:cNvPr name="TextBox 50" id="50"/>
            <p:cNvSpPr txBox="true"/>
            <p:nvPr/>
          </p:nvSpPr>
          <p:spPr>
            <a:xfrm>
              <a:off x="0" y="-28575"/>
              <a:ext cx="2085950" cy="1044575"/>
            </a:xfrm>
            <a:prstGeom prst="rect">
              <a:avLst/>
            </a:prstGeom>
          </p:spPr>
          <p:txBody>
            <a:bodyPr anchor="t" rtlCol="false" tIns="50800" lIns="50800" bIns="50800" rIns="50800"/>
            <a:lstStyle/>
            <a:p>
              <a:pPr algn="ctr" marL="0" indent="0" lvl="0">
                <a:lnSpc>
                  <a:spcPts val="1679"/>
                </a:lnSpc>
                <a:spcBef>
                  <a:spcPct val="0"/>
                </a:spcBef>
              </a:pPr>
              <a:r>
                <a:rPr lang="en-US" b="true" sz="1200" strike="noStrike" u="none">
                  <a:solidFill>
                    <a:srgbClr val="FFFFFF"/>
                  </a:solidFill>
                  <a:latin typeface="프리텐다드 Bold"/>
                  <a:ea typeface="프리텐다드 Bold"/>
                  <a:cs typeface="프리텐다드 Bold"/>
                  <a:sym typeface="프리텐다드 Bold"/>
                </a:rPr>
                <a:t>침해지수</a:t>
              </a:r>
            </a:p>
            <a:p>
              <a:pPr algn="ctr" marL="0" indent="0" lvl="0">
                <a:lnSpc>
                  <a:spcPts val="1679"/>
                </a:lnSpc>
                <a:spcBef>
                  <a:spcPct val="0"/>
                </a:spcBef>
              </a:pPr>
            </a:p>
            <a:p>
              <a:pPr algn="ctr" marL="0" indent="0" lvl="0">
                <a:lnSpc>
                  <a:spcPts val="1679"/>
                </a:lnSpc>
                <a:spcBef>
                  <a:spcPct val="0"/>
                </a:spcBef>
              </a:pPr>
              <a:r>
                <a:rPr lang="en-US" sz="1200" strike="noStrike" u="none">
                  <a:solidFill>
                    <a:srgbClr val="FFFFFF"/>
                  </a:solidFill>
                  <a:latin typeface="프리텐다드"/>
                  <a:ea typeface="프리텐다드"/>
                  <a:cs typeface="프리텐다드"/>
                  <a:sym typeface="프리텐다드"/>
                </a:rPr>
                <a:t>85.6% 경험</a:t>
              </a:r>
            </a:p>
          </p:txBody>
        </p:sp>
      </p:grpSp>
      <p:grpSp>
        <p:nvGrpSpPr>
          <p:cNvPr name="Group 51" id="51"/>
          <p:cNvGrpSpPr/>
          <p:nvPr/>
        </p:nvGrpSpPr>
        <p:grpSpPr>
          <a:xfrm rot="0">
            <a:off x="6490647" y="2848408"/>
            <a:ext cx="1810705" cy="881937"/>
            <a:chOff x="0" y="0"/>
            <a:chExt cx="2085950" cy="1016000"/>
          </a:xfrm>
        </p:grpSpPr>
        <p:sp>
          <p:nvSpPr>
            <p:cNvPr name="Freeform 52" id="52"/>
            <p:cNvSpPr/>
            <p:nvPr/>
          </p:nvSpPr>
          <p:spPr>
            <a:xfrm flipH="false" flipV="false" rot="0">
              <a:off x="0" y="0"/>
              <a:ext cx="2085950" cy="1016000"/>
            </a:xfrm>
            <a:custGeom>
              <a:avLst/>
              <a:gdLst/>
              <a:ahLst/>
              <a:cxnLst/>
              <a:rect r="r" b="b" t="t" l="l"/>
              <a:pathLst>
                <a:path h="1016000" w="2085950">
                  <a:moveTo>
                    <a:pt x="92709" y="0"/>
                  </a:moveTo>
                  <a:lnTo>
                    <a:pt x="1993241" y="0"/>
                  </a:lnTo>
                  <a:cubicBezTo>
                    <a:pt x="2044443" y="0"/>
                    <a:pt x="2085950" y="45488"/>
                    <a:pt x="2085950" y="101600"/>
                  </a:cubicBezTo>
                  <a:lnTo>
                    <a:pt x="2085950" y="914400"/>
                  </a:lnTo>
                  <a:cubicBezTo>
                    <a:pt x="2085950" y="970512"/>
                    <a:pt x="2044443" y="1016000"/>
                    <a:pt x="1993241" y="1016000"/>
                  </a:cubicBezTo>
                  <a:lnTo>
                    <a:pt x="92709" y="1016000"/>
                  </a:lnTo>
                  <a:cubicBezTo>
                    <a:pt x="41507" y="1016000"/>
                    <a:pt x="0" y="970512"/>
                    <a:pt x="0" y="914400"/>
                  </a:cubicBezTo>
                  <a:lnTo>
                    <a:pt x="0" y="101600"/>
                  </a:lnTo>
                  <a:cubicBezTo>
                    <a:pt x="0" y="45488"/>
                    <a:pt x="41507" y="0"/>
                    <a:pt x="92709" y="0"/>
                  </a:cubicBezTo>
                  <a:close/>
                </a:path>
              </a:pathLst>
            </a:custGeom>
            <a:solidFill>
              <a:srgbClr val="1565C0"/>
            </a:solidFill>
          </p:spPr>
        </p:sp>
        <p:sp>
          <p:nvSpPr>
            <p:cNvPr name="TextBox 53" id="53"/>
            <p:cNvSpPr txBox="true"/>
            <p:nvPr/>
          </p:nvSpPr>
          <p:spPr>
            <a:xfrm>
              <a:off x="0" y="-28575"/>
              <a:ext cx="2085950" cy="1044575"/>
            </a:xfrm>
            <a:prstGeom prst="rect">
              <a:avLst/>
            </a:prstGeom>
          </p:spPr>
          <p:txBody>
            <a:bodyPr anchor="t" rtlCol="false" tIns="50800" lIns="50800" bIns="50800" rIns="50800"/>
            <a:lstStyle/>
            <a:p>
              <a:pPr algn="ctr" marL="0" indent="0" lvl="0">
                <a:lnSpc>
                  <a:spcPts val="1679"/>
                </a:lnSpc>
                <a:spcBef>
                  <a:spcPct val="0"/>
                </a:spcBef>
              </a:pPr>
              <a:r>
                <a:rPr lang="en-US" b="true" sz="1200" strike="noStrike" u="none">
                  <a:solidFill>
                    <a:srgbClr val="FFFFFF"/>
                  </a:solidFill>
                  <a:latin typeface="프리텐다드 Bold"/>
                  <a:ea typeface="프리텐다드 Bold"/>
                  <a:cs typeface="프리텐다드 Bold"/>
                  <a:sym typeface="프리텐다드 Bold"/>
                </a:rPr>
                <a:t>정신건강 악화</a:t>
              </a:r>
            </a:p>
            <a:p>
              <a:pPr algn="ctr" marL="0" indent="0" lvl="0">
                <a:lnSpc>
                  <a:spcPts val="1679"/>
                </a:lnSpc>
                <a:spcBef>
                  <a:spcPct val="0"/>
                </a:spcBef>
              </a:pPr>
            </a:p>
            <a:p>
              <a:pPr algn="ctr" marL="0" indent="0" lvl="0">
                <a:lnSpc>
                  <a:spcPts val="1679"/>
                </a:lnSpc>
                <a:spcBef>
                  <a:spcPct val="0"/>
                </a:spcBef>
              </a:pPr>
              <a:r>
                <a:rPr lang="en-US" b="true" sz="1200" strike="noStrike" u="none">
                  <a:solidFill>
                    <a:srgbClr val="FFFFFF"/>
                  </a:solidFill>
                  <a:latin typeface="프리텐다드 Bold"/>
                  <a:ea typeface="프리텐다드 Bold"/>
                  <a:cs typeface="프리텐다드 Bold"/>
                  <a:sym typeface="프리텐다드 Bold"/>
                </a:rPr>
                <a:t>우울·자살위기</a:t>
              </a:r>
            </a:p>
          </p:txBody>
        </p:sp>
      </p:grpSp>
      <p:grpSp>
        <p:nvGrpSpPr>
          <p:cNvPr name="Group 54" id="54"/>
          <p:cNvGrpSpPr/>
          <p:nvPr/>
        </p:nvGrpSpPr>
        <p:grpSpPr>
          <a:xfrm rot="0">
            <a:off x="8904920" y="1856229"/>
            <a:ext cx="1810705" cy="881937"/>
            <a:chOff x="0" y="0"/>
            <a:chExt cx="2085950" cy="1016000"/>
          </a:xfrm>
        </p:grpSpPr>
        <p:sp>
          <p:nvSpPr>
            <p:cNvPr name="Freeform 55" id="55"/>
            <p:cNvSpPr/>
            <p:nvPr/>
          </p:nvSpPr>
          <p:spPr>
            <a:xfrm flipH="false" flipV="false" rot="0">
              <a:off x="0" y="0"/>
              <a:ext cx="2085950" cy="1016000"/>
            </a:xfrm>
            <a:custGeom>
              <a:avLst/>
              <a:gdLst/>
              <a:ahLst/>
              <a:cxnLst/>
              <a:rect r="r" b="b" t="t" l="l"/>
              <a:pathLst>
                <a:path h="1016000" w="2085950">
                  <a:moveTo>
                    <a:pt x="92709" y="0"/>
                  </a:moveTo>
                  <a:lnTo>
                    <a:pt x="1993241" y="0"/>
                  </a:lnTo>
                  <a:cubicBezTo>
                    <a:pt x="2044443" y="0"/>
                    <a:pt x="2085950" y="45488"/>
                    <a:pt x="2085950" y="101600"/>
                  </a:cubicBezTo>
                  <a:lnTo>
                    <a:pt x="2085950" y="914400"/>
                  </a:lnTo>
                  <a:cubicBezTo>
                    <a:pt x="2085950" y="970512"/>
                    <a:pt x="2044443" y="1016000"/>
                    <a:pt x="1993241" y="1016000"/>
                  </a:cubicBezTo>
                  <a:lnTo>
                    <a:pt x="92709" y="1016000"/>
                  </a:lnTo>
                  <a:cubicBezTo>
                    <a:pt x="41507" y="1016000"/>
                    <a:pt x="0" y="970512"/>
                    <a:pt x="0" y="914400"/>
                  </a:cubicBezTo>
                  <a:lnTo>
                    <a:pt x="0" y="101600"/>
                  </a:lnTo>
                  <a:cubicBezTo>
                    <a:pt x="0" y="45488"/>
                    <a:pt x="41507" y="0"/>
                    <a:pt x="92709" y="0"/>
                  </a:cubicBezTo>
                  <a:close/>
                </a:path>
              </a:pathLst>
            </a:custGeom>
            <a:solidFill>
              <a:srgbClr val="C0392B"/>
            </a:solidFill>
          </p:spPr>
        </p:sp>
        <p:sp>
          <p:nvSpPr>
            <p:cNvPr name="TextBox 56" id="56"/>
            <p:cNvSpPr txBox="true"/>
            <p:nvPr/>
          </p:nvSpPr>
          <p:spPr>
            <a:xfrm>
              <a:off x="0" y="-28575"/>
              <a:ext cx="2085950" cy="1044575"/>
            </a:xfrm>
            <a:prstGeom prst="rect">
              <a:avLst/>
            </a:prstGeom>
          </p:spPr>
          <p:txBody>
            <a:bodyPr anchor="t" rtlCol="false" tIns="50800" lIns="50800" bIns="50800" rIns="50800"/>
            <a:lstStyle/>
            <a:p>
              <a:pPr algn="ctr" marL="0" indent="0" lvl="0">
                <a:lnSpc>
                  <a:spcPts val="1679"/>
                </a:lnSpc>
                <a:spcBef>
                  <a:spcPct val="0"/>
                </a:spcBef>
              </a:pPr>
              <a:r>
                <a:rPr lang="en-US" b="true" sz="1200" strike="noStrike" u="none">
                  <a:solidFill>
                    <a:srgbClr val="FFFFFF"/>
                  </a:solidFill>
                  <a:latin typeface="프리텐다드 Bold"/>
                  <a:ea typeface="프리텐다드 Bold"/>
                  <a:cs typeface="프리텐다드 Bold"/>
                  <a:sym typeface="프리텐다드 Bold"/>
                </a:rPr>
                <a:t>이직 고려</a:t>
              </a:r>
            </a:p>
            <a:p>
              <a:pPr algn="ctr" marL="0" indent="0" lvl="0">
                <a:lnSpc>
                  <a:spcPts val="1679"/>
                </a:lnSpc>
                <a:spcBef>
                  <a:spcPct val="0"/>
                </a:spcBef>
              </a:pPr>
            </a:p>
            <a:p>
              <a:pPr algn="ctr" marL="0" indent="0" lvl="0">
                <a:lnSpc>
                  <a:spcPts val="1679"/>
                </a:lnSpc>
                <a:spcBef>
                  <a:spcPct val="0"/>
                </a:spcBef>
              </a:pPr>
              <a:r>
                <a:rPr lang="en-US" sz="1200" strike="noStrike" u="none">
                  <a:solidFill>
                    <a:srgbClr val="FFFFFF"/>
                  </a:solidFill>
                  <a:latin typeface="프리텐다드"/>
                  <a:ea typeface="프리텐다드"/>
                  <a:cs typeface="프리텐다드"/>
                  <a:sym typeface="프리텐다드"/>
                </a:rPr>
                <a:t>46.3%</a:t>
              </a:r>
            </a:p>
          </p:txBody>
        </p:sp>
      </p:grpSp>
      <p:grpSp>
        <p:nvGrpSpPr>
          <p:cNvPr name="Group 57" id="57"/>
          <p:cNvGrpSpPr/>
          <p:nvPr/>
        </p:nvGrpSpPr>
        <p:grpSpPr>
          <a:xfrm rot="0">
            <a:off x="8904920" y="4061071"/>
            <a:ext cx="1810705" cy="881937"/>
            <a:chOff x="0" y="0"/>
            <a:chExt cx="2085950" cy="1016000"/>
          </a:xfrm>
        </p:grpSpPr>
        <p:sp>
          <p:nvSpPr>
            <p:cNvPr name="Freeform 58" id="58"/>
            <p:cNvSpPr/>
            <p:nvPr/>
          </p:nvSpPr>
          <p:spPr>
            <a:xfrm flipH="false" flipV="false" rot="0">
              <a:off x="0" y="0"/>
              <a:ext cx="2085950" cy="1016000"/>
            </a:xfrm>
            <a:custGeom>
              <a:avLst/>
              <a:gdLst/>
              <a:ahLst/>
              <a:cxnLst/>
              <a:rect r="r" b="b" t="t" l="l"/>
              <a:pathLst>
                <a:path h="1016000" w="2085950">
                  <a:moveTo>
                    <a:pt x="92709" y="0"/>
                  </a:moveTo>
                  <a:lnTo>
                    <a:pt x="1993241" y="0"/>
                  </a:lnTo>
                  <a:cubicBezTo>
                    <a:pt x="2044443" y="0"/>
                    <a:pt x="2085950" y="45488"/>
                    <a:pt x="2085950" y="101600"/>
                  </a:cubicBezTo>
                  <a:lnTo>
                    <a:pt x="2085950" y="914400"/>
                  </a:lnTo>
                  <a:cubicBezTo>
                    <a:pt x="2085950" y="970512"/>
                    <a:pt x="2044443" y="1016000"/>
                    <a:pt x="1993241" y="1016000"/>
                  </a:cubicBezTo>
                  <a:lnTo>
                    <a:pt x="92709" y="1016000"/>
                  </a:lnTo>
                  <a:cubicBezTo>
                    <a:pt x="41507" y="1016000"/>
                    <a:pt x="0" y="970512"/>
                    <a:pt x="0" y="914400"/>
                  </a:cubicBezTo>
                  <a:lnTo>
                    <a:pt x="0" y="101600"/>
                  </a:lnTo>
                  <a:cubicBezTo>
                    <a:pt x="0" y="45488"/>
                    <a:pt x="41507" y="0"/>
                    <a:pt x="92709" y="0"/>
                  </a:cubicBezTo>
                  <a:close/>
                </a:path>
              </a:pathLst>
            </a:custGeom>
            <a:solidFill>
              <a:srgbClr val="C0392B"/>
            </a:solidFill>
          </p:spPr>
        </p:sp>
        <p:sp>
          <p:nvSpPr>
            <p:cNvPr name="TextBox 59" id="59"/>
            <p:cNvSpPr txBox="true"/>
            <p:nvPr/>
          </p:nvSpPr>
          <p:spPr>
            <a:xfrm>
              <a:off x="0" y="-28575"/>
              <a:ext cx="2085950" cy="1044575"/>
            </a:xfrm>
            <a:prstGeom prst="rect">
              <a:avLst/>
            </a:prstGeom>
          </p:spPr>
          <p:txBody>
            <a:bodyPr anchor="t" rtlCol="false" tIns="50800" lIns="50800" bIns="50800" rIns="50800"/>
            <a:lstStyle/>
            <a:p>
              <a:pPr algn="ctr" marL="0" indent="0" lvl="0">
                <a:lnSpc>
                  <a:spcPts val="1679"/>
                </a:lnSpc>
                <a:spcBef>
                  <a:spcPct val="0"/>
                </a:spcBef>
              </a:pPr>
              <a:r>
                <a:rPr lang="en-US" b="true" sz="1200" strike="noStrike" u="none">
                  <a:solidFill>
                    <a:srgbClr val="FFFFFF"/>
                  </a:solidFill>
                  <a:latin typeface="프리텐다드 Bold"/>
                  <a:ea typeface="프리텐다드 Bold"/>
                  <a:cs typeface="프리텐다드 Bold"/>
                  <a:sym typeface="프리텐다드 Bold"/>
                </a:rPr>
                <a:t>자살 사고</a:t>
              </a:r>
            </a:p>
            <a:p>
              <a:pPr algn="ctr" marL="0" indent="0" lvl="0">
                <a:lnSpc>
                  <a:spcPts val="1679"/>
                </a:lnSpc>
                <a:spcBef>
                  <a:spcPct val="0"/>
                </a:spcBef>
              </a:pPr>
            </a:p>
            <a:p>
              <a:pPr algn="ctr" marL="0" indent="0" lvl="0">
                <a:lnSpc>
                  <a:spcPts val="1679"/>
                </a:lnSpc>
                <a:spcBef>
                  <a:spcPct val="0"/>
                </a:spcBef>
              </a:pPr>
              <a:r>
                <a:rPr lang="en-US" sz="1200" strike="noStrike" u="none">
                  <a:solidFill>
                    <a:srgbClr val="FFFFFF"/>
                  </a:solidFill>
                  <a:latin typeface="프리텐다드"/>
                  <a:ea typeface="프리텐다드"/>
                  <a:cs typeface="프리텐다드"/>
                  <a:sym typeface="프리텐다드"/>
                </a:rPr>
                <a:t>16.9%</a:t>
              </a:r>
            </a:p>
          </p:txBody>
        </p:sp>
      </p:grpSp>
      <p:sp>
        <p:nvSpPr>
          <p:cNvPr name="AutoShape 60" id="60"/>
          <p:cNvSpPr/>
          <p:nvPr/>
        </p:nvSpPr>
        <p:spPr>
          <a:xfrm>
            <a:off x="2668048" y="2974454"/>
            <a:ext cx="1005947" cy="314922"/>
          </a:xfrm>
          <a:prstGeom prst="line">
            <a:avLst/>
          </a:prstGeom>
          <a:ln cap="flat" w="19050">
            <a:solidFill>
              <a:srgbClr val="C0392B"/>
            </a:solidFill>
            <a:prstDash val="solid"/>
            <a:headEnd type="none" len="sm" w="sm"/>
            <a:tailEnd type="triangle" len="med" w="lg"/>
          </a:ln>
        </p:spPr>
      </p:sp>
      <p:sp>
        <p:nvSpPr>
          <p:cNvPr name="AutoShape 61" id="61"/>
          <p:cNvSpPr/>
          <p:nvPr/>
        </p:nvSpPr>
        <p:spPr>
          <a:xfrm>
            <a:off x="5484700" y="3289376"/>
            <a:ext cx="1005947" cy="0"/>
          </a:xfrm>
          <a:prstGeom prst="line">
            <a:avLst/>
          </a:prstGeom>
          <a:ln cap="flat" w="19050">
            <a:solidFill>
              <a:srgbClr val="1565C0"/>
            </a:solidFill>
            <a:prstDash val="solid"/>
            <a:headEnd type="none" len="sm" w="sm"/>
            <a:tailEnd type="triangle" len="med" w="lg"/>
          </a:ln>
        </p:spPr>
      </p:sp>
      <p:sp>
        <p:nvSpPr>
          <p:cNvPr name="AutoShape 62" id="62"/>
          <p:cNvSpPr/>
          <p:nvPr/>
        </p:nvSpPr>
        <p:spPr>
          <a:xfrm flipV="true">
            <a:off x="8301352" y="2297197"/>
            <a:ext cx="603568" cy="771695"/>
          </a:xfrm>
          <a:prstGeom prst="line">
            <a:avLst/>
          </a:prstGeom>
          <a:ln cap="flat" w="19050">
            <a:solidFill>
              <a:srgbClr val="1565C0"/>
            </a:solidFill>
            <a:prstDash val="solid"/>
            <a:headEnd type="none" len="sm" w="sm"/>
            <a:tailEnd type="triangle" len="med" w="lg"/>
          </a:ln>
        </p:spPr>
      </p:sp>
      <p:sp>
        <p:nvSpPr>
          <p:cNvPr name="AutoShape 63" id="63"/>
          <p:cNvSpPr/>
          <p:nvPr/>
        </p:nvSpPr>
        <p:spPr>
          <a:xfrm>
            <a:off x="8301352" y="3509860"/>
            <a:ext cx="603568" cy="992179"/>
          </a:xfrm>
          <a:prstGeom prst="line">
            <a:avLst/>
          </a:prstGeom>
          <a:ln cap="flat" w="19050">
            <a:solidFill>
              <a:srgbClr val="1565C0"/>
            </a:solidFill>
            <a:prstDash val="solid"/>
            <a:headEnd type="none" len="sm" w="sm"/>
            <a:tailEnd type="triangle" len="med" w="lg"/>
          </a:ln>
        </p:spPr>
      </p:sp>
      <p:sp>
        <p:nvSpPr>
          <p:cNvPr name="Freeform 64" id="64"/>
          <p:cNvSpPr/>
          <p:nvPr/>
        </p:nvSpPr>
        <p:spPr>
          <a:xfrm>
            <a:off x="4579347" y="1897943"/>
            <a:ext cx="4325573" cy="950464"/>
          </a:xfrm>
          <a:custGeom>
            <a:avLst/>
            <a:gdLst/>
            <a:ahLst/>
            <a:cxnLst/>
            <a:rect r="r" b="b" t="t" l="l"/>
            <a:pathLst>
              <a:path h="950464" w="4325573">
                <a:moveTo>
                  <a:pt x="0" y="950465"/>
                </a:moveTo>
                <a:quadBezTo>
                  <a:pt x="2017753" y="-412206"/>
                  <a:pt x="4325573" y="178770"/>
                </a:quadBezTo>
              </a:path>
            </a:pathLst>
          </a:custGeom>
          <a:ln cap="flat" w="9525">
            <a:solidFill>
              <a:srgbClr val="1565C0"/>
            </a:solidFill>
            <a:prstDash val="solid"/>
            <a:headEnd type="none" len="sm" w="sm"/>
            <a:tailEnd type="triangle" len="med" w="lg"/>
          </a:ln>
        </p:spPr>
      </p:sp>
      <p:sp>
        <p:nvSpPr>
          <p:cNvPr name="Freeform 65" id="65"/>
          <p:cNvSpPr/>
          <p:nvPr/>
        </p:nvSpPr>
        <p:spPr>
          <a:xfrm>
            <a:off x="5461129" y="3704513"/>
            <a:ext cx="3443791" cy="1044878"/>
          </a:xfrm>
          <a:custGeom>
            <a:avLst/>
            <a:gdLst/>
            <a:ahLst/>
            <a:cxnLst/>
            <a:rect r="r" b="b" t="t" l="l"/>
            <a:pathLst>
              <a:path h="1044878" w="3443791">
                <a:moveTo>
                  <a:pt x="0" y="0"/>
                </a:moveTo>
                <a:quadBezTo>
                  <a:pt x="1548784" y="1212430"/>
                  <a:pt x="3443791" y="1018011"/>
                </a:quadBezTo>
              </a:path>
            </a:pathLst>
          </a:custGeom>
          <a:ln cap="flat" w="9525">
            <a:solidFill>
              <a:srgbClr val="1565C0"/>
            </a:solidFill>
            <a:prstDash val="solid"/>
            <a:headEnd type="none" len="sm" w="sm"/>
            <a:tailEnd type="triangle" len="med" w="lg"/>
          </a:ln>
        </p:spPr>
      </p:sp>
      <p:grpSp>
        <p:nvGrpSpPr>
          <p:cNvPr name="Group 66" id="66"/>
          <p:cNvGrpSpPr/>
          <p:nvPr/>
        </p:nvGrpSpPr>
        <p:grpSpPr>
          <a:xfrm rot="0">
            <a:off x="855595" y="1657793"/>
            <a:ext cx="3624906" cy="330726"/>
            <a:chOff x="0" y="0"/>
            <a:chExt cx="4175927" cy="381000"/>
          </a:xfrm>
        </p:grpSpPr>
        <p:sp>
          <p:nvSpPr>
            <p:cNvPr name="Freeform 67" id="67"/>
            <p:cNvSpPr/>
            <p:nvPr/>
          </p:nvSpPr>
          <p:spPr>
            <a:xfrm flipH="false" flipV="false" rot="0">
              <a:off x="0" y="0"/>
              <a:ext cx="4175927" cy="381000"/>
            </a:xfrm>
            <a:custGeom>
              <a:avLst/>
              <a:gdLst/>
              <a:ahLst/>
              <a:cxnLst/>
              <a:rect r="r" b="b" t="t" l="l"/>
              <a:pathLst>
                <a:path h="381000" w="4175927">
                  <a:moveTo>
                    <a:pt x="17897" y="0"/>
                  </a:moveTo>
                  <a:lnTo>
                    <a:pt x="4158031" y="0"/>
                  </a:lnTo>
                  <a:cubicBezTo>
                    <a:pt x="4167915" y="0"/>
                    <a:pt x="4175927" y="17058"/>
                    <a:pt x="4175927" y="38100"/>
                  </a:cubicBezTo>
                  <a:lnTo>
                    <a:pt x="4175927" y="342900"/>
                  </a:lnTo>
                  <a:cubicBezTo>
                    <a:pt x="4175927" y="363942"/>
                    <a:pt x="4167915" y="381000"/>
                    <a:pt x="4158031" y="381000"/>
                  </a:cubicBezTo>
                  <a:lnTo>
                    <a:pt x="17897" y="381000"/>
                  </a:lnTo>
                  <a:cubicBezTo>
                    <a:pt x="8013" y="381000"/>
                    <a:pt x="0" y="363942"/>
                    <a:pt x="0" y="342900"/>
                  </a:cubicBezTo>
                  <a:lnTo>
                    <a:pt x="0" y="38100"/>
                  </a:lnTo>
                  <a:cubicBezTo>
                    <a:pt x="0" y="17058"/>
                    <a:pt x="8013" y="0"/>
                    <a:pt x="17897" y="0"/>
                  </a:cubicBezTo>
                  <a:close/>
                </a:path>
              </a:pathLst>
            </a:custGeom>
            <a:solidFill>
              <a:srgbClr val="F1F5F9"/>
            </a:solidFill>
          </p:spPr>
        </p:sp>
        <p:sp>
          <p:nvSpPr>
            <p:cNvPr name="TextBox 68" id="68"/>
            <p:cNvSpPr txBox="true"/>
            <p:nvPr/>
          </p:nvSpPr>
          <p:spPr>
            <a:xfrm>
              <a:off x="0" y="-19050"/>
              <a:ext cx="4175927" cy="400050"/>
            </a:xfrm>
            <a:prstGeom prst="rect">
              <a:avLst/>
            </a:prstGeom>
          </p:spPr>
          <p:txBody>
            <a:bodyPr anchor="ctr" rtlCol="false" tIns="50800" lIns="50800" bIns="50800" rIns="50800"/>
            <a:lstStyle/>
            <a:p>
              <a:pPr algn="ctr" marL="0" indent="0" lvl="0">
                <a:lnSpc>
                  <a:spcPts val="1260"/>
                </a:lnSpc>
                <a:spcBef>
                  <a:spcPct val="0"/>
                </a:spcBef>
              </a:pPr>
              <a:r>
                <a:rPr lang="en-US" sz="900" strike="noStrike" u="none">
                  <a:solidFill>
                    <a:srgbClr val="475569"/>
                  </a:solidFill>
                  <a:latin typeface="프리텐다드"/>
                  <a:ea typeface="프리텐다드"/>
                  <a:cs typeface="프리텐다드"/>
                  <a:sym typeface="프리텐다드"/>
                </a:rPr>
                <a:t>정신건강 매개비율  이직 ~28% · 자살 ~40% (Bootstrap 추정)</a:t>
              </a:r>
            </a:p>
          </p:txBody>
        </p:sp>
      </p:grpSp>
      <p:sp>
        <p:nvSpPr>
          <p:cNvPr name="AutoShape 69" id="69"/>
          <p:cNvSpPr/>
          <p:nvPr/>
        </p:nvSpPr>
        <p:spPr>
          <a:xfrm flipH="true" flipV="true">
            <a:off x="11001375" y="5243249"/>
            <a:ext cx="6419849" cy="0"/>
          </a:xfrm>
          <a:prstGeom prst="line">
            <a:avLst/>
          </a:prstGeom>
          <a:ln cap="rnd" w="9525">
            <a:solidFill>
              <a:srgbClr val="E2E8F0"/>
            </a:solidFill>
            <a:prstDash val="solid"/>
            <a:headEnd type="none" len="sm" w="sm"/>
            <a:tailEnd type="none" len="sm" w="sm"/>
          </a:ln>
        </p:spPr>
      </p:sp>
      <p:grpSp>
        <p:nvGrpSpPr>
          <p:cNvPr name="Group 70" id="70"/>
          <p:cNvGrpSpPr/>
          <p:nvPr/>
        </p:nvGrpSpPr>
        <p:grpSpPr>
          <a:xfrm rot="0">
            <a:off x="931103" y="6903298"/>
            <a:ext cx="641388" cy="1401186"/>
            <a:chOff x="0" y="0"/>
            <a:chExt cx="825500" cy="1803400"/>
          </a:xfrm>
        </p:grpSpPr>
        <p:sp>
          <p:nvSpPr>
            <p:cNvPr name="Freeform 71" id="71"/>
            <p:cNvSpPr/>
            <p:nvPr/>
          </p:nvSpPr>
          <p:spPr>
            <a:xfrm flipH="false" flipV="false" rot="0">
              <a:off x="0" y="0"/>
              <a:ext cx="825500" cy="1803400"/>
            </a:xfrm>
            <a:custGeom>
              <a:avLst/>
              <a:gdLst/>
              <a:ahLst/>
              <a:cxnLst/>
              <a:rect r="r" b="b" t="t" l="l"/>
              <a:pathLst>
                <a:path h="1803400" w="825500">
                  <a:moveTo>
                    <a:pt x="84494" y="0"/>
                  </a:moveTo>
                  <a:lnTo>
                    <a:pt x="741006" y="0"/>
                  </a:lnTo>
                  <a:cubicBezTo>
                    <a:pt x="787671" y="0"/>
                    <a:pt x="825500" y="37829"/>
                    <a:pt x="825500" y="84494"/>
                  </a:cubicBezTo>
                  <a:lnTo>
                    <a:pt x="825500" y="1718906"/>
                  </a:lnTo>
                  <a:cubicBezTo>
                    <a:pt x="825500" y="1765571"/>
                    <a:pt x="787671" y="1803400"/>
                    <a:pt x="741006" y="1803400"/>
                  </a:cubicBezTo>
                  <a:lnTo>
                    <a:pt x="84494" y="1803400"/>
                  </a:lnTo>
                  <a:cubicBezTo>
                    <a:pt x="37829" y="1803400"/>
                    <a:pt x="0" y="1765571"/>
                    <a:pt x="0" y="1718906"/>
                  </a:cubicBezTo>
                  <a:lnTo>
                    <a:pt x="0" y="84494"/>
                  </a:lnTo>
                  <a:cubicBezTo>
                    <a:pt x="0" y="37829"/>
                    <a:pt x="37829" y="0"/>
                    <a:pt x="84494" y="0"/>
                  </a:cubicBezTo>
                  <a:close/>
                </a:path>
              </a:pathLst>
            </a:custGeom>
            <a:solidFill>
              <a:srgbClr val="1A237E"/>
            </a:solidFill>
          </p:spPr>
        </p:sp>
        <p:sp>
          <p:nvSpPr>
            <p:cNvPr name="TextBox 72" id="72"/>
            <p:cNvSpPr txBox="true"/>
            <p:nvPr/>
          </p:nvSpPr>
          <p:spPr>
            <a:xfrm>
              <a:off x="0" y="-38100"/>
              <a:ext cx="825500" cy="1841500"/>
            </a:xfrm>
            <a:prstGeom prst="rect">
              <a:avLst/>
            </a:prstGeom>
          </p:spPr>
          <p:txBody>
            <a:bodyPr anchor="ctr" rtlCol="false" tIns="50800" lIns="50800" bIns="50800" rIns="50800"/>
            <a:lstStyle/>
            <a:p>
              <a:pPr algn="l">
                <a:lnSpc>
                  <a:spcPts val="1679"/>
                </a:lnSpc>
              </a:pPr>
            </a:p>
          </p:txBody>
        </p:sp>
      </p:grpSp>
      <p:sp>
        <p:nvSpPr>
          <p:cNvPr name="TextBox 73" id="73"/>
          <p:cNvSpPr txBox="true"/>
          <p:nvPr/>
        </p:nvSpPr>
        <p:spPr>
          <a:xfrm rot="0">
            <a:off x="950838" y="6747426"/>
            <a:ext cx="592050" cy="145669"/>
          </a:xfrm>
          <a:prstGeom prst="rect">
            <a:avLst/>
          </a:prstGeom>
        </p:spPr>
        <p:txBody>
          <a:bodyPr anchor="t" rtlCol="false" tIns="0" lIns="0" bIns="0" rIns="0">
            <a:spAutoFit/>
          </a:bodyPr>
          <a:lstStyle/>
          <a:p>
            <a:pPr algn="ctr" marL="0" indent="0" lvl="0">
              <a:lnSpc>
                <a:spcPts val="1160"/>
              </a:lnSpc>
              <a:spcBef>
                <a:spcPct val="0"/>
              </a:spcBef>
            </a:pPr>
            <a:r>
              <a:rPr lang="en-US" sz="828" strike="noStrike" u="none">
                <a:solidFill>
                  <a:srgbClr val="1A237E"/>
                </a:solidFill>
                <a:latin typeface="프리텐다드"/>
                <a:ea typeface="프리텐다드"/>
                <a:cs typeface="프리텐다드"/>
                <a:sym typeface="프리텐다드"/>
              </a:rPr>
              <a:t>72.1%</a:t>
            </a:r>
          </a:p>
        </p:txBody>
      </p:sp>
      <p:grpSp>
        <p:nvGrpSpPr>
          <p:cNvPr name="Group 74" id="74"/>
          <p:cNvGrpSpPr/>
          <p:nvPr/>
        </p:nvGrpSpPr>
        <p:grpSpPr>
          <a:xfrm rot="0">
            <a:off x="1759974" y="6656610"/>
            <a:ext cx="641388" cy="1647873"/>
            <a:chOff x="0" y="0"/>
            <a:chExt cx="825500" cy="2120900"/>
          </a:xfrm>
        </p:grpSpPr>
        <p:sp>
          <p:nvSpPr>
            <p:cNvPr name="Freeform 75" id="75"/>
            <p:cNvSpPr/>
            <p:nvPr/>
          </p:nvSpPr>
          <p:spPr>
            <a:xfrm flipH="false" flipV="false" rot="0">
              <a:off x="0" y="0"/>
              <a:ext cx="825500" cy="2120900"/>
            </a:xfrm>
            <a:custGeom>
              <a:avLst/>
              <a:gdLst/>
              <a:ahLst/>
              <a:cxnLst/>
              <a:rect r="r" b="b" t="t" l="l"/>
              <a:pathLst>
                <a:path h="2120900" w="825500">
                  <a:moveTo>
                    <a:pt x="84494" y="0"/>
                  </a:moveTo>
                  <a:lnTo>
                    <a:pt x="741006" y="0"/>
                  </a:lnTo>
                  <a:cubicBezTo>
                    <a:pt x="787671" y="0"/>
                    <a:pt x="825500" y="37829"/>
                    <a:pt x="825500" y="84494"/>
                  </a:cubicBezTo>
                  <a:lnTo>
                    <a:pt x="825500" y="2036406"/>
                  </a:lnTo>
                  <a:cubicBezTo>
                    <a:pt x="825500" y="2083071"/>
                    <a:pt x="787671" y="2120900"/>
                    <a:pt x="741006" y="2120900"/>
                  </a:cubicBezTo>
                  <a:lnTo>
                    <a:pt x="84494" y="2120900"/>
                  </a:lnTo>
                  <a:cubicBezTo>
                    <a:pt x="37829" y="2120900"/>
                    <a:pt x="0" y="2083071"/>
                    <a:pt x="0" y="2036406"/>
                  </a:cubicBezTo>
                  <a:lnTo>
                    <a:pt x="0" y="84494"/>
                  </a:lnTo>
                  <a:cubicBezTo>
                    <a:pt x="0" y="37829"/>
                    <a:pt x="37829" y="0"/>
                    <a:pt x="84494" y="0"/>
                  </a:cubicBezTo>
                  <a:close/>
                </a:path>
              </a:pathLst>
            </a:custGeom>
            <a:solidFill>
              <a:srgbClr val="4A148C"/>
            </a:solidFill>
          </p:spPr>
        </p:sp>
        <p:sp>
          <p:nvSpPr>
            <p:cNvPr name="TextBox 76" id="76"/>
            <p:cNvSpPr txBox="true"/>
            <p:nvPr/>
          </p:nvSpPr>
          <p:spPr>
            <a:xfrm>
              <a:off x="0" y="-38100"/>
              <a:ext cx="825500" cy="2159000"/>
            </a:xfrm>
            <a:prstGeom prst="rect">
              <a:avLst/>
            </a:prstGeom>
          </p:spPr>
          <p:txBody>
            <a:bodyPr anchor="ctr" rtlCol="false" tIns="50800" lIns="50800" bIns="50800" rIns="50800"/>
            <a:lstStyle/>
            <a:p>
              <a:pPr algn="l">
                <a:lnSpc>
                  <a:spcPts val="1679"/>
                </a:lnSpc>
              </a:pPr>
            </a:p>
          </p:txBody>
        </p:sp>
      </p:grpSp>
      <p:grpSp>
        <p:nvGrpSpPr>
          <p:cNvPr name="Group 77" id="77"/>
          <p:cNvGrpSpPr/>
          <p:nvPr/>
        </p:nvGrpSpPr>
        <p:grpSpPr>
          <a:xfrm rot="0">
            <a:off x="2588844" y="6577670"/>
            <a:ext cx="641388" cy="1726813"/>
            <a:chOff x="0" y="0"/>
            <a:chExt cx="825500" cy="2222500"/>
          </a:xfrm>
        </p:grpSpPr>
        <p:sp>
          <p:nvSpPr>
            <p:cNvPr name="Freeform 78" id="78"/>
            <p:cNvSpPr/>
            <p:nvPr/>
          </p:nvSpPr>
          <p:spPr>
            <a:xfrm flipH="false" flipV="false" rot="0">
              <a:off x="0" y="0"/>
              <a:ext cx="825500" cy="2222500"/>
            </a:xfrm>
            <a:custGeom>
              <a:avLst/>
              <a:gdLst/>
              <a:ahLst/>
              <a:cxnLst/>
              <a:rect r="r" b="b" t="t" l="l"/>
              <a:pathLst>
                <a:path h="2222500" w="825500">
                  <a:moveTo>
                    <a:pt x="84494" y="0"/>
                  </a:moveTo>
                  <a:lnTo>
                    <a:pt x="741006" y="0"/>
                  </a:lnTo>
                  <a:cubicBezTo>
                    <a:pt x="787671" y="0"/>
                    <a:pt x="825500" y="37829"/>
                    <a:pt x="825500" y="84494"/>
                  </a:cubicBezTo>
                  <a:lnTo>
                    <a:pt x="825500" y="2138006"/>
                  </a:lnTo>
                  <a:cubicBezTo>
                    <a:pt x="825500" y="2184671"/>
                    <a:pt x="787671" y="2222500"/>
                    <a:pt x="741006" y="2222500"/>
                  </a:cubicBezTo>
                  <a:lnTo>
                    <a:pt x="84494" y="2222500"/>
                  </a:lnTo>
                  <a:cubicBezTo>
                    <a:pt x="37829" y="2222500"/>
                    <a:pt x="0" y="2184671"/>
                    <a:pt x="0" y="2138006"/>
                  </a:cubicBezTo>
                  <a:lnTo>
                    <a:pt x="0" y="84494"/>
                  </a:lnTo>
                  <a:cubicBezTo>
                    <a:pt x="0" y="37829"/>
                    <a:pt x="37829" y="0"/>
                    <a:pt x="84494" y="0"/>
                  </a:cubicBezTo>
                  <a:close/>
                </a:path>
              </a:pathLst>
            </a:custGeom>
            <a:solidFill>
              <a:srgbClr val="6A1B9A"/>
            </a:solidFill>
          </p:spPr>
        </p:sp>
        <p:sp>
          <p:nvSpPr>
            <p:cNvPr name="TextBox 79" id="79"/>
            <p:cNvSpPr txBox="true"/>
            <p:nvPr/>
          </p:nvSpPr>
          <p:spPr>
            <a:xfrm>
              <a:off x="0" y="-38100"/>
              <a:ext cx="825500" cy="2260600"/>
            </a:xfrm>
            <a:prstGeom prst="rect">
              <a:avLst/>
            </a:prstGeom>
          </p:spPr>
          <p:txBody>
            <a:bodyPr anchor="ctr" rtlCol="false" tIns="50800" lIns="50800" bIns="50800" rIns="50800"/>
            <a:lstStyle/>
            <a:p>
              <a:pPr algn="l">
                <a:lnSpc>
                  <a:spcPts val="1679"/>
                </a:lnSpc>
              </a:pPr>
            </a:p>
          </p:txBody>
        </p:sp>
      </p:grpSp>
      <p:grpSp>
        <p:nvGrpSpPr>
          <p:cNvPr name="Group 80" id="80"/>
          <p:cNvGrpSpPr/>
          <p:nvPr/>
        </p:nvGrpSpPr>
        <p:grpSpPr>
          <a:xfrm rot="0">
            <a:off x="3417714" y="6518465"/>
            <a:ext cx="641388" cy="1786018"/>
            <a:chOff x="0" y="0"/>
            <a:chExt cx="825500" cy="2298700"/>
          </a:xfrm>
        </p:grpSpPr>
        <p:sp>
          <p:nvSpPr>
            <p:cNvPr name="Freeform 81" id="81"/>
            <p:cNvSpPr/>
            <p:nvPr/>
          </p:nvSpPr>
          <p:spPr>
            <a:xfrm flipH="false" flipV="false" rot="0">
              <a:off x="0" y="0"/>
              <a:ext cx="825500" cy="2298700"/>
            </a:xfrm>
            <a:custGeom>
              <a:avLst/>
              <a:gdLst/>
              <a:ahLst/>
              <a:cxnLst/>
              <a:rect r="r" b="b" t="t" l="l"/>
              <a:pathLst>
                <a:path h="2298700" w="825500">
                  <a:moveTo>
                    <a:pt x="84494" y="0"/>
                  </a:moveTo>
                  <a:lnTo>
                    <a:pt x="741006" y="0"/>
                  </a:lnTo>
                  <a:cubicBezTo>
                    <a:pt x="787671" y="0"/>
                    <a:pt x="825500" y="37829"/>
                    <a:pt x="825500" y="84494"/>
                  </a:cubicBezTo>
                  <a:lnTo>
                    <a:pt x="825500" y="2214206"/>
                  </a:lnTo>
                  <a:cubicBezTo>
                    <a:pt x="825500" y="2260871"/>
                    <a:pt x="787671" y="2298700"/>
                    <a:pt x="741006" y="2298700"/>
                  </a:cubicBezTo>
                  <a:lnTo>
                    <a:pt x="84494" y="2298700"/>
                  </a:lnTo>
                  <a:cubicBezTo>
                    <a:pt x="37829" y="2298700"/>
                    <a:pt x="0" y="2260871"/>
                    <a:pt x="0" y="2214206"/>
                  </a:cubicBezTo>
                  <a:lnTo>
                    <a:pt x="0" y="84494"/>
                  </a:lnTo>
                  <a:cubicBezTo>
                    <a:pt x="0" y="37829"/>
                    <a:pt x="37829" y="0"/>
                    <a:pt x="84494" y="0"/>
                  </a:cubicBezTo>
                  <a:close/>
                </a:path>
              </a:pathLst>
            </a:custGeom>
            <a:solidFill>
              <a:srgbClr val="880E4F"/>
            </a:solidFill>
          </p:spPr>
        </p:sp>
        <p:sp>
          <p:nvSpPr>
            <p:cNvPr name="TextBox 82" id="82"/>
            <p:cNvSpPr txBox="true"/>
            <p:nvPr/>
          </p:nvSpPr>
          <p:spPr>
            <a:xfrm>
              <a:off x="0" y="-38100"/>
              <a:ext cx="825500" cy="2336800"/>
            </a:xfrm>
            <a:prstGeom prst="rect">
              <a:avLst/>
            </a:prstGeom>
          </p:spPr>
          <p:txBody>
            <a:bodyPr anchor="ctr" rtlCol="false" tIns="50800" lIns="50800" bIns="50800" rIns="50800"/>
            <a:lstStyle/>
            <a:p>
              <a:pPr algn="l">
                <a:lnSpc>
                  <a:spcPts val="1679"/>
                </a:lnSpc>
              </a:pPr>
            </a:p>
          </p:txBody>
        </p:sp>
      </p:grpSp>
      <p:grpSp>
        <p:nvGrpSpPr>
          <p:cNvPr name="Group 83" id="83"/>
          <p:cNvGrpSpPr/>
          <p:nvPr/>
        </p:nvGrpSpPr>
        <p:grpSpPr>
          <a:xfrm rot="0">
            <a:off x="4246585" y="6439525"/>
            <a:ext cx="641388" cy="1864958"/>
            <a:chOff x="0" y="0"/>
            <a:chExt cx="825500" cy="2400300"/>
          </a:xfrm>
        </p:grpSpPr>
        <p:sp>
          <p:nvSpPr>
            <p:cNvPr name="Freeform 84" id="84"/>
            <p:cNvSpPr/>
            <p:nvPr/>
          </p:nvSpPr>
          <p:spPr>
            <a:xfrm flipH="false" flipV="false" rot="0">
              <a:off x="0" y="0"/>
              <a:ext cx="825500" cy="2400300"/>
            </a:xfrm>
            <a:custGeom>
              <a:avLst/>
              <a:gdLst/>
              <a:ahLst/>
              <a:cxnLst/>
              <a:rect r="r" b="b" t="t" l="l"/>
              <a:pathLst>
                <a:path h="2400300" w="825500">
                  <a:moveTo>
                    <a:pt x="84494" y="0"/>
                  </a:moveTo>
                  <a:lnTo>
                    <a:pt x="741006" y="0"/>
                  </a:lnTo>
                  <a:cubicBezTo>
                    <a:pt x="787671" y="0"/>
                    <a:pt x="825500" y="37829"/>
                    <a:pt x="825500" y="84494"/>
                  </a:cubicBezTo>
                  <a:lnTo>
                    <a:pt x="825500" y="2315806"/>
                  </a:lnTo>
                  <a:cubicBezTo>
                    <a:pt x="825500" y="2362471"/>
                    <a:pt x="787671" y="2400300"/>
                    <a:pt x="741006" y="2400300"/>
                  </a:cubicBezTo>
                  <a:lnTo>
                    <a:pt x="84494" y="2400300"/>
                  </a:lnTo>
                  <a:cubicBezTo>
                    <a:pt x="37829" y="2400300"/>
                    <a:pt x="0" y="2362471"/>
                    <a:pt x="0" y="2315806"/>
                  </a:cubicBezTo>
                  <a:lnTo>
                    <a:pt x="0" y="84494"/>
                  </a:lnTo>
                  <a:cubicBezTo>
                    <a:pt x="0" y="37829"/>
                    <a:pt x="37829" y="0"/>
                    <a:pt x="84494" y="0"/>
                  </a:cubicBezTo>
                  <a:close/>
                </a:path>
              </a:pathLst>
            </a:custGeom>
            <a:solidFill>
              <a:srgbClr val="B71C1C"/>
            </a:solidFill>
          </p:spPr>
        </p:sp>
        <p:sp>
          <p:nvSpPr>
            <p:cNvPr name="TextBox 85" id="85"/>
            <p:cNvSpPr txBox="true"/>
            <p:nvPr/>
          </p:nvSpPr>
          <p:spPr>
            <a:xfrm>
              <a:off x="0" y="-38100"/>
              <a:ext cx="825500" cy="2438400"/>
            </a:xfrm>
            <a:prstGeom prst="rect">
              <a:avLst/>
            </a:prstGeom>
          </p:spPr>
          <p:txBody>
            <a:bodyPr anchor="ctr" rtlCol="false" tIns="50800" lIns="50800" bIns="50800" rIns="50800"/>
            <a:lstStyle/>
            <a:p>
              <a:pPr algn="l">
                <a:lnSpc>
                  <a:spcPts val="1679"/>
                </a:lnSpc>
              </a:pPr>
            </a:p>
          </p:txBody>
        </p:sp>
      </p:grpSp>
      <p:sp>
        <p:nvSpPr>
          <p:cNvPr name="AutoShape 86" id="86"/>
          <p:cNvSpPr/>
          <p:nvPr/>
        </p:nvSpPr>
        <p:spPr>
          <a:xfrm flipV="true">
            <a:off x="1246863" y="6439525"/>
            <a:ext cx="3315481" cy="463773"/>
          </a:xfrm>
          <a:prstGeom prst="line">
            <a:avLst/>
          </a:prstGeom>
          <a:ln cap="flat" w="9525">
            <a:solidFill>
              <a:srgbClr val="4A5568"/>
            </a:solidFill>
            <a:prstDash val="solid"/>
            <a:headEnd type="none" len="sm" w="sm"/>
            <a:tailEnd type="none" len="sm" w="sm"/>
          </a:ln>
        </p:spPr>
      </p:sp>
      <p:grpSp>
        <p:nvGrpSpPr>
          <p:cNvPr name="Group 87" id="87"/>
          <p:cNvGrpSpPr/>
          <p:nvPr/>
        </p:nvGrpSpPr>
        <p:grpSpPr>
          <a:xfrm rot="0">
            <a:off x="931103" y="6081122"/>
            <a:ext cx="98675" cy="98675"/>
            <a:chOff x="0" y="0"/>
            <a:chExt cx="127000" cy="127000"/>
          </a:xfrm>
        </p:grpSpPr>
        <p:sp>
          <p:nvSpPr>
            <p:cNvPr name="Freeform 88" id="88"/>
            <p:cNvSpPr/>
            <p:nvPr/>
          </p:nvSpPr>
          <p:spPr>
            <a:xfrm flipH="false" flipV="false" rot="0">
              <a:off x="0" y="0"/>
              <a:ext cx="127000" cy="127000"/>
            </a:xfrm>
            <a:custGeom>
              <a:avLst/>
              <a:gdLst/>
              <a:ahLst/>
              <a:cxnLst/>
              <a:rect r="r" b="b" t="t" l="l"/>
              <a:pathLst>
                <a:path h="127000" w="127000">
                  <a:moveTo>
                    <a:pt x="0" y="0"/>
                  </a:moveTo>
                  <a:lnTo>
                    <a:pt x="127000" y="0"/>
                  </a:lnTo>
                  <a:lnTo>
                    <a:pt x="127000" y="127000"/>
                  </a:lnTo>
                  <a:lnTo>
                    <a:pt x="0" y="127000"/>
                  </a:lnTo>
                  <a:close/>
                </a:path>
              </a:pathLst>
            </a:custGeom>
            <a:solidFill>
              <a:srgbClr val="1A237E"/>
            </a:solidFill>
          </p:spPr>
        </p:sp>
        <p:sp>
          <p:nvSpPr>
            <p:cNvPr name="TextBox 89" id="89"/>
            <p:cNvSpPr txBox="true"/>
            <p:nvPr/>
          </p:nvSpPr>
          <p:spPr>
            <a:xfrm>
              <a:off x="0" y="-38100"/>
              <a:ext cx="127000" cy="165100"/>
            </a:xfrm>
            <a:prstGeom prst="rect">
              <a:avLst/>
            </a:prstGeom>
          </p:spPr>
          <p:txBody>
            <a:bodyPr anchor="ctr" rtlCol="false" tIns="50800" lIns="50800" bIns="50800" rIns="50800"/>
            <a:lstStyle/>
            <a:p>
              <a:pPr algn="l">
                <a:lnSpc>
                  <a:spcPts val="1679"/>
                </a:lnSpc>
              </a:pPr>
            </a:p>
          </p:txBody>
        </p:sp>
      </p:grpSp>
      <p:grpSp>
        <p:nvGrpSpPr>
          <p:cNvPr name="Group 90" id="90"/>
          <p:cNvGrpSpPr/>
          <p:nvPr/>
        </p:nvGrpSpPr>
        <p:grpSpPr>
          <a:xfrm rot="0">
            <a:off x="931103" y="6219267"/>
            <a:ext cx="98675" cy="98675"/>
            <a:chOff x="0" y="0"/>
            <a:chExt cx="127000" cy="127000"/>
          </a:xfrm>
        </p:grpSpPr>
        <p:sp>
          <p:nvSpPr>
            <p:cNvPr name="Freeform 91" id="91"/>
            <p:cNvSpPr/>
            <p:nvPr/>
          </p:nvSpPr>
          <p:spPr>
            <a:xfrm flipH="false" flipV="false" rot="0">
              <a:off x="0" y="0"/>
              <a:ext cx="127000" cy="127000"/>
            </a:xfrm>
            <a:custGeom>
              <a:avLst/>
              <a:gdLst/>
              <a:ahLst/>
              <a:cxnLst/>
              <a:rect r="r" b="b" t="t" l="l"/>
              <a:pathLst>
                <a:path h="127000" w="127000">
                  <a:moveTo>
                    <a:pt x="0" y="0"/>
                  </a:moveTo>
                  <a:lnTo>
                    <a:pt x="127000" y="0"/>
                  </a:lnTo>
                  <a:lnTo>
                    <a:pt x="127000" y="127000"/>
                  </a:lnTo>
                  <a:lnTo>
                    <a:pt x="0" y="127000"/>
                  </a:lnTo>
                  <a:close/>
                </a:path>
              </a:pathLst>
            </a:custGeom>
            <a:solidFill>
              <a:srgbClr val="B71C1C"/>
            </a:solidFill>
          </p:spPr>
        </p:sp>
        <p:sp>
          <p:nvSpPr>
            <p:cNvPr name="TextBox 92" id="92"/>
            <p:cNvSpPr txBox="true"/>
            <p:nvPr/>
          </p:nvSpPr>
          <p:spPr>
            <a:xfrm>
              <a:off x="0" y="-38100"/>
              <a:ext cx="127000" cy="165100"/>
            </a:xfrm>
            <a:prstGeom prst="rect">
              <a:avLst/>
            </a:prstGeom>
          </p:spPr>
          <p:txBody>
            <a:bodyPr anchor="ctr" rtlCol="false" tIns="50800" lIns="50800" bIns="50800" rIns="50800"/>
            <a:lstStyle/>
            <a:p>
              <a:pPr algn="l">
                <a:lnSpc>
                  <a:spcPts val="1679"/>
                </a:lnSpc>
              </a:pPr>
            </a:p>
          </p:txBody>
        </p:sp>
      </p:grpSp>
      <p:grpSp>
        <p:nvGrpSpPr>
          <p:cNvPr name="Group 93" id="93"/>
          <p:cNvGrpSpPr/>
          <p:nvPr/>
        </p:nvGrpSpPr>
        <p:grpSpPr>
          <a:xfrm rot="0">
            <a:off x="2826349" y="9320914"/>
            <a:ext cx="12207165" cy="663639"/>
            <a:chOff x="0" y="0"/>
            <a:chExt cx="3215056" cy="174786"/>
          </a:xfrm>
        </p:grpSpPr>
        <p:sp>
          <p:nvSpPr>
            <p:cNvPr name="Freeform 94" id="94"/>
            <p:cNvSpPr/>
            <p:nvPr/>
          </p:nvSpPr>
          <p:spPr>
            <a:xfrm flipH="false" flipV="false" rot="0">
              <a:off x="0" y="0"/>
              <a:ext cx="3215056" cy="174786"/>
            </a:xfrm>
            <a:custGeom>
              <a:avLst/>
              <a:gdLst/>
              <a:ahLst/>
              <a:cxnLst/>
              <a:rect r="r" b="b" t="t" l="l"/>
              <a:pathLst>
                <a:path h="174786" w="3215056">
                  <a:moveTo>
                    <a:pt x="0" y="0"/>
                  </a:moveTo>
                  <a:lnTo>
                    <a:pt x="3215056" y="0"/>
                  </a:lnTo>
                  <a:lnTo>
                    <a:pt x="3215056" y="174786"/>
                  </a:lnTo>
                  <a:lnTo>
                    <a:pt x="0" y="174786"/>
                  </a:lnTo>
                  <a:close/>
                </a:path>
              </a:pathLst>
            </a:custGeom>
            <a:solidFill>
              <a:srgbClr val="B7B7B7">
                <a:alpha val="29804"/>
              </a:srgbClr>
            </a:solidFill>
          </p:spPr>
        </p:sp>
        <p:sp>
          <p:nvSpPr>
            <p:cNvPr name="TextBox 95" id="95"/>
            <p:cNvSpPr txBox="true"/>
            <p:nvPr/>
          </p:nvSpPr>
          <p:spPr>
            <a:xfrm>
              <a:off x="0" y="-38100"/>
              <a:ext cx="3215056" cy="212886"/>
            </a:xfrm>
            <a:prstGeom prst="rect">
              <a:avLst/>
            </a:prstGeom>
          </p:spPr>
          <p:txBody>
            <a:bodyPr anchor="ctr" rtlCol="false" tIns="50800" lIns="50800" bIns="50800" rIns="50800"/>
            <a:lstStyle/>
            <a:p>
              <a:pPr algn="ctr">
                <a:lnSpc>
                  <a:spcPts val="2150"/>
                </a:lnSpc>
              </a:pPr>
            </a:p>
          </p:txBody>
        </p:sp>
      </p:grpSp>
      <p:sp>
        <p:nvSpPr>
          <p:cNvPr name="TextBox 96" id="96"/>
          <p:cNvSpPr txBox="true"/>
          <p:nvPr/>
        </p:nvSpPr>
        <p:spPr>
          <a:xfrm rot="-5400000">
            <a:off x="-183390" y="7254108"/>
            <a:ext cx="1953766" cy="145669"/>
          </a:xfrm>
          <a:prstGeom prst="rect">
            <a:avLst/>
          </a:prstGeom>
        </p:spPr>
        <p:txBody>
          <a:bodyPr anchor="t" rtlCol="false" tIns="0" lIns="0" bIns="0" rIns="0">
            <a:spAutoFit/>
          </a:bodyPr>
          <a:lstStyle/>
          <a:p>
            <a:pPr algn="ctr" marL="0" indent="0" lvl="0">
              <a:lnSpc>
                <a:spcPts val="1160"/>
              </a:lnSpc>
              <a:spcBef>
                <a:spcPct val="0"/>
              </a:spcBef>
            </a:pPr>
            <a:r>
              <a:rPr lang="en-US" sz="828" strike="noStrike" u="none">
                <a:solidFill>
                  <a:srgbClr val="1E293B"/>
                </a:solidFill>
                <a:latin typeface="프리텐다드"/>
                <a:ea typeface="프리텐다드"/>
                <a:cs typeface="프리텐다드"/>
                <a:sym typeface="프리텐다드"/>
              </a:rPr>
              <a:t>예측 교권침해율 (%)</a:t>
            </a:r>
          </a:p>
        </p:txBody>
      </p:sp>
      <p:sp>
        <p:nvSpPr>
          <p:cNvPr name="TextBox 97" id="97"/>
          <p:cNvSpPr txBox="true"/>
          <p:nvPr/>
        </p:nvSpPr>
        <p:spPr>
          <a:xfrm rot="0">
            <a:off x="871898" y="8393291"/>
            <a:ext cx="740063" cy="305235"/>
          </a:xfrm>
          <a:prstGeom prst="rect">
            <a:avLst/>
          </a:prstGeom>
        </p:spPr>
        <p:txBody>
          <a:bodyPr anchor="t" rtlCol="false" tIns="0" lIns="0" bIns="0" rIns="0">
            <a:spAutoFit/>
          </a:bodyPr>
          <a:lstStyle/>
          <a:p>
            <a:pPr algn="ctr" marL="0" indent="0" lvl="0">
              <a:lnSpc>
                <a:spcPts val="797"/>
              </a:lnSpc>
              <a:spcBef>
                <a:spcPct val="0"/>
              </a:spcBef>
            </a:pPr>
            <a:r>
              <a:rPr lang="en-US" sz="725" strike="noStrike" u="none">
                <a:solidFill>
                  <a:srgbClr val="1E293B"/>
                </a:solidFill>
                <a:latin typeface="프리텐다드"/>
                <a:ea typeface="프리텐다드"/>
                <a:cs typeface="프리텐다드"/>
                <a:sym typeface="프리텐다드"/>
              </a:rPr>
              <a:t>1분위</a:t>
            </a:r>
          </a:p>
          <a:p>
            <a:pPr algn="ctr" marL="0" indent="0" lvl="0">
              <a:lnSpc>
                <a:spcPts val="797"/>
              </a:lnSpc>
              <a:spcBef>
                <a:spcPct val="0"/>
              </a:spcBef>
            </a:pPr>
            <a:r>
              <a:rPr lang="en-US" sz="725" strike="noStrike" u="none">
                <a:solidFill>
                  <a:srgbClr val="1E293B"/>
                </a:solidFill>
                <a:latin typeface="프리텐다드"/>
                <a:ea typeface="프리텐다드"/>
                <a:cs typeface="프리텐다드"/>
                <a:sym typeface="프리텐다드"/>
              </a:rPr>
              <a:t>(제도 잘 작동)</a:t>
            </a:r>
          </a:p>
          <a:p>
            <a:pPr algn="ctr" marL="0" indent="0" lvl="0">
              <a:lnSpc>
                <a:spcPts val="797"/>
              </a:lnSpc>
              <a:spcBef>
                <a:spcPct val="0"/>
              </a:spcBef>
            </a:pPr>
            <a:r>
              <a:rPr lang="en-US" sz="725" strike="noStrike" u="none">
                <a:solidFill>
                  <a:srgbClr val="1E293B"/>
                </a:solidFill>
                <a:latin typeface="프리텐다드"/>
                <a:ea typeface="프리텐다드"/>
                <a:cs typeface="프리텐다드"/>
                <a:sym typeface="프리텐다드"/>
              </a:rPr>
              <a:t>1.0~3.0점</a:t>
            </a:r>
          </a:p>
        </p:txBody>
      </p:sp>
      <p:sp>
        <p:nvSpPr>
          <p:cNvPr name="TextBox 98" id="98"/>
          <p:cNvSpPr txBox="true"/>
          <p:nvPr/>
        </p:nvSpPr>
        <p:spPr>
          <a:xfrm rot="0">
            <a:off x="1779709" y="6495518"/>
            <a:ext cx="592050" cy="145669"/>
          </a:xfrm>
          <a:prstGeom prst="rect">
            <a:avLst/>
          </a:prstGeom>
        </p:spPr>
        <p:txBody>
          <a:bodyPr anchor="t" rtlCol="false" tIns="0" lIns="0" bIns="0" rIns="0">
            <a:spAutoFit/>
          </a:bodyPr>
          <a:lstStyle/>
          <a:p>
            <a:pPr algn="ctr" marL="0" indent="0" lvl="0">
              <a:lnSpc>
                <a:spcPts val="1160"/>
              </a:lnSpc>
              <a:spcBef>
                <a:spcPct val="0"/>
              </a:spcBef>
            </a:pPr>
            <a:r>
              <a:rPr lang="en-US" sz="828" strike="noStrike" u="none">
                <a:solidFill>
                  <a:srgbClr val="4A148C"/>
                </a:solidFill>
                <a:latin typeface="프리텐다드"/>
                <a:ea typeface="프리텐다드"/>
                <a:cs typeface="프리텐다드"/>
                <a:sym typeface="프리텐다드"/>
              </a:rPr>
              <a:t>84.5%</a:t>
            </a:r>
          </a:p>
        </p:txBody>
      </p:sp>
      <p:sp>
        <p:nvSpPr>
          <p:cNvPr name="TextBox 99" id="99"/>
          <p:cNvSpPr txBox="true"/>
          <p:nvPr/>
        </p:nvSpPr>
        <p:spPr>
          <a:xfrm rot="0">
            <a:off x="1700769" y="8442628"/>
            <a:ext cx="740063" cy="206560"/>
          </a:xfrm>
          <a:prstGeom prst="rect">
            <a:avLst/>
          </a:prstGeom>
        </p:spPr>
        <p:txBody>
          <a:bodyPr anchor="t" rtlCol="false" tIns="0" lIns="0" bIns="0" rIns="0">
            <a:spAutoFit/>
          </a:bodyPr>
          <a:lstStyle/>
          <a:p>
            <a:pPr algn="ctr" marL="0" indent="0" lvl="0">
              <a:lnSpc>
                <a:spcPts val="797"/>
              </a:lnSpc>
              <a:spcBef>
                <a:spcPct val="0"/>
              </a:spcBef>
            </a:pPr>
            <a:r>
              <a:rPr lang="en-US" sz="725" strike="noStrike" u="none">
                <a:solidFill>
                  <a:srgbClr val="1E293B"/>
                </a:solidFill>
                <a:latin typeface="프리텐다드"/>
                <a:ea typeface="프리텐다드"/>
                <a:cs typeface="프리텐다드"/>
                <a:sym typeface="프리텐다드"/>
              </a:rPr>
              <a:t>2분위</a:t>
            </a:r>
          </a:p>
          <a:p>
            <a:pPr algn="ctr" marL="0" indent="0" lvl="0">
              <a:lnSpc>
                <a:spcPts val="797"/>
              </a:lnSpc>
              <a:spcBef>
                <a:spcPct val="0"/>
              </a:spcBef>
            </a:pPr>
            <a:r>
              <a:rPr lang="en-US" sz="725" strike="noStrike" u="none">
                <a:solidFill>
                  <a:srgbClr val="1E293B"/>
                </a:solidFill>
                <a:latin typeface="프리텐다드"/>
                <a:ea typeface="프리텐다드"/>
                <a:cs typeface="프리텐다드"/>
                <a:sym typeface="프리텐다드"/>
              </a:rPr>
              <a:t>3.0~3.5점</a:t>
            </a:r>
          </a:p>
        </p:txBody>
      </p:sp>
      <p:sp>
        <p:nvSpPr>
          <p:cNvPr name="TextBox 100" id="100"/>
          <p:cNvSpPr txBox="true"/>
          <p:nvPr/>
        </p:nvSpPr>
        <p:spPr>
          <a:xfrm rot="0">
            <a:off x="2608579" y="6416578"/>
            <a:ext cx="592050" cy="145669"/>
          </a:xfrm>
          <a:prstGeom prst="rect">
            <a:avLst/>
          </a:prstGeom>
        </p:spPr>
        <p:txBody>
          <a:bodyPr anchor="t" rtlCol="false" tIns="0" lIns="0" bIns="0" rIns="0">
            <a:spAutoFit/>
          </a:bodyPr>
          <a:lstStyle/>
          <a:p>
            <a:pPr algn="ctr" marL="0" indent="0" lvl="0">
              <a:lnSpc>
                <a:spcPts val="1160"/>
              </a:lnSpc>
              <a:spcBef>
                <a:spcPct val="0"/>
              </a:spcBef>
            </a:pPr>
            <a:r>
              <a:rPr lang="en-US" sz="828" strike="noStrike" u="none">
                <a:solidFill>
                  <a:srgbClr val="6A1B9A"/>
                </a:solidFill>
                <a:latin typeface="프리텐다드"/>
                <a:ea typeface="프리텐다드"/>
                <a:cs typeface="프리텐다드"/>
                <a:sym typeface="프리텐다드"/>
              </a:rPr>
              <a:t>88.5%</a:t>
            </a:r>
          </a:p>
        </p:txBody>
      </p:sp>
      <p:sp>
        <p:nvSpPr>
          <p:cNvPr name="TextBox 101" id="101"/>
          <p:cNvSpPr txBox="true"/>
          <p:nvPr/>
        </p:nvSpPr>
        <p:spPr>
          <a:xfrm rot="0">
            <a:off x="2529639" y="8442628"/>
            <a:ext cx="740063" cy="206560"/>
          </a:xfrm>
          <a:prstGeom prst="rect">
            <a:avLst/>
          </a:prstGeom>
        </p:spPr>
        <p:txBody>
          <a:bodyPr anchor="t" rtlCol="false" tIns="0" lIns="0" bIns="0" rIns="0">
            <a:spAutoFit/>
          </a:bodyPr>
          <a:lstStyle/>
          <a:p>
            <a:pPr algn="ctr" marL="0" indent="0" lvl="0">
              <a:lnSpc>
                <a:spcPts val="797"/>
              </a:lnSpc>
              <a:spcBef>
                <a:spcPct val="0"/>
              </a:spcBef>
            </a:pPr>
            <a:r>
              <a:rPr lang="en-US" sz="725" strike="noStrike" u="none">
                <a:solidFill>
                  <a:srgbClr val="1E293B"/>
                </a:solidFill>
                <a:latin typeface="프리텐다드"/>
                <a:ea typeface="프리텐다드"/>
                <a:cs typeface="프리텐다드"/>
                <a:sym typeface="프리텐다드"/>
              </a:rPr>
              <a:t>3분위</a:t>
            </a:r>
          </a:p>
          <a:p>
            <a:pPr algn="ctr" marL="0" indent="0" lvl="0">
              <a:lnSpc>
                <a:spcPts val="797"/>
              </a:lnSpc>
              <a:spcBef>
                <a:spcPct val="0"/>
              </a:spcBef>
            </a:pPr>
            <a:r>
              <a:rPr lang="en-US" sz="725" strike="noStrike" u="none">
                <a:solidFill>
                  <a:srgbClr val="1E293B"/>
                </a:solidFill>
                <a:latin typeface="프리텐다드"/>
                <a:ea typeface="프리텐다드"/>
                <a:cs typeface="프리텐다드"/>
                <a:sym typeface="프리텐다드"/>
              </a:rPr>
              <a:t>3.5~4.0점</a:t>
            </a:r>
          </a:p>
        </p:txBody>
      </p:sp>
      <p:sp>
        <p:nvSpPr>
          <p:cNvPr name="TextBox 102" id="102"/>
          <p:cNvSpPr txBox="true"/>
          <p:nvPr/>
        </p:nvSpPr>
        <p:spPr>
          <a:xfrm rot="0">
            <a:off x="3437449" y="6357373"/>
            <a:ext cx="592050" cy="145669"/>
          </a:xfrm>
          <a:prstGeom prst="rect">
            <a:avLst/>
          </a:prstGeom>
        </p:spPr>
        <p:txBody>
          <a:bodyPr anchor="t" rtlCol="false" tIns="0" lIns="0" bIns="0" rIns="0">
            <a:spAutoFit/>
          </a:bodyPr>
          <a:lstStyle/>
          <a:p>
            <a:pPr algn="ctr" marL="0" indent="0" lvl="0">
              <a:lnSpc>
                <a:spcPts val="1160"/>
              </a:lnSpc>
              <a:spcBef>
                <a:spcPct val="0"/>
              </a:spcBef>
            </a:pPr>
            <a:r>
              <a:rPr lang="en-US" sz="828" strike="noStrike" u="none">
                <a:solidFill>
                  <a:srgbClr val="880E4F"/>
                </a:solidFill>
                <a:latin typeface="프리텐다드"/>
                <a:ea typeface="프리텐다드"/>
                <a:cs typeface="프리텐다드"/>
                <a:sym typeface="프리텐다드"/>
              </a:rPr>
              <a:t>91.7%</a:t>
            </a:r>
          </a:p>
        </p:txBody>
      </p:sp>
      <p:sp>
        <p:nvSpPr>
          <p:cNvPr name="TextBox 103" id="103"/>
          <p:cNvSpPr txBox="true"/>
          <p:nvPr/>
        </p:nvSpPr>
        <p:spPr>
          <a:xfrm rot="0">
            <a:off x="3358509" y="8442628"/>
            <a:ext cx="740063" cy="206560"/>
          </a:xfrm>
          <a:prstGeom prst="rect">
            <a:avLst/>
          </a:prstGeom>
        </p:spPr>
        <p:txBody>
          <a:bodyPr anchor="t" rtlCol="false" tIns="0" lIns="0" bIns="0" rIns="0">
            <a:spAutoFit/>
          </a:bodyPr>
          <a:lstStyle/>
          <a:p>
            <a:pPr algn="ctr" marL="0" indent="0" lvl="0">
              <a:lnSpc>
                <a:spcPts val="797"/>
              </a:lnSpc>
              <a:spcBef>
                <a:spcPct val="0"/>
              </a:spcBef>
            </a:pPr>
            <a:r>
              <a:rPr lang="en-US" sz="725" strike="noStrike" u="none">
                <a:solidFill>
                  <a:srgbClr val="1E293B"/>
                </a:solidFill>
                <a:latin typeface="프리텐다드"/>
                <a:ea typeface="프리텐다드"/>
                <a:cs typeface="프리텐다드"/>
                <a:sym typeface="프리텐다드"/>
              </a:rPr>
              <a:t>4분위</a:t>
            </a:r>
          </a:p>
          <a:p>
            <a:pPr algn="ctr" marL="0" indent="0" lvl="0">
              <a:lnSpc>
                <a:spcPts val="797"/>
              </a:lnSpc>
              <a:spcBef>
                <a:spcPct val="0"/>
              </a:spcBef>
            </a:pPr>
            <a:r>
              <a:rPr lang="en-US" sz="725" strike="noStrike" u="none">
                <a:solidFill>
                  <a:srgbClr val="1E293B"/>
                </a:solidFill>
                <a:latin typeface="프리텐다드"/>
                <a:ea typeface="프리텐다드"/>
                <a:cs typeface="프리텐다드"/>
                <a:sym typeface="프리텐다드"/>
              </a:rPr>
              <a:t>4.0~4.5점</a:t>
            </a:r>
          </a:p>
        </p:txBody>
      </p:sp>
      <p:sp>
        <p:nvSpPr>
          <p:cNvPr name="TextBox 104" id="104"/>
          <p:cNvSpPr txBox="true"/>
          <p:nvPr/>
        </p:nvSpPr>
        <p:spPr>
          <a:xfrm rot="0">
            <a:off x="4266320" y="6278433"/>
            <a:ext cx="592050" cy="145669"/>
          </a:xfrm>
          <a:prstGeom prst="rect">
            <a:avLst/>
          </a:prstGeom>
        </p:spPr>
        <p:txBody>
          <a:bodyPr anchor="t" rtlCol="false" tIns="0" lIns="0" bIns="0" rIns="0">
            <a:spAutoFit/>
          </a:bodyPr>
          <a:lstStyle/>
          <a:p>
            <a:pPr algn="ctr" marL="0" indent="0" lvl="0">
              <a:lnSpc>
                <a:spcPts val="1160"/>
              </a:lnSpc>
              <a:spcBef>
                <a:spcPct val="0"/>
              </a:spcBef>
            </a:pPr>
            <a:r>
              <a:rPr lang="en-US" sz="828" strike="noStrike" u="none">
                <a:solidFill>
                  <a:srgbClr val="B71C1C"/>
                </a:solidFill>
                <a:latin typeface="프리텐다드"/>
                <a:ea typeface="프리텐다드"/>
                <a:cs typeface="프리텐다드"/>
                <a:sym typeface="프리텐다드"/>
              </a:rPr>
              <a:t>95.6%</a:t>
            </a:r>
          </a:p>
        </p:txBody>
      </p:sp>
      <p:sp>
        <p:nvSpPr>
          <p:cNvPr name="TextBox 105" id="105"/>
          <p:cNvSpPr txBox="true"/>
          <p:nvPr/>
        </p:nvSpPr>
        <p:spPr>
          <a:xfrm rot="0">
            <a:off x="4187380" y="8393291"/>
            <a:ext cx="740063" cy="305235"/>
          </a:xfrm>
          <a:prstGeom prst="rect">
            <a:avLst/>
          </a:prstGeom>
        </p:spPr>
        <p:txBody>
          <a:bodyPr anchor="t" rtlCol="false" tIns="0" lIns="0" bIns="0" rIns="0">
            <a:spAutoFit/>
          </a:bodyPr>
          <a:lstStyle/>
          <a:p>
            <a:pPr algn="ctr" marL="0" indent="0" lvl="0">
              <a:lnSpc>
                <a:spcPts val="797"/>
              </a:lnSpc>
              <a:spcBef>
                <a:spcPct val="0"/>
              </a:spcBef>
            </a:pPr>
            <a:r>
              <a:rPr lang="en-US" sz="725" strike="noStrike" u="none">
                <a:solidFill>
                  <a:srgbClr val="1E293B"/>
                </a:solidFill>
                <a:latin typeface="프리텐다드"/>
                <a:ea typeface="프리텐다드"/>
                <a:cs typeface="프리텐다드"/>
                <a:sym typeface="프리텐다드"/>
              </a:rPr>
              <a:t>5분위</a:t>
            </a:r>
          </a:p>
          <a:p>
            <a:pPr algn="ctr" marL="0" indent="0" lvl="0">
              <a:lnSpc>
                <a:spcPts val="797"/>
              </a:lnSpc>
              <a:spcBef>
                <a:spcPct val="0"/>
              </a:spcBef>
            </a:pPr>
            <a:r>
              <a:rPr lang="en-US" sz="725" strike="noStrike" u="none">
                <a:solidFill>
                  <a:srgbClr val="1E293B"/>
                </a:solidFill>
                <a:latin typeface="프리텐다드"/>
                <a:ea typeface="프리텐다드"/>
                <a:cs typeface="프리텐다드"/>
                <a:sym typeface="프리텐다드"/>
              </a:rPr>
              <a:t>(제도 미작동)</a:t>
            </a:r>
          </a:p>
          <a:p>
            <a:pPr algn="ctr" marL="0" indent="0" lvl="0">
              <a:lnSpc>
                <a:spcPts val="797"/>
              </a:lnSpc>
              <a:spcBef>
                <a:spcPct val="0"/>
              </a:spcBef>
            </a:pPr>
            <a:r>
              <a:rPr lang="en-US" sz="725" strike="noStrike" u="none">
                <a:solidFill>
                  <a:srgbClr val="1E293B"/>
                </a:solidFill>
                <a:latin typeface="프리텐다드"/>
                <a:ea typeface="프리텐다드"/>
                <a:cs typeface="프리텐다드"/>
                <a:sym typeface="프리텐다드"/>
              </a:rPr>
              <a:t>4.5~5.0점</a:t>
            </a:r>
          </a:p>
        </p:txBody>
      </p:sp>
      <p:sp>
        <p:nvSpPr>
          <p:cNvPr name="TextBox 106" id="106"/>
          <p:cNvSpPr txBox="true"/>
          <p:nvPr/>
        </p:nvSpPr>
        <p:spPr>
          <a:xfrm rot="0">
            <a:off x="4118307" y="6051862"/>
            <a:ext cx="888075" cy="226610"/>
          </a:xfrm>
          <a:prstGeom prst="rect">
            <a:avLst/>
          </a:prstGeom>
        </p:spPr>
        <p:txBody>
          <a:bodyPr anchor="t" rtlCol="false" tIns="0" lIns="0" bIns="0" rIns="0">
            <a:spAutoFit/>
          </a:bodyPr>
          <a:lstStyle/>
          <a:p>
            <a:pPr algn="ctr" marL="0" indent="0" lvl="0">
              <a:lnSpc>
                <a:spcPts val="870"/>
              </a:lnSpc>
              <a:spcBef>
                <a:spcPct val="0"/>
              </a:spcBef>
            </a:pPr>
            <a:r>
              <a:rPr lang="en-US" b="true" sz="725" strike="noStrike" u="none">
                <a:solidFill>
                  <a:srgbClr val="B71C1C"/>
                </a:solidFill>
                <a:latin typeface="프리텐다드 Bold"/>
                <a:ea typeface="프리텐다드 Bold"/>
                <a:cs typeface="프리텐다드 Bold"/>
                <a:sym typeface="프리텐다드 Bold"/>
              </a:rPr>
              <a:t>+23.5%p</a:t>
            </a:r>
          </a:p>
          <a:p>
            <a:pPr algn="ctr" marL="0" indent="0" lvl="0">
              <a:lnSpc>
                <a:spcPts val="870"/>
              </a:lnSpc>
              <a:spcBef>
                <a:spcPct val="0"/>
              </a:spcBef>
            </a:pPr>
            <a:r>
              <a:rPr lang="en-US" sz="725" strike="noStrike" u="none">
                <a:solidFill>
                  <a:srgbClr val="B71C1C"/>
                </a:solidFill>
                <a:latin typeface="프리텐다드"/>
                <a:ea typeface="프리텐다드"/>
                <a:cs typeface="프리텐다드"/>
                <a:sym typeface="프리텐다드"/>
              </a:rPr>
              <a:t>(1분위→5분위)</a:t>
            </a:r>
          </a:p>
        </p:txBody>
      </p:sp>
      <p:sp>
        <p:nvSpPr>
          <p:cNvPr name="TextBox 107" id="107"/>
          <p:cNvSpPr txBox="true"/>
          <p:nvPr/>
        </p:nvSpPr>
        <p:spPr>
          <a:xfrm rot="0">
            <a:off x="1069248" y="6042679"/>
            <a:ext cx="1282776" cy="138433"/>
          </a:xfrm>
          <a:prstGeom prst="rect">
            <a:avLst/>
          </a:prstGeom>
        </p:spPr>
        <p:txBody>
          <a:bodyPr anchor="t" rtlCol="false" tIns="0" lIns="0" bIns="0" rIns="0">
            <a:spAutoFit/>
          </a:bodyPr>
          <a:lstStyle/>
          <a:p>
            <a:pPr algn="l" marL="0" indent="0" lvl="0">
              <a:lnSpc>
                <a:spcPts val="1015"/>
              </a:lnSpc>
              <a:spcBef>
                <a:spcPct val="0"/>
              </a:spcBef>
            </a:pPr>
            <a:r>
              <a:rPr lang="en-US" sz="725" strike="noStrike" u="none">
                <a:solidFill>
                  <a:srgbClr val="1E293B"/>
                </a:solidFill>
                <a:latin typeface="프리텐다드"/>
                <a:ea typeface="프리텐다드"/>
                <a:cs typeface="프리텐다드"/>
                <a:sym typeface="프리텐다드"/>
              </a:rPr>
              <a:t>제도 작동 (공백 낮음)</a:t>
            </a:r>
          </a:p>
        </p:txBody>
      </p:sp>
      <p:sp>
        <p:nvSpPr>
          <p:cNvPr name="TextBox 108" id="108"/>
          <p:cNvSpPr txBox="true"/>
          <p:nvPr/>
        </p:nvSpPr>
        <p:spPr>
          <a:xfrm rot="0">
            <a:off x="1069248" y="6180824"/>
            <a:ext cx="1381451" cy="138433"/>
          </a:xfrm>
          <a:prstGeom prst="rect">
            <a:avLst/>
          </a:prstGeom>
        </p:spPr>
        <p:txBody>
          <a:bodyPr anchor="t" rtlCol="false" tIns="0" lIns="0" bIns="0" rIns="0">
            <a:spAutoFit/>
          </a:bodyPr>
          <a:lstStyle/>
          <a:p>
            <a:pPr algn="l" marL="0" indent="0" lvl="0">
              <a:lnSpc>
                <a:spcPts val="1015"/>
              </a:lnSpc>
              <a:spcBef>
                <a:spcPct val="0"/>
              </a:spcBef>
            </a:pPr>
            <a:r>
              <a:rPr lang="en-US" sz="725" strike="noStrike" u="none">
                <a:solidFill>
                  <a:srgbClr val="1E293B"/>
                </a:solidFill>
                <a:latin typeface="프리텐다드"/>
                <a:ea typeface="프리텐다드"/>
                <a:cs typeface="프리텐다드"/>
                <a:sym typeface="프리텐다드"/>
              </a:rPr>
              <a:t>제도 미작동 (공백 높음)</a:t>
            </a:r>
          </a:p>
        </p:txBody>
      </p:sp>
      <p:sp>
        <p:nvSpPr>
          <p:cNvPr name="TextBox 109" id="109"/>
          <p:cNvSpPr txBox="true"/>
          <p:nvPr/>
        </p:nvSpPr>
        <p:spPr>
          <a:xfrm rot="0">
            <a:off x="575873" y="8689343"/>
            <a:ext cx="4539052" cy="111805"/>
          </a:xfrm>
          <a:prstGeom prst="rect">
            <a:avLst/>
          </a:prstGeom>
        </p:spPr>
        <p:txBody>
          <a:bodyPr anchor="t" rtlCol="false" tIns="0" lIns="0" bIns="0" rIns="0">
            <a:spAutoFit/>
          </a:bodyPr>
          <a:lstStyle/>
          <a:p>
            <a:pPr algn="ctr" marL="0" indent="0" lvl="0">
              <a:lnSpc>
                <a:spcPts val="870"/>
              </a:lnSpc>
              <a:spcBef>
                <a:spcPct val="0"/>
              </a:spcBef>
            </a:pPr>
            <a:r>
              <a:rPr lang="en-US" sz="621" strike="noStrike" u="none">
                <a:solidFill>
                  <a:srgbClr val="94A3B8"/>
                </a:solidFill>
                <a:latin typeface="프리텐다드"/>
                <a:ea typeface="프리텐다드"/>
                <a:cs typeface="프리텐다드"/>
                <a:sym typeface="프리텐다드"/>
              </a:rPr>
              <a:t>교원 인권상황 실태조사 2024 (KOSSDA A1-2024-0073, n=10,888) | 제도공백 지수 = A1_12, A1_13, C6_8, B8_1 </a:t>
            </a:r>
          </a:p>
        </p:txBody>
      </p:sp>
      <p:sp>
        <p:nvSpPr>
          <p:cNvPr name="TextBox 110" id="110"/>
          <p:cNvSpPr txBox="true"/>
          <p:nvPr/>
        </p:nvSpPr>
        <p:spPr>
          <a:xfrm rot="0">
            <a:off x="4912718" y="8686165"/>
            <a:ext cx="6197221" cy="114982"/>
          </a:xfrm>
          <a:prstGeom prst="rect">
            <a:avLst/>
          </a:prstGeom>
        </p:spPr>
        <p:txBody>
          <a:bodyPr anchor="t" rtlCol="false" tIns="0" lIns="0" bIns="0" rIns="0">
            <a:spAutoFit/>
          </a:bodyPr>
          <a:lstStyle/>
          <a:p>
            <a:pPr algn="ctr" marL="0" indent="0" lvl="0">
              <a:lnSpc>
                <a:spcPts val="933"/>
              </a:lnSpc>
              <a:spcBef>
                <a:spcPct val="0"/>
              </a:spcBef>
            </a:pPr>
            <a:r>
              <a:rPr lang="en-US" sz="666" strike="noStrike" u="none">
                <a:solidFill>
                  <a:srgbClr val="94A3B8"/>
                </a:solidFill>
                <a:latin typeface="프리텐다드"/>
                <a:ea typeface="프리텐다드"/>
                <a:cs typeface="프리텐다드"/>
                <a:sym typeface="프리텐다드"/>
              </a:rPr>
              <a:t>교원 인권상황 실태조사 2024 (KOSSDA A1-2024-0073, n=10,888) | 피어슨 r, 전 변수 p&lt;.001 | 5점 리커트 (낮을수록 제도 미작동)</a:t>
            </a:r>
          </a:p>
        </p:txBody>
      </p:sp>
      <p:sp>
        <p:nvSpPr>
          <p:cNvPr name="TextBox 111" id="111"/>
          <p:cNvSpPr txBox="true"/>
          <p:nvPr/>
        </p:nvSpPr>
        <p:spPr>
          <a:xfrm rot="0">
            <a:off x="8752047" y="8512732"/>
            <a:ext cx="1551244" cy="128687"/>
          </a:xfrm>
          <a:prstGeom prst="rect">
            <a:avLst/>
          </a:prstGeom>
        </p:spPr>
        <p:txBody>
          <a:bodyPr anchor="t" rtlCol="false" tIns="0" lIns="0" bIns="0" rIns="0">
            <a:spAutoFit/>
          </a:bodyPr>
          <a:lstStyle/>
          <a:p>
            <a:pPr algn="l" marL="0" indent="0" lvl="0">
              <a:lnSpc>
                <a:spcPts val="1066"/>
              </a:lnSpc>
              <a:spcBef>
                <a:spcPct val="0"/>
              </a:spcBef>
            </a:pPr>
            <a:r>
              <a:rPr lang="en-US" sz="761" strike="noStrike" u="none">
                <a:solidFill>
                  <a:srgbClr val="1E293B"/>
                </a:solidFill>
                <a:latin typeface="프리텐다드"/>
                <a:ea typeface="프리텐다드"/>
                <a:cs typeface="프리텐다드"/>
                <a:sym typeface="프리텐다드"/>
              </a:rPr>
              <a:t>침해 미경험 집단 (n = 1,588)</a:t>
            </a:r>
          </a:p>
        </p:txBody>
      </p:sp>
      <p:sp>
        <p:nvSpPr>
          <p:cNvPr name="TextBox 112" id="112"/>
          <p:cNvSpPr txBox="true"/>
          <p:nvPr/>
        </p:nvSpPr>
        <p:spPr>
          <a:xfrm rot="0">
            <a:off x="7200803" y="8512732"/>
            <a:ext cx="1551244" cy="128687"/>
          </a:xfrm>
          <a:prstGeom prst="rect">
            <a:avLst/>
          </a:prstGeom>
        </p:spPr>
        <p:txBody>
          <a:bodyPr anchor="t" rtlCol="false" tIns="0" lIns="0" bIns="0" rIns="0">
            <a:spAutoFit/>
          </a:bodyPr>
          <a:lstStyle/>
          <a:p>
            <a:pPr algn="l" marL="0" indent="0" lvl="0">
              <a:lnSpc>
                <a:spcPts val="1066"/>
              </a:lnSpc>
              <a:spcBef>
                <a:spcPct val="0"/>
              </a:spcBef>
            </a:pPr>
            <a:r>
              <a:rPr lang="en-US" sz="761" strike="noStrike" u="none">
                <a:solidFill>
                  <a:srgbClr val="1E293B"/>
                </a:solidFill>
                <a:latin typeface="프리텐다드"/>
                <a:ea typeface="프리텐다드"/>
                <a:cs typeface="프리텐다드"/>
                <a:sym typeface="프리텐다드"/>
              </a:rPr>
              <a:t>침해 경험 집단 (n = 9,300)</a:t>
            </a:r>
          </a:p>
        </p:txBody>
      </p:sp>
      <p:sp>
        <p:nvSpPr>
          <p:cNvPr name="TextBox 113" id="113"/>
          <p:cNvSpPr txBox="true"/>
          <p:nvPr/>
        </p:nvSpPr>
        <p:spPr>
          <a:xfrm rot="0">
            <a:off x="10109386" y="7787192"/>
            <a:ext cx="930747" cy="128687"/>
          </a:xfrm>
          <a:prstGeom prst="rect">
            <a:avLst/>
          </a:prstGeom>
        </p:spPr>
        <p:txBody>
          <a:bodyPr anchor="t" rtlCol="false" tIns="0" lIns="0" bIns="0" rIns="0">
            <a:spAutoFit/>
          </a:bodyPr>
          <a:lstStyle/>
          <a:p>
            <a:pPr algn="l" marL="0" indent="0" lvl="0">
              <a:lnSpc>
                <a:spcPts val="1066"/>
              </a:lnSpc>
              <a:spcBef>
                <a:spcPct val="0"/>
              </a:spcBef>
            </a:pPr>
            <a:r>
              <a:rPr lang="en-US" sz="761" strike="noStrike" u="none">
                <a:solidFill>
                  <a:srgbClr val="475569"/>
                </a:solidFill>
                <a:latin typeface="프리텐다드"/>
                <a:ea typeface="프리텐다드"/>
                <a:cs typeface="프리텐다드"/>
                <a:sym typeface="프리텐다드"/>
              </a:rPr>
              <a:t>r = -0.126***</a:t>
            </a:r>
          </a:p>
        </p:txBody>
      </p:sp>
      <p:sp>
        <p:nvSpPr>
          <p:cNvPr name="TextBox 114" id="114"/>
          <p:cNvSpPr txBox="true"/>
          <p:nvPr/>
        </p:nvSpPr>
        <p:spPr>
          <a:xfrm rot="0">
            <a:off x="9046784" y="7787192"/>
            <a:ext cx="310249" cy="128687"/>
          </a:xfrm>
          <a:prstGeom prst="rect">
            <a:avLst/>
          </a:prstGeom>
        </p:spPr>
        <p:txBody>
          <a:bodyPr anchor="t" rtlCol="false" tIns="0" lIns="0" bIns="0" rIns="0">
            <a:spAutoFit/>
          </a:bodyPr>
          <a:lstStyle/>
          <a:p>
            <a:pPr algn="l" marL="0" indent="0" lvl="0">
              <a:lnSpc>
                <a:spcPts val="1066"/>
              </a:lnSpc>
              <a:spcBef>
                <a:spcPct val="0"/>
              </a:spcBef>
            </a:pPr>
            <a:r>
              <a:rPr lang="en-US" sz="761" strike="noStrike" u="none">
                <a:solidFill>
                  <a:srgbClr val="1565C0"/>
                </a:solidFill>
                <a:latin typeface="프리텐다드"/>
                <a:ea typeface="프리텐다드"/>
                <a:cs typeface="프리텐다드"/>
                <a:sym typeface="프리텐다드"/>
              </a:rPr>
              <a:t>3.07</a:t>
            </a:r>
          </a:p>
        </p:txBody>
      </p:sp>
      <p:sp>
        <p:nvSpPr>
          <p:cNvPr name="TextBox 115" id="115"/>
          <p:cNvSpPr txBox="true"/>
          <p:nvPr/>
        </p:nvSpPr>
        <p:spPr>
          <a:xfrm rot="0">
            <a:off x="7953157" y="7787192"/>
            <a:ext cx="310249" cy="128687"/>
          </a:xfrm>
          <a:prstGeom prst="rect">
            <a:avLst/>
          </a:prstGeom>
        </p:spPr>
        <p:txBody>
          <a:bodyPr anchor="t" rtlCol="false" tIns="0" lIns="0" bIns="0" rIns="0">
            <a:spAutoFit/>
          </a:bodyPr>
          <a:lstStyle/>
          <a:p>
            <a:pPr algn="r" marL="0" indent="0" lvl="0">
              <a:lnSpc>
                <a:spcPts val="1066"/>
              </a:lnSpc>
              <a:spcBef>
                <a:spcPct val="0"/>
              </a:spcBef>
            </a:pPr>
            <a:r>
              <a:rPr lang="en-US" sz="761" strike="noStrike" u="none">
                <a:solidFill>
                  <a:srgbClr val="C0392B"/>
                </a:solidFill>
                <a:latin typeface="프리텐다드"/>
                <a:ea typeface="프리텐다드"/>
                <a:cs typeface="프리텐다드"/>
                <a:sym typeface="프리텐다드"/>
              </a:rPr>
              <a:t>2.6</a:t>
            </a:r>
          </a:p>
        </p:txBody>
      </p:sp>
      <p:sp>
        <p:nvSpPr>
          <p:cNvPr name="TextBox 116" id="116"/>
          <p:cNvSpPr txBox="true"/>
          <p:nvPr/>
        </p:nvSpPr>
        <p:spPr>
          <a:xfrm rot="0">
            <a:off x="5067842" y="7788656"/>
            <a:ext cx="1939055" cy="132867"/>
          </a:xfrm>
          <a:prstGeom prst="rect">
            <a:avLst/>
          </a:prstGeom>
        </p:spPr>
        <p:txBody>
          <a:bodyPr anchor="t" rtlCol="false" tIns="0" lIns="0" bIns="0" rIns="0">
            <a:spAutoFit/>
          </a:bodyPr>
          <a:lstStyle/>
          <a:p>
            <a:pPr algn="l" marL="0" indent="0" lvl="0">
              <a:lnSpc>
                <a:spcPts val="1199"/>
              </a:lnSpc>
              <a:spcBef>
                <a:spcPct val="0"/>
              </a:spcBef>
            </a:pPr>
            <a:r>
              <a:rPr lang="en-US" sz="856" strike="noStrike" u="none">
                <a:solidFill>
                  <a:srgbClr val="1E293B"/>
                </a:solidFill>
                <a:latin typeface="프리텐다드"/>
                <a:ea typeface="프리텐다드"/>
                <a:cs typeface="프리텐다드"/>
                <a:sym typeface="프리텐다드"/>
              </a:rPr>
              <a:t>문제 해결하는 공식 절차 존재 [C6_8]</a:t>
            </a:r>
          </a:p>
        </p:txBody>
      </p:sp>
      <p:sp>
        <p:nvSpPr>
          <p:cNvPr name="TextBox 117" id="117"/>
          <p:cNvSpPr txBox="true"/>
          <p:nvPr/>
        </p:nvSpPr>
        <p:spPr>
          <a:xfrm rot="0">
            <a:off x="10109386" y="7333730"/>
            <a:ext cx="930747" cy="128687"/>
          </a:xfrm>
          <a:prstGeom prst="rect">
            <a:avLst/>
          </a:prstGeom>
        </p:spPr>
        <p:txBody>
          <a:bodyPr anchor="t" rtlCol="false" tIns="0" lIns="0" bIns="0" rIns="0">
            <a:spAutoFit/>
          </a:bodyPr>
          <a:lstStyle/>
          <a:p>
            <a:pPr algn="l" marL="0" indent="0" lvl="0">
              <a:lnSpc>
                <a:spcPts val="1066"/>
              </a:lnSpc>
              <a:spcBef>
                <a:spcPct val="0"/>
              </a:spcBef>
            </a:pPr>
            <a:r>
              <a:rPr lang="en-US" sz="761" strike="noStrike" u="none">
                <a:solidFill>
                  <a:srgbClr val="475569"/>
                </a:solidFill>
                <a:latin typeface="프리텐다드"/>
                <a:ea typeface="프리텐다드"/>
                <a:cs typeface="프리텐다드"/>
                <a:sym typeface="프리텐다드"/>
              </a:rPr>
              <a:t>r = -0.184***</a:t>
            </a:r>
          </a:p>
        </p:txBody>
      </p:sp>
      <p:sp>
        <p:nvSpPr>
          <p:cNvPr name="TextBox 118" id="118"/>
          <p:cNvSpPr txBox="true"/>
          <p:nvPr/>
        </p:nvSpPr>
        <p:spPr>
          <a:xfrm rot="0">
            <a:off x="8410774" y="7333730"/>
            <a:ext cx="310249" cy="128687"/>
          </a:xfrm>
          <a:prstGeom prst="rect">
            <a:avLst/>
          </a:prstGeom>
        </p:spPr>
        <p:txBody>
          <a:bodyPr anchor="t" rtlCol="false" tIns="0" lIns="0" bIns="0" rIns="0">
            <a:spAutoFit/>
          </a:bodyPr>
          <a:lstStyle/>
          <a:p>
            <a:pPr algn="l" marL="0" indent="0" lvl="0">
              <a:lnSpc>
                <a:spcPts val="1066"/>
              </a:lnSpc>
              <a:spcBef>
                <a:spcPct val="0"/>
              </a:spcBef>
            </a:pPr>
            <a:r>
              <a:rPr lang="en-US" sz="761" strike="noStrike" u="none">
                <a:solidFill>
                  <a:srgbClr val="1565C0"/>
                </a:solidFill>
                <a:latin typeface="프리텐다드"/>
                <a:ea typeface="프리텐다드"/>
                <a:cs typeface="프리텐다드"/>
                <a:sym typeface="프리텐다드"/>
              </a:rPr>
              <a:t>2.53</a:t>
            </a:r>
          </a:p>
        </p:txBody>
      </p:sp>
      <p:sp>
        <p:nvSpPr>
          <p:cNvPr name="TextBox 119" id="119"/>
          <p:cNvSpPr txBox="true"/>
          <p:nvPr/>
        </p:nvSpPr>
        <p:spPr>
          <a:xfrm rot="0">
            <a:off x="7255097" y="7333730"/>
            <a:ext cx="310249" cy="128687"/>
          </a:xfrm>
          <a:prstGeom prst="rect">
            <a:avLst/>
          </a:prstGeom>
        </p:spPr>
        <p:txBody>
          <a:bodyPr anchor="t" rtlCol="false" tIns="0" lIns="0" bIns="0" rIns="0">
            <a:spAutoFit/>
          </a:bodyPr>
          <a:lstStyle/>
          <a:p>
            <a:pPr algn="r" marL="0" indent="0" lvl="0">
              <a:lnSpc>
                <a:spcPts val="1066"/>
              </a:lnSpc>
              <a:spcBef>
                <a:spcPct val="0"/>
              </a:spcBef>
            </a:pPr>
            <a:r>
              <a:rPr lang="en-US" sz="761" strike="noStrike" u="none">
                <a:solidFill>
                  <a:srgbClr val="C0392B"/>
                </a:solidFill>
                <a:latin typeface="프리텐다드"/>
                <a:ea typeface="프리텐다드"/>
                <a:cs typeface="프리텐다드"/>
                <a:sym typeface="프리텐다드"/>
              </a:rPr>
              <a:t>2.01</a:t>
            </a:r>
          </a:p>
        </p:txBody>
      </p:sp>
      <p:sp>
        <p:nvSpPr>
          <p:cNvPr name="TextBox 120" id="120"/>
          <p:cNvSpPr txBox="true"/>
          <p:nvPr/>
        </p:nvSpPr>
        <p:spPr>
          <a:xfrm rot="0">
            <a:off x="5067842" y="7335193"/>
            <a:ext cx="1939055" cy="132867"/>
          </a:xfrm>
          <a:prstGeom prst="rect">
            <a:avLst/>
          </a:prstGeom>
        </p:spPr>
        <p:txBody>
          <a:bodyPr anchor="t" rtlCol="false" tIns="0" lIns="0" bIns="0" rIns="0">
            <a:spAutoFit/>
          </a:bodyPr>
          <a:lstStyle/>
          <a:p>
            <a:pPr algn="l" marL="0" indent="0" lvl="0">
              <a:lnSpc>
                <a:spcPts val="1199"/>
              </a:lnSpc>
              <a:spcBef>
                <a:spcPct val="0"/>
              </a:spcBef>
            </a:pPr>
            <a:r>
              <a:rPr lang="en-US" sz="856" strike="noStrike" u="none">
                <a:solidFill>
                  <a:srgbClr val="1E293B"/>
                </a:solidFill>
                <a:latin typeface="프리텐다드"/>
                <a:ea typeface="프리텐다드"/>
                <a:cs typeface="프리텐다드"/>
                <a:sym typeface="프리텐다드"/>
              </a:rPr>
              <a:t>교권보호위원회 처리 절차 신뢰 [B8_1]</a:t>
            </a:r>
          </a:p>
        </p:txBody>
      </p:sp>
      <p:sp>
        <p:nvSpPr>
          <p:cNvPr name="TextBox 121" id="121"/>
          <p:cNvSpPr txBox="true"/>
          <p:nvPr/>
        </p:nvSpPr>
        <p:spPr>
          <a:xfrm rot="0">
            <a:off x="10109386" y="6880267"/>
            <a:ext cx="930747" cy="128687"/>
          </a:xfrm>
          <a:prstGeom prst="rect">
            <a:avLst/>
          </a:prstGeom>
        </p:spPr>
        <p:txBody>
          <a:bodyPr anchor="t" rtlCol="false" tIns="0" lIns="0" bIns="0" rIns="0">
            <a:spAutoFit/>
          </a:bodyPr>
          <a:lstStyle/>
          <a:p>
            <a:pPr algn="l" marL="0" indent="0" lvl="0">
              <a:lnSpc>
                <a:spcPts val="1066"/>
              </a:lnSpc>
              <a:spcBef>
                <a:spcPct val="0"/>
              </a:spcBef>
            </a:pPr>
            <a:r>
              <a:rPr lang="en-US" sz="761" strike="noStrike" u="none">
                <a:solidFill>
                  <a:srgbClr val="475569"/>
                </a:solidFill>
                <a:latin typeface="프리텐다드"/>
                <a:ea typeface="프리텐다드"/>
                <a:cs typeface="프리텐다드"/>
                <a:sym typeface="프리텐다드"/>
              </a:rPr>
              <a:t>r = -0.217***</a:t>
            </a:r>
          </a:p>
        </p:txBody>
      </p:sp>
      <p:sp>
        <p:nvSpPr>
          <p:cNvPr name="TextBox 122" id="122"/>
          <p:cNvSpPr txBox="true"/>
          <p:nvPr/>
        </p:nvSpPr>
        <p:spPr>
          <a:xfrm rot="0">
            <a:off x="8643460" y="6880267"/>
            <a:ext cx="310249" cy="128687"/>
          </a:xfrm>
          <a:prstGeom prst="rect">
            <a:avLst/>
          </a:prstGeom>
        </p:spPr>
        <p:txBody>
          <a:bodyPr anchor="t" rtlCol="false" tIns="0" lIns="0" bIns="0" rIns="0">
            <a:spAutoFit/>
          </a:bodyPr>
          <a:lstStyle/>
          <a:p>
            <a:pPr algn="l" marL="0" indent="0" lvl="0">
              <a:lnSpc>
                <a:spcPts val="1066"/>
              </a:lnSpc>
              <a:spcBef>
                <a:spcPct val="0"/>
              </a:spcBef>
            </a:pPr>
            <a:r>
              <a:rPr lang="en-US" sz="761" strike="noStrike" u="none">
                <a:solidFill>
                  <a:srgbClr val="1565C0"/>
                </a:solidFill>
                <a:latin typeface="프리텐다드"/>
                <a:ea typeface="프리텐다드"/>
                <a:cs typeface="프리텐다드"/>
                <a:sym typeface="프리텐다드"/>
              </a:rPr>
              <a:t>2.73</a:t>
            </a:r>
          </a:p>
        </p:txBody>
      </p:sp>
      <p:sp>
        <p:nvSpPr>
          <p:cNvPr name="TextBox 123" id="123"/>
          <p:cNvSpPr txBox="true"/>
          <p:nvPr/>
        </p:nvSpPr>
        <p:spPr>
          <a:xfrm rot="0">
            <a:off x="7324903" y="6880267"/>
            <a:ext cx="310249" cy="128687"/>
          </a:xfrm>
          <a:prstGeom prst="rect">
            <a:avLst/>
          </a:prstGeom>
        </p:spPr>
        <p:txBody>
          <a:bodyPr anchor="t" rtlCol="false" tIns="0" lIns="0" bIns="0" rIns="0">
            <a:spAutoFit/>
          </a:bodyPr>
          <a:lstStyle/>
          <a:p>
            <a:pPr algn="r" marL="0" indent="0" lvl="0">
              <a:lnSpc>
                <a:spcPts val="1066"/>
              </a:lnSpc>
              <a:spcBef>
                <a:spcPct val="0"/>
              </a:spcBef>
            </a:pPr>
            <a:r>
              <a:rPr lang="en-US" sz="761" strike="noStrike" u="none">
                <a:solidFill>
                  <a:srgbClr val="C0392B"/>
                </a:solidFill>
                <a:latin typeface="프리텐다드"/>
                <a:ea typeface="프리텐다드"/>
                <a:cs typeface="프리텐다드"/>
                <a:sym typeface="프리텐다드"/>
              </a:rPr>
              <a:t>2.07</a:t>
            </a:r>
          </a:p>
        </p:txBody>
      </p:sp>
      <p:sp>
        <p:nvSpPr>
          <p:cNvPr name="TextBox 124" id="124"/>
          <p:cNvSpPr txBox="true"/>
          <p:nvPr/>
        </p:nvSpPr>
        <p:spPr>
          <a:xfrm rot="0">
            <a:off x="5067842" y="6881731"/>
            <a:ext cx="1939055" cy="132867"/>
          </a:xfrm>
          <a:prstGeom prst="rect">
            <a:avLst/>
          </a:prstGeom>
        </p:spPr>
        <p:txBody>
          <a:bodyPr anchor="t" rtlCol="false" tIns="0" lIns="0" bIns="0" rIns="0">
            <a:spAutoFit/>
          </a:bodyPr>
          <a:lstStyle/>
          <a:p>
            <a:pPr algn="l" marL="0" indent="0" lvl="0">
              <a:lnSpc>
                <a:spcPts val="1199"/>
              </a:lnSpc>
              <a:spcBef>
                <a:spcPct val="0"/>
              </a:spcBef>
            </a:pPr>
            <a:r>
              <a:rPr lang="en-US" sz="856" strike="noStrike" u="none">
                <a:solidFill>
                  <a:srgbClr val="1E293B"/>
                </a:solidFill>
                <a:latin typeface="프리텐다드"/>
                <a:ea typeface="프리텐다드"/>
                <a:cs typeface="프리텐다드"/>
                <a:sym typeface="프리텐다드"/>
              </a:rPr>
              <a:t>방해학생 분리제도 취지에 맞게 운영 [A1_12]</a:t>
            </a:r>
          </a:p>
        </p:txBody>
      </p:sp>
      <p:sp>
        <p:nvSpPr>
          <p:cNvPr name="TextBox 125" id="125"/>
          <p:cNvSpPr txBox="true"/>
          <p:nvPr/>
        </p:nvSpPr>
        <p:spPr>
          <a:xfrm rot="0">
            <a:off x="10109386" y="6426805"/>
            <a:ext cx="930747" cy="128687"/>
          </a:xfrm>
          <a:prstGeom prst="rect">
            <a:avLst/>
          </a:prstGeom>
        </p:spPr>
        <p:txBody>
          <a:bodyPr anchor="t" rtlCol="false" tIns="0" lIns="0" bIns="0" rIns="0">
            <a:spAutoFit/>
          </a:bodyPr>
          <a:lstStyle/>
          <a:p>
            <a:pPr algn="l" marL="0" indent="0" lvl="0">
              <a:lnSpc>
                <a:spcPts val="1066"/>
              </a:lnSpc>
              <a:spcBef>
                <a:spcPct val="0"/>
              </a:spcBef>
            </a:pPr>
            <a:r>
              <a:rPr lang="en-US" sz="761" strike="noStrike" u="none">
                <a:solidFill>
                  <a:srgbClr val="475569"/>
                </a:solidFill>
                <a:latin typeface="프리텐다드"/>
                <a:ea typeface="프리텐다드"/>
                <a:cs typeface="프리텐다드"/>
                <a:sym typeface="프리텐다드"/>
              </a:rPr>
              <a:t>r = -0.255***</a:t>
            </a:r>
          </a:p>
        </p:txBody>
      </p:sp>
      <p:sp>
        <p:nvSpPr>
          <p:cNvPr name="TextBox 126" id="126"/>
          <p:cNvSpPr txBox="true"/>
          <p:nvPr/>
        </p:nvSpPr>
        <p:spPr>
          <a:xfrm rot="0">
            <a:off x="8752047" y="6426805"/>
            <a:ext cx="310249" cy="128687"/>
          </a:xfrm>
          <a:prstGeom prst="rect">
            <a:avLst/>
          </a:prstGeom>
        </p:spPr>
        <p:txBody>
          <a:bodyPr anchor="t" rtlCol="false" tIns="0" lIns="0" bIns="0" rIns="0">
            <a:spAutoFit/>
          </a:bodyPr>
          <a:lstStyle/>
          <a:p>
            <a:pPr algn="l" marL="0" indent="0" lvl="0">
              <a:lnSpc>
                <a:spcPts val="1066"/>
              </a:lnSpc>
              <a:spcBef>
                <a:spcPct val="0"/>
              </a:spcBef>
            </a:pPr>
            <a:r>
              <a:rPr lang="en-US" sz="761" strike="noStrike" u="none">
                <a:solidFill>
                  <a:srgbClr val="1565C0"/>
                </a:solidFill>
                <a:latin typeface="프리텐다드"/>
                <a:ea typeface="프리텐다드"/>
                <a:cs typeface="프리텐다드"/>
                <a:sym typeface="프리텐다드"/>
              </a:rPr>
              <a:t>2.82</a:t>
            </a:r>
          </a:p>
        </p:txBody>
      </p:sp>
      <p:sp>
        <p:nvSpPr>
          <p:cNvPr name="TextBox 127" id="127"/>
          <p:cNvSpPr txBox="true"/>
          <p:nvPr/>
        </p:nvSpPr>
        <p:spPr>
          <a:xfrm rot="0">
            <a:off x="7293878" y="6426805"/>
            <a:ext cx="310249" cy="128687"/>
          </a:xfrm>
          <a:prstGeom prst="rect">
            <a:avLst/>
          </a:prstGeom>
        </p:spPr>
        <p:txBody>
          <a:bodyPr anchor="t" rtlCol="false" tIns="0" lIns="0" bIns="0" rIns="0">
            <a:spAutoFit/>
          </a:bodyPr>
          <a:lstStyle/>
          <a:p>
            <a:pPr algn="r" marL="0" indent="0" lvl="0">
              <a:lnSpc>
                <a:spcPts val="1066"/>
              </a:lnSpc>
              <a:spcBef>
                <a:spcPct val="0"/>
              </a:spcBef>
            </a:pPr>
            <a:r>
              <a:rPr lang="en-US" sz="761" strike="noStrike" u="none">
                <a:solidFill>
                  <a:srgbClr val="C0392B"/>
                </a:solidFill>
                <a:latin typeface="프리텐다드"/>
                <a:ea typeface="프리텐다드"/>
                <a:cs typeface="프리텐다드"/>
                <a:sym typeface="프리텐다드"/>
              </a:rPr>
              <a:t>2.04</a:t>
            </a:r>
          </a:p>
        </p:txBody>
      </p:sp>
      <p:sp>
        <p:nvSpPr>
          <p:cNvPr name="TextBox 128" id="128"/>
          <p:cNvSpPr txBox="true"/>
          <p:nvPr/>
        </p:nvSpPr>
        <p:spPr>
          <a:xfrm rot="0">
            <a:off x="5067842" y="6428268"/>
            <a:ext cx="1939055" cy="132867"/>
          </a:xfrm>
          <a:prstGeom prst="rect">
            <a:avLst/>
          </a:prstGeom>
        </p:spPr>
        <p:txBody>
          <a:bodyPr anchor="t" rtlCol="false" tIns="0" lIns="0" bIns="0" rIns="0">
            <a:spAutoFit/>
          </a:bodyPr>
          <a:lstStyle/>
          <a:p>
            <a:pPr algn="l" marL="0" indent="0" lvl="0">
              <a:lnSpc>
                <a:spcPts val="1199"/>
              </a:lnSpc>
              <a:spcBef>
                <a:spcPct val="0"/>
              </a:spcBef>
            </a:pPr>
            <a:r>
              <a:rPr lang="en-US" sz="856" strike="noStrike" u="none">
                <a:solidFill>
                  <a:srgbClr val="1E293B"/>
                </a:solidFill>
                <a:latin typeface="프리텐다드"/>
                <a:ea typeface="프리텐다드"/>
                <a:cs typeface="프리텐다드"/>
                <a:sym typeface="프리텐다드"/>
              </a:rPr>
              <a:t>민원응대 제도 취지에 맞게 운영 [A1_13]</a:t>
            </a:r>
          </a:p>
        </p:txBody>
      </p:sp>
      <p:sp>
        <p:nvSpPr>
          <p:cNvPr name="TextBox 129" id="129"/>
          <p:cNvSpPr txBox="true"/>
          <p:nvPr/>
        </p:nvSpPr>
        <p:spPr>
          <a:xfrm rot="0">
            <a:off x="7006898" y="8340417"/>
            <a:ext cx="3102489" cy="128687"/>
          </a:xfrm>
          <a:prstGeom prst="rect">
            <a:avLst/>
          </a:prstGeom>
        </p:spPr>
        <p:txBody>
          <a:bodyPr anchor="t" rtlCol="false" tIns="0" lIns="0" bIns="0" rIns="0">
            <a:spAutoFit/>
          </a:bodyPr>
          <a:lstStyle/>
          <a:p>
            <a:pPr algn="ctr" marL="0" indent="0" lvl="0">
              <a:lnSpc>
                <a:spcPts val="1066"/>
              </a:lnSpc>
              <a:spcBef>
                <a:spcPct val="0"/>
              </a:spcBef>
            </a:pPr>
            <a:r>
              <a:rPr lang="en-US" sz="761" strike="noStrike" u="none">
                <a:solidFill>
                  <a:srgbClr val="94A3B8"/>
                </a:solidFill>
                <a:latin typeface="프리텐다드"/>
                <a:ea typeface="프리텐다드"/>
                <a:cs typeface="프리텐다드"/>
                <a:sym typeface="프리텐다드"/>
              </a:rPr>
              <a:t>제도 운영 인식 평균 (1=전혀 아님 ~ 5=매우 그렇다)</a:t>
            </a:r>
          </a:p>
        </p:txBody>
      </p:sp>
      <p:sp>
        <p:nvSpPr>
          <p:cNvPr name="TextBox 130" id="130"/>
          <p:cNvSpPr txBox="true"/>
          <p:nvPr/>
        </p:nvSpPr>
        <p:spPr>
          <a:xfrm rot="0">
            <a:off x="9915481" y="8204378"/>
            <a:ext cx="232687" cy="128687"/>
          </a:xfrm>
          <a:prstGeom prst="rect">
            <a:avLst/>
          </a:prstGeom>
        </p:spPr>
        <p:txBody>
          <a:bodyPr anchor="t" rtlCol="false" tIns="0" lIns="0" bIns="0" rIns="0">
            <a:spAutoFit/>
          </a:bodyPr>
          <a:lstStyle/>
          <a:p>
            <a:pPr algn="ctr" marL="0" indent="0" lvl="0">
              <a:lnSpc>
                <a:spcPts val="1066"/>
              </a:lnSpc>
              <a:spcBef>
                <a:spcPct val="0"/>
              </a:spcBef>
            </a:pPr>
            <a:r>
              <a:rPr lang="en-US" sz="761" strike="noStrike" u="none">
                <a:solidFill>
                  <a:srgbClr val="94A3B8"/>
                </a:solidFill>
                <a:latin typeface="프리텐다드"/>
                <a:ea typeface="프리텐다드"/>
                <a:cs typeface="프리텐다드"/>
                <a:sym typeface="프리텐다드"/>
              </a:rPr>
              <a:t>4.0</a:t>
            </a:r>
          </a:p>
        </p:txBody>
      </p:sp>
      <p:sp>
        <p:nvSpPr>
          <p:cNvPr name="TextBox 131" id="131"/>
          <p:cNvSpPr txBox="true"/>
          <p:nvPr/>
        </p:nvSpPr>
        <p:spPr>
          <a:xfrm rot="0">
            <a:off x="9326008" y="8204378"/>
            <a:ext cx="232687" cy="128687"/>
          </a:xfrm>
          <a:prstGeom prst="rect">
            <a:avLst/>
          </a:prstGeom>
        </p:spPr>
        <p:txBody>
          <a:bodyPr anchor="t" rtlCol="false" tIns="0" lIns="0" bIns="0" rIns="0">
            <a:spAutoFit/>
          </a:bodyPr>
          <a:lstStyle/>
          <a:p>
            <a:pPr algn="ctr" marL="0" indent="0" lvl="0">
              <a:lnSpc>
                <a:spcPts val="1066"/>
              </a:lnSpc>
              <a:spcBef>
                <a:spcPct val="0"/>
              </a:spcBef>
            </a:pPr>
            <a:r>
              <a:rPr lang="en-US" sz="761" strike="noStrike" u="none">
                <a:solidFill>
                  <a:srgbClr val="94A3B8"/>
                </a:solidFill>
                <a:latin typeface="프리텐다드"/>
                <a:ea typeface="프리텐다드"/>
                <a:cs typeface="프리텐다드"/>
                <a:sym typeface="프리텐다드"/>
              </a:rPr>
              <a:t>3.5</a:t>
            </a:r>
          </a:p>
        </p:txBody>
      </p:sp>
      <p:sp>
        <p:nvSpPr>
          <p:cNvPr name="TextBox 132" id="132"/>
          <p:cNvSpPr txBox="true"/>
          <p:nvPr/>
        </p:nvSpPr>
        <p:spPr>
          <a:xfrm rot="0">
            <a:off x="8736535" y="8204378"/>
            <a:ext cx="232687" cy="128687"/>
          </a:xfrm>
          <a:prstGeom prst="rect">
            <a:avLst/>
          </a:prstGeom>
        </p:spPr>
        <p:txBody>
          <a:bodyPr anchor="t" rtlCol="false" tIns="0" lIns="0" bIns="0" rIns="0">
            <a:spAutoFit/>
          </a:bodyPr>
          <a:lstStyle/>
          <a:p>
            <a:pPr algn="ctr" marL="0" indent="0" lvl="0">
              <a:lnSpc>
                <a:spcPts val="1066"/>
              </a:lnSpc>
              <a:spcBef>
                <a:spcPct val="0"/>
              </a:spcBef>
            </a:pPr>
            <a:r>
              <a:rPr lang="en-US" sz="761" strike="noStrike" u="none">
                <a:solidFill>
                  <a:srgbClr val="94A3B8"/>
                </a:solidFill>
                <a:latin typeface="프리텐다드"/>
                <a:ea typeface="프리텐다드"/>
                <a:cs typeface="프리텐다드"/>
                <a:sym typeface="프리텐다드"/>
              </a:rPr>
              <a:t>3.0</a:t>
            </a:r>
          </a:p>
        </p:txBody>
      </p:sp>
      <p:sp>
        <p:nvSpPr>
          <p:cNvPr name="TextBox 133" id="133"/>
          <p:cNvSpPr txBox="true"/>
          <p:nvPr/>
        </p:nvSpPr>
        <p:spPr>
          <a:xfrm rot="0">
            <a:off x="8147062" y="8204378"/>
            <a:ext cx="232687" cy="128687"/>
          </a:xfrm>
          <a:prstGeom prst="rect">
            <a:avLst/>
          </a:prstGeom>
        </p:spPr>
        <p:txBody>
          <a:bodyPr anchor="t" rtlCol="false" tIns="0" lIns="0" bIns="0" rIns="0">
            <a:spAutoFit/>
          </a:bodyPr>
          <a:lstStyle/>
          <a:p>
            <a:pPr algn="ctr" marL="0" indent="0" lvl="0">
              <a:lnSpc>
                <a:spcPts val="1066"/>
              </a:lnSpc>
              <a:spcBef>
                <a:spcPct val="0"/>
              </a:spcBef>
            </a:pPr>
            <a:r>
              <a:rPr lang="en-US" sz="761" strike="noStrike" u="none">
                <a:solidFill>
                  <a:srgbClr val="94A3B8"/>
                </a:solidFill>
                <a:latin typeface="프리텐다드"/>
                <a:ea typeface="프리텐다드"/>
                <a:cs typeface="프리텐다드"/>
                <a:sym typeface="프리텐다드"/>
              </a:rPr>
              <a:t>2.5</a:t>
            </a:r>
          </a:p>
        </p:txBody>
      </p:sp>
      <p:sp>
        <p:nvSpPr>
          <p:cNvPr name="TextBox 134" id="134"/>
          <p:cNvSpPr txBox="true"/>
          <p:nvPr/>
        </p:nvSpPr>
        <p:spPr>
          <a:xfrm rot="0">
            <a:off x="7557589" y="8204378"/>
            <a:ext cx="232687" cy="128687"/>
          </a:xfrm>
          <a:prstGeom prst="rect">
            <a:avLst/>
          </a:prstGeom>
        </p:spPr>
        <p:txBody>
          <a:bodyPr anchor="t" rtlCol="false" tIns="0" lIns="0" bIns="0" rIns="0">
            <a:spAutoFit/>
          </a:bodyPr>
          <a:lstStyle/>
          <a:p>
            <a:pPr algn="ctr" marL="0" indent="0" lvl="0">
              <a:lnSpc>
                <a:spcPts val="1066"/>
              </a:lnSpc>
              <a:spcBef>
                <a:spcPct val="0"/>
              </a:spcBef>
            </a:pPr>
            <a:r>
              <a:rPr lang="en-US" sz="761" strike="noStrike" u="none">
                <a:solidFill>
                  <a:srgbClr val="94A3B8"/>
                </a:solidFill>
                <a:latin typeface="프리텐다드"/>
                <a:ea typeface="프리텐다드"/>
                <a:cs typeface="프리텐다드"/>
                <a:sym typeface="프리텐다드"/>
              </a:rPr>
              <a:t>2.0</a:t>
            </a:r>
          </a:p>
        </p:txBody>
      </p:sp>
      <p:sp>
        <p:nvSpPr>
          <p:cNvPr name="TextBox 135" id="135"/>
          <p:cNvSpPr txBox="true"/>
          <p:nvPr/>
        </p:nvSpPr>
        <p:spPr>
          <a:xfrm rot="0">
            <a:off x="8620192" y="6027758"/>
            <a:ext cx="465373" cy="128687"/>
          </a:xfrm>
          <a:prstGeom prst="rect">
            <a:avLst/>
          </a:prstGeom>
        </p:spPr>
        <p:txBody>
          <a:bodyPr anchor="t" rtlCol="false" tIns="0" lIns="0" bIns="0" rIns="0">
            <a:spAutoFit/>
          </a:bodyPr>
          <a:lstStyle/>
          <a:p>
            <a:pPr algn="ctr" marL="0" indent="0" lvl="0">
              <a:lnSpc>
                <a:spcPts val="1066"/>
              </a:lnSpc>
              <a:spcBef>
                <a:spcPct val="0"/>
              </a:spcBef>
            </a:pPr>
            <a:r>
              <a:rPr lang="en-US" sz="761" strike="noStrike" u="none">
                <a:solidFill>
                  <a:srgbClr val="94A3B8"/>
                </a:solidFill>
                <a:latin typeface="프리텐다드"/>
                <a:ea typeface="프리텐다드"/>
                <a:cs typeface="프리텐다드"/>
                <a:sym typeface="프리텐다드"/>
              </a:rPr>
              <a:t>중립(3점)</a:t>
            </a:r>
          </a:p>
        </p:txBody>
      </p:sp>
      <p:sp>
        <p:nvSpPr>
          <p:cNvPr name="TextBox 136" id="136"/>
          <p:cNvSpPr txBox="true"/>
          <p:nvPr/>
        </p:nvSpPr>
        <p:spPr>
          <a:xfrm rot="0">
            <a:off x="7548599" y="2425077"/>
            <a:ext cx="1005947" cy="183092"/>
          </a:xfrm>
          <a:prstGeom prst="rect">
            <a:avLst/>
          </a:prstGeom>
        </p:spPr>
        <p:txBody>
          <a:bodyPr anchor="t" rtlCol="false" tIns="0" lIns="0" bIns="0" rIns="0">
            <a:spAutoFit/>
          </a:bodyPr>
          <a:lstStyle/>
          <a:p>
            <a:pPr algn="ctr" marL="0" indent="0" lvl="0">
              <a:lnSpc>
                <a:spcPts val="1458"/>
              </a:lnSpc>
              <a:spcBef>
                <a:spcPct val="0"/>
              </a:spcBef>
            </a:pPr>
            <a:r>
              <a:rPr lang="en-US" sz="1041" strike="noStrike" u="none">
                <a:solidFill>
                  <a:srgbClr val="1565C0"/>
                </a:solidFill>
                <a:latin typeface="프리텐다드"/>
                <a:ea typeface="프리텐다드"/>
                <a:cs typeface="프리텐다드"/>
                <a:sym typeface="프리텐다드"/>
              </a:rPr>
              <a:t>b = 0.141***</a:t>
            </a:r>
          </a:p>
        </p:txBody>
      </p:sp>
      <p:sp>
        <p:nvSpPr>
          <p:cNvPr name="TextBox 137" id="137"/>
          <p:cNvSpPr txBox="true"/>
          <p:nvPr/>
        </p:nvSpPr>
        <p:spPr>
          <a:xfrm rot="0">
            <a:off x="8603136" y="3673644"/>
            <a:ext cx="1005947" cy="183092"/>
          </a:xfrm>
          <a:prstGeom prst="rect">
            <a:avLst/>
          </a:prstGeom>
        </p:spPr>
        <p:txBody>
          <a:bodyPr anchor="t" rtlCol="false" tIns="0" lIns="0" bIns="0" rIns="0">
            <a:spAutoFit/>
          </a:bodyPr>
          <a:lstStyle/>
          <a:p>
            <a:pPr algn="ctr" marL="0" indent="0" lvl="0">
              <a:lnSpc>
                <a:spcPts val="1458"/>
              </a:lnSpc>
              <a:spcBef>
                <a:spcPct val="0"/>
              </a:spcBef>
            </a:pPr>
            <a:r>
              <a:rPr lang="en-US" sz="1041" strike="noStrike" u="none">
                <a:solidFill>
                  <a:srgbClr val="1565C0"/>
                </a:solidFill>
                <a:latin typeface="프리텐다드"/>
                <a:ea typeface="프리텐다드"/>
                <a:cs typeface="프리텐다드"/>
                <a:sym typeface="프리텐다드"/>
              </a:rPr>
              <a:t>b = 0.129***</a:t>
            </a:r>
          </a:p>
        </p:txBody>
      </p:sp>
      <p:sp>
        <p:nvSpPr>
          <p:cNvPr name="TextBox 138" id="138"/>
          <p:cNvSpPr txBox="true"/>
          <p:nvPr/>
        </p:nvSpPr>
        <p:spPr>
          <a:xfrm rot="0">
            <a:off x="1159127" y="4365338"/>
            <a:ext cx="2011894" cy="183092"/>
          </a:xfrm>
          <a:prstGeom prst="rect">
            <a:avLst/>
          </a:prstGeom>
        </p:spPr>
        <p:txBody>
          <a:bodyPr anchor="t" rtlCol="false" tIns="0" lIns="0" bIns="0" rIns="0">
            <a:spAutoFit/>
          </a:bodyPr>
          <a:lstStyle/>
          <a:p>
            <a:pPr algn="l" marL="0" indent="0" lvl="0">
              <a:lnSpc>
                <a:spcPts val="1458"/>
              </a:lnSpc>
              <a:spcBef>
                <a:spcPct val="0"/>
              </a:spcBef>
            </a:pPr>
            <a:r>
              <a:rPr lang="en-US" sz="1041" strike="noStrike" u="none">
                <a:solidFill>
                  <a:srgbClr val="1E293B"/>
                </a:solidFill>
                <a:latin typeface="프리텐다드"/>
                <a:ea typeface="프리텐다드"/>
                <a:cs typeface="프리텐다드"/>
                <a:sym typeface="프리텐다드"/>
              </a:rPr>
              <a:t>핵심 경로 (제도공백)</a:t>
            </a:r>
          </a:p>
        </p:txBody>
      </p:sp>
      <p:sp>
        <p:nvSpPr>
          <p:cNvPr name="TextBox 139" id="139"/>
          <p:cNvSpPr txBox="true"/>
          <p:nvPr/>
        </p:nvSpPr>
        <p:spPr>
          <a:xfrm rot="0">
            <a:off x="1159127" y="4563774"/>
            <a:ext cx="2011894" cy="183092"/>
          </a:xfrm>
          <a:prstGeom prst="rect">
            <a:avLst/>
          </a:prstGeom>
        </p:spPr>
        <p:txBody>
          <a:bodyPr anchor="t" rtlCol="false" tIns="0" lIns="0" bIns="0" rIns="0">
            <a:spAutoFit/>
          </a:bodyPr>
          <a:lstStyle/>
          <a:p>
            <a:pPr algn="l" marL="0" indent="0" lvl="0">
              <a:lnSpc>
                <a:spcPts val="1458"/>
              </a:lnSpc>
              <a:spcBef>
                <a:spcPct val="0"/>
              </a:spcBef>
            </a:pPr>
            <a:r>
              <a:rPr lang="en-US" sz="1041" strike="noStrike" u="none">
                <a:solidFill>
                  <a:srgbClr val="1E293B"/>
                </a:solidFill>
                <a:latin typeface="프리텐다드"/>
                <a:ea typeface="프리텐다드"/>
                <a:cs typeface="프리텐다드"/>
                <a:sym typeface="프리텐다드"/>
              </a:rPr>
              <a:t>매개 경로 (정신건강악화)</a:t>
            </a:r>
          </a:p>
        </p:txBody>
      </p:sp>
      <p:sp>
        <p:nvSpPr>
          <p:cNvPr name="TextBox 140" id="140"/>
          <p:cNvSpPr txBox="true"/>
          <p:nvPr/>
        </p:nvSpPr>
        <p:spPr>
          <a:xfrm rot="0">
            <a:off x="1159127" y="4762210"/>
            <a:ext cx="2011894" cy="183092"/>
          </a:xfrm>
          <a:prstGeom prst="rect">
            <a:avLst/>
          </a:prstGeom>
        </p:spPr>
        <p:txBody>
          <a:bodyPr anchor="t" rtlCol="false" tIns="0" lIns="0" bIns="0" rIns="0">
            <a:spAutoFit/>
          </a:bodyPr>
          <a:lstStyle/>
          <a:p>
            <a:pPr algn="l" marL="0" indent="0" lvl="0">
              <a:lnSpc>
                <a:spcPts val="1458"/>
              </a:lnSpc>
              <a:spcBef>
                <a:spcPct val="0"/>
              </a:spcBef>
            </a:pPr>
            <a:r>
              <a:rPr lang="en-US" sz="1041" strike="noStrike" u="none">
                <a:solidFill>
                  <a:srgbClr val="1E293B"/>
                </a:solidFill>
                <a:latin typeface="프리텐다드"/>
                <a:ea typeface="프리텐다드"/>
                <a:cs typeface="프리텐다드"/>
                <a:sym typeface="프리텐다드"/>
              </a:rPr>
              <a:t>직접 경로</a:t>
            </a:r>
          </a:p>
        </p:txBody>
      </p:sp>
      <p:sp>
        <p:nvSpPr>
          <p:cNvPr name="TextBox 141" id="141"/>
          <p:cNvSpPr txBox="true"/>
          <p:nvPr/>
        </p:nvSpPr>
        <p:spPr>
          <a:xfrm rot="0">
            <a:off x="855595" y="4951738"/>
            <a:ext cx="3658874" cy="157457"/>
          </a:xfrm>
          <a:prstGeom prst="rect">
            <a:avLst/>
          </a:prstGeom>
        </p:spPr>
        <p:txBody>
          <a:bodyPr anchor="t" rtlCol="false" tIns="0" lIns="0" bIns="0" rIns="0">
            <a:spAutoFit/>
          </a:bodyPr>
          <a:lstStyle/>
          <a:p>
            <a:pPr algn="l" marL="0" indent="0" lvl="0">
              <a:lnSpc>
                <a:spcPts val="1296"/>
              </a:lnSpc>
              <a:spcBef>
                <a:spcPct val="0"/>
              </a:spcBef>
            </a:pPr>
            <a:r>
              <a:rPr lang="en-US" sz="925" strike="noStrike" u="none">
                <a:solidFill>
                  <a:srgbClr val="94A3B8"/>
                </a:solidFill>
                <a:latin typeface="프리텐다드"/>
                <a:ea typeface="프리텐다드"/>
                <a:cs typeface="프리텐다드"/>
                <a:sym typeface="프리텐다드"/>
              </a:rPr>
              <a:t>CFI=0.917 RMSEA=0.070 Cronbach's a=0.741 | 전 경로 p&lt;.001 로 유의</a:t>
            </a:r>
          </a:p>
        </p:txBody>
      </p:sp>
      <p:sp>
        <p:nvSpPr>
          <p:cNvPr name="TextBox 142" id="142"/>
          <p:cNvSpPr txBox="true"/>
          <p:nvPr/>
        </p:nvSpPr>
        <p:spPr>
          <a:xfrm rot="0">
            <a:off x="11001375" y="1876161"/>
            <a:ext cx="6419849" cy="3048000"/>
          </a:xfrm>
          <a:prstGeom prst="rect">
            <a:avLst/>
          </a:prstGeom>
        </p:spPr>
        <p:txBody>
          <a:bodyPr anchor="t" rtlCol="false" tIns="0" lIns="0" bIns="0" rIns="0">
            <a:spAutoFit/>
          </a:bodyPr>
          <a:lstStyle/>
          <a:p>
            <a:pPr algn="l">
              <a:lnSpc>
                <a:spcPts val="1559"/>
              </a:lnSpc>
            </a:pPr>
            <a:r>
              <a:rPr lang="en-US" sz="1299">
                <a:solidFill>
                  <a:srgbClr val="475569"/>
                </a:solidFill>
                <a:latin typeface="프리텐다드"/>
                <a:ea typeface="프리텐다드"/>
                <a:cs typeface="프리텐다드"/>
                <a:sym typeface="프리텐다드"/>
              </a:rPr>
              <a:t>학교 내 </a:t>
            </a:r>
            <a:r>
              <a:rPr lang="en-US" b="true" sz="1299">
                <a:solidFill>
                  <a:srgbClr val="475569"/>
                </a:solidFill>
                <a:latin typeface="프리텐다드 Bold"/>
                <a:ea typeface="프리텐다드 Bold"/>
                <a:cs typeface="프리텐다드 Bold"/>
                <a:sym typeface="프리텐다드 Bold"/>
              </a:rPr>
              <a:t>제도의 공백이 교권침해를 설명하는 가장 강력한 요인</a:t>
            </a:r>
            <a:r>
              <a:rPr lang="en-US" sz="1299">
                <a:solidFill>
                  <a:srgbClr val="475569"/>
                </a:solidFill>
                <a:latin typeface="프리텐다드"/>
                <a:ea typeface="프리텐다드"/>
                <a:cs typeface="프리텐다드"/>
                <a:sym typeface="프리텐다드"/>
              </a:rPr>
              <a:t>으로 확인되었다. </a:t>
            </a:r>
            <a:r>
              <a:rPr lang="en-US" b="true" sz="1299">
                <a:solidFill>
                  <a:srgbClr val="475569"/>
                </a:solidFill>
                <a:latin typeface="프리텐다드 Bold"/>
                <a:ea typeface="프리텐다드 Bold"/>
                <a:cs typeface="프리텐다드 Bold"/>
                <a:sym typeface="프리텐다드 Bold"/>
              </a:rPr>
              <a:t>제도공백(분리제도 부족, 민원 대응 미흡, 공식 절차 불신, 교권보호위원회 신뢰 부족)</a:t>
            </a:r>
            <a:r>
              <a:rPr lang="en-US" sz="1299">
                <a:solidFill>
                  <a:srgbClr val="475569"/>
                </a:solidFill>
                <a:latin typeface="프리텐다드"/>
                <a:ea typeface="프리텐다드"/>
                <a:cs typeface="프리텐다드"/>
                <a:sym typeface="프리텐다드"/>
              </a:rPr>
              <a:t>은 교권침해 경험을 가장 크게 증가시키는 잠재변수로 나타났으며, 이는 학교가 교사를 충분히 보호하지 못할수록 교권침해가 구조적으로 반복될 가능성이 높아짐을 의미한다.</a:t>
            </a:r>
          </a:p>
          <a:p>
            <a:pPr algn="l">
              <a:lnSpc>
                <a:spcPts val="1559"/>
              </a:lnSpc>
            </a:pPr>
          </a:p>
          <a:p>
            <a:pPr algn="l">
              <a:lnSpc>
                <a:spcPts val="1559"/>
              </a:lnSpc>
            </a:pPr>
            <a:r>
              <a:rPr lang="en-US" sz="1299">
                <a:solidFill>
                  <a:srgbClr val="475569"/>
                </a:solidFill>
                <a:latin typeface="프리텐다드"/>
                <a:ea typeface="프리텐다드"/>
                <a:cs typeface="프리텐다드"/>
                <a:sym typeface="프리텐다드"/>
              </a:rPr>
              <a:t>또한 교권침해는 단순히 사건 발생에서 끝나는 것이 아니라 </a:t>
            </a:r>
            <a:r>
              <a:rPr lang="en-US" b="true" sz="1299">
                <a:solidFill>
                  <a:srgbClr val="475569"/>
                </a:solidFill>
                <a:latin typeface="프리텐다드 Bold"/>
                <a:ea typeface="프리텐다드 Bold"/>
                <a:cs typeface="프리텐다드 Bold"/>
                <a:sym typeface="프리텐다드 Bold"/>
              </a:rPr>
              <a:t>교사의 정신건강을 악화시키는 경로를 통해 장기적인 피해</a:t>
            </a:r>
            <a:r>
              <a:rPr lang="en-US" sz="1299">
                <a:solidFill>
                  <a:srgbClr val="475569"/>
                </a:solidFill>
                <a:latin typeface="프리텐다드"/>
                <a:ea typeface="프리텐다드"/>
                <a:cs typeface="프리텐다드"/>
                <a:sym typeface="프리텐다드"/>
              </a:rPr>
              <a:t>로 이어졌다. 침해 경험은 정신건강 악화(우울,자살위기)를 유의하게 증가시켰으며, 정신건강 악화는 다시 이직 고려(β=0.141)와 자살 사고(β=0.129)를 높이는 매개경로로 작용하였다.</a:t>
            </a:r>
          </a:p>
          <a:p>
            <a:pPr algn="l">
              <a:lnSpc>
                <a:spcPts val="1559"/>
              </a:lnSpc>
            </a:pPr>
          </a:p>
          <a:p>
            <a:pPr algn="l">
              <a:lnSpc>
                <a:spcPts val="1559"/>
              </a:lnSpc>
            </a:pPr>
            <a:r>
              <a:rPr lang="en-US" sz="1299">
                <a:solidFill>
                  <a:srgbClr val="475569"/>
                </a:solidFill>
                <a:latin typeface="프리텐다드"/>
                <a:ea typeface="프리텐다드"/>
                <a:cs typeface="프리텐다드"/>
                <a:sym typeface="프리텐다드"/>
              </a:rPr>
              <a:t>동시에 교권침해는 정신건강을 거치지 않고도 이직 고려(β=0.125)와 자살 사고(β=0.067)에 직접적인 영향을 미치는 것으로 나타났다. 이는 교권침해가 심리적 스트레스뿐 아니라 교직 지속 의사와 생명 안전까지 위협하는 복합적인 구조를 가지고 있음을 보여준다.</a:t>
            </a:r>
          </a:p>
          <a:p>
            <a:pPr algn="l">
              <a:lnSpc>
                <a:spcPts val="1559"/>
              </a:lnSpc>
            </a:pPr>
          </a:p>
          <a:p>
            <a:pPr algn="l">
              <a:lnSpc>
                <a:spcPts val="1559"/>
              </a:lnSpc>
            </a:pPr>
            <a:r>
              <a:rPr lang="en-US" sz="1299">
                <a:solidFill>
                  <a:srgbClr val="475569"/>
                </a:solidFill>
                <a:latin typeface="프리텐다드"/>
                <a:ea typeface="프리텐다드"/>
                <a:cs typeface="프리텐다드"/>
                <a:sym typeface="프리텐다드"/>
              </a:rPr>
              <a:t>매개효과 분석 결과 정신건강은 이직 고려의 약 28%, 자살 사고의 약 40%를 설명하는 핵심 매개요인으로 확인되었다. 즉, </a:t>
            </a:r>
            <a:r>
              <a:rPr lang="en-US" b="true" sz="1299">
                <a:solidFill>
                  <a:srgbClr val="475569"/>
                </a:solidFill>
                <a:latin typeface="프리텐다드 Bold"/>
                <a:ea typeface="프리텐다드 Bold"/>
                <a:cs typeface="프리텐다드 Bold"/>
                <a:sym typeface="프리텐다드 Bold"/>
              </a:rPr>
              <a:t>제도의 공백 → 교권침해 → 정신건강 악화 → 이직 및 자살 사고라는 구조적 인과경로가 실증적으로 확인</a:t>
            </a:r>
            <a:r>
              <a:rPr lang="en-US" sz="1299">
                <a:solidFill>
                  <a:srgbClr val="475569"/>
                </a:solidFill>
                <a:latin typeface="프리텐다드"/>
                <a:ea typeface="프리텐다드"/>
                <a:cs typeface="프리텐다드"/>
                <a:sym typeface="프리텐다드"/>
              </a:rPr>
              <a:t>되었다.</a:t>
            </a:r>
          </a:p>
        </p:txBody>
      </p:sp>
      <p:sp>
        <p:nvSpPr>
          <p:cNvPr name="TextBox 143" id="143"/>
          <p:cNvSpPr txBox="true"/>
          <p:nvPr/>
        </p:nvSpPr>
        <p:spPr>
          <a:xfrm rot="0">
            <a:off x="876300" y="-9525"/>
            <a:ext cx="16535400" cy="733425"/>
          </a:xfrm>
          <a:prstGeom prst="rect">
            <a:avLst/>
          </a:prstGeom>
        </p:spPr>
        <p:txBody>
          <a:bodyPr anchor="t" rtlCol="false" tIns="0" lIns="0" bIns="0" rIns="0">
            <a:spAutoFit/>
          </a:bodyPr>
          <a:lstStyle/>
          <a:p>
            <a:pPr algn="l">
              <a:lnSpc>
                <a:spcPts val="5759"/>
              </a:lnSpc>
            </a:pPr>
            <a:r>
              <a:rPr lang="en-US" b="true" sz="4800">
                <a:solidFill>
                  <a:srgbClr val="1E293B"/>
                </a:solidFill>
                <a:latin typeface="프리텐다드 Bold"/>
                <a:ea typeface="프리텐다드 Bold"/>
                <a:cs typeface="프리텐다드 Bold"/>
                <a:sym typeface="프리텐다드 Bold"/>
              </a:rPr>
              <a:t>5. </a:t>
            </a:r>
            <a:r>
              <a:rPr lang="en-US" b="true" sz="4800">
                <a:solidFill>
                  <a:srgbClr val="1E293B"/>
                </a:solidFill>
                <a:latin typeface="프리텐다드 Bold"/>
                <a:ea typeface="프리텐다드 Bold"/>
                <a:cs typeface="프리텐다드 Bold"/>
                <a:sym typeface="프리텐다드 Bold"/>
              </a:rPr>
              <a:t>Q2) 교권침해를 유발하는 잠재적 요인은 무엇인가?</a:t>
            </a:r>
          </a:p>
        </p:txBody>
      </p:sp>
      <p:sp>
        <p:nvSpPr>
          <p:cNvPr name="TextBox 144" id="144"/>
          <p:cNvSpPr txBox="true"/>
          <p:nvPr/>
        </p:nvSpPr>
        <p:spPr>
          <a:xfrm rot="0">
            <a:off x="866327" y="922649"/>
            <a:ext cx="13125072" cy="400050"/>
          </a:xfrm>
          <a:prstGeom prst="rect">
            <a:avLst/>
          </a:prstGeom>
        </p:spPr>
        <p:txBody>
          <a:bodyPr anchor="t" rtlCol="false" tIns="0" lIns="0" bIns="0" rIns="0">
            <a:spAutoFit/>
          </a:bodyPr>
          <a:lstStyle/>
          <a:p>
            <a:pPr algn="l">
              <a:lnSpc>
                <a:spcPts val="3120"/>
              </a:lnSpc>
            </a:pPr>
            <a:r>
              <a:rPr lang="en-US" b="true" sz="2600">
                <a:solidFill>
                  <a:srgbClr val="4285F4"/>
                </a:solidFill>
                <a:latin typeface="프리텐다드 Bold"/>
                <a:ea typeface="프리텐다드 Bold"/>
                <a:cs typeface="프리텐다드 Bold"/>
                <a:sym typeface="프리텐다드 Bold"/>
              </a:rPr>
              <a:t>제도의 공백이 교권침해의 가장 큰 잠재요인이다</a:t>
            </a:r>
          </a:p>
        </p:txBody>
      </p:sp>
      <p:sp>
        <p:nvSpPr>
          <p:cNvPr name="TextBox 145" id="145"/>
          <p:cNvSpPr txBox="true"/>
          <p:nvPr/>
        </p:nvSpPr>
        <p:spPr>
          <a:xfrm rot="0">
            <a:off x="5060086" y="5838061"/>
            <a:ext cx="6197221" cy="182947"/>
          </a:xfrm>
          <a:prstGeom prst="rect">
            <a:avLst/>
          </a:prstGeom>
        </p:spPr>
        <p:txBody>
          <a:bodyPr anchor="t" rtlCol="false" tIns="0" lIns="0" bIns="0" rIns="0">
            <a:spAutoFit/>
          </a:bodyPr>
          <a:lstStyle/>
          <a:p>
            <a:pPr algn="ctr" marL="0" indent="0" lvl="0">
              <a:lnSpc>
                <a:spcPts val="1466"/>
              </a:lnSpc>
              <a:spcBef>
                <a:spcPct val="0"/>
              </a:spcBef>
            </a:pPr>
            <a:r>
              <a:rPr lang="en-US" sz="1047" strike="noStrike" u="none">
                <a:solidFill>
                  <a:srgbClr val="1E293B"/>
                </a:solidFill>
                <a:latin typeface="프리텐다드"/>
                <a:ea typeface="프리텐다드"/>
                <a:cs typeface="프리텐다드"/>
                <a:sym typeface="프리텐다드"/>
              </a:rPr>
              <a:t>제도 운영 인식과 침해 경험 집단 비교</a:t>
            </a:r>
          </a:p>
        </p:txBody>
      </p:sp>
      <p:sp>
        <p:nvSpPr>
          <p:cNvPr name="TextBox 146" id="146"/>
          <p:cNvSpPr txBox="true"/>
          <p:nvPr/>
        </p:nvSpPr>
        <p:spPr>
          <a:xfrm rot="0">
            <a:off x="3371899" y="9393810"/>
            <a:ext cx="11194645" cy="448311"/>
          </a:xfrm>
          <a:prstGeom prst="rect">
            <a:avLst/>
          </a:prstGeom>
        </p:spPr>
        <p:txBody>
          <a:bodyPr anchor="t" rtlCol="false" tIns="0" lIns="0" bIns="0" rIns="0">
            <a:spAutoFit/>
          </a:bodyPr>
          <a:lstStyle/>
          <a:p>
            <a:pPr algn="ctr">
              <a:lnSpc>
                <a:spcPts val="3639"/>
              </a:lnSpc>
              <a:spcBef>
                <a:spcPct val="0"/>
              </a:spcBef>
            </a:pPr>
            <a:r>
              <a:rPr lang="en-US" b="true" sz="2599">
                <a:solidFill>
                  <a:srgbClr val="000000"/>
                </a:solidFill>
                <a:latin typeface="프리텐다드 Bold"/>
                <a:ea typeface="프리텐다드 Bold"/>
                <a:cs typeface="프리텐다드 Bold"/>
                <a:sym typeface="프리텐다드 Bold"/>
              </a:rPr>
              <a:t>결국</a:t>
            </a:r>
            <a:r>
              <a:rPr lang="en-US" b="true" sz="2599">
                <a:solidFill>
                  <a:srgbClr val="000000"/>
                </a:solidFill>
                <a:latin typeface="프리텐다드 Bold"/>
                <a:ea typeface="프리텐다드 Bold"/>
                <a:cs typeface="프리텐다드 Bold"/>
                <a:sym typeface="프리텐다드 Bold"/>
              </a:rPr>
              <a:t> 교권침해를 만드는 것은 사람이 아니라 </a:t>
            </a:r>
            <a:r>
              <a:rPr lang="en-US" b="true" sz="2599">
                <a:solidFill>
                  <a:srgbClr val="4285F4"/>
                </a:solidFill>
                <a:latin typeface="프리텐다드 Bold"/>
                <a:ea typeface="프리텐다드 Bold"/>
                <a:cs typeface="프리텐다드 Bold"/>
                <a:sym typeface="프리텐다드 Bold"/>
              </a:rPr>
              <a:t>제도가 제대로 작동하지 않는 구조</a:t>
            </a:r>
            <a:r>
              <a:rPr lang="en-US" b="true" sz="2599">
                <a:solidFill>
                  <a:srgbClr val="000000"/>
                </a:solidFill>
                <a:latin typeface="프리텐다드 Bold"/>
                <a:ea typeface="프리텐다드 Bold"/>
                <a:cs typeface="프리텐다드 Bold"/>
                <a:sym typeface="프리텐다드 Bold"/>
              </a:rPr>
              <a:t>이다.</a:t>
            </a:r>
          </a:p>
        </p:txBody>
      </p:sp>
      <p:sp>
        <p:nvSpPr>
          <p:cNvPr name="TextBox 147" id="147"/>
          <p:cNvSpPr txBox="true"/>
          <p:nvPr/>
        </p:nvSpPr>
        <p:spPr>
          <a:xfrm rot="0">
            <a:off x="11001375" y="1455866"/>
            <a:ext cx="2959075" cy="265778"/>
          </a:xfrm>
          <a:prstGeom prst="rect">
            <a:avLst/>
          </a:prstGeom>
        </p:spPr>
        <p:txBody>
          <a:bodyPr anchor="t" rtlCol="false" tIns="0" lIns="0" bIns="0" rIns="0">
            <a:spAutoFit/>
          </a:bodyPr>
          <a:lstStyle/>
          <a:p>
            <a:pPr algn="ctr">
              <a:lnSpc>
                <a:spcPts val="2150"/>
              </a:lnSpc>
              <a:spcBef>
                <a:spcPct val="0"/>
              </a:spcBef>
            </a:pPr>
            <a:r>
              <a:rPr lang="en-US" b="true" sz="1536">
                <a:solidFill>
                  <a:srgbClr val="000000"/>
                </a:solidFill>
                <a:latin typeface="프리텐다드 Bold"/>
                <a:ea typeface="프리텐다드 Bold"/>
                <a:cs typeface="프리텐다드 Bold"/>
                <a:sym typeface="프리텐다드 Bold"/>
              </a:rPr>
              <a:t>교권침해의 인과 구조 - SEM 분석 결과</a:t>
            </a:r>
          </a:p>
        </p:txBody>
      </p:sp>
      <p:sp>
        <p:nvSpPr>
          <p:cNvPr name="TextBox 148" id="148"/>
          <p:cNvSpPr txBox="true"/>
          <p:nvPr/>
        </p:nvSpPr>
        <p:spPr>
          <a:xfrm rot="0">
            <a:off x="10989092" y="5777614"/>
            <a:ext cx="6419849" cy="3238500"/>
          </a:xfrm>
          <a:prstGeom prst="rect">
            <a:avLst/>
          </a:prstGeom>
        </p:spPr>
        <p:txBody>
          <a:bodyPr anchor="t" rtlCol="false" tIns="0" lIns="0" bIns="0" rIns="0">
            <a:spAutoFit/>
          </a:bodyPr>
          <a:lstStyle/>
          <a:p>
            <a:pPr algn="l">
              <a:lnSpc>
                <a:spcPts val="1559"/>
              </a:lnSpc>
            </a:pPr>
            <a:r>
              <a:rPr lang="en-US" sz="1299">
                <a:solidFill>
                  <a:srgbClr val="475569"/>
                </a:solidFill>
                <a:latin typeface="프리텐다드"/>
                <a:ea typeface="프리텐다드"/>
                <a:cs typeface="프리텐다드"/>
                <a:sym typeface="프리텐다드"/>
              </a:rPr>
              <a:t>SEM은 변수 간의 인과관계를 추정하는 분석이므로 실제</a:t>
            </a:r>
            <a:r>
              <a:rPr lang="en-US" sz="1299">
                <a:solidFill>
                  <a:srgbClr val="475569"/>
                </a:solidFill>
                <a:latin typeface="프리텐다드"/>
                <a:ea typeface="프리텐다드"/>
                <a:cs typeface="프리텐다드"/>
                <a:sym typeface="프리텐다드"/>
              </a:rPr>
              <a:t> 응답</a:t>
            </a:r>
            <a:r>
              <a:rPr lang="en-US" sz="1299">
                <a:solidFill>
                  <a:srgbClr val="475569"/>
                </a:solidFill>
                <a:latin typeface="프리텐다드"/>
                <a:ea typeface="프리텐다드"/>
                <a:cs typeface="프리텐다드"/>
                <a:sym typeface="프리텐다드"/>
              </a:rPr>
              <a:t> 수준에서도 동일한 경향이 나타나는지를</a:t>
            </a:r>
            <a:r>
              <a:rPr lang="en-US" sz="1299">
                <a:solidFill>
                  <a:srgbClr val="475569"/>
                </a:solidFill>
                <a:latin typeface="프리텐다드"/>
                <a:ea typeface="프리텐다드"/>
                <a:cs typeface="프리텐다드"/>
                <a:sym typeface="프리텐다드"/>
              </a:rPr>
              <a:t> 추가로 확인하였다.</a:t>
            </a:r>
          </a:p>
          <a:p>
            <a:pPr algn="l">
              <a:lnSpc>
                <a:spcPts val="1559"/>
              </a:lnSpc>
            </a:pPr>
          </a:p>
          <a:p>
            <a:pPr algn="l">
              <a:lnSpc>
                <a:spcPts val="1559"/>
              </a:lnSpc>
            </a:pPr>
            <a:r>
              <a:rPr lang="en-US" sz="1299">
                <a:solidFill>
                  <a:srgbClr val="475569"/>
                </a:solidFill>
                <a:latin typeface="프리텐다드"/>
                <a:ea typeface="프리텐다드"/>
                <a:cs typeface="프리텐다드"/>
                <a:sym typeface="프리텐다드"/>
              </a:rPr>
              <a:t>제도가 잘 작동한다고 인식하는 집단(1분위)의 교권침해 경험률은 72.1%였으나, </a:t>
            </a:r>
            <a:r>
              <a:rPr lang="en-US" b="true" sz="1299">
                <a:solidFill>
                  <a:srgbClr val="475569"/>
                </a:solidFill>
                <a:latin typeface="프리텐다드 Bold"/>
                <a:ea typeface="프리텐다드 Bold"/>
                <a:cs typeface="프리텐다드 Bold"/>
                <a:sym typeface="프리텐다드 Bold"/>
              </a:rPr>
              <a:t>제도공백이 가장 큰 집단(5분위)은 95.6%</a:t>
            </a:r>
            <a:r>
              <a:rPr lang="en-US" sz="1299">
                <a:solidFill>
                  <a:srgbClr val="475569"/>
                </a:solidFill>
                <a:latin typeface="프리텐다드"/>
                <a:ea typeface="프리텐다드"/>
                <a:cs typeface="프리텐다드"/>
                <a:sym typeface="프리텐다드"/>
              </a:rPr>
              <a:t>까지 증가하였다.</a:t>
            </a:r>
          </a:p>
          <a:p>
            <a:pPr algn="l">
              <a:lnSpc>
                <a:spcPts val="1559"/>
              </a:lnSpc>
            </a:pPr>
          </a:p>
          <a:p>
            <a:pPr algn="l">
              <a:lnSpc>
                <a:spcPts val="1559"/>
              </a:lnSpc>
            </a:pPr>
            <a:r>
              <a:rPr lang="en-US" sz="1299">
                <a:solidFill>
                  <a:srgbClr val="475569"/>
                </a:solidFill>
                <a:latin typeface="프리텐다드"/>
                <a:ea typeface="프리텐다드"/>
                <a:cs typeface="프리텐다드"/>
                <a:sym typeface="프리텐다드"/>
              </a:rPr>
              <a:t>즉, </a:t>
            </a:r>
            <a:r>
              <a:rPr lang="en-US" b="true" sz="1299">
                <a:solidFill>
                  <a:srgbClr val="475569"/>
                </a:solidFill>
                <a:latin typeface="프리텐다드 Bold"/>
                <a:ea typeface="프리텐다드 Bold"/>
                <a:cs typeface="프리텐다드 Bold"/>
                <a:sym typeface="프리텐다드 Bold"/>
              </a:rPr>
              <a:t>제도공백 수준이 증가할수록 교권침해 경험률 역시 거의 선형적으로 증가</a:t>
            </a:r>
            <a:r>
              <a:rPr lang="en-US" sz="1299">
                <a:solidFill>
                  <a:srgbClr val="475569"/>
                </a:solidFill>
                <a:latin typeface="프리텐다드"/>
                <a:ea typeface="프리텐다드"/>
                <a:cs typeface="프리텐다드"/>
                <a:sym typeface="프리텐다드"/>
              </a:rPr>
              <a:t>하는 경향을 확인하였다. 특히 </a:t>
            </a:r>
            <a:r>
              <a:rPr lang="en-US" b="true" sz="1299">
                <a:solidFill>
                  <a:srgbClr val="475569"/>
                </a:solidFill>
                <a:latin typeface="프리텐다드 Bold"/>
                <a:ea typeface="프리텐다드 Bold"/>
                <a:cs typeface="프리텐다드 Bold"/>
                <a:sym typeface="프리텐다드 Bold"/>
              </a:rPr>
              <a:t>최상위 집단은 최하위 집단보다 23.5%p 높은 교권침해 경험률</a:t>
            </a:r>
            <a:r>
              <a:rPr lang="en-US" sz="1299">
                <a:solidFill>
                  <a:srgbClr val="475569"/>
                </a:solidFill>
                <a:latin typeface="프리텐다드"/>
                <a:ea typeface="프리텐다드"/>
                <a:cs typeface="프리텐다드"/>
                <a:sym typeface="프리텐다드"/>
              </a:rPr>
              <a:t>을 보여, 제도 운영 수준이 교권침해 발생과 매우 밀접한 관련이 있음을 시사한다.</a:t>
            </a:r>
          </a:p>
          <a:p>
            <a:pPr algn="l">
              <a:lnSpc>
                <a:spcPts val="1559"/>
              </a:lnSpc>
            </a:pPr>
          </a:p>
          <a:p>
            <a:pPr algn="l">
              <a:lnSpc>
                <a:spcPts val="1559"/>
              </a:lnSpc>
            </a:pPr>
            <a:r>
              <a:rPr lang="en-US" sz="1299">
                <a:solidFill>
                  <a:srgbClr val="475569"/>
                </a:solidFill>
                <a:latin typeface="프리텐다드"/>
                <a:ea typeface="프리텐다드"/>
                <a:cs typeface="프리텐다드"/>
                <a:sym typeface="프리텐다드"/>
              </a:rPr>
              <a:t>교권침해 경험 여부에 따라 학교 제도에 대한 인식 역시 뚜렷한 차이를 보였다. 교권침해를 경험한 교사는 민원 대응 체계, 방해학생 분리제도, 교권보호위원회 처리 절차, 공식 문제 해결 절차의 모든 항목에서 비경험 교사보다 낮은 평가를 하였다. (p-value &lt; 0.001)</a:t>
            </a:r>
          </a:p>
          <a:p>
            <a:pPr algn="l">
              <a:lnSpc>
                <a:spcPts val="1559"/>
              </a:lnSpc>
            </a:pPr>
          </a:p>
          <a:p>
            <a:pPr algn="l">
              <a:lnSpc>
                <a:spcPts val="1559"/>
              </a:lnSpc>
            </a:pPr>
            <a:r>
              <a:rPr lang="en-US" sz="1299">
                <a:solidFill>
                  <a:srgbClr val="475569"/>
                </a:solidFill>
                <a:latin typeface="프리텐다드"/>
                <a:ea typeface="프리텐다드"/>
                <a:cs typeface="프리텐다드"/>
                <a:sym typeface="프리텐다드"/>
              </a:rPr>
              <a:t>특히 </a:t>
            </a:r>
            <a:r>
              <a:rPr lang="en-US" b="true" sz="1299">
                <a:solidFill>
                  <a:srgbClr val="475569"/>
                </a:solidFill>
                <a:latin typeface="프리텐다드 Bold"/>
                <a:ea typeface="프리텐다드 Bold"/>
                <a:cs typeface="프리텐다드 Bold"/>
                <a:sym typeface="프리텐다드 Bold"/>
              </a:rPr>
              <a:t>민원 대응 체계와 방해학생 분리제도에서 가장 큰 차이</a:t>
            </a:r>
            <a:r>
              <a:rPr lang="en-US" sz="1299">
                <a:solidFill>
                  <a:srgbClr val="475569"/>
                </a:solidFill>
                <a:latin typeface="프리텐다드"/>
                <a:ea typeface="프리텐다드"/>
                <a:cs typeface="프리텐다드"/>
                <a:sym typeface="프리텐다드"/>
              </a:rPr>
              <a:t>가 나타났다. 이는 교권침해를 경험한 교사일수록 학교의 공식적인 </a:t>
            </a:r>
            <a:r>
              <a:rPr lang="en-US" b="true" sz="1299">
                <a:solidFill>
                  <a:srgbClr val="475569"/>
                </a:solidFill>
                <a:latin typeface="프리텐다드 Bold"/>
                <a:ea typeface="프리텐다드 Bold"/>
                <a:cs typeface="프리텐다드 Bold"/>
                <a:sym typeface="프리텐다드 Bold"/>
              </a:rPr>
              <a:t>보호제도가 실제 상황에서 충분히 작동하지 않는다고 인식</a:t>
            </a:r>
            <a:r>
              <a:rPr lang="en-US" sz="1299">
                <a:solidFill>
                  <a:srgbClr val="475569"/>
                </a:solidFill>
                <a:latin typeface="프리텐다드"/>
                <a:ea typeface="프리텐다드"/>
                <a:cs typeface="프리텐다드"/>
                <a:sym typeface="프리텐다드"/>
              </a:rPr>
              <a:t>하고 있음을 보여준다.</a:t>
            </a:r>
          </a:p>
        </p:txBody>
      </p:sp>
      <p:sp>
        <p:nvSpPr>
          <p:cNvPr name="TextBox 149" id="149"/>
          <p:cNvSpPr txBox="true"/>
          <p:nvPr/>
        </p:nvSpPr>
        <p:spPr>
          <a:xfrm rot="0">
            <a:off x="10989092" y="5405384"/>
            <a:ext cx="2113062" cy="265778"/>
          </a:xfrm>
          <a:prstGeom prst="rect">
            <a:avLst/>
          </a:prstGeom>
        </p:spPr>
        <p:txBody>
          <a:bodyPr anchor="t" rtlCol="false" tIns="0" lIns="0" bIns="0" rIns="0">
            <a:spAutoFit/>
          </a:bodyPr>
          <a:lstStyle/>
          <a:p>
            <a:pPr algn="ctr">
              <a:lnSpc>
                <a:spcPts val="2150"/>
              </a:lnSpc>
              <a:spcBef>
                <a:spcPct val="0"/>
              </a:spcBef>
            </a:pPr>
            <a:r>
              <a:rPr lang="en-US" b="true" sz="1536">
                <a:solidFill>
                  <a:srgbClr val="000000"/>
                </a:solidFill>
                <a:latin typeface="프리텐다드 Bold"/>
                <a:ea typeface="프리텐다드 Bold"/>
                <a:cs typeface="프리텐다드 Bold"/>
                <a:sym typeface="프리텐다드 Bold"/>
              </a:rPr>
              <a:t>제도공백 점수별 </a:t>
            </a:r>
            <a:r>
              <a:rPr lang="en-US" b="true" sz="1536">
                <a:solidFill>
                  <a:srgbClr val="000000"/>
                </a:solidFill>
                <a:latin typeface="프리텐다드 Bold"/>
                <a:ea typeface="프리텐다드 Bold"/>
                <a:cs typeface="프리텐다드 Bold"/>
                <a:sym typeface="프리텐다드 Bold"/>
              </a:rPr>
              <a:t>교권침해율</a:t>
            </a:r>
          </a:p>
        </p:txBody>
      </p:sp>
      <p:sp>
        <p:nvSpPr>
          <p:cNvPr name="AutoShape 150" id="150"/>
          <p:cNvSpPr/>
          <p:nvPr/>
        </p:nvSpPr>
        <p:spPr>
          <a:xfrm>
            <a:off x="10834687" y="1516414"/>
            <a:ext cx="0" cy="7499700"/>
          </a:xfrm>
          <a:prstGeom prst="line">
            <a:avLst/>
          </a:prstGeom>
          <a:ln cap="rnd" w="9525">
            <a:solidFill>
              <a:srgbClr val="E2E8F0"/>
            </a:solidFill>
            <a:prstDash val="solid"/>
            <a:headEnd type="none" len="sm" w="sm"/>
            <a:tailEnd type="none" len="sm" w="sm"/>
          </a:ln>
        </p:spPr>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648843" y="1362075"/>
            <a:ext cx="16990314" cy="19050"/>
            <a:chOff x="0" y="0"/>
            <a:chExt cx="22653752" cy="25400"/>
          </a:xfrm>
        </p:grpSpPr>
        <p:sp>
          <p:nvSpPr>
            <p:cNvPr name="Freeform 3" id="3"/>
            <p:cNvSpPr/>
            <p:nvPr/>
          </p:nvSpPr>
          <p:spPr>
            <a:xfrm flipH="false" flipV="false" rot="0">
              <a:off x="0" y="0"/>
              <a:ext cx="22653752" cy="25400"/>
            </a:xfrm>
            <a:custGeom>
              <a:avLst/>
              <a:gdLst/>
              <a:ahLst/>
              <a:cxnLst/>
              <a:rect r="r" b="b" t="t" l="l"/>
              <a:pathLst>
                <a:path h="25400" w="22653752">
                  <a:moveTo>
                    <a:pt x="0" y="0"/>
                  </a:moveTo>
                  <a:lnTo>
                    <a:pt x="22653752" y="25400"/>
                  </a:lnTo>
                </a:path>
              </a:pathLst>
            </a:custGeom>
            <a:blipFill>
              <a:blip r:embed="rId2">
                <a:alphaModFix amt="0"/>
              </a:blip>
              <a:stretch>
                <a:fillRect l="0" t="-17328315" r="0" b="-17328315"/>
              </a:stretch>
            </a:blipFill>
            <a:ln w="19050" cap="sq">
              <a:solidFill>
                <a:srgbClr val="E2E8F0"/>
              </a:solidFill>
              <a:prstDash val="solid"/>
              <a:miter/>
            </a:ln>
          </p:spPr>
        </p:sp>
      </p:grpSp>
      <p:grpSp>
        <p:nvGrpSpPr>
          <p:cNvPr name="Group 4" id="4"/>
          <p:cNvGrpSpPr/>
          <p:nvPr/>
        </p:nvGrpSpPr>
        <p:grpSpPr>
          <a:xfrm rot="0">
            <a:off x="17007840" y="9857232"/>
            <a:ext cx="914400" cy="274320"/>
            <a:chOff x="0" y="0"/>
            <a:chExt cx="1219200" cy="365760"/>
          </a:xfrm>
        </p:grpSpPr>
        <p:sp>
          <p:nvSpPr>
            <p:cNvPr name="Freeform 5" id="5"/>
            <p:cNvSpPr/>
            <p:nvPr/>
          </p:nvSpPr>
          <p:spPr>
            <a:xfrm flipH="false" flipV="false" rot="0">
              <a:off x="0" y="0"/>
              <a:ext cx="1219200" cy="365760"/>
            </a:xfrm>
            <a:custGeom>
              <a:avLst/>
              <a:gdLst/>
              <a:ahLst/>
              <a:cxnLst/>
              <a:rect r="r" b="b" t="t" l="l"/>
              <a:pathLst>
                <a:path h="365760" w="1219200">
                  <a:moveTo>
                    <a:pt x="0" y="0"/>
                  </a:moveTo>
                  <a:lnTo>
                    <a:pt x="1219200" y="0"/>
                  </a:lnTo>
                  <a:lnTo>
                    <a:pt x="1219200" y="365760"/>
                  </a:lnTo>
                  <a:lnTo>
                    <a:pt x="0" y="365760"/>
                  </a:lnTo>
                  <a:close/>
                </a:path>
              </a:pathLst>
            </a:custGeom>
            <a:blipFill>
              <a:blip r:embed="rId2">
                <a:alphaModFix amt="0"/>
              </a:blip>
              <a:stretch>
                <a:fillRect l="0" t="-14950" r="0" b="-14950"/>
              </a:stretch>
            </a:blipFill>
          </p:spPr>
        </p:sp>
        <p:sp>
          <p:nvSpPr>
            <p:cNvPr name="TextBox 6" id="6"/>
            <p:cNvSpPr txBox="true"/>
            <p:nvPr/>
          </p:nvSpPr>
          <p:spPr>
            <a:xfrm>
              <a:off x="0" y="-9525"/>
              <a:ext cx="1219200" cy="375285"/>
            </a:xfrm>
            <a:prstGeom prst="rect">
              <a:avLst/>
            </a:prstGeom>
          </p:spPr>
          <p:txBody>
            <a:bodyPr anchor="ctr" rtlCol="false" tIns="0" lIns="0" bIns="0" rIns="0"/>
            <a:lstStyle/>
            <a:p>
              <a:pPr algn="r">
                <a:lnSpc>
                  <a:spcPts val="1320"/>
                </a:lnSpc>
              </a:pPr>
              <a:r>
                <a:rPr lang="en-US" sz="1100">
                  <a:solidFill>
                    <a:srgbClr val="64748B"/>
                  </a:solidFill>
                  <a:latin typeface="Playfair Display"/>
                  <a:ea typeface="Playfair Display"/>
                  <a:cs typeface="Playfair Display"/>
                  <a:sym typeface="Playfair Display"/>
                </a:rPr>
                <a:t>6 / 10</a:t>
              </a:r>
            </a:p>
          </p:txBody>
        </p:sp>
      </p:grpSp>
      <p:sp>
        <p:nvSpPr>
          <p:cNvPr name="TextBox 7" id="7"/>
          <p:cNvSpPr txBox="true"/>
          <p:nvPr/>
        </p:nvSpPr>
        <p:spPr>
          <a:xfrm rot="0">
            <a:off x="2327495" y="4369963"/>
            <a:ext cx="7216934" cy="222051"/>
          </a:xfrm>
          <a:prstGeom prst="rect">
            <a:avLst/>
          </a:prstGeom>
        </p:spPr>
        <p:txBody>
          <a:bodyPr anchor="t" rtlCol="false" tIns="0" lIns="0" bIns="0" rIns="0">
            <a:spAutoFit/>
          </a:bodyPr>
          <a:lstStyle/>
          <a:p>
            <a:pPr algn="ctr" marL="0" indent="0" lvl="0">
              <a:lnSpc>
                <a:spcPts val="1815"/>
              </a:lnSpc>
              <a:spcBef>
                <a:spcPct val="0"/>
              </a:spcBef>
            </a:pPr>
            <a:r>
              <a:rPr lang="en-US" b="true" sz="1296" strike="noStrike" u="none">
                <a:solidFill>
                  <a:srgbClr val="1E293B"/>
                </a:solidFill>
                <a:latin typeface="프리텐다드 Bold"/>
                <a:ea typeface="프리텐다드 Bold"/>
                <a:cs typeface="프리텐다드 Bold"/>
                <a:sym typeface="프리텐다드 Bold"/>
              </a:rPr>
              <a:t>침해 유형별 정책 수요 격차(Δ): 침해 — 비침해</a:t>
            </a:r>
          </a:p>
        </p:txBody>
      </p:sp>
      <p:sp>
        <p:nvSpPr>
          <p:cNvPr name="TextBox 8" id="8"/>
          <p:cNvSpPr txBox="true"/>
          <p:nvPr/>
        </p:nvSpPr>
        <p:spPr>
          <a:xfrm rot="0">
            <a:off x="2299523" y="4800139"/>
            <a:ext cx="1818220" cy="186375"/>
          </a:xfrm>
          <a:prstGeom prst="rect">
            <a:avLst/>
          </a:prstGeom>
        </p:spPr>
        <p:txBody>
          <a:bodyPr anchor="t" rtlCol="false" tIns="0" lIns="0" bIns="0" rIns="0">
            <a:spAutoFit/>
          </a:bodyPr>
          <a:lstStyle/>
          <a:p>
            <a:pPr algn="ctr" marL="0" indent="0" lvl="0">
              <a:lnSpc>
                <a:spcPts val="1512"/>
              </a:lnSpc>
              <a:spcBef>
                <a:spcPct val="0"/>
              </a:spcBef>
            </a:pPr>
            <a:r>
              <a:rPr lang="en-US" sz="1080" strike="noStrike" u="none">
                <a:solidFill>
                  <a:srgbClr val="1E293B"/>
                </a:solidFill>
                <a:latin typeface="프리텐다드"/>
                <a:ea typeface="프리텐다드"/>
                <a:cs typeface="프리텐다드"/>
                <a:sym typeface="프리텐다드"/>
              </a:rPr>
              <a:t>악성민원</a:t>
            </a:r>
          </a:p>
        </p:txBody>
      </p:sp>
      <p:sp>
        <p:nvSpPr>
          <p:cNvPr name="TextBox 9" id="9"/>
          <p:cNvSpPr txBox="true"/>
          <p:nvPr/>
        </p:nvSpPr>
        <p:spPr>
          <a:xfrm rot="0">
            <a:off x="4117743" y="4800139"/>
            <a:ext cx="1818220" cy="186375"/>
          </a:xfrm>
          <a:prstGeom prst="rect">
            <a:avLst/>
          </a:prstGeom>
        </p:spPr>
        <p:txBody>
          <a:bodyPr anchor="t" rtlCol="false" tIns="0" lIns="0" bIns="0" rIns="0">
            <a:spAutoFit/>
          </a:bodyPr>
          <a:lstStyle/>
          <a:p>
            <a:pPr algn="ctr" marL="0" indent="0" lvl="0">
              <a:lnSpc>
                <a:spcPts val="1512"/>
              </a:lnSpc>
              <a:spcBef>
                <a:spcPct val="0"/>
              </a:spcBef>
            </a:pPr>
            <a:r>
              <a:rPr lang="en-US" sz="1080" strike="noStrike" u="none">
                <a:solidFill>
                  <a:srgbClr val="1E293B"/>
                </a:solidFill>
                <a:latin typeface="프리텐다드"/>
                <a:ea typeface="프리텐다드"/>
                <a:cs typeface="프리텐다드"/>
                <a:sym typeface="프리텐다드"/>
              </a:rPr>
              <a:t>수업방해</a:t>
            </a:r>
          </a:p>
        </p:txBody>
      </p:sp>
      <p:sp>
        <p:nvSpPr>
          <p:cNvPr name="TextBox 10" id="10"/>
          <p:cNvSpPr txBox="true"/>
          <p:nvPr/>
        </p:nvSpPr>
        <p:spPr>
          <a:xfrm rot="0">
            <a:off x="5935963" y="4800139"/>
            <a:ext cx="1818220" cy="186375"/>
          </a:xfrm>
          <a:prstGeom prst="rect">
            <a:avLst/>
          </a:prstGeom>
        </p:spPr>
        <p:txBody>
          <a:bodyPr anchor="t" rtlCol="false" tIns="0" lIns="0" bIns="0" rIns="0">
            <a:spAutoFit/>
          </a:bodyPr>
          <a:lstStyle/>
          <a:p>
            <a:pPr algn="ctr" marL="0" indent="0" lvl="0">
              <a:lnSpc>
                <a:spcPts val="1512"/>
              </a:lnSpc>
              <a:spcBef>
                <a:spcPct val="0"/>
              </a:spcBef>
            </a:pPr>
            <a:r>
              <a:rPr lang="en-US" sz="1080" strike="noStrike" u="none">
                <a:solidFill>
                  <a:srgbClr val="1E293B"/>
                </a:solidFill>
                <a:latin typeface="프리텐다드"/>
                <a:ea typeface="프리텐다드"/>
                <a:cs typeface="프리텐다드"/>
                <a:sym typeface="프리텐다드"/>
              </a:rPr>
              <a:t>아동학대</a:t>
            </a:r>
          </a:p>
        </p:txBody>
      </p:sp>
      <p:sp>
        <p:nvSpPr>
          <p:cNvPr name="TextBox 11" id="11"/>
          <p:cNvSpPr txBox="true"/>
          <p:nvPr/>
        </p:nvSpPr>
        <p:spPr>
          <a:xfrm rot="0">
            <a:off x="7754183" y="4800139"/>
            <a:ext cx="1818220" cy="186375"/>
          </a:xfrm>
          <a:prstGeom prst="rect">
            <a:avLst/>
          </a:prstGeom>
        </p:spPr>
        <p:txBody>
          <a:bodyPr anchor="t" rtlCol="false" tIns="0" lIns="0" bIns="0" rIns="0">
            <a:spAutoFit/>
          </a:bodyPr>
          <a:lstStyle/>
          <a:p>
            <a:pPr algn="ctr" marL="0" indent="0" lvl="0">
              <a:lnSpc>
                <a:spcPts val="1512"/>
              </a:lnSpc>
              <a:spcBef>
                <a:spcPct val="0"/>
              </a:spcBef>
            </a:pPr>
            <a:r>
              <a:rPr lang="en-US" sz="1080" strike="noStrike" u="none">
                <a:solidFill>
                  <a:srgbClr val="1E293B"/>
                </a:solidFill>
                <a:latin typeface="프리텐다드"/>
                <a:ea typeface="프리텐다드"/>
                <a:cs typeface="프리텐다드"/>
                <a:sym typeface="프리텐다드"/>
              </a:rPr>
              <a:t>과밀학급</a:t>
            </a:r>
          </a:p>
        </p:txBody>
      </p:sp>
      <p:sp>
        <p:nvSpPr>
          <p:cNvPr name="TextBox 12" id="12"/>
          <p:cNvSpPr txBox="true"/>
          <p:nvPr/>
        </p:nvSpPr>
        <p:spPr>
          <a:xfrm rot="0">
            <a:off x="968618" y="5345604"/>
            <a:ext cx="1118905" cy="186375"/>
          </a:xfrm>
          <a:prstGeom prst="rect">
            <a:avLst/>
          </a:prstGeom>
        </p:spPr>
        <p:txBody>
          <a:bodyPr anchor="t" rtlCol="false" tIns="0" lIns="0" bIns="0" rIns="0">
            <a:spAutoFit/>
          </a:bodyPr>
          <a:lstStyle/>
          <a:p>
            <a:pPr algn="r" marL="0" indent="0" lvl="0">
              <a:lnSpc>
                <a:spcPts val="1512"/>
              </a:lnSpc>
              <a:spcBef>
                <a:spcPct val="0"/>
              </a:spcBef>
            </a:pPr>
            <a:r>
              <a:rPr lang="en-US" sz="1080" strike="noStrike" u="none">
                <a:solidFill>
                  <a:srgbClr val="1E293B"/>
                </a:solidFill>
                <a:latin typeface="프리텐다드"/>
                <a:ea typeface="프리텐다드"/>
                <a:cs typeface="프리텐다드"/>
                <a:sym typeface="프리텐다드"/>
              </a:rPr>
              <a:t>보호자침해</a:t>
            </a:r>
          </a:p>
        </p:txBody>
      </p:sp>
      <p:grpSp>
        <p:nvGrpSpPr>
          <p:cNvPr name="Group 13" id="13"/>
          <p:cNvGrpSpPr/>
          <p:nvPr/>
        </p:nvGrpSpPr>
        <p:grpSpPr>
          <a:xfrm rot="0">
            <a:off x="2355468" y="5179414"/>
            <a:ext cx="1706329" cy="559452"/>
            <a:chOff x="0" y="0"/>
            <a:chExt cx="1549400" cy="508000"/>
          </a:xfrm>
        </p:grpSpPr>
        <p:sp>
          <p:nvSpPr>
            <p:cNvPr name="Freeform 14" id="14"/>
            <p:cNvSpPr/>
            <p:nvPr/>
          </p:nvSpPr>
          <p:spPr>
            <a:xfrm flipH="false" flipV="false" rot="0">
              <a:off x="0" y="0"/>
              <a:ext cx="1549400" cy="508000"/>
            </a:xfrm>
            <a:custGeom>
              <a:avLst/>
              <a:gdLst/>
              <a:ahLst/>
              <a:cxnLst/>
              <a:rect r="r" b="b" t="t" l="l"/>
              <a:pathLst>
                <a:path h="508000" w="1549400">
                  <a:moveTo>
                    <a:pt x="50800" y="0"/>
                  </a:moveTo>
                  <a:lnTo>
                    <a:pt x="1498600" y="0"/>
                  </a:lnTo>
                  <a:cubicBezTo>
                    <a:pt x="1526656" y="0"/>
                    <a:pt x="1549400" y="22744"/>
                    <a:pt x="1549400" y="50800"/>
                  </a:cubicBezTo>
                  <a:lnTo>
                    <a:pt x="1549400" y="457200"/>
                  </a:lnTo>
                  <a:cubicBezTo>
                    <a:pt x="1549400" y="485256"/>
                    <a:pt x="1526656" y="508000"/>
                    <a:pt x="1498600" y="508000"/>
                  </a:cubicBezTo>
                  <a:lnTo>
                    <a:pt x="50800" y="508000"/>
                  </a:lnTo>
                  <a:cubicBezTo>
                    <a:pt x="22744" y="508000"/>
                    <a:pt x="0" y="485256"/>
                    <a:pt x="0" y="457200"/>
                  </a:cubicBezTo>
                  <a:lnTo>
                    <a:pt x="0" y="50800"/>
                  </a:lnTo>
                  <a:cubicBezTo>
                    <a:pt x="0" y="22744"/>
                    <a:pt x="22744" y="0"/>
                    <a:pt x="50800" y="0"/>
                  </a:cubicBezTo>
                  <a:close/>
                </a:path>
              </a:pathLst>
            </a:custGeom>
            <a:solidFill>
              <a:srgbClr val="E85D3A"/>
            </a:solidFill>
          </p:spPr>
        </p:sp>
        <p:sp>
          <p:nvSpPr>
            <p:cNvPr name="TextBox 15" id="15"/>
            <p:cNvSpPr txBox="true"/>
            <p:nvPr/>
          </p:nvSpPr>
          <p:spPr>
            <a:xfrm>
              <a:off x="0" y="-38100"/>
              <a:ext cx="1549400" cy="546100"/>
            </a:xfrm>
            <a:prstGeom prst="rect">
              <a:avLst/>
            </a:prstGeom>
          </p:spPr>
          <p:txBody>
            <a:bodyPr anchor="ctr" rtlCol="false" tIns="50800" lIns="50800" bIns="50800" rIns="50800"/>
            <a:lstStyle/>
            <a:p>
              <a:pPr algn="l">
                <a:lnSpc>
                  <a:spcPts val="1679"/>
                </a:lnSpc>
              </a:pPr>
            </a:p>
          </p:txBody>
        </p:sp>
      </p:grpSp>
      <p:sp>
        <p:nvSpPr>
          <p:cNvPr name="TextBox 16" id="16"/>
          <p:cNvSpPr txBox="true"/>
          <p:nvPr/>
        </p:nvSpPr>
        <p:spPr>
          <a:xfrm rot="0">
            <a:off x="2355468" y="5332661"/>
            <a:ext cx="1706329" cy="218789"/>
          </a:xfrm>
          <a:prstGeom prst="rect">
            <a:avLst/>
          </a:prstGeom>
        </p:spPr>
        <p:txBody>
          <a:bodyPr anchor="t" rtlCol="false" tIns="0" lIns="0" bIns="0" rIns="0">
            <a:spAutoFit/>
          </a:bodyPr>
          <a:lstStyle/>
          <a:p>
            <a:pPr algn="ctr" marL="0" indent="0" lvl="0">
              <a:lnSpc>
                <a:spcPts val="1850"/>
              </a:lnSpc>
              <a:spcBef>
                <a:spcPct val="0"/>
              </a:spcBef>
            </a:pPr>
            <a:r>
              <a:rPr lang="en-US" sz="1321" strike="noStrike" u="none">
                <a:solidFill>
                  <a:srgbClr val="FFFFFF"/>
                </a:solidFill>
                <a:latin typeface="프리텐다드"/>
                <a:ea typeface="프리텐다드"/>
                <a:cs typeface="프리텐다드"/>
                <a:sym typeface="프리텐다드"/>
              </a:rPr>
              <a:t>+0.09</a:t>
            </a:r>
          </a:p>
        </p:txBody>
      </p:sp>
      <p:grpSp>
        <p:nvGrpSpPr>
          <p:cNvPr name="Group 17" id="17"/>
          <p:cNvGrpSpPr/>
          <p:nvPr/>
        </p:nvGrpSpPr>
        <p:grpSpPr>
          <a:xfrm rot="0">
            <a:off x="4173688" y="5179414"/>
            <a:ext cx="1706329" cy="559452"/>
            <a:chOff x="0" y="0"/>
            <a:chExt cx="1549400" cy="508000"/>
          </a:xfrm>
        </p:grpSpPr>
        <p:sp>
          <p:nvSpPr>
            <p:cNvPr name="Freeform 18" id="18"/>
            <p:cNvSpPr/>
            <p:nvPr/>
          </p:nvSpPr>
          <p:spPr>
            <a:xfrm flipH="false" flipV="false" rot="0">
              <a:off x="0" y="0"/>
              <a:ext cx="1549400" cy="508000"/>
            </a:xfrm>
            <a:custGeom>
              <a:avLst/>
              <a:gdLst/>
              <a:ahLst/>
              <a:cxnLst/>
              <a:rect r="r" b="b" t="t" l="l"/>
              <a:pathLst>
                <a:path h="508000" w="1549400">
                  <a:moveTo>
                    <a:pt x="50800" y="0"/>
                  </a:moveTo>
                  <a:lnTo>
                    <a:pt x="1498600" y="0"/>
                  </a:lnTo>
                  <a:cubicBezTo>
                    <a:pt x="1526656" y="0"/>
                    <a:pt x="1549400" y="22744"/>
                    <a:pt x="1549400" y="50800"/>
                  </a:cubicBezTo>
                  <a:lnTo>
                    <a:pt x="1549400" y="457200"/>
                  </a:lnTo>
                  <a:cubicBezTo>
                    <a:pt x="1549400" y="485256"/>
                    <a:pt x="1526656" y="508000"/>
                    <a:pt x="1498600" y="508000"/>
                  </a:cubicBezTo>
                  <a:lnTo>
                    <a:pt x="50800" y="508000"/>
                  </a:lnTo>
                  <a:cubicBezTo>
                    <a:pt x="22744" y="508000"/>
                    <a:pt x="0" y="485256"/>
                    <a:pt x="0" y="457200"/>
                  </a:cubicBezTo>
                  <a:lnTo>
                    <a:pt x="0" y="50800"/>
                  </a:lnTo>
                  <a:cubicBezTo>
                    <a:pt x="0" y="22744"/>
                    <a:pt x="22744" y="0"/>
                    <a:pt x="50800" y="0"/>
                  </a:cubicBezTo>
                  <a:close/>
                </a:path>
              </a:pathLst>
            </a:custGeom>
            <a:solidFill>
              <a:srgbClr val="E85D3A"/>
            </a:solidFill>
          </p:spPr>
        </p:sp>
        <p:sp>
          <p:nvSpPr>
            <p:cNvPr name="TextBox 19" id="19"/>
            <p:cNvSpPr txBox="true"/>
            <p:nvPr/>
          </p:nvSpPr>
          <p:spPr>
            <a:xfrm>
              <a:off x="0" y="-38100"/>
              <a:ext cx="1549400" cy="546100"/>
            </a:xfrm>
            <a:prstGeom prst="rect">
              <a:avLst/>
            </a:prstGeom>
          </p:spPr>
          <p:txBody>
            <a:bodyPr anchor="ctr" rtlCol="false" tIns="50800" lIns="50800" bIns="50800" rIns="50800"/>
            <a:lstStyle/>
            <a:p>
              <a:pPr algn="l">
                <a:lnSpc>
                  <a:spcPts val="1679"/>
                </a:lnSpc>
              </a:pPr>
            </a:p>
          </p:txBody>
        </p:sp>
      </p:grpSp>
      <p:sp>
        <p:nvSpPr>
          <p:cNvPr name="TextBox 20" id="20"/>
          <p:cNvSpPr txBox="true"/>
          <p:nvPr/>
        </p:nvSpPr>
        <p:spPr>
          <a:xfrm rot="0">
            <a:off x="4173688" y="5332661"/>
            <a:ext cx="1706329" cy="218789"/>
          </a:xfrm>
          <a:prstGeom prst="rect">
            <a:avLst/>
          </a:prstGeom>
        </p:spPr>
        <p:txBody>
          <a:bodyPr anchor="t" rtlCol="false" tIns="0" lIns="0" bIns="0" rIns="0">
            <a:spAutoFit/>
          </a:bodyPr>
          <a:lstStyle/>
          <a:p>
            <a:pPr algn="ctr" marL="0" indent="0" lvl="0">
              <a:lnSpc>
                <a:spcPts val="1850"/>
              </a:lnSpc>
              <a:spcBef>
                <a:spcPct val="0"/>
              </a:spcBef>
            </a:pPr>
            <a:r>
              <a:rPr lang="en-US" sz="1321" strike="noStrike" u="none">
                <a:solidFill>
                  <a:srgbClr val="FFFFFF"/>
                </a:solidFill>
                <a:latin typeface="프리텐다드"/>
                <a:ea typeface="프리텐다드"/>
                <a:cs typeface="프리텐다드"/>
                <a:sym typeface="프리텐다드"/>
              </a:rPr>
              <a:t>+0.08</a:t>
            </a:r>
          </a:p>
        </p:txBody>
      </p:sp>
      <p:grpSp>
        <p:nvGrpSpPr>
          <p:cNvPr name="Group 21" id="21"/>
          <p:cNvGrpSpPr/>
          <p:nvPr/>
        </p:nvGrpSpPr>
        <p:grpSpPr>
          <a:xfrm rot="0">
            <a:off x="5991908" y="5179414"/>
            <a:ext cx="1706329" cy="559452"/>
            <a:chOff x="0" y="0"/>
            <a:chExt cx="1549400" cy="508000"/>
          </a:xfrm>
        </p:grpSpPr>
        <p:sp>
          <p:nvSpPr>
            <p:cNvPr name="Freeform 22" id="22"/>
            <p:cNvSpPr/>
            <p:nvPr/>
          </p:nvSpPr>
          <p:spPr>
            <a:xfrm flipH="false" flipV="false" rot="0">
              <a:off x="0" y="0"/>
              <a:ext cx="1549400" cy="508000"/>
            </a:xfrm>
            <a:custGeom>
              <a:avLst/>
              <a:gdLst/>
              <a:ahLst/>
              <a:cxnLst/>
              <a:rect r="r" b="b" t="t" l="l"/>
              <a:pathLst>
                <a:path h="508000" w="1549400">
                  <a:moveTo>
                    <a:pt x="50800" y="0"/>
                  </a:moveTo>
                  <a:lnTo>
                    <a:pt x="1498600" y="0"/>
                  </a:lnTo>
                  <a:cubicBezTo>
                    <a:pt x="1526656" y="0"/>
                    <a:pt x="1549400" y="22744"/>
                    <a:pt x="1549400" y="50800"/>
                  </a:cubicBezTo>
                  <a:lnTo>
                    <a:pt x="1549400" y="457200"/>
                  </a:lnTo>
                  <a:cubicBezTo>
                    <a:pt x="1549400" y="485256"/>
                    <a:pt x="1526656" y="508000"/>
                    <a:pt x="1498600" y="508000"/>
                  </a:cubicBezTo>
                  <a:lnTo>
                    <a:pt x="50800" y="508000"/>
                  </a:lnTo>
                  <a:cubicBezTo>
                    <a:pt x="22744" y="508000"/>
                    <a:pt x="0" y="485256"/>
                    <a:pt x="0" y="457200"/>
                  </a:cubicBezTo>
                  <a:lnTo>
                    <a:pt x="0" y="50800"/>
                  </a:lnTo>
                  <a:cubicBezTo>
                    <a:pt x="0" y="22744"/>
                    <a:pt x="22744" y="0"/>
                    <a:pt x="50800" y="0"/>
                  </a:cubicBezTo>
                  <a:close/>
                </a:path>
              </a:pathLst>
            </a:custGeom>
            <a:solidFill>
              <a:srgbClr val="F08060"/>
            </a:solidFill>
          </p:spPr>
        </p:sp>
        <p:sp>
          <p:nvSpPr>
            <p:cNvPr name="TextBox 23" id="23"/>
            <p:cNvSpPr txBox="true"/>
            <p:nvPr/>
          </p:nvSpPr>
          <p:spPr>
            <a:xfrm>
              <a:off x="0" y="-38100"/>
              <a:ext cx="1549400" cy="546100"/>
            </a:xfrm>
            <a:prstGeom prst="rect">
              <a:avLst/>
            </a:prstGeom>
          </p:spPr>
          <p:txBody>
            <a:bodyPr anchor="ctr" rtlCol="false" tIns="50800" lIns="50800" bIns="50800" rIns="50800"/>
            <a:lstStyle/>
            <a:p>
              <a:pPr algn="l">
                <a:lnSpc>
                  <a:spcPts val="1679"/>
                </a:lnSpc>
              </a:pPr>
            </a:p>
          </p:txBody>
        </p:sp>
      </p:grpSp>
      <p:sp>
        <p:nvSpPr>
          <p:cNvPr name="TextBox 24" id="24"/>
          <p:cNvSpPr txBox="true"/>
          <p:nvPr/>
        </p:nvSpPr>
        <p:spPr>
          <a:xfrm rot="0">
            <a:off x="5991908" y="5332661"/>
            <a:ext cx="1706329" cy="218789"/>
          </a:xfrm>
          <a:prstGeom prst="rect">
            <a:avLst/>
          </a:prstGeom>
        </p:spPr>
        <p:txBody>
          <a:bodyPr anchor="t" rtlCol="false" tIns="0" lIns="0" bIns="0" rIns="0">
            <a:spAutoFit/>
          </a:bodyPr>
          <a:lstStyle/>
          <a:p>
            <a:pPr algn="ctr" marL="0" indent="0" lvl="0">
              <a:lnSpc>
                <a:spcPts val="1850"/>
              </a:lnSpc>
              <a:spcBef>
                <a:spcPct val="0"/>
              </a:spcBef>
            </a:pPr>
            <a:r>
              <a:rPr lang="en-US" sz="1321" strike="noStrike" u="none">
                <a:solidFill>
                  <a:srgbClr val="4D3333"/>
                </a:solidFill>
                <a:latin typeface="프리텐다드"/>
                <a:ea typeface="프리텐다드"/>
                <a:cs typeface="프리텐다드"/>
                <a:sym typeface="프리텐다드"/>
              </a:rPr>
              <a:t>+0.07</a:t>
            </a:r>
          </a:p>
        </p:txBody>
      </p:sp>
      <p:grpSp>
        <p:nvGrpSpPr>
          <p:cNvPr name="Group 25" id="25"/>
          <p:cNvGrpSpPr/>
          <p:nvPr/>
        </p:nvGrpSpPr>
        <p:grpSpPr>
          <a:xfrm rot="0">
            <a:off x="7810128" y="5179414"/>
            <a:ext cx="1706329" cy="559452"/>
            <a:chOff x="0" y="0"/>
            <a:chExt cx="1549400" cy="508000"/>
          </a:xfrm>
        </p:grpSpPr>
        <p:sp>
          <p:nvSpPr>
            <p:cNvPr name="Freeform 26" id="26"/>
            <p:cNvSpPr/>
            <p:nvPr/>
          </p:nvSpPr>
          <p:spPr>
            <a:xfrm flipH="false" flipV="false" rot="0">
              <a:off x="0" y="0"/>
              <a:ext cx="1549400" cy="508000"/>
            </a:xfrm>
            <a:custGeom>
              <a:avLst/>
              <a:gdLst/>
              <a:ahLst/>
              <a:cxnLst/>
              <a:rect r="r" b="b" t="t" l="l"/>
              <a:pathLst>
                <a:path h="508000" w="1549400">
                  <a:moveTo>
                    <a:pt x="50800" y="0"/>
                  </a:moveTo>
                  <a:lnTo>
                    <a:pt x="1498600" y="0"/>
                  </a:lnTo>
                  <a:cubicBezTo>
                    <a:pt x="1526656" y="0"/>
                    <a:pt x="1549400" y="22744"/>
                    <a:pt x="1549400" y="50800"/>
                  </a:cubicBezTo>
                  <a:lnTo>
                    <a:pt x="1549400" y="457200"/>
                  </a:lnTo>
                  <a:cubicBezTo>
                    <a:pt x="1549400" y="485256"/>
                    <a:pt x="1526656" y="508000"/>
                    <a:pt x="1498600" y="508000"/>
                  </a:cubicBezTo>
                  <a:lnTo>
                    <a:pt x="50800" y="508000"/>
                  </a:lnTo>
                  <a:cubicBezTo>
                    <a:pt x="22744" y="508000"/>
                    <a:pt x="0" y="485256"/>
                    <a:pt x="0" y="457200"/>
                  </a:cubicBezTo>
                  <a:lnTo>
                    <a:pt x="0" y="50800"/>
                  </a:lnTo>
                  <a:cubicBezTo>
                    <a:pt x="0" y="22744"/>
                    <a:pt x="22744" y="0"/>
                    <a:pt x="50800" y="0"/>
                  </a:cubicBezTo>
                  <a:close/>
                </a:path>
              </a:pathLst>
            </a:custGeom>
            <a:solidFill>
              <a:srgbClr val="F8C0B0"/>
            </a:solidFill>
          </p:spPr>
        </p:sp>
        <p:sp>
          <p:nvSpPr>
            <p:cNvPr name="TextBox 27" id="27"/>
            <p:cNvSpPr txBox="true"/>
            <p:nvPr/>
          </p:nvSpPr>
          <p:spPr>
            <a:xfrm>
              <a:off x="0" y="-38100"/>
              <a:ext cx="1549400" cy="546100"/>
            </a:xfrm>
            <a:prstGeom prst="rect">
              <a:avLst/>
            </a:prstGeom>
          </p:spPr>
          <p:txBody>
            <a:bodyPr anchor="ctr" rtlCol="false" tIns="50800" lIns="50800" bIns="50800" rIns="50800"/>
            <a:lstStyle/>
            <a:p>
              <a:pPr algn="l">
                <a:lnSpc>
                  <a:spcPts val="1679"/>
                </a:lnSpc>
              </a:pPr>
            </a:p>
          </p:txBody>
        </p:sp>
      </p:grpSp>
      <p:sp>
        <p:nvSpPr>
          <p:cNvPr name="TextBox 28" id="28"/>
          <p:cNvSpPr txBox="true"/>
          <p:nvPr/>
        </p:nvSpPr>
        <p:spPr>
          <a:xfrm rot="0">
            <a:off x="7810128" y="5332661"/>
            <a:ext cx="1706329" cy="218789"/>
          </a:xfrm>
          <a:prstGeom prst="rect">
            <a:avLst/>
          </a:prstGeom>
        </p:spPr>
        <p:txBody>
          <a:bodyPr anchor="t" rtlCol="false" tIns="0" lIns="0" bIns="0" rIns="0">
            <a:spAutoFit/>
          </a:bodyPr>
          <a:lstStyle/>
          <a:p>
            <a:pPr algn="ctr" marL="0" indent="0" lvl="0">
              <a:lnSpc>
                <a:spcPts val="1850"/>
              </a:lnSpc>
              <a:spcBef>
                <a:spcPct val="0"/>
              </a:spcBef>
            </a:pPr>
            <a:r>
              <a:rPr lang="en-US" sz="1321" strike="noStrike" u="none">
                <a:solidFill>
                  <a:srgbClr val="4D3333"/>
                </a:solidFill>
                <a:latin typeface="프리텐다드"/>
                <a:ea typeface="프리텐다드"/>
                <a:cs typeface="프리텐다드"/>
                <a:sym typeface="프리텐다드"/>
              </a:rPr>
              <a:t>+0.04</a:t>
            </a:r>
          </a:p>
        </p:txBody>
      </p:sp>
      <p:sp>
        <p:nvSpPr>
          <p:cNvPr name="TextBox 29" id="29"/>
          <p:cNvSpPr txBox="true"/>
          <p:nvPr/>
        </p:nvSpPr>
        <p:spPr>
          <a:xfrm rot="0">
            <a:off x="968618" y="5961002"/>
            <a:ext cx="1118905" cy="186375"/>
          </a:xfrm>
          <a:prstGeom prst="rect">
            <a:avLst/>
          </a:prstGeom>
        </p:spPr>
        <p:txBody>
          <a:bodyPr anchor="t" rtlCol="false" tIns="0" lIns="0" bIns="0" rIns="0">
            <a:spAutoFit/>
          </a:bodyPr>
          <a:lstStyle/>
          <a:p>
            <a:pPr algn="r" marL="0" indent="0" lvl="0">
              <a:lnSpc>
                <a:spcPts val="1512"/>
              </a:lnSpc>
              <a:spcBef>
                <a:spcPct val="0"/>
              </a:spcBef>
            </a:pPr>
            <a:r>
              <a:rPr lang="en-US" sz="1080" strike="noStrike" u="none">
                <a:solidFill>
                  <a:srgbClr val="1E293B"/>
                </a:solidFill>
                <a:latin typeface="프리텐다드"/>
                <a:ea typeface="프리텐다드"/>
                <a:cs typeface="프리텐다드"/>
                <a:sym typeface="프리텐다드"/>
              </a:rPr>
              <a:t>학생침해</a:t>
            </a:r>
          </a:p>
        </p:txBody>
      </p:sp>
      <p:grpSp>
        <p:nvGrpSpPr>
          <p:cNvPr name="Group 30" id="30"/>
          <p:cNvGrpSpPr/>
          <p:nvPr/>
        </p:nvGrpSpPr>
        <p:grpSpPr>
          <a:xfrm rot="0">
            <a:off x="2355468" y="5794811"/>
            <a:ext cx="1706329" cy="559452"/>
            <a:chOff x="0" y="0"/>
            <a:chExt cx="1549400" cy="508000"/>
          </a:xfrm>
        </p:grpSpPr>
        <p:sp>
          <p:nvSpPr>
            <p:cNvPr name="Freeform 31" id="31"/>
            <p:cNvSpPr/>
            <p:nvPr/>
          </p:nvSpPr>
          <p:spPr>
            <a:xfrm flipH="false" flipV="false" rot="0">
              <a:off x="0" y="0"/>
              <a:ext cx="1549400" cy="508000"/>
            </a:xfrm>
            <a:custGeom>
              <a:avLst/>
              <a:gdLst/>
              <a:ahLst/>
              <a:cxnLst/>
              <a:rect r="r" b="b" t="t" l="l"/>
              <a:pathLst>
                <a:path h="508000" w="1549400">
                  <a:moveTo>
                    <a:pt x="50800" y="0"/>
                  </a:moveTo>
                  <a:lnTo>
                    <a:pt x="1498600" y="0"/>
                  </a:lnTo>
                  <a:cubicBezTo>
                    <a:pt x="1526656" y="0"/>
                    <a:pt x="1549400" y="22744"/>
                    <a:pt x="1549400" y="50800"/>
                  </a:cubicBezTo>
                  <a:lnTo>
                    <a:pt x="1549400" y="457200"/>
                  </a:lnTo>
                  <a:cubicBezTo>
                    <a:pt x="1549400" y="485256"/>
                    <a:pt x="1526656" y="508000"/>
                    <a:pt x="1498600" y="508000"/>
                  </a:cubicBezTo>
                  <a:lnTo>
                    <a:pt x="50800" y="508000"/>
                  </a:lnTo>
                  <a:cubicBezTo>
                    <a:pt x="22744" y="508000"/>
                    <a:pt x="0" y="485256"/>
                    <a:pt x="0" y="457200"/>
                  </a:cubicBezTo>
                  <a:lnTo>
                    <a:pt x="0" y="50800"/>
                  </a:lnTo>
                  <a:cubicBezTo>
                    <a:pt x="0" y="22744"/>
                    <a:pt x="22744" y="0"/>
                    <a:pt x="50800" y="0"/>
                  </a:cubicBezTo>
                  <a:close/>
                </a:path>
              </a:pathLst>
            </a:custGeom>
            <a:solidFill>
              <a:srgbClr val="C0392B"/>
            </a:solidFill>
          </p:spPr>
        </p:sp>
        <p:sp>
          <p:nvSpPr>
            <p:cNvPr name="TextBox 32" id="32"/>
            <p:cNvSpPr txBox="true"/>
            <p:nvPr/>
          </p:nvSpPr>
          <p:spPr>
            <a:xfrm>
              <a:off x="0" y="-38100"/>
              <a:ext cx="1549400" cy="546100"/>
            </a:xfrm>
            <a:prstGeom prst="rect">
              <a:avLst/>
            </a:prstGeom>
          </p:spPr>
          <p:txBody>
            <a:bodyPr anchor="ctr" rtlCol="false" tIns="50800" lIns="50800" bIns="50800" rIns="50800"/>
            <a:lstStyle/>
            <a:p>
              <a:pPr algn="l">
                <a:lnSpc>
                  <a:spcPts val="1679"/>
                </a:lnSpc>
              </a:pPr>
            </a:p>
          </p:txBody>
        </p:sp>
      </p:grpSp>
      <p:sp>
        <p:nvSpPr>
          <p:cNvPr name="TextBox 33" id="33"/>
          <p:cNvSpPr txBox="true"/>
          <p:nvPr/>
        </p:nvSpPr>
        <p:spPr>
          <a:xfrm rot="0">
            <a:off x="2355468" y="5948058"/>
            <a:ext cx="1706329" cy="218789"/>
          </a:xfrm>
          <a:prstGeom prst="rect">
            <a:avLst/>
          </a:prstGeom>
        </p:spPr>
        <p:txBody>
          <a:bodyPr anchor="t" rtlCol="false" tIns="0" lIns="0" bIns="0" rIns="0">
            <a:spAutoFit/>
          </a:bodyPr>
          <a:lstStyle/>
          <a:p>
            <a:pPr algn="ctr" marL="0" indent="0" lvl="0">
              <a:lnSpc>
                <a:spcPts val="1850"/>
              </a:lnSpc>
              <a:spcBef>
                <a:spcPct val="0"/>
              </a:spcBef>
            </a:pPr>
            <a:r>
              <a:rPr lang="en-US" sz="1321" strike="noStrike" u="none">
                <a:solidFill>
                  <a:srgbClr val="FFFFFF"/>
                </a:solidFill>
                <a:latin typeface="프리텐다드"/>
                <a:ea typeface="프리텐다드"/>
                <a:cs typeface="프리텐다드"/>
                <a:sym typeface="프리텐다드"/>
              </a:rPr>
              <a:t>+0.11</a:t>
            </a:r>
          </a:p>
        </p:txBody>
      </p:sp>
      <p:grpSp>
        <p:nvGrpSpPr>
          <p:cNvPr name="Group 34" id="34"/>
          <p:cNvGrpSpPr/>
          <p:nvPr/>
        </p:nvGrpSpPr>
        <p:grpSpPr>
          <a:xfrm rot="0">
            <a:off x="4173688" y="5794811"/>
            <a:ext cx="1706329" cy="559452"/>
            <a:chOff x="0" y="0"/>
            <a:chExt cx="1549400" cy="508000"/>
          </a:xfrm>
        </p:grpSpPr>
        <p:sp>
          <p:nvSpPr>
            <p:cNvPr name="Freeform 35" id="35"/>
            <p:cNvSpPr/>
            <p:nvPr/>
          </p:nvSpPr>
          <p:spPr>
            <a:xfrm flipH="false" flipV="false" rot="0">
              <a:off x="0" y="0"/>
              <a:ext cx="1549400" cy="508000"/>
            </a:xfrm>
            <a:custGeom>
              <a:avLst/>
              <a:gdLst/>
              <a:ahLst/>
              <a:cxnLst/>
              <a:rect r="r" b="b" t="t" l="l"/>
              <a:pathLst>
                <a:path h="508000" w="1549400">
                  <a:moveTo>
                    <a:pt x="50800" y="0"/>
                  </a:moveTo>
                  <a:lnTo>
                    <a:pt x="1498600" y="0"/>
                  </a:lnTo>
                  <a:cubicBezTo>
                    <a:pt x="1526656" y="0"/>
                    <a:pt x="1549400" y="22744"/>
                    <a:pt x="1549400" y="50800"/>
                  </a:cubicBezTo>
                  <a:lnTo>
                    <a:pt x="1549400" y="457200"/>
                  </a:lnTo>
                  <a:cubicBezTo>
                    <a:pt x="1549400" y="485256"/>
                    <a:pt x="1526656" y="508000"/>
                    <a:pt x="1498600" y="508000"/>
                  </a:cubicBezTo>
                  <a:lnTo>
                    <a:pt x="50800" y="508000"/>
                  </a:lnTo>
                  <a:cubicBezTo>
                    <a:pt x="22744" y="508000"/>
                    <a:pt x="0" y="485256"/>
                    <a:pt x="0" y="457200"/>
                  </a:cubicBezTo>
                  <a:lnTo>
                    <a:pt x="0" y="50800"/>
                  </a:lnTo>
                  <a:cubicBezTo>
                    <a:pt x="0" y="22744"/>
                    <a:pt x="22744" y="0"/>
                    <a:pt x="50800" y="0"/>
                  </a:cubicBezTo>
                  <a:close/>
                </a:path>
              </a:pathLst>
            </a:custGeom>
            <a:solidFill>
              <a:srgbClr val="C0392B"/>
            </a:solidFill>
          </p:spPr>
        </p:sp>
        <p:sp>
          <p:nvSpPr>
            <p:cNvPr name="TextBox 36" id="36"/>
            <p:cNvSpPr txBox="true"/>
            <p:nvPr/>
          </p:nvSpPr>
          <p:spPr>
            <a:xfrm>
              <a:off x="0" y="-38100"/>
              <a:ext cx="1549400" cy="546100"/>
            </a:xfrm>
            <a:prstGeom prst="rect">
              <a:avLst/>
            </a:prstGeom>
          </p:spPr>
          <p:txBody>
            <a:bodyPr anchor="ctr" rtlCol="false" tIns="50800" lIns="50800" bIns="50800" rIns="50800"/>
            <a:lstStyle/>
            <a:p>
              <a:pPr algn="l">
                <a:lnSpc>
                  <a:spcPts val="1679"/>
                </a:lnSpc>
              </a:pPr>
            </a:p>
          </p:txBody>
        </p:sp>
      </p:grpSp>
      <p:sp>
        <p:nvSpPr>
          <p:cNvPr name="TextBox 37" id="37"/>
          <p:cNvSpPr txBox="true"/>
          <p:nvPr/>
        </p:nvSpPr>
        <p:spPr>
          <a:xfrm rot="0">
            <a:off x="4173688" y="5948058"/>
            <a:ext cx="1706329" cy="218789"/>
          </a:xfrm>
          <a:prstGeom prst="rect">
            <a:avLst/>
          </a:prstGeom>
        </p:spPr>
        <p:txBody>
          <a:bodyPr anchor="t" rtlCol="false" tIns="0" lIns="0" bIns="0" rIns="0">
            <a:spAutoFit/>
          </a:bodyPr>
          <a:lstStyle/>
          <a:p>
            <a:pPr algn="ctr" marL="0" indent="0" lvl="0">
              <a:lnSpc>
                <a:spcPts val="1850"/>
              </a:lnSpc>
              <a:spcBef>
                <a:spcPct val="0"/>
              </a:spcBef>
            </a:pPr>
            <a:r>
              <a:rPr lang="en-US" sz="1321" strike="noStrike" u="none">
                <a:solidFill>
                  <a:srgbClr val="FFFFFF"/>
                </a:solidFill>
                <a:latin typeface="프리텐다드"/>
                <a:ea typeface="프리텐다드"/>
                <a:cs typeface="프리텐다드"/>
                <a:sym typeface="프리텐다드"/>
              </a:rPr>
              <a:t>+0.13</a:t>
            </a:r>
          </a:p>
        </p:txBody>
      </p:sp>
      <p:grpSp>
        <p:nvGrpSpPr>
          <p:cNvPr name="Group 38" id="38"/>
          <p:cNvGrpSpPr/>
          <p:nvPr/>
        </p:nvGrpSpPr>
        <p:grpSpPr>
          <a:xfrm rot="0">
            <a:off x="5991908" y="5794811"/>
            <a:ext cx="1706329" cy="559452"/>
            <a:chOff x="0" y="0"/>
            <a:chExt cx="1549400" cy="508000"/>
          </a:xfrm>
        </p:grpSpPr>
        <p:sp>
          <p:nvSpPr>
            <p:cNvPr name="Freeform 39" id="39"/>
            <p:cNvSpPr/>
            <p:nvPr/>
          </p:nvSpPr>
          <p:spPr>
            <a:xfrm flipH="false" flipV="false" rot="0">
              <a:off x="0" y="0"/>
              <a:ext cx="1549400" cy="508000"/>
            </a:xfrm>
            <a:custGeom>
              <a:avLst/>
              <a:gdLst/>
              <a:ahLst/>
              <a:cxnLst/>
              <a:rect r="r" b="b" t="t" l="l"/>
              <a:pathLst>
                <a:path h="508000" w="1549400">
                  <a:moveTo>
                    <a:pt x="50800" y="0"/>
                  </a:moveTo>
                  <a:lnTo>
                    <a:pt x="1498600" y="0"/>
                  </a:lnTo>
                  <a:cubicBezTo>
                    <a:pt x="1526656" y="0"/>
                    <a:pt x="1549400" y="22744"/>
                    <a:pt x="1549400" y="50800"/>
                  </a:cubicBezTo>
                  <a:lnTo>
                    <a:pt x="1549400" y="457200"/>
                  </a:lnTo>
                  <a:cubicBezTo>
                    <a:pt x="1549400" y="485256"/>
                    <a:pt x="1526656" y="508000"/>
                    <a:pt x="1498600" y="508000"/>
                  </a:cubicBezTo>
                  <a:lnTo>
                    <a:pt x="50800" y="508000"/>
                  </a:lnTo>
                  <a:cubicBezTo>
                    <a:pt x="22744" y="508000"/>
                    <a:pt x="0" y="485256"/>
                    <a:pt x="0" y="457200"/>
                  </a:cubicBezTo>
                  <a:lnTo>
                    <a:pt x="0" y="50800"/>
                  </a:lnTo>
                  <a:cubicBezTo>
                    <a:pt x="0" y="22744"/>
                    <a:pt x="22744" y="0"/>
                    <a:pt x="50800" y="0"/>
                  </a:cubicBezTo>
                  <a:close/>
                </a:path>
              </a:pathLst>
            </a:custGeom>
            <a:solidFill>
              <a:srgbClr val="F08060"/>
            </a:solidFill>
          </p:spPr>
        </p:sp>
        <p:sp>
          <p:nvSpPr>
            <p:cNvPr name="TextBox 40" id="40"/>
            <p:cNvSpPr txBox="true"/>
            <p:nvPr/>
          </p:nvSpPr>
          <p:spPr>
            <a:xfrm>
              <a:off x="0" y="-38100"/>
              <a:ext cx="1549400" cy="546100"/>
            </a:xfrm>
            <a:prstGeom prst="rect">
              <a:avLst/>
            </a:prstGeom>
          </p:spPr>
          <p:txBody>
            <a:bodyPr anchor="ctr" rtlCol="false" tIns="50800" lIns="50800" bIns="50800" rIns="50800"/>
            <a:lstStyle/>
            <a:p>
              <a:pPr algn="l">
                <a:lnSpc>
                  <a:spcPts val="1679"/>
                </a:lnSpc>
              </a:pPr>
            </a:p>
          </p:txBody>
        </p:sp>
      </p:grpSp>
      <p:sp>
        <p:nvSpPr>
          <p:cNvPr name="TextBox 41" id="41"/>
          <p:cNvSpPr txBox="true"/>
          <p:nvPr/>
        </p:nvSpPr>
        <p:spPr>
          <a:xfrm rot="0">
            <a:off x="5991908" y="5948058"/>
            <a:ext cx="1706329" cy="218789"/>
          </a:xfrm>
          <a:prstGeom prst="rect">
            <a:avLst/>
          </a:prstGeom>
        </p:spPr>
        <p:txBody>
          <a:bodyPr anchor="t" rtlCol="false" tIns="0" lIns="0" bIns="0" rIns="0">
            <a:spAutoFit/>
          </a:bodyPr>
          <a:lstStyle/>
          <a:p>
            <a:pPr algn="ctr" marL="0" indent="0" lvl="0">
              <a:lnSpc>
                <a:spcPts val="1850"/>
              </a:lnSpc>
              <a:spcBef>
                <a:spcPct val="0"/>
              </a:spcBef>
            </a:pPr>
            <a:r>
              <a:rPr lang="en-US" sz="1321" strike="noStrike" u="none">
                <a:solidFill>
                  <a:srgbClr val="4D3333"/>
                </a:solidFill>
                <a:latin typeface="프리텐다드"/>
                <a:ea typeface="프리텐다드"/>
                <a:cs typeface="프리텐다드"/>
                <a:sym typeface="프리텐다드"/>
              </a:rPr>
              <a:t>+0.08</a:t>
            </a:r>
          </a:p>
        </p:txBody>
      </p:sp>
      <p:grpSp>
        <p:nvGrpSpPr>
          <p:cNvPr name="Group 42" id="42"/>
          <p:cNvGrpSpPr/>
          <p:nvPr/>
        </p:nvGrpSpPr>
        <p:grpSpPr>
          <a:xfrm rot="0">
            <a:off x="7810128" y="5794811"/>
            <a:ext cx="1706329" cy="559452"/>
            <a:chOff x="0" y="0"/>
            <a:chExt cx="1549400" cy="508000"/>
          </a:xfrm>
        </p:grpSpPr>
        <p:sp>
          <p:nvSpPr>
            <p:cNvPr name="Freeform 43" id="43"/>
            <p:cNvSpPr/>
            <p:nvPr/>
          </p:nvSpPr>
          <p:spPr>
            <a:xfrm flipH="false" flipV="false" rot="0">
              <a:off x="0" y="0"/>
              <a:ext cx="1549400" cy="508000"/>
            </a:xfrm>
            <a:custGeom>
              <a:avLst/>
              <a:gdLst/>
              <a:ahLst/>
              <a:cxnLst/>
              <a:rect r="r" b="b" t="t" l="l"/>
              <a:pathLst>
                <a:path h="508000" w="1549400">
                  <a:moveTo>
                    <a:pt x="50800" y="0"/>
                  </a:moveTo>
                  <a:lnTo>
                    <a:pt x="1498600" y="0"/>
                  </a:lnTo>
                  <a:cubicBezTo>
                    <a:pt x="1526656" y="0"/>
                    <a:pt x="1549400" y="22744"/>
                    <a:pt x="1549400" y="50800"/>
                  </a:cubicBezTo>
                  <a:lnTo>
                    <a:pt x="1549400" y="457200"/>
                  </a:lnTo>
                  <a:cubicBezTo>
                    <a:pt x="1549400" y="485256"/>
                    <a:pt x="1526656" y="508000"/>
                    <a:pt x="1498600" y="508000"/>
                  </a:cubicBezTo>
                  <a:lnTo>
                    <a:pt x="50800" y="508000"/>
                  </a:lnTo>
                  <a:cubicBezTo>
                    <a:pt x="22744" y="508000"/>
                    <a:pt x="0" y="485256"/>
                    <a:pt x="0" y="457200"/>
                  </a:cubicBezTo>
                  <a:lnTo>
                    <a:pt x="0" y="50800"/>
                  </a:lnTo>
                  <a:cubicBezTo>
                    <a:pt x="0" y="22744"/>
                    <a:pt x="22744" y="0"/>
                    <a:pt x="50800" y="0"/>
                  </a:cubicBezTo>
                  <a:close/>
                </a:path>
              </a:pathLst>
            </a:custGeom>
            <a:solidFill>
              <a:srgbClr val="F08060"/>
            </a:solidFill>
          </p:spPr>
        </p:sp>
        <p:sp>
          <p:nvSpPr>
            <p:cNvPr name="TextBox 44" id="44"/>
            <p:cNvSpPr txBox="true"/>
            <p:nvPr/>
          </p:nvSpPr>
          <p:spPr>
            <a:xfrm>
              <a:off x="0" y="-38100"/>
              <a:ext cx="1549400" cy="546100"/>
            </a:xfrm>
            <a:prstGeom prst="rect">
              <a:avLst/>
            </a:prstGeom>
          </p:spPr>
          <p:txBody>
            <a:bodyPr anchor="ctr" rtlCol="false" tIns="50800" lIns="50800" bIns="50800" rIns="50800"/>
            <a:lstStyle/>
            <a:p>
              <a:pPr algn="l">
                <a:lnSpc>
                  <a:spcPts val="1679"/>
                </a:lnSpc>
              </a:pPr>
            </a:p>
          </p:txBody>
        </p:sp>
      </p:grpSp>
      <p:sp>
        <p:nvSpPr>
          <p:cNvPr name="TextBox 45" id="45"/>
          <p:cNvSpPr txBox="true"/>
          <p:nvPr/>
        </p:nvSpPr>
        <p:spPr>
          <a:xfrm rot="0">
            <a:off x="7810128" y="5948058"/>
            <a:ext cx="1706329" cy="218789"/>
          </a:xfrm>
          <a:prstGeom prst="rect">
            <a:avLst/>
          </a:prstGeom>
        </p:spPr>
        <p:txBody>
          <a:bodyPr anchor="t" rtlCol="false" tIns="0" lIns="0" bIns="0" rIns="0">
            <a:spAutoFit/>
          </a:bodyPr>
          <a:lstStyle/>
          <a:p>
            <a:pPr algn="ctr" marL="0" indent="0" lvl="0">
              <a:lnSpc>
                <a:spcPts val="1850"/>
              </a:lnSpc>
              <a:spcBef>
                <a:spcPct val="0"/>
              </a:spcBef>
            </a:pPr>
            <a:r>
              <a:rPr lang="en-US" sz="1321" strike="noStrike" u="none">
                <a:solidFill>
                  <a:srgbClr val="4D3333"/>
                </a:solidFill>
                <a:latin typeface="프리텐다드"/>
                <a:ea typeface="프리텐다드"/>
                <a:cs typeface="프리텐다드"/>
                <a:sym typeface="프리텐다드"/>
              </a:rPr>
              <a:t>+0.08</a:t>
            </a:r>
          </a:p>
        </p:txBody>
      </p:sp>
      <p:sp>
        <p:nvSpPr>
          <p:cNvPr name="TextBox 46" id="46"/>
          <p:cNvSpPr txBox="true"/>
          <p:nvPr/>
        </p:nvSpPr>
        <p:spPr>
          <a:xfrm rot="0">
            <a:off x="968618" y="6576400"/>
            <a:ext cx="1118905" cy="186375"/>
          </a:xfrm>
          <a:prstGeom prst="rect">
            <a:avLst/>
          </a:prstGeom>
        </p:spPr>
        <p:txBody>
          <a:bodyPr anchor="t" rtlCol="false" tIns="0" lIns="0" bIns="0" rIns="0">
            <a:spAutoFit/>
          </a:bodyPr>
          <a:lstStyle/>
          <a:p>
            <a:pPr algn="r" marL="0" indent="0" lvl="0">
              <a:lnSpc>
                <a:spcPts val="1512"/>
              </a:lnSpc>
              <a:spcBef>
                <a:spcPct val="0"/>
              </a:spcBef>
            </a:pPr>
            <a:r>
              <a:rPr lang="en-US" sz="1080" strike="noStrike" u="none">
                <a:solidFill>
                  <a:srgbClr val="1E293B"/>
                </a:solidFill>
                <a:latin typeface="프리텐다드"/>
                <a:ea typeface="프리텐다드"/>
                <a:cs typeface="프리텐다드"/>
                <a:sym typeface="프리텐다드"/>
              </a:rPr>
              <a:t>관리자침해</a:t>
            </a:r>
          </a:p>
        </p:txBody>
      </p:sp>
      <p:grpSp>
        <p:nvGrpSpPr>
          <p:cNvPr name="Group 47" id="47"/>
          <p:cNvGrpSpPr/>
          <p:nvPr/>
        </p:nvGrpSpPr>
        <p:grpSpPr>
          <a:xfrm rot="0">
            <a:off x="2355468" y="6410209"/>
            <a:ext cx="1706329" cy="559452"/>
            <a:chOff x="0" y="0"/>
            <a:chExt cx="1549400" cy="508000"/>
          </a:xfrm>
        </p:grpSpPr>
        <p:sp>
          <p:nvSpPr>
            <p:cNvPr name="Freeform 48" id="48"/>
            <p:cNvSpPr/>
            <p:nvPr/>
          </p:nvSpPr>
          <p:spPr>
            <a:xfrm flipH="false" flipV="false" rot="0">
              <a:off x="0" y="0"/>
              <a:ext cx="1549400" cy="508000"/>
            </a:xfrm>
            <a:custGeom>
              <a:avLst/>
              <a:gdLst/>
              <a:ahLst/>
              <a:cxnLst/>
              <a:rect r="r" b="b" t="t" l="l"/>
              <a:pathLst>
                <a:path h="508000" w="1549400">
                  <a:moveTo>
                    <a:pt x="50800" y="0"/>
                  </a:moveTo>
                  <a:lnTo>
                    <a:pt x="1498600" y="0"/>
                  </a:lnTo>
                  <a:cubicBezTo>
                    <a:pt x="1526656" y="0"/>
                    <a:pt x="1549400" y="22744"/>
                    <a:pt x="1549400" y="50800"/>
                  </a:cubicBezTo>
                  <a:lnTo>
                    <a:pt x="1549400" y="457200"/>
                  </a:lnTo>
                  <a:cubicBezTo>
                    <a:pt x="1549400" y="485256"/>
                    <a:pt x="1526656" y="508000"/>
                    <a:pt x="1498600" y="508000"/>
                  </a:cubicBezTo>
                  <a:lnTo>
                    <a:pt x="50800" y="508000"/>
                  </a:lnTo>
                  <a:cubicBezTo>
                    <a:pt x="22744" y="508000"/>
                    <a:pt x="0" y="485256"/>
                    <a:pt x="0" y="457200"/>
                  </a:cubicBezTo>
                  <a:lnTo>
                    <a:pt x="0" y="50800"/>
                  </a:lnTo>
                  <a:cubicBezTo>
                    <a:pt x="0" y="22744"/>
                    <a:pt x="22744" y="0"/>
                    <a:pt x="50800" y="0"/>
                  </a:cubicBezTo>
                  <a:close/>
                </a:path>
              </a:pathLst>
            </a:custGeom>
            <a:solidFill>
              <a:srgbClr val="FCE4EC"/>
            </a:solidFill>
          </p:spPr>
        </p:sp>
        <p:sp>
          <p:nvSpPr>
            <p:cNvPr name="TextBox 49" id="49"/>
            <p:cNvSpPr txBox="true"/>
            <p:nvPr/>
          </p:nvSpPr>
          <p:spPr>
            <a:xfrm>
              <a:off x="0" y="-38100"/>
              <a:ext cx="1549400" cy="546100"/>
            </a:xfrm>
            <a:prstGeom prst="rect">
              <a:avLst/>
            </a:prstGeom>
          </p:spPr>
          <p:txBody>
            <a:bodyPr anchor="ctr" rtlCol="false" tIns="50800" lIns="50800" bIns="50800" rIns="50800"/>
            <a:lstStyle/>
            <a:p>
              <a:pPr algn="l">
                <a:lnSpc>
                  <a:spcPts val="1679"/>
                </a:lnSpc>
              </a:pPr>
            </a:p>
          </p:txBody>
        </p:sp>
      </p:grpSp>
      <p:sp>
        <p:nvSpPr>
          <p:cNvPr name="TextBox 50" id="50"/>
          <p:cNvSpPr txBox="true"/>
          <p:nvPr/>
        </p:nvSpPr>
        <p:spPr>
          <a:xfrm rot="0">
            <a:off x="2355468" y="6563456"/>
            <a:ext cx="1706329" cy="218789"/>
          </a:xfrm>
          <a:prstGeom prst="rect">
            <a:avLst/>
          </a:prstGeom>
        </p:spPr>
        <p:txBody>
          <a:bodyPr anchor="t" rtlCol="false" tIns="0" lIns="0" bIns="0" rIns="0">
            <a:spAutoFit/>
          </a:bodyPr>
          <a:lstStyle/>
          <a:p>
            <a:pPr algn="ctr" marL="0" indent="0" lvl="0">
              <a:lnSpc>
                <a:spcPts val="1850"/>
              </a:lnSpc>
              <a:spcBef>
                <a:spcPct val="0"/>
              </a:spcBef>
            </a:pPr>
            <a:r>
              <a:rPr lang="en-US" sz="1321" strike="noStrike" u="none">
                <a:solidFill>
                  <a:srgbClr val="4D3333"/>
                </a:solidFill>
                <a:latin typeface="프리텐다드"/>
                <a:ea typeface="프리텐다드"/>
                <a:cs typeface="프리텐다드"/>
                <a:sym typeface="프리텐다드"/>
              </a:rPr>
              <a:t>+0.02</a:t>
            </a:r>
          </a:p>
        </p:txBody>
      </p:sp>
      <p:grpSp>
        <p:nvGrpSpPr>
          <p:cNvPr name="Group 51" id="51"/>
          <p:cNvGrpSpPr/>
          <p:nvPr/>
        </p:nvGrpSpPr>
        <p:grpSpPr>
          <a:xfrm rot="0">
            <a:off x="4173688" y="6410209"/>
            <a:ext cx="1706329" cy="559452"/>
            <a:chOff x="0" y="0"/>
            <a:chExt cx="1549400" cy="508000"/>
          </a:xfrm>
        </p:grpSpPr>
        <p:sp>
          <p:nvSpPr>
            <p:cNvPr name="Freeform 52" id="52"/>
            <p:cNvSpPr/>
            <p:nvPr/>
          </p:nvSpPr>
          <p:spPr>
            <a:xfrm flipH="false" flipV="false" rot="0">
              <a:off x="0" y="0"/>
              <a:ext cx="1549400" cy="508000"/>
            </a:xfrm>
            <a:custGeom>
              <a:avLst/>
              <a:gdLst/>
              <a:ahLst/>
              <a:cxnLst/>
              <a:rect r="r" b="b" t="t" l="l"/>
              <a:pathLst>
                <a:path h="508000" w="1549400">
                  <a:moveTo>
                    <a:pt x="50800" y="0"/>
                  </a:moveTo>
                  <a:lnTo>
                    <a:pt x="1498600" y="0"/>
                  </a:lnTo>
                  <a:cubicBezTo>
                    <a:pt x="1526656" y="0"/>
                    <a:pt x="1549400" y="22744"/>
                    <a:pt x="1549400" y="50800"/>
                  </a:cubicBezTo>
                  <a:lnTo>
                    <a:pt x="1549400" y="457200"/>
                  </a:lnTo>
                  <a:cubicBezTo>
                    <a:pt x="1549400" y="485256"/>
                    <a:pt x="1526656" y="508000"/>
                    <a:pt x="1498600" y="508000"/>
                  </a:cubicBezTo>
                  <a:lnTo>
                    <a:pt x="50800" y="508000"/>
                  </a:lnTo>
                  <a:cubicBezTo>
                    <a:pt x="22744" y="508000"/>
                    <a:pt x="0" y="485256"/>
                    <a:pt x="0" y="457200"/>
                  </a:cubicBezTo>
                  <a:lnTo>
                    <a:pt x="0" y="50800"/>
                  </a:lnTo>
                  <a:cubicBezTo>
                    <a:pt x="0" y="22744"/>
                    <a:pt x="22744" y="0"/>
                    <a:pt x="50800" y="0"/>
                  </a:cubicBezTo>
                  <a:close/>
                </a:path>
              </a:pathLst>
            </a:custGeom>
            <a:solidFill>
              <a:srgbClr val="FCE4EC"/>
            </a:solidFill>
          </p:spPr>
        </p:sp>
        <p:sp>
          <p:nvSpPr>
            <p:cNvPr name="TextBox 53" id="53"/>
            <p:cNvSpPr txBox="true"/>
            <p:nvPr/>
          </p:nvSpPr>
          <p:spPr>
            <a:xfrm>
              <a:off x="0" y="-38100"/>
              <a:ext cx="1549400" cy="546100"/>
            </a:xfrm>
            <a:prstGeom prst="rect">
              <a:avLst/>
            </a:prstGeom>
          </p:spPr>
          <p:txBody>
            <a:bodyPr anchor="ctr" rtlCol="false" tIns="50800" lIns="50800" bIns="50800" rIns="50800"/>
            <a:lstStyle/>
            <a:p>
              <a:pPr algn="l">
                <a:lnSpc>
                  <a:spcPts val="1679"/>
                </a:lnSpc>
              </a:pPr>
            </a:p>
          </p:txBody>
        </p:sp>
      </p:grpSp>
      <p:sp>
        <p:nvSpPr>
          <p:cNvPr name="TextBox 54" id="54"/>
          <p:cNvSpPr txBox="true"/>
          <p:nvPr/>
        </p:nvSpPr>
        <p:spPr>
          <a:xfrm rot="0">
            <a:off x="4173688" y="6563456"/>
            <a:ext cx="1706329" cy="218789"/>
          </a:xfrm>
          <a:prstGeom prst="rect">
            <a:avLst/>
          </a:prstGeom>
        </p:spPr>
        <p:txBody>
          <a:bodyPr anchor="t" rtlCol="false" tIns="0" lIns="0" bIns="0" rIns="0">
            <a:spAutoFit/>
          </a:bodyPr>
          <a:lstStyle/>
          <a:p>
            <a:pPr algn="ctr" marL="0" indent="0" lvl="0">
              <a:lnSpc>
                <a:spcPts val="1850"/>
              </a:lnSpc>
              <a:spcBef>
                <a:spcPct val="0"/>
              </a:spcBef>
            </a:pPr>
            <a:r>
              <a:rPr lang="en-US" sz="1321" strike="noStrike" u="none">
                <a:solidFill>
                  <a:srgbClr val="4D3333"/>
                </a:solidFill>
                <a:latin typeface="프리텐다드"/>
                <a:ea typeface="프리텐다드"/>
                <a:cs typeface="프리텐다드"/>
                <a:sym typeface="프리텐다드"/>
              </a:rPr>
              <a:t>+0.01</a:t>
            </a:r>
          </a:p>
        </p:txBody>
      </p:sp>
      <p:grpSp>
        <p:nvGrpSpPr>
          <p:cNvPr name="Group 55" id="55"/>
          <p:cNvGrpSpPr/>
          <p:nvPr/>
        </p:nvGrpSpPr>
        <p:grpSpPr>
          <a:xfrm rot="0">
            <a:off x="5991908" y="6410209"/>
            <a:ext cx="1706329" cy="559452"/>
            <a:chOff x="0" y="0"/>
            <a:chExt cx="1549400" cy="508000"/>
          </a:xfrm>
        </p:grpSpPr>
        <p:sp>
          <p:nvSpPr>
            <p:cNvPr name="Freeform 56" id="56"/>
            <p:cNvSpPr/>
            <p:nvPr/>
          </p:nvSpPr>
          <p:spPr>
            <a:xfrm flipH="false" flipV="false" rot="0">
              <a:off x="0" y="0"/>
              <a:ext cx="1549400" cy="508000"/>
            </a:xfrm>
            <a:custGeom>
              <a:avLst/>
              <a:gdLst/>
              <a:ahLst/>
              <a:cxnLst/>
              <a:rect r="r" b="b" t="t" l="l"/>
              <a:pathLst>
                <a:path h="508000" w="1549400">
                  <a:moveTo>
                    <a:pt x="50800" y="0"/>
                  </a:moveTo>
                  <a:lnTo>
                    <a:pt x="1498600" y="0"/>
                  </a:lnTo>
                  <a:cubicBezTo>
                    <a:pt x="1526656" y="0"/>
                    <a:pt x="1549400" y="22744"/>
                    <a:pt x="1549400" y="50800"/>
                  </a:cubicBezTo>
                  <a:lnTo>
                    <a:pt x="1549400" y="457200"/>
                  </a:lnTo>
                  <a:cubicBezTo>
                    <a:pt x="1549400" y="485256"/>
                    <a:pt x="1526656" y="508000"/>
                    <a:pt x="1498600" y="508000"/>
                  </a:cubicBezTo>
                  <a:lnTo>
                    <a:pt x="50800" y="508000"/>
                  </a:lnTo>
                  <a:cubicBezTo>
                    <a:pt x="22744" y="508000"/>
                    <a:pt x="0" y="485256"/>
                    <a:pt x="0" y="457200"/>
                  </a:cubicBezTo>
                  <a:lnTo>
                    <a:pt x="0" y="50800"/>
                  </a:lnTo>
                  <a:cubicBezTo>
                    <a:pt x="0" y="22744"/>
                    <a:pt x="22744" y="0"/>
                    <a:pt x="50800" y="0"/>
                  </a:cubicBezTo>
                  <a:close/>
                </a:path>
              </a:pathLst>
            </a:custGeom>
            <a:solidFill>
              <a:srgbClr val="FCE4EC"/>
            </a:solidFill>
          </p:spPr>
        </p:sp>
        <p:sp>
          <p:nvSpPr>
            <p:cNvPr name="TextBox 57" id="57"/>
            <p:cNvSpPr txBox="true"/>
            <p:nvPr/>
          </p:nvSpPr>
          <p:spPr>
            <a:xfrm>
              <a:off x="0" y="-38100"/>
              <a:ext cx="1549400" cy="546100"/>
            </a:xfrm>
            <a:prstGeom prst="rect">
              <a:avLst/>
            </a:prstGeom>
          </p:spPr>
          <p:txBody>
            <a:bodyPr anchor="ctr" rtlCol="false" tIns="50800" lIns="50800" bIns="50800" rIns="50800"/>
            <a:lstStyle/>
            <a:p>
              <a:pPr algn="l">
                <a:lnSpc>
                  <a:spcPts val="1679"/>
                </a:lnSpc>
              </a:pPr>
            </a:p>
          </p:txBody>
        </p:sp>
      </p:grpSp>
      <p:sp>
        <p:nvSpPr>
          <p:cNvPr name="TextBox 58" id="58"/>
          <p:cNvSpPr txBox="true"/>
          <p:nvPr/>
        </p:nvSpPr>
        <p:spPr>
          <a:xfrm rot="0">
            <a:off x="5991908" y="6563456"/>
            <a:ext cx="1706329" cy="218789"/>
          </a:xfrm>
          <a:prstGeom prst="rect">
            <a:avLst/>
          </a:prstGeom>
        </p:spPr>
        <p:txBody>
          <a:bodyPr anchor="t" rtlCol="false" tIns="0" lIns="0" bIns="0" rIns="0">
            <a:spAutoFit/>
          </a:bodyPr>
          <a:lstStyle/>
          <a:p>
            <a:pPr algn="ctr" marL="0" indent="0" lvl="0">
              <a:lnSpc>
                <a:spcPts val="1850"/>
              </a:lnSpc>
              <a:spcBef>
                <a:spcPct val="0"/>
              </a:spcBef>
            </a:pPr>
            <a:r>
              <a:rPr lang="en-US" sz="1321" strike="noStrike" u="none">
                <a:solidFill>
                  <a:srgbClr val="4D3333"/>
                </a:solidFill>
                <a:latin typeface="프리텐다드"/>
                <a:ea typeface="프리텐다드"/>
                <a:cs typeface="프리텐다드"/>
                <a:sym typeface="프리텐다드"/>
              </a:rPr>
              <a:t>+0.02</a:t>
            </a:r>
          </a:p>
        </p:txBody>
      </p:sp>
      <p:grpSp>
        <p:nvGrpSpPr>
          <p:cNvPr name="Group 59" id="59"/>
          <p:cNvGrpSpPr/>
          <p:nvPr/>
        </p:nvGrpSpPr>
        <p:grpSpPr>
          <a:xfrm rot="0">
            <a:off x="7810128" y="6410209"/>
            <a:ext cx="1706329" cy="559452"/>
            <a:chOff x="0" y="0"/>
            <a:chExt cx="1549400" cy="508000"/>
          </a:xfrm>
        </p:grpSpPr>
        <p:sp>
          <p:nvSpPr>
            <p:cNvPr name="Freeform 60" id="60"/>
            <p:cNvSpPr/>
            <p:nvPr/>
          </p:nvSpPr>
          <p:spPr>
            <a:xfrm flipH="false" flipV="false" rot="0">
              <a:off x="0" y="0"/>
              <a:ext cx="1549400" cy="508000"/>
            </a:xfrm>
            <a:custGeom>
              <a:avLst/>
              <a:gdLst/>
              <a:ahLst/>
              <a:cxnLst/>
              <a:rect r="r" b="b" t="t" l="l"/>
              <a:pathLst>
                <a:path h="508000" w="1549400">
                  <a:moveTo>
                    <a:pt x="50800" y="0"/>
                  </a:moveTo>
                  <a:lnTo>
                    <a:pt x="1498600" y="0"/>
                  </a:lnTo>
                  <a:cubicBezTo>
                    <a:pt x="1526656" y="0"/>
                    <a:pt x="1549400" y="22744"/>
                    <a:pt x="1549400" y="50800"/>
                  </a:cubicBezTo>
                  <a:lnTo>
                    <a:pt x="1549400" y="457200"/>
                  </a:lnTo>
                  <a:cubicBezTo>
                    <a:pt x="1549400" y="485256"/>
                    <a:pt x="1526656" y="508000"/>
                    <a:pt x="1498600" y="508000"/>
                  </a:cubicBezTo>
                  <a:lnTo>
                    <a:pt x="50800" y="508000"/>
                  </a:lnTo>
                  <a:cubicBezTo>
                    <a:pt x="22744" y="508000"/>
                    <a:pt x="0" y="485256"/>
                    <a:pt x="0" y="457200"/>
                  </a:cubicBezTo>
                  <a:lnTo>
                    <a:pt x="0" y="50800"/>
                  </a:lnTo>
                  <a:cubicBezTo>
                    <a:pt x="0" y="22744"/>
                    <a:pt x="22744" y="0"/>
                    <a:pt x="50800" y="0"/>
                  </a:cubicBezTo>
                  <a:close/>
                </a:path>
              </a:pathLst>
            </a:custGeom>
            <a:solidFill>
              <a:srgbClr val="F8C0B0"/>
            </a:solidFill>
          </p:spPr>
        </p:sp>
        <p:sp>
          <p:nvSpPr>
            <p:cNvPr name="TextBox 61" id="61"/>
            <p:cNvSpPr txBox="true"/>
            <p:nvPr/>
          </p:nvSpPr>
          <p:spPr>
            <a:xfrm>
              <a:off x="0" y="-38100"/>
              <a:ext cx="1549400" cy="546100"/>
            </a:xfrm>
            <a:prstGeom prst="rect">
              <a:avLst/>
            </a:prstGeom>
          </p:spPr>
          <p:txBody>
            <a:bodyPr anchor="ctr" rtlCol="false" tIns="50800" lIns="50800" bIns="50800" rIns="50800"/>
            <a:lstStyle/>
            <a:p>
              <a:pPr algn="l">
                <a:lnSpc>
                  <a:spcPts val="1679"/>
                </a:lnSpc>
              </a:pPr>
            </a:p>
          </p:txBody>
        </p:sp>
      </p:grpSp>
      <p:sp>
        <p:nvSpPr>
          <p:cNvPr name="TextBox 62" id="62"/>
          <p:cNvSpPr txBox="true"/>
          <p:nvPr/>
        </p:nvSpPr>
        <p:spPr>
          <a:xfrm rot="0">
            <a:off x="7810128" y="6563456"/>
            <a:ext cx="1706329" cy="218789"/>
          </a:xfrm>
          <a:prstGeom prst="rect">
            <a:avLst/>
          </a:prstGeom>
        </p:spPr>
        <p:txBody>
          <a:bodyPr anchor="t" rtlCol="false" tIns="0" lIns="0" bIns="0" rIns="0">
            <a:spAutoFit/>
          </a:bodyPr>
          <a:lstStyle/>
          <a:p>
            <a:pPr algn="ctr" marL="0" indent="0" lvl="0">
              <a:lnSpc>
                <a:spcPts val="1850"/>
              </a:lnSpc>
              <a:spcBef>
                <a:spcPct val="0"/>
              </a:spcBef>
            </a:pPr>
            <a:r>
              <a:rPr lang="en-US" sz="1321" strike="noStrike" u="none">
                <a:solidFill>
                  <a:srgbClr val="4D3333"/>
                </a:solidFill>
                <a:latin typeface="프리텐다드"/>
                <a:ea typeface="프리텐다드"/>
                <a:cs typeface="프리텐다드"/>
                <a:sym typeface="프리텐다드"/>
              </a:rPr>
              <a:t>+0.04</a:t>
            </a:r>
          </a:p>
        </p:txBody>
      </p:sp>
      <p:sp>
        <p:nvSpPr>
          <p:cNvPr name="TextBox 63" id="63"/>
          <p:cNvSpPr txBox="true"/>
          <p:nvPr/>
        </p:nvSpPr>
        <p:spPr>
          <a:xfrm rot="0">
            <a:off x="2355468" y="7048610"/>
            <a:ext cx="5733682" cy="159012"/>
          </a:xfrm>
          <a:prstGeom prst="rect">
            <a:avLst/>
          </a:prstGeom>
        </p:spPr>
        <p:txBody>
          <a:bodyPr anchor="t" rtlCol="false" tIns="0" lIns="0" bIns="0" rIns="0">
            <a:spAutoFit/>
          </a:bodyPr>
          <a:lstStyle/>
          <a:p>
            <a:pPr algn="l" marL="0" indent="0" lvl="0">
              <a:lnSpc>
                <a:spcPts val="1361"/>
              </a:lnSpc>
              <a:spcBef>
                <a:spcPct val="0"/>
              </a:spcBef>
            </a:pPr>
            <a:r>
              <a:rPr lang="en-US" sz="972" strike="noStrike" u="none">
                <a:solidFill>
                  <a:srgbClr val="94A3B8"/>
                </a:solidFill>
                <a:latin typeface="프리텐다드"/>
                <a:ea typeface="프리텐다드"/>
                <a:cs typeface="프리텐다드"/>
                <a:sym typeface="프리텐다드"/>
              </a:rPr>
              <a:t>학생 침해 교사는 수업방해 분리, 보호자 침해 교사는 악성민원 패널티 수요가 가장 큼 | 모두 Mann-Whitney p&lt;.001</a:t>
            </a:r>
          </a:p>
        </p:txBody>
      </p:sp>
      <p:sp>
        <p:nvSpPr>
          <p:cNvPr name="TextBox 64" id="64"/>
          <p:cNvSpPr txBox="true"/>
          <p:nvPr/>
        </p:nvSpPr>
        <p:spPr>
          <a:xfrm rot="0">
            <a:off x="2270807" y="7522503"/>
            <a:ext cx="7766675" cy="221921"/>
          </a:xfrm>
          <a:prstGeom prst="rect">
            <a:avLst/>
          </a:prstGeom>
        </p:spPr>
        <p:txBody>
          <a:bodyPr anchor="t" rtlCol="false" tIns="0" lIns="0" bIns="0" rIns="0">
            <a:spAutoFit/>
          </a:bodyPr>
          <a:lstStyle/>
          <a:p>
            <a:pPr algn="ctr" marL="0" indent="0" lvl="0">
              <a:lnSpc>
                <a:spcPts val="1822"/>
              </a:lnSpc>
              <a:spcBef>
                <a:spcPct val="0"/>
              </a:spcBef>
            </a:pPr>
            <a:r>
              <a:rPr lang="en-US" b="true" sz="1301" strike="noStrike" u="none">
                <a:solidFill>
                  <a:srgbClr val="1E293B"/>
                </a:solidFill>
                <a:latin typeface="프리텐다드 Bold"/>
                <a:ea typeface="프리텐다드 Bold"/>
                <a:cs typeface="프리텐다드 Bold"/>
                <a:sym typeface="프리텐다드 Bold"/>
              </a:rPr>
              <a:t>제도별 '필요' 응답 비율 </a:t>
            </a:r>
          </a:p>
        </p:txBody>
      </p:sp>
      <p:sp>
        <p:nvSpPr>
          <p:cNvPr name="AutoShape 65" id="65"/>
          <p:cNvSpPr/>
          <p:nvPr/>
        </p:nvSpPr>
        <p:spPr>
          <a:xfrm>
            <a:off x="2270807" y="7817310"/>
            <a:ext cx="0" cy="1855754"/>
          </a:xfrm>
          <a:prstGeom prst="line">
            <a:avLst/>
          </a:prstGeom>
          <a:ln cap="flat" w="9525">
            <a:solidFill>
              <a:srgbClr val="4A5568"/>
            </a:solidFill>
            <a:prstDash val="solid"/>
            <a:headEnd type="none" len="sm" w="sm"/>
            <a:tailEnd type="none" len="sm" w="sm"/>
          </a:ln>
        </p:spPr>
      </p:sp>
      <p:sp>
        <p:nvSpPr>
          <p:cNvPr name="TextBox 66" id="66"/>
          <p:cNvSpPr txBox="true"/>
          <p:nvPr/>
        </p:nvSpPr>
        <p:spPr>
          <a:xfrm rot="0">
            <a:off x="837818" y="7949109"/>
            <a:ext cx="1249705" cy="184367"/>
          </a:xfrm>
          <a:prstGeom prst="rect">
            <a:avLst/>
          </a:prstGeom>
        </p:spPr>
        <p:txBody>
          <a:bodyPr anchor="t" rtlCol="false" tIns="0" lIns="0" bIns="0" rIns="0">
            <a:spAutoFit/>
          </a:bodyPr>
          <a:lstStyle/>
          <a:p>
            <a:pPr algn="r" marL="0" indent="0" lvl="0">
              <a:lnSpc>
                <a:spcPts val="1515"/>
              </a:lnSpc>
              <a:spcBef>
                <a:spcPct val="0"/>
              </a:spcBef>
            </a:pPr>
            <a:r>
              <a:rPr lang="en-US" sz="1082" strike="noStrike" u="none">
                <a:solidFill>
                  <a:srgbClr val="1E293B"/>
                </a:solidFill>
                <a:latin typeface="프리텐다드"/>
                <a:ea typeface="프리텐다드"/>
                <a:cs typeface="프리텐다드"/>
                <a:sym typeface="프리텐다드"/>
              </a:rPr>
              <a:t>악성민원 패널티</a:t>
            </a:r>
          </a:p>
        </p:txBody>
      </p:sp>
      <p:grpSp>
        <p:nvGrpSpPr>
          <p:cNvPr name="Group 67" id="67"/>
          <p:cNvGrpSpPr/>
          <p:nvPr/>
        </p:nvGrpSpPr>
        <p:grpSpPr>
          <a:xfrm rot="0">
            <a:off x="2316628" y="7908952"/>
            <a:ext cx="7526114" cy="297837"/>
            <a:chOff x="0" y="0"/>
            <a:chExt cx="8343900" cy="330200"/>
          </a:xfrm>
        </p:grpSpPr>
        <p:sp>
          <p:nvSpPr>
            <p:cNvPr name="Freeform 68" id="68"/>
            <p:cNvSpPr/>
            <p:nvPr/>
          </p:nvSpPr>
          <p:spPr>
            <a:xfrm flipH="false" flipV="false" rot="0">
              <a:off x="0" y="0"/>
              <a:ext cx="8343900" cy="330200"/>
            </a:xfrm>
            <a:custGeom>
              <a:avLst/>
              <a:gdLst/>
              <a:ahLst/>
              <a:cxnLst/>
              <a:rect r="r" b="b" t="t" l="l"/>
              <a:pathLst>
                <a:path h="330200" w="8343900">
                  <a:moveTo>
                    <a:pt x="33020" y="0"/>
                  </a:moveTo>
                  <a:lnTo>
                    <a:pt x="8310880" y="0"/>
                  </a:lnTo>
                  <a:cubicBezTo>
                    <a:pt x="8329116" y="0"/>
                    <a:pt x="8343900" y="14784"/>
                    <a:pt x="8343900" y="33020"/>
                  </a:cubicBezTo>
                  <a:lnTo>
                    <a:pt x="8343900" y="297180"/>
                  </a:lnTo>
                  <a:cubicBezTo>
                    <a:pt x="8343900" y="315416"/>
                    <a:pt x="8329116" y="330200"/>
                    <a:pt x="8310880" y="330200"/>
                  </a:cubicBezTo>
                  <a:lnTo>
                    <a:pt x="33020" y="330200"/>
                  </a:lnTo>
                  <a:cubicBezTo>
                    <a:pt x="24263" y="330200"/>
                    <a:pt x="15864" y="326721"/>
                    <a:pt x="9671" y="320529"/>
                  </a:cubicBezTo>
                  <a:cubicBezTo>
                    <a:pt x="3479" y="314336"/>
                    <a:pt x="0" y="305937"/>
                    <a:pt x="0" y="297180"/>
                  </a:cubicBezTo>
                  <a:lnTo>
                    <a:pt x="0" y="33020"/>
                  </a:lnTo>
                  <a:cubicBezTo>
                    <a:pt x="0" y="14784"/>
                    <a:pt x="14784" y="0"/>
                    <a:pt x="33020" y="0"/>
                  </a:cubicBezTo>
                  <a:close/>
                </a:path>
              </a:pathLst>
            </a:custGeom>
            <a:solidFill>
              <a:srgbClr val="2979FF"/>
            </a:solidFill>
          </p:spPr>
        </p:sp>
        <p:sp>
          <p:nvSpPr>
            <p:cNvPr name="TextBox 69" id="69"/>
            <p:cNvSpPr txBox="true"/>
            <p:nvPr/>
          </p:nvSpPr>
          <p:spPr>
            <a:xfrm>
              <a:off x="0" y="-38100"/>
              <a:ext cx="8343900" cy="368300"/>
            </a:xfrm>
            <a:prstGeom prst="rect">
              <a:avLst/>
            </a:prstGeom>
          </p:spPr>
          <p:txBody>
            <a:bodyPr anchor="ctr" rtlCol="false" tIns="50800" lIns="50800" bIns="50800" rIns="50800"/>
            <a:lstStyle/>
            <a:p>
              <a:pPr algn="l">
                <a:lnSpc>
                  <a:spcPts val="1679"/>
                </a:lnSpc>
              </a:pPr>
            </a:p>
          </p:txBody>
        </p:sp>
      </p:grpSp>
      <p:sp>
        <p:nvSpPr>
          <p:cNvPr name="TextBox 70" id="70"/>
          <p:cNvSpPr txBox="true"/>
          <p:nvPr/>
        </p:nvSpPr>
        <p:spPr>
          <a:xfrm rot="0">
            <a:off x="9040873" y="7926198"/>
            <a:ext cx="687316" cy="224078"/>
          </a:xfrm>
          <a:prstGeom prst="rect">
            <a:avLst/>
          </a:prstGeom>
        </p:spPr>
        <p:txBody>
          <a:bodyPr anchor="t" rtlCol="false" tIns="0" lIns="0" bIns="0" rIns="0">
            <a:spAutoFit/>
          </a:bodyPr>
          <a:lstStyle/>
          <a:p>
            <a:pPr algn="r" marL="0" indent="0" lvl="0">
              <a:lnSpc>
                <a:spcPts val="1852"/>
              </a:lnSpc>
              <a:spcBef>
                <a:spcPct val="0"/>
              </a:spcBef>
            </a:pPr>
            <a:r>
              <a:rPr lang="en-US" b="true" sz="1322" strike="noStrike" u="none">
                <a:solidFill>
                  <a:srgbClr val="FFFFFF"/>
                </a:solidFill>
                <a:latin typeface="프리텐다드 Bold"/>
                <a:ea typeface="프리텐다드 Bold"/>
                <a:cs typeface="프리텐다드 Bold"/>
                <a:sym typeface="프리텐다드 Bold"/>
              </a:rPr>
              <a:t>99%</a:t>
            </a:r>
          </a:p>
        </p:txBody>
      </p:sp>
      <p:sp>
        <p:nvSpPr>
          <p:cNvPr name="TextBox 71" id="71"/>
          <p:cNvSpPr txBox="true"/>
          <p:nvPr/>
        </p:nvSpPr>
        <p:spPr>
          <a:xfrm rot="0">
            <a:off x="837818" y="8407320"/>
            <a:ext cx="1249705" cy="184367"/>
          </a:xfrm>
          <a:prstGeom prst="rect">
            <a:avLst/>
          </a:prstGeom>
        </p:spPr>
        <p:txBody>
          <a:bodyPr anchor="t" rtlCol="false" tIns="0" lIns="0" bIns="0" rIns="0">
            <a:spAutoFit/>
          </a:bodyPr>
          <a:lstStyle/>
          <a:p>
            <a:pPr algn="r" marL="0" indent="0" lvl="0">
              <a:lnSpc>
                <a:spcPts val="1515"/>
              </a:lnSpc>
              <a:spcBef>
                <a:spcPct val="0"/>
              </a:spcBef>
            </a:pPr>
            <a:r>
              <a:rPr lang="en-US" sz="1082" strike="noStrike" u="none">
                <a:solidFill>
                  <a:srgbClr val="1E293B"/>
                </a:solidFill>
                <a:latin typeface="프리텐다드"/>
                <a:ea typeface="프리텐다드"/>
                <a:cs typeface="프리텐다드"/>
                <a:sym typeface="프리텐다드"/>
              </a:rPr>
              <a:t>수업방해 분리</a:t>
            </a:r>
          </a:p>
        </p:txBody>
      </p:sp>
      <p:grpSp>
        <p:nvGrpSpPr>
          <p:cNvPr name="Group 72" id="72"/>
          <p:cNvGrpSpPr/>
          <p:nvPr/>
        </p:nvGrpSpPr>
        <p:grpSpPr>
          <a:xfrm rot="0">
            <a:off x="2316628" y="8367163"/>
            <a:ext cx="7445927" cy="297837"/>
            <a:chOff x="0" y="0"/>
            <a:chExt cx="8255000" cy="330200"/>
          </a:xfrm>
        </p:grpSpPr>
        <p:sp>
          <p:nvSpPr>
            <p:cNvPr name="Freeform 73" id="73"/>
            <p:cNvSpPr/>
            <p:nvPr/>
          </p:nvSpPr>
          <p:spPr>
            <a:xfrm flipH="false" flipV="false" rot="0">
              <a:off x="0" y="0"/>
              <a:ext cx="8255000" cy="330200"/>
            </a:xfrm>
            <a:custGeom>
              <a:avLst/>
              <a:gdLst/>
              <a:ahLst/>
              <a:cxnLst/>
              <a:rect r="r" b="b" t="t" l="l"/>
              <a:pathLst>
                <a:path h="330200" w="8255000">
                  <a:moveTo>
                    <a:pt x="33020" y="0"/>
                  </a:moveTo>
                  <a:lnTo>
                    <a:pt x="8221980" y="0"/>
                  </a:lnTo>
                  <a:cubicBezTo>
                    <a:pt x="8240216" y="0"/>
                    <a:pt x="8255000" y="14784"/>
                    <a:pt x="8255000" y="33020"/>
                  </a:cubicBezTo>
                  <a:lnTo>
                    <a:pt x="8255000" y="297180"/>
                  </a:lnTo>
                  <a:cubicBezTo>
                    <a:pt x="8255000" y="315416"/>
                    <a:pt x="8240216" y="330200"/>
                    <a:pt x="8221980" y="330200"/>
                  </a:cubicBezTo>
                  <a:lnTo>
                    <a:pt x="33020" y="330200"/>
                  </a:lnTo>
                  <a:cubicBezTo>
                    <a:pt x="24263" y="330200"/>
                    <a:pt x="15864" y="326721"/>
                    <a:pt x="9671" y="320529"/>
                  </a:cubicBezTo>
                  <a:cubicBezTo>
                    <a:pt x="3479" y="314336"/>
                    <a:pt x="0" y="305937"/>
                    <a:pt x="0" y="297180"/>
                  </a:cubicBezTo>
                  <a:lnTo>
                    <a:pt x="0" y="33020"/>
                  </a:lnTo>
                  <a:cubicBezTo>
                    <a:pt x="0" y="14784"/>
                    <a:pt x="14784" y="0"/>
                    <a:pt x="33020" y="0"/>
                  </a:cubicBezTo>
                  <a:close/>
                </a:path>
              </a:pathLst>
            </a:custGeom>
            <a:solidFill>
              <a:srgbClr val="2979FF"/>
            </a:solidFill>
          </p:spPr>
        </p:sp>
        <p:sp>
          <p:nvSpPr>
            <p:cNvPr name="TextBox 74" id="74"/>
            <p:cNvSpPr txBox="true"/>
            <p:nvPr/>
          </p:nvSpPr>
          <p:spPr>
            <a:xfrm>
              <a:off x="0" y="-38100"/>
              <a:ext cx="8255000" cy="368300"/>
            </a:xfrm>
            <a:prstGeom prst="rect">
              <a:avLst/>
            </a:prstGeom>
          </p:spPr>
          <p:txBody>
            <a:bodyPr anchor="ctr" rtlCol="false" tIns="50800" lIns="50800" bIns="50800" rIns="50800"/>
            <a:lstStyle/>
            <a:p>
              <a:pPr algn="l">
                <a:lnSpc>
                  <a:spcPts val="1679"/>
                </a:lnSpc>
              </a:pPr>
            </a:p>
          </p:txBody>
        </p:sp>
      </p:grpSp>
      <p:sp>
        <p:nvSpPr>
          <p:cNvPr name="TextBox 75" id="75"/>
          <p:cNvSpPr txBox="true"/>
          <p:nvPr/>
        </p:nvSpPr>
        <p:spPr>
          <a:xfrm rot="0">
            <a:off x="8960686" y="8384409"/>
            <a:ext cx="687316" cy="224078"/>
          </a:xfrm>
          <a:prstGeom prst="rect">
            <a:avLst/>
          </a:prstGeom>
        </p:spPr>
        <p:txBody>
          <a:bodyPr anchor="t" rtlCol="false" tIns="0" lIns="0" bIns="0" rIns="0">
            <a:spAutoFit/>
          </a:bodyPr>
          <a:lstStyle/>
          <a:p>
            <a:pPr algn="r" marL="0" indent="0" lvl="0">
              <a:lnSpc>
                <a:spcPts val="1852"/>
              </a:lnSpc>
              <a:spcBef>
                <a:spcPct val="0"/>
              </a:spcBef>
            </a:pPr>
            <a:r>
              <a:rPr lang="en-US" b="true" sz="1322" strike="noStrike" u="none">
                <a:solidFill>
                  <a:srgbClr val="FFFFFF"/>
                </a:solidFill>
                <a:latin typeface="프리텐다드 Bold"/>
                <a:ea typeface="프리텐다드 Bold"/>
                <a:cs typeface="프리텐다드 Bold"/>
                <a:sym typeface="프리텐다드 Bold"/>
              </a:rPr>
              <a:t>98%</a:t>
            </a:r>
          </a:p>
        </p:txBody>
      </p:sp>
      <p:sp>
        <p:nvSpPr>
          <p:cNvPr name="TextBox 76" id="76"/>
          <p:cNvSpPr txBox="true"/>
          <p:nvPr/>
        </p:nvSpPr>
        <p:spPr>
          <a:xfrm rot="0">
            <a:off x="837818" y="8865531"/>
            <a:ext cx="1249705" cy="184367"/>
          </a:xfrm>
          <a:prstGeom prst="rect">
            <a:avLst/>
          </a:prstGeom>
        </p:spPr>
        <p:txBody>
          <a:bodyPr anchor="t" rtlCol="false" tIns="0" lIns="0" bIns="0" rIns="0">
            <a:spAutoFit/>
          </a:bodyPr>
          <a:lstStyle/>
          <a:p>
            <a:pPr algn="r" marL="0" indent="0" lvl="0">
              <a:lnSpc>
                <a:spcPts val="1515"/>
              </a:lnSpc>
              <a:spcBef>
                <a:spcPct val="0"/>
              </a:spcBef>
            </a:pPr>
            <a:r>
              <a:rPr lang="en-US" sz="1082" strike="noStrike" u="none">
                <a:solidFill>
                  <a:srgbClr val="1E293B"/>
                </a:solidFill>
                <a:latin typeface="프리텐다드"/>
                <a:ea typeface="프리텐다드"/>
                <a:cs typeface="프리텐다드"/>
                <a:sym typeface="프리텐다드"/>
              </a:rPr>
              <a:t>아동학대 신고보호</a:t>
            </a:r>
          </a:p>
        </p:txBody>
      </p:sp>
      <p:grpSp>
        <p:nvGrpSpPr>
          <p:cNvPr name="Group 77" id="77"/>
          <p:cNvGrpSpPr/>
          <p:nvPr/>
        </p:nvGrpSpPr>
        <p:grpSpPr>
          <a:xfrm rot="0">
            <a:off x="2316628" y="8825374"/>
            <a:ext cx="7526114" cy="297837"/>
            <a:chOff x="0" y="0"/>
            <a:chExt cx="8343900" cy="330200"/>
          </a:xfrm>
        </p:grpSpPr>
        <p:sp>
          <p:nvSpPr>
            <p:cNvPr name="Freeform 78" id="78"/>
            <p:cNvSpPr/>
            <p:nvPr/>
          </p:nvSpPr>
          <p:spPr>
            <a:xfrm flipH="false" flipV="false" rot="0">
              <a:off x="0" y="0"/>
              <a:ext cx="8343900" cy="330200"/>
            </a:xfrm>
            <a:custGeom>
              <a:avLst/>
              <a:gdLst/>
              <a:ahLst/>
              <a:cxnLst/>
              <a:rect r="r" b="b" t="t" l="l"/>
              <a:pathLst>
                <a:path h="330200" w="8343900">
                  <a:moveTo>
                    <a:pt x="33020" y="0"/>
                  </a:moveTo>
                  <a:lnTo>
                    <a:pt x="8310880" y="0"/>
                  </a:lnTo>
                  <a:cubicBezTo>
                    <a:pt x="8329116" y="0"/>
                    <a:pt x="8343900" y="14784"/>
                    <a:pt x="8343900" y="33020"/>
                  </a:cubicBezTo>
                  <a:lnTo>
                    <a:pt x="8343900" y="297180"/>
                  </a:lnTo>
                  <a:cubicBezTo>
                    <a:pt x="8343900" y="315416"/>
                    <a:pt x="8329116" y="330200"/>
                    <a:pt x="8310880" y="330200"/>
                  </a:cubicBezTo>
                  <a:lnTo>
                    <a:pt x="33020" y="330200"/>
                  </a:lnTo>
                  <a:cubicBezTo>
                    <a:pt x="24263" y="330200"/>
                    <a:pt x="15864" y="326721"/>
                    <a:pt x="9671" y="320529"/>
                  </a:cubicBezTo>
                  <a:cubicBezTo>
                    <a:pt x="3479" y="314336"/>
                    <a:pt x="0" y="305937"/>
                    <a:pt x="0" y="297180"/>
                  </a:cubicBezTo>
                  <a:lnTo>
                    <a:pt x="0" y="33020"/>
                  </a:lnTo>
                  <a:cubicBezTo>
                    <a:pt x="0" y="14784"/>
                    <a:pt x="14784" y="0"/>
                    <a:pt x="33020" y="0"/>
                  </a:cubicBezTo>
                  <a:close/>
                </a:path>
              </a:pathLst>
            </a:custGeom>
            <a:solidFill>
              <a:srgbClr val="2979FF"/>
            </a:solidFill>
          </p:spPr>
        </p:sp>
        <p:sp>
          <p:nvSpPr>
            <p:cNvPr name="TextBox 79" id="79"/>
            <p:cNvSpPr txBox="true"/>
            <p:nvPr/>
          </p:nvSpPr>
          <p:spPr>
            <a:xfrm>
              <a:off x="0" y="-38100"/>
              <a:ext cx="8343900" cy="368300"/>
            </a:xfrm>
            <a:prstGeom prst="rect">
              <a:avLst/>
            </a:prstGeom>
          </p:spPr>
          <p:txBody>
            <a:bodyPr anchor="ctr" rtlCol="false" tIns="50800" lIns="50800" bIns="50800" rIns="50800"/>
            <a:lstStyle/>
            <a:p>
              <a:pPr algn="l">
                <a:lnSpc>
                  <a:spcPts val="1679"/>
                </a:lnSpc>
              </a:pPr>
            </a:p>
          </p:txBody>
        </p:sp>
      </p:grpSp>
      <p:sp>
        <p:nvSpPr>
          <p:cNvPr name="TextBox 80" id="80"/>
          <p:cNvSpPr txBox="true"/>
          <p:nvPr/>
        </p:nvSpPr>
        <p:spPr>
          <a:xfrm rot="0">
            <a:off x="9040873" y="8842620"/>
            <a:ext cx="687316" cy="224078"/>
          </a:xfrm>
          <a:prstGeom prst="rect">
            <a:avLst/>
          </a:prstGeom>
        </p:spPr>
        <p:txBody>
          <a:bodyPr anchor="t" rtlCol="false" tIns="0" lIns="0" bIns="0" rIns="0">
            <a:spAutoFit/>
          </a:bodyPr>
          <a:lstStyle/>
          <a:p>
            <a:pPr algn="r" marL="0" indent="0" lvl="0">
              <a:lnSpc>
                <a:spcPts val="1852"/>
              </a:lnSpc>
              <a:spcBef>
                <a:spcPct val="0"/>
              </a:spcBef>
            </a:pPr>
            <a:r>
              <a:rPr lang="en-US" b="true" sz="1322" strike="noStrike" u="none">
                <a:solidFill>
                  <a:srgbClr val="FFFFFF"/>
                </a:solidFill>
                <a:latin typeface="프리텐다드 Bold"/>
                <a:ea typeface="프리텐다드 Bold"/>
                <a:cs typeface="프리텐다드 Bold"/>
                <a:sym typeface="프리텐다드 Bold"/>
              </a:rPr>
              <a:t>99%</a:t>
            </a:r>
          </a:p>
        </p:txBody>
      </p:sp>
      <p:sp>
        <p:nvSpPr>
          <p:cNvPr name="TextBox 81" id="81"/>
          <p:cNvSpPr txBox="true"/>
          <p:nvPr/>
        </p:nvSpPr>
        <p:spPr>
          <a:xfrm rot="0">
            <a:off x="837818" y="9323741"/>
            <a:ext cx="1249705" cy="184367"/>
          </a:xfrm>
          <a:prstGeom prst="rect">
            <a:avLst/>
          </a:prstGeom>
        </p:spPr>
        <p:txBody>
          <a:bodyPr anchor="t" rtlCol="false" tIns="0" lIns="0" bIns="0" rIns="0">
            <a:spAutoFit/>
          </a:bodyPr>
          <a:lstStyle/>
          <a:p>
            <a:pPr algn="r" marL="0" indent="0" lvl="0">
              <a:lnSpc>
                <a:spcPts val="1515"/>
              </a:lnSpc>
              <a:spcBef>
                <a:spcPct val="0"/>
              </a:spcBef>
            </a:pPr>
            <a:r>
              <a:rPr lang="en-US" sz="1082" strike="noStrike" u="none">
                <a:solidFill>
                  <a:srgbClr val="1E293B"/>
                </a:solidFill>
                <a:latin typeface="프리텐다드"/>
                <a:ea typeface="프리텐다드"/>
                <a:cs typeface="프리텐다드"/>
                <a:sym typeface="프리텐다드"/>
              </a:rPr>
              <a:t>과밀학급 해소</a:t>
            </a:r>
          </a:p>
        </p:txBody>
      </p:sp>
      <p:grpSp>
        <p:nvGrpSpPr>
          <p:cNvPr name="Group 82" id="82"/>
          <p:cNvGrpSpPr/>
          <p:nvPr/>
        </p:nvGrpSpPr>
        <p:grpSpPr>
          <a:xfrm rot="0">
            <a:off x="2316628" y="9283585"/>
            <a:ext cx="7377195" cy="297837"/>
            <a:chOff x="0" y="0"/>
            <a:chExt cx="8178800" cy="330200"/>
          </a:xfrm>
        </p:grpSpPr>
        <p:sp>
          <p:nvSpPr>
            <p:cNvPr name="Freeform 83" id="83"/>
            <p:cNvSpPr/>
            <p:nvPr/>
          </p:nvSpPr>
          <p:spPr>
            <a:xfrm flipH="false" flipV="false" rot="0">
              <a:off x="0" y="0"/>
              <a:ext cx="8178800" cy="330200"/>
            </a:xfrm>
            <a:custGeom>
              <a:avLst/>
              <a:gdLst/>
              <a:ahLst/>
              <a:cxnLst/>
              <a:rect r="r" b="b" t="t" l="l"/>
              <a:pathLst>
                <a:path h="330200" w="8178800">
                  <a:moveTo>
                    <a:pt x="33020" y="0"/>
                  </a:moveTo>
                  <a:lnTo>
                    <a:pt x="8145780" y="0"/>
                  </a:lnTo>
                  <a:cubicBezTo>
                    <a:pt x="8164016" y="0"/>
                    <a:pt x="8178800" y="14784"/>
                    <a:pt x="8178800" y="33020"/>
                  </a:cubicBezTo>
                  <a:lnTo>
                    <a:pt x="8178800" y="297180"/>
                  </a:lnTo>
                  <a:cubicBezTo>
                    <a:pt x="8178800" y="315416"/>
                    <a:pt x="8164016" y="330200"/>
                    <a:pt x="8145780" y="330200"/>
                  </a:cubicBezTo>
                  <a:lnTo>
                    <a:pt x="33020" y="330200"/>
                  </a:lnTo>
                  <a:cubicBezTo>
                    <a:pt x="24263" y="330200"/>
                    <a:pt x="15864" y="326721"/>
                    <a:pt x="9671" y="320529"/>
                  </a:cubicBezTo>
                  <a:cubicBezTo>
                    <a:pt x="3479" y="314336"/>
                    <a:pt x="0" y="305937"/>
                    <a:pt x="0" y="297180"/>
                  </a:cubicBezTo>
                  <a:lnTo>
                    <a:pt x="0" y="33020"/>
                  </a:lnTo>
                  <a:cubicBezTo>
                    <a:pt x="0" y="14784"/>
                    <a:pt x="14784" y="0"/>
                    <a:pt x="33020" y="0"/>
                  </a:cubicBezTo>
                  <a:close/>
                </a:path>
              </a:pathLst>
            </a:custGeom>
            <a:solidFill>
              <a:srgbClr val="2979FF"/>
            </a:solidFill>
          </p:spPr>
        </p:sp>
        <p:sp>
          <p:nvSpPr>
            <p:cNvPr name="TextBox 84" id="84"/>
            <p:cNvSpPr txBox="true"/>
            <p:nvPr/>
          </p:nvSpPr>
          <p:spPr>
            <a:xfrm>
              <a:off x="0" y="-38100"/>
              <a:ext cx="8178800" cy="368300"/>
            </a:xfrm>
            <a:prstGeom prst="rect">
              <a:avLst/>
            </a:prstGeom>
          </p:spPr>
          <p:txBody>
            <a:bodyPr anchor="ctr" rtlCol="false" tIns="50800" lIns="50800" bIns="50800" rIns="50800"/>
            <a:lstStyle/>
            <a:p>
              <a:pPr algn="l">
                <a:lnSpc>
                  <a:spcPts val="1679"/>
                </a:lnSpc>
              </a:pPr>
            </a:p>
          </p:txBody>
        </p:sp>
      </p:grpSp>
      <p:sp>
        <p:nvSpPr>
          <p:cNvPr name="TextBox 85" id="85"/>
          <p:cNvSpPr txBox="true"/>
          <p:nvPr/>
        </p:nvSpPr>
        <p:spPr>
          <a:xfrm rot="0">
            <a:off x="8891954" y="9300831"/>
            <a:ext cx="687316" cy="224078"/>
          </a:xfrm>
          <a:prstGeom prst="rect">
            <a:avLst/>
          </a:prstGeom>
        </p:spPr>
        <p:txBody>
          <a:bodyPr anchor="t" rtlCol="false" tIns="0" lIns="0" bIns="0" rIns="0">
            <a:spAutoFit/>
          </a:bodyPr>
          <a:lstStyle/>
          <a:p>
            <a:pPr algn="r" marL="0" indent="0" lvl="0">
              <a:lnSpc>
                <a:spcPts val="1852"/>
              </a:lnSpc>
              <a:spcBef>
                <a:spcPct val="0"/>
              </a:spcBef>
            </a:pPr>
            <a:r>
              <a:rPr lang="en-US" b="true" sz="1322" strike="noStrike" u="none">
                <a:solidFill>
                  <a:srgbClr val="FFFFFF"/>
                </a:solidFill>
                <a:latin typeface="프리텐다드 Bold"/>
                <a:ea typeface="프리텐다드 Bold"/>
                <a:cs typeface="프리텐다드 Bold"/>
                <a:sym typeface="프리텐다드 Bold"/>
              </a:rPr>
              <a:t>97%</a:t>
            </a:r>
          </a:p>
        </p:txBody>
      </p:sp>
      <p:sp>
        <p:nvSpPr>
          <p:cNvPr name="TextBox 86" id="86"/>
          <p:cNvSpPr txBox="true"/>
          <p:nvPr/>
        </p:nvSpPr>
        <p:spPr>
          <a:xfrm rot="0">
            <a:off x="876300" y="-9525"/>
            <a:ext cx="16535400" cy="733425"/>
          </a:xfrm>
          <a:prstGeom prst="rect">
            <a:avLst/>
          </a:prstGeom>
        </p:spPr>
        <p:txBody>
          <a:bodyPr anchor="t" rtlCol="false" tIns="0" lIns="0" bIns="0" rIns="0">
            <a:spAutoFit/>
          </a:bodyPr>
          <a:lstStyle/>
          <a:p>
            <a:pPr algn="l">
              <a:lnSpc>
                <a:spcPts val="5759"/>
              </a:lnSpc>
            </a:pPr>
            <a:r>
              <a:rPr lang="en-US" b="true" sz="4800">
                <a:solidFill>
                  <a:srgbClr val="1E293B"/>
                </a:solidFill>
                <a:latin typeface="프리텐다드 Bold"/>
                <a:ea typeface="프리텐다드 Bold"/>
                <a:cs typeface="프리텐다드 Bold"/>
                <a:sym typeface="프리텐다드 Bold"/>
              </a:rPr>
              <a:t>6. </a:t>
            </a:r>
            <a:r>
              <a:rPr lang="en-US" b="true" sz="4800">
                <a:solidFill>
                  <a:srgbClr val="1E293B"/>
                </a:solidFill>
                <a:latin typeface="프리텐다드 Bold"/>
                <a:ea typeface="프리텐다드 Bold"/>
                <a:cs typeface="프리텐다드 Bold"/>
                <a:sym typeface="프리텐다드 Bold"/>
              </a:rPr>
              <a:t>Q3) 어떤 제도가 교권침해를 실제로 예방할 수 있는가?</a:t>
            </a:r>
          </a:p>
        </p:txBody>
      </p:sp>
      <p:sp>
        <p:nvSpPr>
          <p:cNvPr name="TextBox 87" id="87"/>
          <p:cNvSpPr txBox="true"/>
          <p:nvPr/>
        </p:nvSpPr>
        <p:spPr>
          <a:xfrm rot="0">
            <a:off x="10898982" y="1881501"/>
            <a:ext cx="6419849" cy="2095500"/>
          </a:xfrm>
          <a:prstGeom prst="rect">
            <a:avLst/>
          </a:prstGeom>
        </p:spPr>
        <p:txBody>
          <a:bodyPr anchor="t" rtlCol="false" tIns="0" lIns="0" bIns="0" rIns="0">
            <a:spAutoFit/>
          </a:bodyPr>
          <a:lstStyle/>
          <a:p>
            <a:pPr algn="l">
              <a:lnSpc>
                <a:spcPts val="1559"/>
              </a:lnSpc>
            </a:pPr>
            <a:r>
              <a:rPr lang="en-US" sz="1299">
                <a:solidFill>
                  <a:srgbClr val="475569"/>
                </a:solidFill>
                <a:latin typeface="프리텐다드"/>
                <a:ea typeface="프리텐다드"/>
                <a:cs typeface="프리텐다드"/>
                <a:sym typeface="프리텐다드"/>
              </a:rPr>
              <a:t>네</a:t>
            </a:r>
            <a:r>
              <a:rPr lang="en-US" sz="1299">
                <a:solidFill>
                  <a:srgbClr val="475569"/>
                </a:solidFill>
                <a:latin typeface="프리텐다드"/>
                <a:ea typeface="프리텐다드"/>
                <a:cs typeface="프리텐다드"/>
                <a:sym typeface="프리텐다드"/>
              </a:rPr>
              <a:t> </a:t>
            </a:r>
            <a:r>
              <a:rPr lang="en-US" sz="1299">
                <a:solidFill>
                  <a:srgbClr val="475569"/>
                </a:solidFill>
                <a:latin typeface="프리텐다드"/>
                <a:ea typeface="프리텐다드"/>
                <a:cs typeface="프리텐다드"/>
                <a:sym typeface="프리텐다드"/>
              </a:rPr>
              <a:t>제도 </a:t>
            </a:r>
            <a:r>
              <a:rPr lang="en-US" sz="1299">
                <a:solidFill>
                  <a:srgbClr val="475569"/>
                </a:solidFill>
                <a:latin typeface="프리텐다드"/>
                <a:ea typeface="프리텐다드"/>
                <a:cs typeface="프리텐다드"/>
                <a:sym typeface="프리텐다드"/>
              </a:rPr>
              <a:t>모두</a:t>
            </a:r>
            <a:r>
              <a:rPr lang="en-US" sz="1299">
                <a:solidFill>
                  <a:srgbClr val="475569"/>
                </a:solidFill>
                <a:latin typeface="프리텐다드"/>
                <a:ea typeface="프리텐다드"/>
                <a:cs typeface="프리텐다드"/>
                <a:sym typeface="프리텐다드"/>
              </a:rPr>
              <a:t> </a:t>
            </a:r>
            <a:r>
              <a:rPr lang="en-US" sz="1299">
                <a:solidFill>
                  <a:srgbClr val="475569"/>
                </a:solidFill>
                <a:latin typeface="프리텐다드"/>
                <a:ea typeface="프리텐다드"/>
                <a:cs typeface="프리텐다드"/>
                <a:sym typeface="프리텐다드"/>
              </a:rPr>
              <a:t>‘필</a:t>
            </a:r>
            <a:r>
              <a:rPr lang="en-US" sz="1299">
                <a:solidFill>
                  <a:srgbClr val="475569"/>
                </a:solidFill>
                <a:latin typeface="프리텐다드"/>
                <a:ea typeface="프리텐다드"/>
                <a:cs typeface="프리텐다드"/>
                <a:sym typeface="프리텐다드"/>
              </a:rPr>
              <a:t>요(</a:t>
            </a:r>
            <a:r>
              <a:rPr lang="en-US" sz="1299">
                <a:solidFill>
                  <a:srgbClr val="475569"/>
                </a:solidFill>
                <a:latin typeface="프리텐다드"/>
                <a:ea typeface="프리텐다드"/>
                <a:cs typeface="프리텐다드"/>
                <a:sym typeface="프리텐다드"/>
              </a:rPr>
              <a:t>4점↑)’</a:t>
            </a:r>
            <a:r>
              <a:rPr lang="en-US" sz="1299">
                <a:solidFill>
                  <a:srgbClr val="475569"/>
                </a:solidFill>
                <a:latin typeface="프리텐다드"/>
                <a:ea typeface="프리텐다드"/>
                <a:cs typeface="프리텐다드"/>
                <a:sym typeface="프리텐다드"/>
              </a:rPr>
              <a:t> 응</a:t>
            </a:r>
            <a:r>
              <a:rPr lang="en-US" sz="1299">
                <a:solidFill>
                  <a:srgbClr val="475569"/>
                </a:solidFill>
                <a:latin typeface="프리텐다드"/>
                <a:ea typeface="프리텐다드"/>
                <a:cs typeface="프리텐다드"/>
                <a:sym typeface="프리텐다드"/>
              </a:rPr>
              <a:t>답이 96~99%로 천장에 닿아, 응답 비율을 그대로 막대로 그리면 네 막대가 똑같이 끝까지 차올라 어느 제도가 더 시급한지 전혀 구분되지 않는다(천장효과). </a:t>
            </a:r>
          </a:p>
          <a:p>
            <a:pPr algn="l">
              <a:lnSpc>
                <a:spcPts val="1559"/>
              </a:lnSpc>
            </a:pPr>
          </a:p>
          <a:p>
            <a:pPr algn="l">
              <a:lnSpc>
                <a:spcPts val="1559"/>
              </a:lnSpc>
            </a:pPr>
            <a:r>
              <a:rPr lang="en-US" sz="1299">
                <a:solidFill>
                  <a:srgbClr val="475569"/>
                </a:solidFill>
                <a:latin typeface="프리텐다드"/>
                <a:ea typeface="프리텐다드"/>
                <a:cs typeface="프리텐다드"/>
                <a:sym typeface="프리텐다드"/>
              </a:rPr>
              <a:t>우리는 이 한계를 ‘수준’이 아니라 ‘당</a:t>
            </a:r>
            <a:r>
              <a:rPr lang="en-US" sz="1299">
                <a:solidFill>
                  <a:srgbClr val="475569"/>
                </a:solidFill>
                <a:latin typeface="프리텐다드"/>
                <a:ea typeface="프리텐다드"/>
                <a:cs typeface="프리텐다드"/>
                <a:sym typeface="프리텐다드"/>
              </a:rPr>
              <a:t>사자–비당사자 </a:t>
            </a:r>
            <a:r>
              <a:rPr lang="en-US" sz="1299">
                <a:solidFill>
                  <a:srgbClr val="475569"/>
                </a:solidFill>
                <a:latin typeface="프리텐다드"/>
                <a:ea typeface="프리텐다드"/>
                <a:cs typeface="프리텐다드"/>
                <a:sym typeface="프리텐다드"/>
              </a:rPr>
              <a:t>격차’를 보는 방식으로 우회했다. 그 결과 악성민원 패널티(Δ+0.13)·수업방해 분리(Δ+0.13)에서 침해 당사자의 추가 수요가 가장 크고, 아동학대 신고보호(+0.10)·과밀학급 해소(+0.08)가 뒤를 잇는다. </a:t>
            </a:r>
          </a:p>
          <a:p>
            <a:pPr algn="l">
              <a:lnSpc>
                <a:spcPts val="1559"/>
              </a:lnSpc>
            </a:pPr>
          </a:p>
          <a:p>
            <a:pPr algn="l">
              <a:lnSpc>
                <a:spcPts val="1559"/>
              </a:lnSpc>
            </a:pPr>
            <a:r>
              <a:rPr lang="en-US" sz="1299">
                <a:solidFill>
                  <a:srgbClr val="475569"/>
                </a:solidFill>
                <a:latin typeface="프리텐다드"/>
                <a:ea typeface="프리텐다드"/>
                <a:cs typeface="프리텐다드"/>
                <a:sym typeface="프리텐다드"/>
              </a:rPr>
              <a:t>검정은 D2가 5점 순서형이고 분포가 천장에 쏠려 있어 정규성을 가정할 수 없으므로 비모수 Mann–Whitney U를 썼고, 네 격차 모두 p&lt;0.001로 유의하다. 다만 효과크기는 rank-biserial |r|≈0.09~0.12로 작은 편인데, 이는 효과가 약하다기보다 필요</a:t>
            </a:r>
            <a:r>
              <a:rPr lang="en-US" sz="1299">
                <a:solidFill>
                  <a:srgbClr val="475569"/>
                </a:solidFill>
                <a:latin typeface="프리텐다드"/>
                <a:ea typeface="프리텐다드"/>
                <a:cs typeface="프리텐다드"/>
                <a:sym typeface="프리텐다드"/>
              </a:rPr>
              <a:t>도</a:t>
            </a:r>
            <a:r>
              <a:rPr lang="en-US" sz="1299">
                <a:solidFill>
                  <a:srgbClr val="475569"/>
                </a:solidFill>
                <a:latin typeface="프리텐다드"/>
                <a:ea typeface="프리텐다드"/>
                <a:cs typeface="프리텐다드"/>
                <a:sym typeface="프리텐다드"/>
              </a:rPr>
              <a:t>가</a:t>
            </a:r>
            <a:r>
              <a:rPr lang="en-US" sz="1299">
                <a:solidFill>
                  <a:srgbClr val="475569"/>
                </a:solidFill>
                <a:latin typeface="프리텐다드"/>
                <a:ea typeface="프리텐다드"/>
                <a:cs typeface="프리텐다드"/>
                <a:sym typeface="프리텐다드"/>
              </a:rPr>
              <a:t> </a:t>
            </a:r>
            <a:r>
              <a:rPr lang="en-US" sz="1299">
                <a:solidFill>
                  <a:srgbClr val="475569"/>
                </a:solidFill>
                <a:latin typeface="프리텐다드"/>
                <a:ea typeface="프리텐다드"/>
                <a:cs typeface="프리텐다드"/>
                <a:sym typeface="프리텐다드"/>
              </a:rPr>
              <a:t>천장에</a:t>
            </a:r>
            <a:r>
              <a:rPr lang="en-US" sz="1299">
                <a:solidFill>
                  <a:srgbClr val="475569"/>
                </a:solidFill>
                <a:latin typeface="프리텐다드"/>
                <a:ea typeface="프리텐다드"/>
                <a:cs typeface="프리텐다드"/>
                <a:sym typeface="프리텐다드"/>
              </a:rPr>
              <a:t> </a:t>
            </a:r>
            <a:r>
              <a:rPr lang="en-US" sz="1299">
                <a:solidFill>
                  <a:srgbClr val="475569"/>
                </a:solidFill>
                <a:latin typeface="프리텐다드"/>
                <a:ea typeface="프리텐다드"/>
                <a:cs typeface="프리텐다드"/>
                <a:sym typeface="프리텐다드"/>
              </a:rPr>
              <a:t>몰려 격차의 절대폭이 압축된</a:t>
            </a:r>
            <a:r>
              <a:rPr lang="en-US" sz="1299">
                <a:solidFill>
                  <a:srgbClr val="475569"/>
                </a:solidFill>
                <a:latin typeface="프리텐다드"/>
                <a:ea typeface="프리텐다드"/>
                <a:cs typeface="프리텐다드"/>
                <a:sym typeface="프리텐다드"/>
              </a:rPr>
              <a:t> 구조적 </a:t>
            </a:r>
            <a:r>
              <a:rPr lang="en-US" sz="1299">
                <a:solidFill>
                  <a:srgbClr val="475569"/>
                </a:solidFill>
                <a:latin typeface="프리텐다드"/>
                <a:ea typeface="프리텐다드"/>
                <a:cs typeface="프리텐다드"/>
                <a:sym typeface="프리텐다드"/>
              </a:rPr>
              <a:t>결</a:t>
            </a:r>
            <a:r>
              <a:rPr lang="en-US" sz="1299">
                <a:solidFill>
                  <a:srgbClr val="475569"/>
                </a:solidFill>
                <a:latin typeface="프리텐다드"/>
                <a:ea typeface="프리텐다드"/>
                <a:cs typeface="프리텐다드"/>
                <a:sym typeface="프리텐다드"/>
              </a:rPr>
              <a:t>과로 해석하는 것이 타당하</a:t>
            </a:r>
            <a:r>
              <a:rPr lang="en-US" sz="1299">
                <a:solidFill>
                  <a:srgbClr val="475569"/>
                </a:solidFill>
                <a:latin typeface="프리텐다드"/>
                <a:ea typeface="프리텐다드"/>
                <a:cs typeface="프리텐다드"/>
                <a:sym typeface="프리텐다드"/>
              </a:rPr>
              <a:t>다.</a:t>
            </a:r>
          </a:p>
        </p:txBody>
      </p:sp>
      <p:sp>
        <p:nvSpPr>
          <p:cNvPr name="TextBox 88" id="88"/>
          <p:cNvSpPr txBox="true"/>
          <p:nvPr/>
        </p:nvSpPr>
        <p:spPr>
          <a:xfrm rot="0">
            <a:off x="10898982" y="1477359"/>
            <a:ext cx="1270397" cy="265778"/>
          </a:xfrm>
          <a:prstGeom prst="rect">
            <a:avLst/>
          </a:prstGeom>
        </p:spPr>
        <p:txBody>
          <a:bodyPr anchor="t" rtlCol="false" tIns="0" lIns="0" bIns="0" rIns="0">
            <a:spAutoFit/>
          </a:bodyPr>
          <a:lstStyle/>
          <a:p>
            <a:pPr algn="ctr">
              <a:lnSpc>
                <a:spcPts val="2150"/>
              </a:lnSpc>
              <a:spcBef>
                <a:spcPct val="0"/>
              </a:spcBef>
            </a:pPr>
            <a:r>
              <a:rPr lang="en-US" b="true" sz="1536">
                <a:solidFill>
                  <a:srgbClr val="000000"/>
                </a:solidFill>
                <a:latin typeface="프리텐다드 Bold"/>
                <a:ea typeface="프리텐다드 Bold"/>
                <a:cs typeface="프리텐다드 Bold"/>
                <a:sym typeface="프리텐다드 Bold"/>
              </a:rPr>
              <a:t>제도 수요의 격차</a:t>
            </a:r>
          </a:p>
        </p:txBody>
      </p:sp>
      <p:sp>
        <p:nvSpPr>
          <p:cNvPr name="TextBox 89" id="89"/>
          <p:cNvSpPr txBox="true"/>
          <p:nvPr/>
        </p:nvSpPr>
        <p:spPr>
          <a:xfrm rot="0">
            <a:off x="10991851" y="4769178"/>
            <a:ext cx="6419849" cy="1524000"/>
          </a:xfrm>
          <a:prstGeom prst="rect">
            <a:avLst/>
          </a:prstGeom>
        </p:spPr>
        <p:txBody>
          <a:bodyPr anchor="t" rtlCol="false" tIns="0" lIns="0" bIns="0" rIns="0">
            <a:spAutoFit/>
          </a:bodyPr>
          <a:lstStyle/>
          <a:p>
            <a:pPr algn="l">
              <a:lnSpc>
                <a:spcPts val="1559"/>
              </a:lnSpc>
            </a:pPr>
            <a:r>
              <a:rPr lang="en-US" sz="1299">
                <a:solidFill>
                  <a:srgbClr val="475569"/>
                </a:solidFill>
                <a:latin typeface="프리텐다드"/>
                <a:ea typeface="프리텐다드"/>
                <a:cs typeface="프리텐다드"/>
                <a:sym typeface="프리텐다드"/>
              </a:rPr>
              <a:t>격차를</a:t>
            </a:r>
            <a:r>
              <a:rPr lang="en-US" sz="1299">
                <a:solidFill>
                  <a:srgbClr val="475569"/>
                </a:solidFill>
                <a:latin typeface="프리텐다드"/>
                <a:ea typeface="프리텐다드"/>
                <a:cs typeface="프리텐다드"/>
                <a:sym typeface="프리텐다드"/>
              </a:rPr>
              <a:t> 침해</a:t>
            </a:r>
            <a:r>
              <a:rPr lang="en-US" sz="1299">
                <a:solidFill>
                  <a:srgbClr val="475569"/>
                </a:solidFill>
                <a:latin typeface="프리텐다드"/>
                <a:ea typeface="프리텐다드"/>
                <a:cs typeface="프리텐다드"/>
                <a:sym typeface="프리텐다드"/>
              </a:rPr>
              <a:t> 유형(보호자·학생·관리자)별로 분해하면, 모든 칸이 양(+)이어서 어떤 침해를 겪었든 제도 수요가 일관되게 높지만, 그 안에서도 방향성이 또렷하다 — 학생 침해</a:t>
            </a:r>
            <a:r>
              <a:rPr lang="en-US" sz="1299">
                <a:solidFill>
                  <a:srgbClr val="475569"/>
                </a:solidFill>
                <a:latin typeface="프리텐다드"/>
                <a:ea typeface="프리텐다드"/>
                <a:cs typeface="프리텐다드"/>
                <a:sym typeface="프리텐다드"/>
              </a:rPr>
              <a:t> 교사는 수업방해 분리(Δ+0.13)를, 보호자 침해 교사는 악성민원 패널티를 가장 강하게 원한다. </a:t>
            </a:r>
          </a:p>
          <a:p>
            <a:pPr algn="l">
              <a:lnSpc>
                <a:spcPts val="1559"/>
              </a:lnSpc>
            </a:pPr>
          </a:p>
          <a:p>
            <a:pPr algn="l">
              <a:lnSpc>
                <a:spcPts val="1559"/>
              </a:lnSpc>
            </a:pPr>
            <a:r>
              <a:rPr lang="en-US" sz="1299">
                <a:solidFill>
                  <a:srgbClr val="475569"/>
                </a:solidFill>
                <a:latin typeface="프리텐다드"/>
                <a:ea typeface="프리텐다드"/>
                <a:cs typeface="프리텐다드"/>
                <a:sym typeface="프리텐다드"/>
              </a:rPr>
              <a:t>즉 ‘누가, 무엇 때문에 고통받는가’에 따라 절실한 제도가 체계적으로 갈린다는 의미이며, 이는 같은 ‘교권침해’라도</a:t>
            </a:r>
            <a:r>
              <a:rPr lang="en-US" sz="1299">
                <a:solidFill>
                  <a:srgbClr val="475569"/>
                </a:solidFill>
                <a:latin typeface="프리텐다드"/>
                <a:ea typeface="프리텐다드"/>
                <a:cs typeface="프리텐다드"/>
                <a:sym typeface="프리텐다드"/>
              </a:rPr>
              <a:t> 단일 처방으로는 부족하다는 8p 군집별 논의의 출발점이 된다. 반면 관리자 침해 당사자는 네 제도 모두 격차가 작아, 관리자에 의한 침해는 D2 4종(학생·보호자 대상 제도)으로는 포착되지 않는 별도의 정책 영역(고충처리·내부 견제)임을 동시에 드러낸</a:t>
            </a:r>
            <a:r>
              <a:rPr lang="en-US" sz="1299">
                <a:solidFill>
                  <a:srgbClr val="475569"/>
                </a:solidFill>
                <a:latin typeface="프리텐다드"/>
                <a:ea typeface="프리텐다드"/>
                <a:cs typeface="프리텐다드"/>
                <a:sym typeface="프리텐다드"/>
              </a:rPr>
              <a:t>다.</a:t>
            </a:r>
          </a:p>
        </p:txBody>
      </p:sp>
      <p:sp>
        <p:nvSpPr>
          <p:cNvPr name="TextBox 90" id="90"/>
          <p:cNvSpPr txBox="true"/>
          <p:nvPr/>
        </p:nvSpPr>
        <p:spPr>
          <a:xfrm rot="0">
            <a:off x="10991851" y="4360525"/>
            <a:ext cx="1270397" cy="265778"/>
          </a:xfrm>
          <a:prstGeom prst="rect">
            <a:avLst/>
          </a:prstGeom>
        </p:spPr>
        <p:txBody>
          <a:bodyPr anchor="t" rtlCol="false" tIns="0" lIns="0" bIns="0" rIns="0">
            <a:spAutoFit/>
          </a:bodyPr>
          <a:lstStyle/>
          <a:p>
            <a:pPr algn="ctr">
              <a:lnSpc>
                <a:spcPts val="2150"/>
              </a:lnSpc>
              <a:spcBef>
                <a:spcPct val="0"/>
              </a:spcBef>
            </a:pPr>
            <a:r>
              <a:rPr lang="en-US" b="true" sz="1536">
                <a:solidFill>
                  <a:srgbClr val="000000"/>
                </a:solidFill>
                <a:latin typeface="프리텐다드 Bold"/>
                <a:ea typeface="프리텐다드 Bold"/>
                <a:cs typeface="프리텐다드 Bold"/>
                <a:sym typeface="프리텐다드 Bold"/>
              </a:rPr>
              <a:t>침해 유형별 수요</a:t>
            </a:r>
          </a:p>
        </p:txBody>
      </p:sp>
      <p:sp>
        <p:nvSpPr>
          <p:cNvPr name="TextBox 91" id="91"/>
          <p:cNvSpPr txBox="true"/>
          <p:nvPr/>
        </p:nvSpPr>
        <p:spPr>
          <a:xfrm rot="0">
            <a:off x="10968037" y="7713003"/>
            <a:ext cx="6419849" cy="2286000"/>
          </a:xfrm>
          <a:prstGeom prst="rect">
            <a:avLst/>
          </a:prstGeom>
        </p:spPr>
        <p:txBody>
          <a:bodyPr anchor="t" rtlCol="false" tIns="0" lIns="0" bIns="0" rIns="0">
            <a:spAutoFit/>
          </a:bodyPr>
          <a:lstStyle/>
          <a:p>
            <a:pPr algn="l">
              <a:lnSpc>
                <a:spcPts val="1559"/>
              </a:lnSpc>
            </a:pPr>
            <a:r>
              <a:rPr lang="en-US" sz="1299">
                <a:solidFill>
                  <a:srgbClr val="475569"/>
                </a:solidFill>
                <a:latin typeface="프리텐다드"/>
                <a:ea typeface="프리텐다드"/>
                <a:cs typeface="프리텐다드"/>
                <a:sym typeface="프리텐다드"/>
              </a:rPr>
              <a:t>네 제도 모두 </a:t>
            </a:r>
            <a:r>
              <a:rPr lang="en-US" sz="1299">
                <a:solidFill>
                  <a:srgbClr val="475569"/>
                </a:solidFill>
                <a:latin typeface="프리텐다드"/>
                <a:ea typeface="프리텐다드"/>
                <a:cs typeface="프리텐다드"/>
                <a:sym typeface="프리텐다드"/>
              </a:rPr>
              <a:t>필요도가 96~99%라는 점은, 제도 부재가 특정 집단의 불만이 아니라 교직 전반의 보편적 고통임을 보여준다. 바로 이 보편성 때문에 ‘필요도 총량’은</a:t>
            </a:r>
            <a:r>
              <a:rPr lang="en-US" sz="1299">
                <a:solidFill>
                  <a:srgbClr val="475569"/>
                </a:solidFill>
                <a:latin typeface="프리텐다드"/>
                <a:ea typeface="프리텐다드"/>
                <a:cs typeface="프리텐다드"/>
                <a:sym typeface="프리텐다드"/>
              </a:rPr>
              <a:t> 우선순위 기준이 될 수</a:t>
            </a:r>
            <a:r>
              <a:rPr lang="en-US" sz="1299">
                <a:solidFill>
                  <a:srgbClr val="475569"/>
                </a:solidFill>
                <a:latin typeface="프리텐다드"/>
                <a:ea typeface="프리텐다드"/>
                <a:cs typeface="프리텐다드"/>
                <a:sym typeface="프리텐다드"/>
              </a:rPr>
              <a:t> 없다. </a:t>
            </a:r>
          </a:p>
          <a:p>
            <a:pPr algn="l">
              <a:lnSpc>
                <a:spcPts val="1559"/>
              </a:lnSpc>
            </a:pPr>
          </a:p>
          <a:p>
            <a:pPr algn="l">
              <a:lnSpc>
                <a:spcPts val="1559"/>
              </a:lnSpc>
            </a:pPr>
            <a:r>
              <a:rPr lang="en-US" sz="1299">
                <a:solidFill>
                  <a:srgbClr val="475569"/>
                </a:solidFill>
                <a:latin typeface="프리텐다드"/>
                <a:ea typeface="프리텐다드"/>
                <a:cs typeface="프리텐다드"/>
                <a:sym typeface="프리텐다드"/>
              </a:rPr>
              <a:t>한정된 예산·행정 인력을 배분할 때는 ‘가장 고통받는</a:t>
            </a:r>
            <a:r>
              <a:rPr lang="en-US" sz="1299">
                <a:solidFill>
                  <a:srgbClr val="475569"/>
                </a:solidFill>
                <a:latin typeface="프리텐다드"/>
                <a:ea typeface="프리텐다드"/>
                <a:cs typeface="프리텐다드"/>
                <a:sym typeface="프리텐다드"/>
              </a:rPr>
              <a:t> 당사자가 가장 절실히 원하는’ 제도, 즉 격차가 큰 제도에 먼저 투입하는 것이 효율적이며, 그 1·2순위가 악성민원 패널티와 수업방해 분리다. 이 방향은 정책 현실과도 맞닿아 있다 — 교육부는 2023년 「교권 회복 및 보호 강화 종합방안」에서 악성민원을 핵심 침해 유형으로 규정하고, 교사가 민원을 직접 받지 않도록 학교(기관) 차원의 민원 대응 체계와 민원 응대 거부권을 도입했다[1]. </a:t>
            </a:r>
          </a:p>
          <a:p>
            <a:pPr algn="l">
              <a:lnSpc>
                <a:spcPts val="1559"/>
              </a:lnSpc>
            </a:pPr>
          </a:p>
          <a:p>
            <a:pPr algn="l">
              <a:lnSpc>
                <a:spcPts val="1559"/>
              </a:lnSpc>
            </a:pPr>
            <a:r>
              <a:rPr lang="en-US" sz="1299">
                <a:solidFill>
                  <a:srgbClr val="475569"/>
                </a:solidFill>
                <a:latin typeface="프리텐다드"/>
                <a:ea typeface="프리텐다드"/>
                <a:cs typeface="프리텐다드"/>
                <a:sym typeface="프리텐다드"/>
              </a:rPr>
              <a:t>본 분석은 이 정책이 ‘현장 교사의 실제 수요’와 정확히 일치함을 데이터로 입증한다. 다만 D2는 어디까지나 ‘수요 인식’이므로, 제도가 침해를 실제로 줄이는지에 대한 인과적</a:t>
            </a:r>
            <a:r>
              <a:rPr lang="en-US" sz="1299">
                <a:solidFill>
                  <a:srgbClr val="475569"/>
                </a:solidFill>
                <a:latin typeface="프리텐다드"/>
                <a:ea typeface="프리텐다드"/>
                <a:cs typeface="프리텐다드"/>
                <a:sym typeface="프리텐다드"/>
              </a:rPr>
              <a:t> 근거는 군집별 OR(8p)과 PAF(9p)에서 별도로 보완한</a:t>
            </a:r>
            <a:r>
              <a:rPr lang="en-US" sz="1299">
                <a:solidFill>
                  <a:srgbClr val="475569"/>
                </a:solidFill>
                <a:latin typeface="프리텐다드"/>
                <a:ea typeface="프리텐다드"/>
                <a:cs typeface="프리텐다드"/>
                <a:sym typeface="프리텐다드"/>
              </a:rPr>
              <a:t>다.</a:t>
            </a:r>
          </a:p>
        </p:txBody>
      </p:sp>
      <p:sp>
        <p:nvSpPr>
          <p:cNvPr name="TextBox 92" id="92"/>
          <p:cNvSpPr txBox="true"/>
          <p:nvPr/>
        </p:nvSpPr>
        <p:spPr>
          <a:xfrm rot="0">
            <a:off x="10965657" y="7304350"/>
            <a:ext cx="1989832" cy="265778"/>
          </a:xfrm>
          <a:prstGeom prst="rect">
            <a:avLst/>
          </a:prstGeom>
        </p:spPr>
        <p:txBody>
          <a:bodyPr anchor="t" rtlCol="false" tIns="0" lIns="0" bIns="0" rIns="0">
            <a:spAutoFit/>
          </a:bodyPr>
          <a:lstStyle/>
          <a:p>
            <a:pPr algn="ctr">
              <a:lnSpc>
                <a:spcPts val="2150"/>
              </a:lnSpc>
              <a:spcBef>
                <a:spcPct val="0"/>
              </a:spcBef>
            </a:pPr>
            <a:r>
              <a:rPr lang="en-US" b="true" sz="1536">
                <a:solidFill>
                  <a:srgbClr val="000000"/>
                </a:solidFill>
                <a:latin typeface="프리텐다드 Bold"/>
                <a:ea typeface="프리텐다드 Bold"/>
                <a:cs typeface="프리텐다드 Bold"/>
                <a:sym typeface="프리텐다드 Bold"/>
              </a:rPr>
              <a:t>천장 효과와 정책적 시사점</a:t>
            </a:r>
          </a:p>
        </p:txBody>
      </p:sp>
      <p:sp>
        <p:nvSpPr>
          <p:cNvPr name="AutoShape 93" id="93"/>
          <p:cNvSpPr/>
          <p:nvPr/>
        </p:nvSpPr>
        <p:spPr>
          <a:xfrm flipH="true" flipV="true">
            <a:off x="10991851" y="4203362"/>
            <a:ext cx="6419849" cy="0"/>
          </a:xfrm>
          <a:prstGeom prst="line">
            <a:avLst/>
          </a:prstGeom>
          <a:ln cap="rnd" w="9525">
            <a:solidFill>
              <a:srgbClr val="E2E8F0"/>
            </a:solidFill>
            <a:prstDash val="solid"/>
            <a:headEnd type="none" len="sm" w="sm"/>
            <a:tailEnd type="none" len="sm" w="sm"/>
          </a:ln>
        </p:spPr>
      </p:sp>
      <p:sp>
        <p:nvSpPr>
          <p:cNvPr name="AutoShape 94" id="94"/>
          <p:cNvSpPr/>
          <p:nvPr/>
        </p:nvSpPr>
        <p:spPr>
          <a:xfrm>
            <a:off x="866776" y="738829"/>
            <a:ext cx="16554447" cy="9824"/>
          </a:xfrm>
          <a:prstGeom prst="line">
            <a:avLst/>
          </a:prstGeom>
          <a:ln cap="rnd" w="9525">
            <a:solidFill>
              <a:srgbClr val="E2E8F0"/>
            </a:solidFill>
            <a:prstDash val="solid"/>
            <a:headEnd type="none" len="sm" w="sm"/>
            <a:tailEnd type="none" len="sm" w="sm"/>
          </a:ln>
        </p:spPr>
      </p:sp>
      <p:sp>
        <p:nvSpPr>
          <p:cNvPr name="TextBox 95" id="95"/>
          <p:cNvSpPr txBox="true"/>
          <p:nvPr/>
        </p:nvSpPr>
        <p:spPr>
          <a:xfrm rot="0">
            <a:off x="866327" y="922649"/>
            <a:ext cx="13125072" cy="400050"/>
          </a:xfrm>
          <a:prstGeom prst="rect">
            <a:avLst/>
          </a:prstGeom>
        </p:spPr>
        <p:txBody>
          <a:bodyPr anchor="t" rtlCol="false" tIns="0" lIns="0" bIns="0" rIns="0">
            <a:spAutoFit/>
          </a:bodyPr>
          <a:lstStyle/>
          <a:p>
            <a:pPr algn="l">
              <a:lnSpc>
                <a:spcPts val="3120"/>
              </a:lnSpc>
            </a:pPr>
            <a:r>
              <a:rPr lang="en-US" b="true" sz="2600">
                <a:solidFill>
                  <a:srgbClr val="4285F4"/>
                </a:solidFill>
                <a:latin typeface="프리텐다드 Bold"/>
                <a:ea typeface="프리텐다드 Bold"/>
                <a:cs typeface="프리텐다드 Bold"/>
                <a:sym typeface="프리텐다드 Bold"/>
              </a:rPr>
              <a:t>‘모두 필요’ 속에서도 침해 당사자가 더 절실하다</a:t>
            </a:r>
          </a:p>
        </p:txBody>
      </p:sp>
      <p:sp>
        <p:nvSpPr>
          <p:cNvPr name="AutoShape 96" id="96"/>
          <p:cNvSpPr/>
          <p:nvPr/>
        </p:nvSpPr>
        <p:spPr>
          <a:xfrm flipH="true">
            <a:off x="10982326" y="7128138"/>
            <a:ext cx="6419849" cy="0"/>
          </a:xfrm>
          <a:prstGeom prst="line">
            <a:avLst/>
          </a:prstGeom>
          <a:ln cap="rnd" w="9525">
            <a:solidFill>
              <a:srgbClr val="E2E8F0"/>
            </a:solidFill>
            <a:prstDash val="solid"/>
            <a:headEnd type="none" len="sm" w="sm"/>
            <a:tailEnd type="none" len="sm" w="sm"/>
          </a:ln>
        </p:spPr>
      </p:sp>
      <p:sp>
        <p:nvSpPr>
          <p:cNvPr name="TextBox 97" id="97"/>
          <p:cNvSpPr txBox="true"/>
          <p:nvPr/>
        </p:nvSpPr>
        <p:spPr>
          <a:xfrm rot="0">
            <a:off x="2523291" y="1439259"/>
            <a:ext cx="7595369" cy="222051"/>
          </a:xfrm>
          <a:prstGeom prst="rect">
            <a:avLst/>
          </a:prstGeom>
        </p:spPr>
        <p:txBody>
          <a:bodyPr anchor="t" rtlCol="false" tIns="0" lIns="0" bIns="0" rIns="0">
            <a:spAutoFit/>
          </a:bodyPr>
          <a:lstStyle/>
          <a:p>
            <a:pPr algn="ctr" marL="0" indent="0" lvl="0">
              <a:lnSpc>
                <a:spcPts val="1815"/>
              </a:lnSpc>
              <a:spcBef>
                <a:spcPct val="0"/>
              </a:spcBef>
            </a:pPr>
            <a:r>
              <a:rPr lang="en-US" b="true" sz="1296" strike="noStrike" u="none">
                <a:solidFill>
                  <a:srgbClr val="1E293B"/>
                </a:solidFill>
                <a:latin typeface="프리텐다드 Bold"/>
                <a:ea typeface="프리텐다드 Bold"/>
                <a:cs typeface="프리텐다드 Bold"/>
                <a:sym typeface="프리텐다드 Bold"/>
              </a:rPr>
              <a:t>모든 제도 필요도 96~99% — 막대로는 안 보이는 '격차(Δ)'가 진짜 신호</a:t>
            </a:r>
          </a:p>
        </p:txBody>
      </p:sp>
      <p:sp>
        <p:nvSpPr>
          <p:cNvPr name="AutoShape 98" id="98"/>
          <p:cNvSpPr/>
          <p:nvPr/>
        </p:nvSpPr>
        <p:spPr>
          <a:xfrm>
            <a:off x="2538218" y="1772129"/>
            <a:ext cx="0" cy="1921310"/>
          </a:xfrm>
          <a:prstGeom prst="line">
            <a:avLst/>
          </a:prstGeom>
          <a:ln cap="flat" w="9525">
            <a:solidFill>
              <a:srgbClr val="1E293B"/>
            </a:solidFill>
            <a:prstDash val="solid"/>
            <a:headEnd type="none" len="sm" w="sm"/>
            <a:tailEnd type="none" len="sm" w="sm"/>
          </a:ln>
        </p:spPr>
      </p:sp>
      <p:sp>
        <p:nvSpPr>
          <p:cNvPr name="AutoShape 99" id="99"/>
          <p:cNvSpPr/>
          <p:nvPr/>
        </p:nvSpPr>
        <p:spPr>
          <a:xfrm>
            <a:off x="2538218" y="3649772"/>
            <a:ext cx="7580441" cy="0"/>
          </a:xfrm>
          <a:prstGeom prst="line">
            <a:avLst/>
          </a:prstGeom>
          <a:ln cap="flat" w="9525">
            <a:solidFill>
              <a:srgbClr val="1E293B"/>
            </a:solidFill>
            <a:prstDash val="solid"/>
            <a:headEnd type="none" len="sm" w="sm"/>
            <a:tailEnd type="none" len="sm" w="sm"/>
          </a:ln>
        </p:spPr>
      </p:sp>
      <p:sp>
        <p:nvSpPr>
          <p:cNvPr name="AutoShape 100" id="100"/>
          <p:cNvSpPr/>
          <p:nvPr/>
        </p:nvSpPr>
        <p:spPr>
          <a:xfrm>
            <a:off x="2538218" y="1772129"/>
            <a:ext cx="0" cy="1877644"/>
          </a:xfrm>
          <a:prstGeom prst="line">
            <a:avLst/>
          </a:prstGeom>
          <a:ln cap="flat" w="9525">
            <a:solidFill>
              <a:srgbClr val="E2E8F0"/>
            </a:solidFill>
            <a:prstDash val="solid"/>
            <a:headEnd type="none" len="sm" w="sm"/>
            <a:tailEnd type="none" len="sm" w="sm"/>
          </a:ln>
        </p:spPr>
      </p:sp>
      <p:sp>
        <p:nvSpPr>
          <p:cNvPr name="TextBox 101" id="101"/>
          <p:cNvSpPr txBox="true"/>
          <p:nvPr/>
        </p:nvSpPr>
        <p:spPr>
          <a:xfrm rot="0">
            <a:off x="2363554" y="3683291"/>
            <a:ext cx="349329" cy="147754"/>
          </a:xfrm>
          <a:prstGeom prst="rect">
            <a:avLst/>
          </a:prstGeom>
        </p:spPr>
        <p:txBody>
          <a:bodyPr anchor="t" rtlCol="false" tIns="0" lIns="0" bIns="0" rIns="0">
            <a:spAutoFit/>
          </a:bodyPr>
          <a:lstStyle/>
          <a:p>
            <a:pPr algn="ctr" marL="0" indent="0" lvl="0">
              <a:lnSpc>
                <a:spcPts val="1159"/>
              </a:lnSpc>
              <a:spcBef>
                <a:spcPct val="0"/>
              </a:spcBef>
            </a:pPr>
            <a:r>
              <a:rPr lang="en-US" sz="828" strike="noStrike" u="none">
                <a:solidFill>
                  <a:srgbClr val="94A3B8"/>
                </a:solidFill>
                <a:latin typeface="프리텐다드"/>
                <a:ea typeface="프리텐다드"/>
                <a:cs typeface="프리텐다드"/>
                <a:sym typeface="프리텐다드"/>
              </a:rPr>
              <a:t>4.6</a:t>
            </a:r>
          </a:p>
        </p:txBody>
      </p:sp>
      <p:sp>
        <p:nvSpPr>
          <p:cNvPr name="AutoShape 102" id="102"/>
          <p:cNvSpPr/>
          <p:nvPr/>
        </p:nvSpPr>
        <p:spPr>
          <a:xfrm>
            <a:off x="4049067" y="1772129"/>
            <a:ext cx="0" cy="1877644"/>
          </a:xfrm>
          <a:prstGeom prst="line">
            <a:avLst/>
          </a:prstGeom>
          <a:ln cap="flat" w="9525">
            <a:solidFill>
              <a:srgbClr val="E2E8F0"/>
            </a:solidFill>
            <a:prstDash val="solid"/>
            <a:headEnd type="none" len="sm" w="sm"/>
            <a:tailEnd type="none" len="sm" w="sm"/>
          </a:ln>
        </p:spPr>
      </p:sp>
      <p:sp>
        <p:nvSpPr>
          <p:cNvPr name="TextBox 103" id="103"/>
          <p:cNvSpPr txBox="true"/>
          <p:nvPr/>
        </p:nvSpPr>
        <p:spPr>
          <a:xfrm rot="0">
            <a:off x="3874402" y="3683291"/>
            <a:ext cx="349329" cy="147754"/>
          </a:xfrm>
          <a:prstGeom prst="rect">
            <a:avLst/>
          </a:prstGeom>
        </p:spPr>
        <p:txBody>
          <a:bodyPr anchor="t" rtlCol="false" tIns="0" lIns="0" bIns="0" rIns="0">
            <a:spAutoFit/>
          </a:bodyPr>
          <a:lstStyle/>
          <a:p>
            <a:pPr algn="ctr" marL="0" indent="0" lvl="0">
              <a:lnSpc>
                <a:spcPts val="1159"/>
              </a:lnSpc>
              <a:spcBef>
                <a:spcPct val="0"/>
              </a:spcBef>
            </a:pPr>
            <a:r>
              <a:rPr lang="en-US" sz="828" strike="noStrike" u="none">
                <a:solidFill>
                  <a:srgbClr val="94A3B8"/>
                </a:solidFill>
                <a:latin typeface="프리텐다드"/>
                <a:ea typeface="프리텐다드"/>
                <a:cs typeface="프리텐다드"/>
                <a:sym typeface="프리텐다드"/>
              </a:rPr>
              <a:t>4.7</a:t>
            </a:r>
          </a:p>
        </p:txBody>
      </p:sp>
      <p:sp>
        <p:nvSpPr>
          <p:cNvPr name="AutoShape 104" id="104"/>
          <p:cNvSpPr/>
          <p:nvPr/>
        </p:nvSpPr>
        <p:spPr>
          <a:xfrm>
            <a:off x="5568648" y="1772129"/>
            <a:ext cx="0" cy="1877644"/>
          </a:xfrm>
          <a:prstGeom prst="line">
            <a:avLst/>
          </a:prstGeom>
          <a:ln cap="flat" w="9525">
            <a:solidFill>
              <a:srgbClr val="E2E8F0"/>
            </a:solidFill>
            <a:prstDash val="solid"/>
            <a:headEnd type="none" len="sm" w="sm"/>
            <a:tailEnd type="none" len="sm" w="sm"/>
          </a:ln>
        </p:spPr>
      </p:sp>
      <p:sp>
        <p:nvSpPr>
          <p:cNvPr name="TextBox 105" id="105"/>
          <p:cNvSpPr txBox="true"/>
          <p:nvPr/>
        </p:nvSpPr>
        <p:spPr>
          <a:xfrm rot="0">
            <a:off x="5393984" y="3683291"/>
            <a:ext cx="349329" cy="147754"/>
          </a:xfrm>
          <a:prstGeom prst="rect">
            <a:avLst/>
          </a:prstGeom>
        </p:spPr>
        <p:txBody>
          <a:bodyPr anchor="t" rtlCol="false" tIns="0" lIns="0" bIns="0" rIns="0">
            <a:spAutoFit/>
          </a:bodyPr>
          <a:lstStyle/>
          <a:p>
            <a:pPr algn="ctr" marL="0" indent="0" lvl="0">
              <a:lnSpc>
                <a:spcPts val="1159"/>
              </a:lnSpc>
              <a:spcBef>
                <a:spcPct val="0"/>
              </a:spcBef>
            </a:pPr>
            <a:r>
              <a:rPr lang="en-US" sz="828" strike="noStrike" u="none">
                <a:solidFill>
                  <a:srgbClr val="94A3B8"/>
                </a:solidFill>
                <a:latin typeface="프리텐다드"/>
                <a:ea typeface="프리텐다드"/>
                <a:cs typeface="프리텐다드"/>
                <a:sym typeface="프리텐다드"/>
              </a:rPr>
              <a:t>4.8</a:t>
            </a:r>
          </a:p>
        </p:txBody>
      </p:sp>
      <p:sp>
        <p:nvSpPr>
          <p:cNvPr name="AutoShape 106" id="106"/>
          <p:cNvSpPr/>
          <p:nvPr/>
        </p:nvSpPr>
        <p:spPr>
          <a:xfrm>
            <a:off x="7079496" y="1772129"/>
            <a:ext cx="0" cy="1877644"/>
          </a:xfrm>
          <a:prstGeom prst="line">
            <a:avLst/>
          </a:prstGeom>
          <a:ln cap="flat" w="9525">
            <a:solidFill>
              <a:srgbClr val="E2E8F0"/>
            </a:solidFill>
            <a:prstDash val="solid"/>
            <a:headEnd type="none" len="sm" w="sm"/>
            <a:tailEnd type="none" len="sm" w="sm"/>
          </a:ln>
        </p:spPr>
      </p:sp>
      <p:sp>
        <p:nvSpPr>
          <p:cNvPr name="TextBox 107" id="107"/>
          <p:cNvSpPr txBox="true"/>
          <p:nvPr/>
        </p:nvSpPr>
        <p:spPr>
          <a:xfrm rot="0">
            <a:off x="6904832" y="3683291"/>
            <a:ext cx="349329" cy="147754"/>
          </a:xfrm>
          <a:prstGeom prst="rect">
            <a:avLst/>
          </a:prstGeom>
        </p:spPr>
        <p:txBody>
          <a:bodyPr anchor="t" rtlCol="false" tIns="0" lIns="0" bIns="0" rIns="0">
            <a:spAutoFit/>
          </a:bodyPr>
          <a:lstStyle/>
          <a:p>
            <a:pPr algn="ctr" marL="0" indent="0" lvl="0">
              <a:lnSpc>
                <a:spcPts val="1159"/>
              </a:lnSpc>
              <a:spcBef>
                <a:spcPct val="0"/>
              </a:spcBef>
            </a:pPr>
            <a:r>
              <a:rPr lang="en-US" sz="828" strike="noStrike" u="none">
                <a:solidFill>
                  <a:srgbClr val="94A3B8"/>
                </a:solidFill>
                <a:latin typeface="프리텐다드"/>
                <a:ea typeface="프리텐다드"/>
                <a:cs typeface="프리텐다드"/>
                <a:sym typeface="프리텐다드"/>
              </a:rPr>
              <a:t>4.9</a:t>
            </a:r>
          </a:p>
        </p:txBody>
      </p:sp>
      <p:sp>
        <p:nvSpPr>
          <p:cNvPr name="AutoShape 108" id="108"/>
          <p:cNvSpPr/>
          <p:nvPr/>
        </p:nvSpPr>
        <p:spPr>
          <a:xfrm>
            <a:off x="8599078" y="1772129"/>
            <a:ext cx="0" cy="1877644"/>
          </a:xfrm>
          <a:prstGeom prst="line">
            <a:avLst/>
          </a:prstGeom>
          <a:ln cap="flat" w="9525">
            <a:solidFill>
              <a:srgbClr val="E2E8F0"/>
            </a:solidFill>
            <a:prstDash val="solid"/>
            <a:headEnd type="none" len="sm" w="sm"/>
            <a:tailEnd type="none" len="sm" w="sm"/>
          </a:ln>
        </p:spPr>
      </p:sp>
      <p:sp>
        <p:nvSpPr>
          <p:cNvPr name="TextBox 109" id="109"/>
          <p:cNvSpPr txBox="true"/>
          <p:nvPr/>
        </p:nvSpPr>
        <p:spPr>
          <a:xfrm rot="0">
            <a:off x="8424413" y="3683291"/>
            <a:ext cx="349329" cy="147754"/>
          </a:xfrm>
          <a:prstGeom prst="rect">
            <a:avLst/>
          </a:prstGeom>
        </p:spPr>
        <p:txBody>
          <a:bodyPr anchor="t" rtlCol="false" tIns="0" lIns="0" bIns="0" rIns="0">
            <a:spAutoFit/>
          </a:bodyPr>
          <a:lstStyle/>
          <a:p>
            <a:pPr algn="ctr" marL="0" indent="0" lvl="0">
              <a:lnSpc>
                <a:spcPts val="1159"/>
              </a:lnSpc>
              <a:spcBef>
                <a:spcPct val="0"/>
              </a:spcBef>
            </a:pPr>
            <a:r>
              <a:rPr lang="en-US" sz="828" strike="noStrike" u="none">
                <a:solidFill>
                  <a:srgbClr val="94A3B8"/>
                </a:solidFill>
                <a:latin typeface="프리텐다드"/>
                <a:ea typeface="프리텐다드"/>
                <a:cs typeface="프리텐다드"/>
                <a:sym typeface="프리텐다드"/>
              </a:rPr>
              <a:t>5.0</a:t>
            </a:r>
          </a:p>
        </p:txBody>
      </p:sp>
      <p:sp>
        <p:nvSpPr>
          <p:cNvPr name="AutoShape 110" id="110"/>
          <p:cNvSpPr/>
          <p:nvPr/>
        </p:nvSpPr>
        <p:spPr>
          <a:xfrm>
            <a:off x="10123078" y="1714267"/>
            <a:ext cx="0" cy="1935506"/>
          </a:xfrm>
          <a:prstGeom prst="line">
            <a:avLst/>
          </a:prstGeom>
          <a:ln cap="flat" w="9525">
            <a:solidFill>
              <a:srgbClr val="E2E8F0"/>
            </a:solidFill>
            <a:prstDash val="solid"/>
            <a:headEnd type="none" len="sm" w="sm"/>
            <a:tailEnd type="none" len="sm" w="sm"/>
          </a:ln>
        </p:spPr>
      </p:sp>
      <p:sp>
        <p:nvSpPr>
          <p:cNvPr name="TextBox 111" id="111"/>
          <p:cNvSpPr txBox="true"/>
          <p:nvPr/>
        </p:nvSpPr>
        <p:spPr>
          <a:xfrm rot="0">
            <a:off x="9943995" y="3691063"/>
            <a:ext cx="349329" cy="132209"/>
          </a:xfrm>
          <a:prstGeom prst="rect">
            <a:avLst/>
          </a:prstGeom>
        </p:spPr>
        <p:txBody>
          <a:bodyPr anchor="t" rtlCol="false" tIns="0" lIns="0" bIns="0" rIns="0">
            <a:spAutoFit/>
          </a:bodyPr>
          <a:lstStyle/>
          <a:p>
            <a:pPr algn="ctr" marL="0" indent="0" lvl="0">
              <a:lnSpc>
                <a:spcPts val="1026"/>
              </a:lnSpc>
              <a:spcBef>
                <a:spcPct val="0"/>
              </a:spcBef>
            </a:pPr>
            <a:r>
              <a:rPr lang="en-US" sz="733" strike="noStrike" u="none">
                <a:solidFill>
                  <a:srgbClr val="94A3B8"/>
                </a:solidFill>
                <a:latin typeface="프리텐다드"/>
                <a:ea typeface="프리텐다드"/>
                <a:cs typeface="프리텐다드"/>
                <a:sym typeface="프리텐다드"/>
              </a:rPr>
              <a:t>5.1</a:t>
            </a:r>
          </a:p>
        </p:txBody>
      </p:sp>
      <p:sp>
        <p:nvSpPr>
          <p:cNvPr name="TextBox 112" id="112"/>
          <p:cNvSpPr txBox="true"/>
          <p:nvPr/>
        </p:nvSpPr>
        <p:spPr>
          <a:xfrm rot="0">
            <a:off x="2523291" y="3848637"/>
            <a:ext cx="3493291" cy="159011"/>
          </a:xfrm>
          <a:prstGeom prst="rect">
            <a:avLst/>
          </a:prstGeom>
        </p:spPr>
        <p:txBody>
          <a:bodyPr anchor="t" rtlCol="false" tIns="0" lIns="0" bIns="0" rIns="0">
            <a:spAutoFit/>
          </a:bodyPr>
          <a:lstStyle/>
          <a:p>
            <a:pPr algn="l" marL="0" indent="0" lvl="0">
              <a:lnSpc>
                <a:spcPts val="1361"/>
              </a:lnSpc>
              <a:spcBef>
                <a:spcPct val="0"/>
              </a:spcBef>
            </a:pPr>
            <a:r>
              <a:rPr lang="en-US" sz="972" strike="noStrike" u="none">
                <a:solidFill>
                  <a:srgbClr val="94A3B8"/>
                </a:solidFill>
                <a:latin typeface="프리텐다드"/>
                <a:ea typeface="프리텐다드"/>
                <a:cs typeface="프리텐다드"/>
                <a:sym typeface="프리텐다드"/>
              </a:rPr>
              <a:t>정책 필요도 (5점 만점) — 오른쪽일수록 절실</a:t>
            </a:r>
          </a:p>
        </p:txBody>
      </p:sp>
      <p:sp>
        <p:nvSpPr>
          <p:cNvPr name="TextBox 113" id="113"/>
          <p:cNvSpPr txBox="true"/>
          <p:nvPr/>
        </p:nvSpPr>
        <p:spPr>
          <a:xfrm rot="0">
            <a:off x="721902" y="2073369"/>
            <a:ext cx="1728984" cy="186375"/>
          </a:xfrm>
          <a:prstGeom prst="rect">
            <a:avLst/>
          </a:prstGeom>
        </p:spPr>
        <p:txBody>
          <a:bodyPr anchor="t" rtlCol="false" tIns="0" lIns="0" bIns="0" rIns="0">
            <a:spAutoFit/>
          </a:bodyPr>
          <a:lstStyle/>
          <a:p>
            <a:pPr algn="r" marL="0" indent="0" lvl="0">
              <a:lnSpc>
                <a:spcPts val="1512"/>
              </a:lnSpc>
              <a:spcBef>
                <a:spcPct val="0"/>
              </a:spcBef>
            </a:pPr>
            <a:r>
              <a:rPr lang="en-US" sz="1080" strike="noStrike" u="none">
                <a:solidFill>
                  <a:srgbClr val="1E293B"/>
                </a:solidFill>
                <a:latin typeface="프리텐다드"/>
                <a:ea typeface="프리텐다드"/>
                <a:cs typeface="프리텐다드"/>
                <a:sym typeface="프리텐다드"/>
              </a:rPr>
              <a:t>수업방해 분리 (전체 필요 98%)</a:t>
            </a:r>
          </a:p>
        </p:txBody>
      </p:sp>
      <p:grpSp>
        <p:nvGrpSpPr>
          <p:cNvPr name="Group 114" id="114"/>
          <p:cNvGrpSpPr/>
          <p:nvPr/>
        </p:nvGrpSpPr>
        <p:grpSpPr>
          <a:xfrm rot="0">
            <a:off x="4660393" y="2156391"/>
            <a:ext cx="1964976" cy="52399"/>
            <a:chOff x="0" y="0"/>
            <a:chExt cx="2857500" cy="76200"/>
          </a:xfrm>
        </p:grpSpPr>
        <p:sp>
          <p:nvSpPr>
            <p:cNvPr name="Freeform 115" id="115"/>
            <p:cNvSpPr/>
            <p:nvPr/>
          </p:nvSpPr>
          <p:spPr>
            <a:xfrm flipH="false" flipV="false" rot="0">
              <a:off x="0" y="0"/>
              <a:ext cx="2857500" cy="76200"/>
            </a:xfrm>
            <a:custGeom>
              <a:avLst/>
              <a:gdLst/>
              <a:ahLst/>
              <a:cxnLst/>
              <a:rect r="r" b="b" t="t" l="l"/>
              <a:pathLst>
                <a:path h="76200" w="2857500">
                  <a:moveTo>
                    <a:pt x="2819400" y="0"/>
                  </a:moveTo>
                  <a:cubicBezTo>
                    <a:pt x="2840442" y="0"/>
                    <a:pt x="2857500" y="17058"/>
                    <a:pt x="2857500" y="38100"/>
                  </a:cubicBezTo>
                  <a:cubicBezTo>
                    <a:pt x="2857500" y="59142"/>
                    <a:pt x="2840442" y="76200"/>
                    <a:pt x="2819400" y="76200"/>
                  </a:cubicBezTo>
                  <a:lnTo>
                    <a:pt x="38100" y="76200"/>
                  </a:lnTo>
                  <a:cubicBezTo>
                    <a:pt x="17058" y="76200"/>
                    <a:pt x="0" y="59142"/>
                    <a:pt x="0" y="38100"/>
                  </a:cubicBezTo>
                  <a:cubicBezTo>
                    <a:pt x="0" y="17058"/>
                    <a:pt x="17058" y="0"/>
                    <a:pt x="38100" y="0"/>
                  </a:cubicBezTo>
                  <a:close/>
                </a:path>
              </a:pathLst>
            </a:custGeom>
            <a:solidFill>
              <a:srgbClr val="CBD5E1"/>
            </a:solidFill>
          </p:spPr>
        </p:sp>
        <p:sp>
          <p:nvSpPr>
            <p:cNvPr name="TextBox 116" id="116"/>
            <p:cNvSpPr txBox="true"/>
            <p:nvPr/>
          </p:nvSpPr>
          <p:spPr>
            <a:xfrm>
              <a:off x="0" y="-47625"/>
              <a:ext cx="2857500" cy="123825"/>
            </a:xfrm>
            <a:prstGeom prst="rect">
              <a:avLst/>
            </a:prstGeom>
          </p:spPr>
          <p:txBody>
            <a:bodyPr anchor="ctr" rtlCol="false" tIns="50800" lIns="50800" bIns="50800" rIns="50800"/>
            <a:lstStyle/>
            <a:p>
              <a:pPr algn="l">
                <a:lnSpc>
                  <a:spcPts val="1819"/>
                </a:lnSpc>
              </a:pPr>
            </a:p>
          </p:txBody>
        </p:sp>
      </p:grpSp>
      <p:grpSp>
        <p:nvGrpSpPr>
          <p:cNvPr name="Group 117" id="117"/>
          <p:cNvGrpSpPr/>
          <p:nvPr/>
        </p:nvGrpSpPr>
        <p:grpSpPr>
          <a:xfrm rot="0">
            <a:off x="4607993" y="2130191"/>
            <a:ext cx="104799" cy="104799"/>
            <a:chOff x="0" y="0"/>
            <a:chExt cx="152400" cy="152400"/>
          </a:xfrm>
        </p:grpSpPr>
        <p:sp>
          <p:nvSpPr>
            <p:cNvPr name="Freeform 118" id="118"/>
            <p:cNvSpPr/>
            <p:nvPr/>
          </p:nvSpPr>
          <p:spPr>
            <a:xfrm flipH="false" flipV="false" rot="0">
              <a:off x="0" y="0"/>
              <a:ext cx="152400" cy="152400"/>
            </a:xfrm>
            <a:custGeom>
              <a:avLst/>
              <a:gdLst/>
              <a:ahLst/>
              <a:cxnLst/>
              <a:rect r="r" b="b" t="t" l="l"/>
              <a:pathLst>
                <a:path h="152400" w="152400">
                  <a:moveTo>
                    <a:pt x="76200" y="0"/>
                  </a:moveTo>
                  <a:cubicBezTo>
                    <a:pt x="34116" y="0"/>
                    <a:pt x="0" y="34116"/>
                    <a:pt x="0" y="76200"/>
                  </a:cubicBezTo>
                  <a:cubicBezTo>
                    <a:pt x="0" y="118284"/>
                    <a:pt x="34116" y="152400"/>
                    <a:pt x="76200" y="152400"/>
                  </a:cubicBezTo>
                  <a:cubicBezTo>
                    <a:pt x="118284" y="152400"/>
                    <a:pt x="152400" y="118284"/>
                    <a:pt x="152400" y="76200"/>
                  </a:cubicBezTo>
                  <a:cubicBezTo>
                    <a:pt x="152400" y="34116"/>
                    <a:pt x="118284" y="0"/>
                    <a:pt x="76200" y="0"/>
                  </a:cubicBezTo>
                  <a:close/>
                </a:path>
              </a:pathLst>
            </a:custGeom>
            <a:solidFill>
              <a:srgbClr val="8FA3B8"/>
            </a:solidFill>
          </p:spPr>
        </p:sp>
        <p:sp>
          <p:nvSpPr>
            <p:cNvPr name="TextBox 119" id="119"/>
            <p:cNvSpPr txBox="true"/>
            <p:nvPr/>
          </p:nvSpPr>
          <p:spPr>
            <a:xfrm>
              <a:off x="0" y="-47625"/>
              <a:ext cx="152400" cy="200025"/>
            </a:xfrm>
            <a:prstGeom prst="rect">
              <a:avLst/>
            </a:prstGeom>
          </p:spPr>
          <p:txBody>
            <a:bodyPr anchor="ctr" rtlCol="false" tIns="50800" lIns="50800" bIns="50800" rIns="50800"/>
            <a:lstStyle/>
            <a:p>
              <a:pPr algn="l">
                <a:lnSpc>
                  <a:spcPts val="1819"/>
                </a:lnSpc>
              </a:pPr>
            </a:p>
          </p:txBody>
        </p:sp>
      </p:grpSp>
      <p:grpSp>
        <p:nvGrpSpPr>
          <p:cNvPr name="Group 120" id="120"/>
          <p:cNvGrpSpPr/>
          <p:nvPr/>
        </p:nvGrpSpPr>
        <p:grpSpPr>
          <a:xfrm rot="0">
            <a:off x="6572969" y="2130191"/>
            <a:ext cx="104799" cy="104799"/>
            <a:chOff x="0" y="0"/>
            <a:chExt cx="152400" cy="152400"/>
          </a:xfrm>
        </p:grpSpPr>
        <p:sp>
          <p:nvSpPr>
            <p:cNvPr name="Freeform 121" id="121"/>
            <p:cNvSpPr/>
            <p:nvPr/>
          </p:nvSpPr>
          <p:spPr>
            <a:xfrm flipH="false" flipV="false" rot="0">
              <a:off x="0" y="0"/>
              <a:ext cx="152400" cy="152400"/>
            </a:xfrm>
            <a:custGeom>
              <a:avLst/>
              <a:gdLst/>
              <a:ahLst/>
              <a:cxnLst/>
              <a:rect r="r" b="b" t="t" l="l"/>
              <a:pathLst>
                <a:path h="152400" w="152400">
                  <a:moveTo>
                    <a:pt x="76200" y="0"/>
                  </a:moveTo>
                  <a:cubicBezTo>
                    <a:pt x="34116" y="0"/>
                    <a:pt x="0" y="34116"/>
                    <a:pt x="0" y="76200"/>
                  </a:cubicBezTo>
                  <a:cubicBezTo>
                    <a:pt x="0" y="118284"/>
                    <a:pt x="34116" y="152400"/>
                    <a:pt x="76200" y="152400"/>
                  </a:cubicBezTo>
                  <a:cubicBezTo>
                    <a:pt x="118284" y="152400"/>
                    <a:pt x="152400" y="118284"/>
                    <a:pt x="152400" y="76200"/>
                  </a:cubicBezTo>
                  <a:cubicBezTo>
                    <a:pt x="152400" y="34116"/>
                    <a:pt x="118284" y="0"/>
                    <a:pt x="76200" y="0"/>
                  </a:cubicBezTo>
                  <a:close/>
                </a:path>
              </a:pathLst>
            </a:custGeom>
            <a:solidFill>
              <a:srgbClr val="6B2C2C"/>
            </a:solidFill>
          </p:spPr>
        </p:sp>
        <p:sp>
          <p:nvSpPr>
            <p:cNvPr name="TextBox 122" id="122"/>
            <p:cNvSpPr txBox="true"/>
            <p:nvPr/>
          </p:nvSpPr>
          <p:spPr>
            <a:xfrm>
              <a:off x="0" y="-47625"/>
              <a:ext cx="152400" cy="200025"/>
            </a:xfrm>
            <a:prstGeom prst="rect">
              <a:avLst/>
            </a:prstGeom>
          </p:spPr>
          <p:txBody>
            <a:bodyPr anchor="ctr" rtlCol="false" tIns="50800" lIns="50800" bIns="50800" rIns="50800"/>
            <a:lstStyle/>
            <a:p>
              <a:pPr algn="l">
                <a:lnSpc>
                  <a:spcPts val="1819"/>
                </a:lnSpc>
              </a:pPr>
            </a:p>
          </p:txBody>
        </p:sp>
      </p:grpSp>
      <p:sp>
        <p:nvSpPr>
          <p:cNvPr name="TextBox 123" id="123"/>
          <p:cNvSpPr txBox="true"/>
          <p:nvPr/>
        </p:nvSpPr>
        <p:spPr>
          <a:xfrm rot="0">
            <a:off x="4206265" y="2100753"/>
            <a:ext cx="349329" cy="143461"/>
          </a:xfrm>
          <a:prstGeom prst="rect">
            <a:avLst/>
          </a:prstGeom>
        </p:spPr>
        <p:txBody>
          <a:bodyPr anchor="t" rtlCol="false" tIns="0" lIns="0" bIns="0" rIns="0">
            <a:spAutoFit/>
          </a:bodyPr>
          <a:lstStyle/>
          <a:p>
            <a:pPr algn="r" marL="0" indent="0" lvl="0">
              <a:lnSpc>
                <a:spcPts val="1210"/>
              </a:lnSpc>
              <a:spcBef>
                <a:spcPct val="0"/>
              </a:spcBef>
            </a:pPr>
            <a:r>
              <a:rPr lang="en-US" sz="864" strike="noStrike" u="none">
                <a:solidFill>
                  <a:srgbClr val="8FA3B8"/>
                </a:solidFill>
                <a:latin typeface="프리텐다드"/>
                <a:ea typeface="프리텐다드"/>
                <a:cs typeface="프리텐다드"/>
                <a:sym typeface="프리텐다드"/>
              </a:rPr>
              <a:t>4.74</a:t>
            </a:r>
          </a:p>
        </p:txBody>
      </p:sp>
      <p:sp>
        <p:nvSpPr>
          <p:cNvPr name="TextBox 124" id="124"/>
          <p:cNvSpPr txBox="true"/>
          <p:nvPr/>
        </p:nvSpPr>
        <p:spPr>
          <a:xfrm rot="0">
            <a:off x="6747634" y="2099588"/>
            <a:ext cx="436661" cy="143461"/>
          </a:xfrm>
          <a:prstGeom prst="rect">
            <a:avLst/>
          </a:prstGeom>
        </p:spPr>
        <p:txBody>
          <a:bodyPr anchor="t" rtlCol="false" tIns="0" lIns="0" bIns="0" rIns="0">
            <a:spAutoFit/>
          </a:bodyPr>
          <a:lstStyle/>
          <a:p>
            <a:pPr algn="l" marL="0" indent="0" lvl="0">
              <a:lnSpc>
                <a:spcPts val="1210"/>
              </a:lnSpc>
              <a:spcBef>
                <a:spcPct val="0"/>
              </a:spcBef>
            </a:pPr>
            <a:r>
              <a:rPr lang="en-US" sz="864" strike="noStrike" u="none">
                <a:solidFill>
                  <a:srgbClr val="6B2C2C"/>
                </a:solidFill>
                <a:latin typeface="프리텐다드"/>
                <a:ea typeface="프리텐다드"/>
                <a:cs typeface="프리텐다드"/>
                <a:sym typeface="프리텐다드"/>
              </a:rPr>
              <a:t>+0.13</a:t>
            </a:r>
          </a:p>
        </p:txBody>
      </p:sp>
      <p:sp>
        <p:nvSpPr>
          <p:cNvPr name="TextBox 125" id="125"/>
          <p:cNvSpPr txBox="true"/>
          <p:nvPr/>
        </p:nvSpPr>
        <p:spPr>
          <a:xfrm rot="0">
            <a:off x="518965" y="2440164"/>
            <a:ext cx="1931922" cy="186375"/>
          </a:xfrm>
          <a:prstGeom prst="rect">
            <a:avLst/>
          </a:prstGeom>
        </p:spPr>
        <p:txBody>
          <a:bodyPr anchor="t" rtlCol="false" tIns="0" lIns="0" bIns="0" rIns="0">
            <a:spAutoFit/>
          </a:bodyPr>
          <a:lstStyle/>
          <a:p>
            <a:pPr algn="r" marL="0" indent="0" lvl="0">
              <a:lnSpc>
                <a:spcPts val="1512"/>
              </a:lnSpc>
              <a:spcBef>
                <a:spcPct val="0"/>
              </a:spcBef>
            </a:pPr>
            <a:r>
              <a:rPr lang="en-US" sz="1080" strike="noStrike" u="none">
                <a:solidFill>
                  <a:srgbClr val="1E293B"/>
                </a:solidFill>
                <a:latin typeface="프리텐다드"/>
                <a:ea typeface="프리텐다드"/>
                <a:cs typeface="프리텐다드"/>
                <a:sym typeface="프리텐다드"/>
              </a:rPr>
              <a:t>악성민원 패널티 (전체 필요 99%)</a:t>
            </a:r>
          </a:p>
        </p:txBody>
      </p:sp>
      <p:grpSp>
        <p:nvGrpSpPr>
          <p:cNvPr name="Group 126" id="126"/>
          <p:cNvGrpSpPr/>
          <p:nvPr/>
        </p:nvGrpSpPr>
        <p:grpSpPr>
          <a:xfrm rot="0">
            <a:off x="5717113" y="2523186"/>
            <a:ext cx="1973709" cy="52399"/>
            <a:chOff x="0" y="0"/>
            <a:chExt cx="2870200" cy="76200"/>
          </a:xfrm>
        </p:grpSpPr>
        <p:sp>
          <p:nvSpPr>
            <p:cNvPr name="Freeform 127" id="127"/>
            <p:cNvSpPr/>
            <p:nvPr/>
          </p:nvSpPr>
          <p:spPr>
            <a:xfrm flipH="false" flipV="false" rot="0">
              <a:off x="0" y="0"/>
              <a:ext cx="2870200" cy="76200"/>
            </a:xfrm>
            <a:custGeom>
              <a:avLst/>
              <a:gdLst/>
              <a:ahLst/>
              <a:cxnLst/>
              <a:rect r="r" b="b" t="t" l="l"/>
              <a:pathLst>
                <a:path h="76200" w="2870200">
                  <a:moveTo>
                    <a:pt x="2832100" y="0"/>
                  </a:moveTo>
                  <a:cubicBezTo>
                    <a:pt x="2853142" y="0"/>
                    <a:pt x="2870200" y="17058"/>
                    <a:pt x="2870200" y="38100"/>
                  </a:cubicBezTo>
                  <a:cubicBezTo>
                    <a:pt x="2870200" y="59142"/>
                    <a:pt x="2853142" y="76200"/>
                    <a:pt x="2832100" y="76200"/>
                  </a:cubicBezTo>
                  <a:lnTo>
                    <a:pt x="38100" y="76200"/>
                  </a:lnTo>
                  <a:cubicBezTo>
                    <a:pt x="17058" y="76200"/>
                    <a:pt x="0" y="59142"/>
                    <a:pt x="0" y="38100"/>
                  </a:cubicBezTo>
                  <a:cubicBezTo>
                    <a:pt x="0" y="17058"/>
                    <a:pt x="17058" y="0"/>
                    <a:pt x="38100" y="0"/>
                  </a:cubicBezTo>
                  <a:close/>
                </a:path>
              </a:pathLst>
            </a:custGeom>
            <a:solidFill>
              <a:srgbClr val="CBD5E1"/>
            </a:solidFill>
          </p:spPr>
        </p:sp>
        <p:sp>
          <p:nvSpPr>
            <p:cNvPr name="TextBox 128" id="128"/>
            <p:cNvSpPr txBox="true"/>
            <p:nvPr/>
          </p:nvSpPr>
          <p:spPr>
            <a:xfrm>
              <a:off x="0" y="-47625"/>
              <a:ext cx="2870200" cy="123825"/>
            </a:xfrm>
            <a:prstGeom prst="rect">
              <a:avLst/>
            </a:prstGeom>
          </p:spPr>
          <p:txBody>
            <a:bodyPr anchor="ctr" rtlCol="false" tIns="50800" lIns="50800" bIns="50800" rIns="50800"/>
            <a:lstStyle/>
            <a:p>
              <a:pPr algn="l">
                <a:lnSpc>
                  <a:spcPts val="1819"/>
                </a:lnSpc>
              </a:pPr>
            </a:p>
          </p:txBody>
        </p:sp>
      </p:grpSp>
      <p:grpSp>
        <p:nvGrpSpPr>
          <p:cNvPr name="Group 129" id="129"/>
          <p:cNvGrpSpPr/>
          <p:nvPr/>
        </p:nvGrpSpPr>
        <p:grpSpPr>
          <a:xfrm rot="0">
            <a:off x="5664714" y="2496986"/>
            <a:ext cx="104799" cy="104799"/>
            <a:chOff x="0" y="0"/>
            <a:chExt cx="152400" cy="152400"/>
          </a:xfrm>
        </p:grpSpPr>
        <p:sp>
          <p:nvSpPr>
            <p:cNvPr name="Freeform 130" id="130"/>
            <p:cNvSpPr/>
            <p:nvPr/>
          </p:nvSpPr>
          <p:spPr>
            <a:xfrm flipH="false" flipV="false" rot="0">
              <a:off x="0" y="0"/>
              <a:ext cx="152400" cy="152400"/>
            </a:xfrm>
            <a:custGeom>
              <a:avLst/>
              <a:gdLst/>
              <a:ahLst/>
              <a:cxnLst/>
              <a:rect r="r" b="b" t="t" l="l"/>
              <a:pathLst>
                <a:path h="152400" w="152400">
                  <a:moveTo>
                    <a:pt x="76200" y="0"/>
                  </a:moveTo>
                  <a:cubicBezTo>
                    <a:pt x="34116" y="0"/>
                    <a:pt x="0" y="34116"/>
                    <a:pt x="0" y="76200"/>
                  </a:cubicBezTo>
                  <a:cubicBezTo>
                    <a:pt x="0" y="118284"/>
                    <a:pt x="34116" y="152400"/>
                    <a:pt x="76200" y="152400"/>
                  </a:cubicBezTo>
                  <a:cubicBezTo>
                    <a:pt x="118284" y="152400"/>
                    <a:pt x="152400" y="118284"/>
                    <a:pt x="152400" y="76200"/>
                  </a:cubicBezTo>
                  <a:cubicBezTo>
                    <a:pt x="152400" y="34116"/>
                    <a:pt x="118284" y="0"/>
                    <a:pt x="76200" y="0"/>
                  </a:cubicBezTo>
                  <a:close/>
                </a:path>
              </a:pathLst>
            </a:custGeom>
            <a:solidFill>
              <a:srgbClr val="8FA3B8"/>
            </a:solidFill>
          </p:spPr>
        </p:sp>
        <p:sp>
          <p:nvSpPr>
            <p:cNvPr name="TextBox 131" id="131"/>
            <p:cNvSpPr txBox="true"/>
            <p:nvPr/>
          </p:nvSpPr>
          <p:spPr>
            <a:xfrm>
              <a:off x="0" y="-47625"/>
              <a:ext cx="152400" cy="200025"/>
            </a:xfrm>
            <a:prstGeom prst="rect">
              <a:avLst/>
            </a:prstGeom>
          </p:spPr>
          <p:txBody>
            <a:bodyPr anchor="ctr" rtlCol="false" tIns="50800" lIns="50800" bIns="50800" rIns="50800"/>
            <a:lstStyle/>
            <a:p>
              <a:pPr algn="l">
                <a:lnSpc>
                  <a:spcPts val="1819"/>
                </a:lnSpc>
              </a:pPr>
            </a:p>
          </p:txBody>
        </p:sp>
      </p:grpSp>
      <p:grpSp>
        <p:nvGrpSpPr>
          <p:cNvPr name="Group 132" id="132"/>
          <p:cNvGrpSpPr/>
          <p:nvPr/>
        </p:nvGrpSpPr>
        <p:grpSpPr>
          <a:xfrm rot="0">
            <a:off x="7638423" y="2496986"/>
            <a:ext cx="104799" cy="104799"/>
            <a:chOff x="0" y="0"/>
            <a:chExt cx="152400" cy="152400"/>
          </a:xfrm>
        </p:grpSpPr>
        <p:sp>
          <p:nvSpPr>
            <p:cNvPr name="Freeform 133" id="133"/>
            <p:cNvSpPr/>
            <p:nvPr/>
          </p:nvSpPr>
          <p:spPr>
            <a:xfrm flipH="false" flipV="false" rot="0">
              <a:off x="0" y="0"/>
              <a:ext cx="152400" cy="152400"/>
            </a:xfrm>
            <a:custGeom>
              <a:avLst/>
              <a:gdLst/>
              <a:ahLst/>
              <a:cxnLst/>
              <a:rect r="r" b="b" t="t" l="l"/>
              <a:pathLst>
                <a:path h="152400" w="152400">
                  <a:moveTo>
                    <a:pt x="76200" y="0"/>
                  </a:moveTo>
                  <a:cubicBezTo>
                    <a:pt x="34116" y="0"/>
                    <a:pt x="0" y="34116"/>
                    <a:pt x="0" y="76200"/>
                  </a:cubicBezTo>
                  <a:cubicBezTo>
                    <a:pt x="0" y="118284"/>
                    <a:pt x="34116" y="152400"/>
                    <a:pt x="76200" y="152400"/>
                  </a:cubicBezTo>
                  <a:cubicBezTo>
                    <a:pt x="118284" y="152400"/>
                    <a:pt x="152400" y="118284"/>
                    <a:pt x="152400" y="76200"/>
                  </a:cubicBezTo>
                  <a:cubicBezTo>
                    <a:pt x="152400" y="34116"/>
                    <a:pt x="118284" y="0"/>
                    <a:pt x="76200" y="0"/>
                  </a:cubicBezTo>
                  <a:close/>
                </a:path>
              </a:pathLst>
            </a:custGeom>
            <a:solidFill>
              <a:srgbClr val="6B2C2C"/>
            </a:solidFill>
          </p:spPr>
        </p:sp>
        <p:sp>
          <p:nvSpPr>
            <p:cNvPr name="TextBox 134" id="134"/>
            <p:cNvSpPr txBox="true"/>
            <p:nvPr/>
          </p:nvSpPr>
          <p:spPr>
            <a:xfrm>
              <a:off x="0" y="-47625"/>
              <a:ext cx="152400" cy="200025"/>
            </a:xfrm>
            <a:prstGeom prst="rect">
              <a:avLst/>
            </a:prstGeom>
          </p:spPr>
          <p:txBody>
            <a:bodyPr anchor="ctr" rtlCol="false" tIns="50800" lIns="50800" bIns="50800" rIns="50800"/>
            <a:lstStyle/>
            <a:p>
              <a:pPr algn="l">
                <a:lnSpc>
                  <a:spcPts val="1819"/>
                </a:lnSpc>
              </a:pPr>
            </a:p>
          </p:txBody>
        </p:sp>
      </p:grpSp>
      <p:sp>
        <p:nvSpPr>
          <p:cNvPr name="TextBox 135" id="135"/>
          <p:cNvSpPr txBox="true"/>
          <p:nvPr/>
        </p:nvSpPr>
        <p:spPr>
          <a:xfrm rot="0">
            <a:off x="5262985" y="2467548"/>
            <a:ext cx="349329" cy="143461"/>
          </a:xfrm>
          <a:prstGeom prst="rect">
            <a:avLst/>
          </a:prstGeom>
        </p:spPr>
        <p:txBody>
          <a:bodyPr anchor="t" rtlCol="false" tIns="0" lIns="0" bIns="0" rIns="0">
            <a:spAutoFit/>
          </a:bodyPr>
          <a:lstStyle/>
          <a:p>
            <a:pPr algn="r" marL="0" indent="0" lvl="0">
              <a:lnSpc>
                <a:spcPts val="1210"/>
              </a:lnSpc>
              <a:spcBef>
                <a:spcPct val="0"/>
              </a:spcBef>
            </a:pPr>
            <a:r>
              <a:rPr lang="en-US" sz="864" strike="noStrike" u="none">
                <a:solidFill>
                  <a:srgbClr val="8FA3B8"/>
                </a:solidFill>
                <a:latin typeface="프리텐다드"/>
                <a:ea typeface="프리텐다드"/>
                <a:cs typeface="프리텐다드"/>
                <a:sym typeface="프리텐다드"/>
              </a:rPr>
              <a:t>4.81</a:t>
            </a:r>
          </a:p>
        </p:txBody>
      </p:sp>
      <p:sp>
        <p:nvSpPr>
          <p:cNvPr name="TextBox 136" id="136"/>
          <p:cNvSpPr txBox="true"/>
          <p:nvPr/>
        </p:nvSpPr>
        <p:spPr>
          <a:xfrm rot="0">
            <a:off x="7813087" y="2466384"/>
            <a:ext cx="436661" cy="143461"/>
          </a:xfrm>
          <a:prstGeom prst="rect">
            <a:avLst/>
          </a:prstGeom>
        </p:spPr>
        <p:txBody>
          <a:bodyPr anchor="t" rtlCol="false" tIns="0" lIns="0" bIns="0" rIns="0">
            <a:spAutoFit/>
          </a:bodyPr>
          <a:lstStyle/>
          <a:p>
            <a:pPr algn="l" marL="0" indent="0" lvl="0">
              <a:lnSpc>
                <a:spcPts val="1210"/>
              </a:lnSpc>
              <a:spcBef>
                <a:spcPct val="0"/>
              </a:spcBef>
            </a:pPr>
            <a:r>
              <a:rPr lang="en-US" sz="864" strike="noStrike" u="none">
                <a:solidFill>
                  <a:srgbClr val="6B2C2C"/>
                </a:solidFill>
                <a:latin typeface="프리텐다드"/>
                <a:ea typeface="프리텐다드"/>
                <a:cs typeface="프리텐다드"/>
                <a:sym typeface="프리텐다드"/>
              </a:rPr>
              <a:t>+0.13</a:t>
            </a:r>
          </a:p>
        </p:txBody>
      </p:sp>
      <p:sp>
        <p:nvSpPr>
          <p:cNvPr name="TextBox 137" id="137"/>
          <p:cNvSpPr txBox="true"/>
          <p:nvPr/>
        </p:nvSpPr>
        <p:spPr>
          <a:xfrm rot="0">
            <a:off x="290660" y="2806960"/>
            <a:ext cx="2160226" cy="186375"/>
          </a:xfrm>
          <a:prstGeom prst="rect">
            <a:avLst/>
          </a:prstGeom>
        </p:spPr>
        <p:txBody>
          <a:bodyPr anchor="t" rtlCol="false" tIns="0" lIns="0" bIns="0" rIns="0">
            <a:spAutoFit/>
          </a:bodyPr>
          <a:lstStyle/>
          <a:p>
            <a:pPr algn="r" marL="0" indent="0" lvl="0">
              <a:lnSpc>
                <a:spcPts val="1512"/>
              </a:lnSpc>
              <a:spcBef>
                <a:spcPct val="0"/>
              </a:spcBef>
            </a:pPr>
            <a:r>
              <a:rPr lang="en-US" sz="1080" strike="noStrike" u="none">
                <a:solidFill>
                  <a:srgbClr val="1E293B"/>
                </a:solidFill>
                <a:latin typeface="프리텐다드"/>
                <a:ea typeface="프리텐다드"/>
                <a:cs typeface="프리텐다드"/>
                <a:sym typeface="프리텐다드"/>
              </a:rPr>
              <a:t>아동학대 신고보호 (전체 필요 99%)</a:t>
            </a:r>
          </a:p>
        </p:txBody>
      </p:sp>
      <p:grpSp>
        <p:nvGrpSpPr>
          <p:cNvPr name="Group 138" id="138"/>
          <p:cNvGrpSpPr/>
          <p:nvPr/>
        </p:nvGrpSpPr>
        <p:grpSpPr>
          <a:xfrm rot="0">
            <a:off x="6022776" y="2889982"/>
            <a:ext cx="1668046" cy="52399"/>
            <a:chOff x="0" y="0"/>
            <a:chExt cx="2425700" cy="76200"/>
          </a:xfrm>
        </p:grpSpPr>
        <p:sp>
          <p:nvSpPr>
            <p:cNvPr name="Freeform 139" id="139"/>
            <p:cNvSpPr/>
            <p:nvPr/>
          </p:nvSpPr>
          <p:spPr>
            <a:xfrm flipH="false" flipV="false" rot="0">
              <a:off x="0" y="0"/>
              <a:ext cx="2425700" cy="76200"/>
            </a:xfrm>
            <a:custGeom>
              <a:avLst/>
              <a:gdLst/>
              <a:ahLst/>
              <a:cxnLst/>
              <a:rect r="r" b="b" t="t" l="l"/>
              <a:pathLst>
                <a:path h="76200" w="2425700">
                  <a:moveTo>
                    <a:pt x="2387600" y="0"/>
                  </a:moveTo>
                  <a:cubicBezTo>
                    <a:pt x="2408642" y="0"/>
                    <a:pt x="2425700" y="17058"/>
                    <a:pt x="2425700" y="38100"/>
                  </a:cubicBezTo>
                  <a:cubicBezTo>
                    <a:pt x="2425700" y="59142"/>
                    <a:pt x="2408642" y="76200"/>
                    <a:pt x="2387600" y="76200"/>
                  </a:cubicBezTo>
                  <a:lnTo>
                    <a:pt x="38100" y="76200"/>
                  </a:lnTo>
                  <a:cubicBezTo>
                    <a:pt x="17058" y="76200"/>
                    <a:pt x="0" y="59142"/>
                    <a:pt x="0" y="38100"/>
                  </a:cubicBezTo>
                  <a:cubicBezTo>
                    <a:pt x="0" y="17058"/>
                    <a:pt x="17058" y="0"/>
                    <a:pt x="38100" y="0"/>
                  </a:cubicBezTo>
                  <a:close/>
                </a:path>
              </a:pathLst>
            </a:custGeom>
            <a:solidFill>
              <a:srgbClr val="CBD5E1"/>
            </a:solidFill>
          </p:spPr>
        </p:sp>
        <p:sp>
          <p:nvSpPr>
            <p:cNvPr name="TextBox 140" id="140"/>
            <p:cNvSpPr txBox="true"/>
            <p:nvPr/>
          </p:nvSpPr>
          <p:spPr>
            <a:xfrm>
              <a:off x="0" y="-47625"/>
              <a:ext cx="2425700" cy="123825"/>
            </a:xfrm>
            <a:prstGeom prst="rect">
              <a:avLst/>
            </a:prstGeom>
          </p:spPr>
          <p:txBody>
            <a:bodyPr anchor="ctr" rtlCol="false" tIns="50800" lIns="50800" bIns="50800" rIns="50800"/>
            <a:lstStyle/>
            <a:p>
              <a:pPr algn="l">
                <a:lnSpc>
                  <a:spcPts val="1819"/>
                </a:lnSpc>
              </a:pPr>
            </a:p>
          </p:txBody>
        </p:sp>
      </p:grpSp>
      <p:grpSp>
        <p:nvGrpSpPr>
          <p:cNvPr name="Group 141" id="141"/>
          <p:cNvGrpSpPr/>
          <p:nvPr/>
        </p:nvGrpSpPr>
        <p:grpSpPr>
          <a:xfrm rot="0">
            <a:off x="5970377" y="2863782"/>
            <a:ext cx="104799" cy="104799"/>
            <a:chOff x="0" y="0"/>
            <a:chExt cx="152400" cy="152400"/>
          </a:xfrm>
        </p:grpSpPr>
        <p:sp>
          <p:nvSpPr>
            <p:cNvPr name="Freeform 142" id="142"/>
            <p:cNvSpPr/>
            <p:nvPr/>
          </p:nvSpPr>
          <p:spPr>
            <a:xfrm flipH="false" flipV="false" rot="0">
              <a:off x="0" y="0"/>
              <a:ext cx="152400" cy="152400"/>
            </a:xfrm>
            <a:custGeom>
              <a:avLst/>
              <a:gdLst/>
              <a:ahLst/>
              <a:cxnLst/>
              <a:rect r="r" b="b" t="t" l="l"/>
              <a:pathLst>
                <a:path h="152400" w="152400">
                  <a:moveTo>
                    <a:pt x="76200" y="0"/>
                  </a:moveTo>
                  <a:cubicBezTo>
                    <a:pt x="34116" y="0"/>
                    <a:pt x="0" y="34116"/>
                    <a:pt x="0" y="76200"/>
                  </a:cubicBezTo>
                  <a:cubicBezTo>
                    <a:pt x="0" y="118284"/>
                    <a:pt x="34116" y="152400"/>
                    <a:pt x="76200" y="152400"/>
                  </a:cubicBezTo>
                  <a:cubicBezTo>
                    <a:pt x="118284" y="152400"/>
                    <a:pt x="152400" y="118284"/>
                    <a:pt x="152400" y="76200"/>
                  </a:cubicBezTo>
                  <a:cubicBezTo>
                    <a:pt x="152400" y="34116"/>
                    <a:pt x="118284" y="0"/>
                    <a:pt x="76200" y="0"/>
                  </a:cubicBezTo>
                  <a:close/>
                </a:path>
              </a:pathLst>
            </a:custGeom>
            <a:solidFill>
              <a:srgbClr val="8FA3B8"/>
            </a:solidFill>
          </p:spPr>
        </p:sp>
        <p:sp>
          <p:nvSpPr>
            <p:cNvPr name="TextBox 143" id="143"/>
            <p:cNvSpPr txBox="true"/>
            <p:nvPr/>
          </p:nvSpPr>
          <p:spPr>
            <a:xfrm>
              <a:off x="0" y="-47625"/>
              <a:ext cx="152400" cy="200025"/>
            </a:xfrm>
            <a:prstGeom prst="rect">
              <a:avLst/>
            </a:prstGeom>
          </p:spPr>
          <p:txBody>
            <a:bodyPr anchor="ctr" rtlCol="false" tIns="50800" lIns="50800" bIns="50800" rIns="50800"/>
            <a:lstStyle/>
            <a:p>
              <a:pPr algn="l">
                <a:lnSpc>
                  <a:spcPts val="1819"/>
                </a:lnSpc>
              </a:pPr>
            </a:p>
          </p:txBody>
        </p:sp>
      </p:grpSp>
      <p:grpSp>
        <p:nvGrpSpPr>
          <p:cNvPr name="Group 144" id="144"/>
          <p:cNvGrpSpPr/>
          <p:nvPr/>
        </p:nvGrpSpPr>
        <p:grpSpPr>
          <a:xfrm rot="0">
            <a:off x="7638423" y="2863782"/>
            <a:ext cx="104799" cy="104799"/>
            <a:chOff x="0" y="0"/>
            <a:chExt cx="152400" cy="152400"/>
          </a:xfrm>
        </p:grpSpPr>
        <p:sp>
          <p:nvSpPr>
            <p:cNvPr name="Freeform 145" id="145"/>
            <p:cNvSpPr/>
            <p:nvPr/>
          </p:nvSpPr>
          <p:spPr>
            <a:xfrm flipH="false" flipV="false" rot="0">
              <a:off x="0" y="0"/>
              <a:ext cx="152400" cy="152400"/>
            </a:xfrm>
            <a:custGeom>
              <a:avLst/>
              <a:gdLst/>
              <a:ahLst/>
              <a:cxnLst/>
              <a:rect r="r" b="b" t="t" l="l"/>
              <a:pathLst>
                <a:path h="152400" w="152400">
                  <a:moveTo>
                    <a:pt x="76200" y="0"/>
                  </a:moveTo>
                  <a:cubicBezTo>
                    <a:pt x="34116" y="0"/>
                    <a:pt x="0" y="34116"/>
                    <a:pt x="0" y="76200"/>
                  </a:cubicBezTo>
                  <a:cubicBezTo>
                    <a:pt x="0" y="118284"/>
                    <a:pt x="34116" y="152400"/>
                    <a:pt x="76200" y="152400"/>
                  </a:cubicBezTo>
                  <a:cubicBezTo>
                    <a:pt x="118284" y="152400"/>
                    <a:pt x="152400" y="118284"/>
                    <a:pt x="152400" y="76200"/>
                  </a:cubicBezTo>
                  <a:cubicBezTo>
                    <a:pt x="152400" y="34116"/>
                    <a:pt x="118284" y="0"/>
                    <a:pt x="76200" y="0"/>
                  </a:cubicBezTo>
                  <a:close/>
                </a:path>
              </a:pathLst>
            </a:custGeom>
            <a:solidFill>
              <a:srgbClr val="6B2C2C"/>
            </a:solidFill>
          </p:spPr>
        </p:sp>
        <p:sp>
          <p:nvSpPr>
            <p:cNvPr name="TextBox 146" id="146"/>
            <p:cNvSpPr txBox="true"/>
            <p:nvPr/>
          </p:nvSpPr>
          <p:spPr>
            <a:xfrm>
              <a:off x="0" y="-47625"/>
              <a:ext cx="152400" cy="200025"/>
            </a:xfrm>
            <a:prstGeom prst="rect">
              <a:avLst/>
            </a:prstGeom>
          </p:spPr>
          <p:txBody>
            <a:bodyPr anchor="ctr" rtlCol="false" tIns="50800" lIns="50800" bIns="50800" rIns="50800"/>
            <a:lstStyle/>
            <a:p>
              <a:pPr algn="l">
                <a:lnSpc>
                  <a:spcPts val="1819"/>
                </a:lnSpc>
              </a:pPr>
            </a:p>
          </p:txBody>
        </p:sp>
      </p:grpSp>
      <p:sp>
        <p:nvSpPr>
          <p:cNvPr name="TextBox 147" id="147"/>
          <p:cNvSpPr txBox="true"/>
          <p:nvPr/>
        </p:nvSpPr>
        <p:spPr>
          <a:xfrm rot="0">
            <a:off x="5568648" y="2834344"/>
            <a:ext cx="349329" cy="143461"/>
          </a:xfrm>
          <a:prstGeom prst="rect">
            <a:avLst/>
          </a:prstGeom>
        </p:spPr>
        <p:txBody>
          <a:bodyPr anchor="t" rtlCol="false" tIns="0" lIns="0" bIns="0" rIns="0">
            <a:spAutoFit/>
          </a:bodyPr>
          <a:lstStyle/>
          <a:p>
            <a:pPr algn="r" marL="0" indent="0" lvl="0">
              <a:lnSpc>
                <a:spcPts val="1210"/>
              </a:lnSpc>
              <a:spcBef>
                <a:spcPct val="0"/>
              </a:spcBef>
            </a:pPr>
            <a:r>
              <a:rPr lang="en-US" sz="864" strike="noStrike" u="none">
                <a:solidFill>
                  <a:srgbClr val="8FA3B8"/>
                </a:solidFill>
                <a:latin typeface="프리텐다드"/>
                <a:ea typeface="프리텐다드"/>
                <a:cs typeface="프리텐다드"/>
                <a:sym typeface="프리텐다드"/>
              </a:rPr>
              <a:t>4.83</a:t>
            </a:r>
          </a:p>
        </p:txBody>
      </p:sp>
      <p:sp>
        <p:nvSpPr>
          <p:cNvPr name="TextBox 148" id="148"/>
          <p:cNvSpPr txBox="true"/>
          <p:nvPr/>
        </p:nvSpPr>
        <p:spPr>
          <a:xfrm rot="0">
            <a:off x="7813087" y="2833179"/>
            <a:ext cx="436661" cy="143461"/>
          </a:xfrm>
          <a:prstGeom prst="rect">
            <a:avLst/>
          </a:prstGeom>
        </p:spPr>
        <p:txBody>
          <a:bodyPr anchor="t" rtlCol="false" tIns="0" lIns="0" bIns="0" rIns="0">
            <a:spAutoFit/>
          </a:bodyPr>
          <a:lstStyle/>
          <a:p>
            <a:pPr algn="l" marL="0" indent="0" lvl="0">
              <a:lnSpc>
                <a:spcPts val="1210"/>
              </a:lnSpc>
              <a:spcBef>
                <a:spcPct val="0"/>
              </a:spcBef>
            </a:pPr>
            <a:r>
              <a:rPr lang="en-US" sz="864" strike="noStrike" u="none">
                <a:solidFill>
                  <a:srgbClr val="6B2C2C"/>
                </a:solidFill>
                <a:latin typeface="프리텐다드"/>
                <a:ea typeface="프리텐다드"/>
                <a:cs typeface="프리텐다드"/>
                <a:sym typeface="프리텐다드"/>
              </a:rPr>
              <a:t>+0.11</a:t>
            </a:r>
          </a:p>
        </p:txBody>
      </p:sp>
      <p:sp>
        <p:nvSpPr>
          <p:cNvPr name="TextBox 149" id="149"/>
          <p:cNvSpPr txBox="true"/>
          <p:nvPr/>
        </p:nvSpPr>
        <p:spPr>
          <a:xfrm rot="0">
            <a:off x="721902" y="3173755"/>
            <a:ext cx="1728984" cy="186375"/>
          </a:xfrm>
          <a:prstGeom prst="rect">
            <a:avLst/>
          </a:prstGeom>
        </p:spPr>
        <p:txBody>
          <a:bodyPr anchor="t" rtlCol="false" tIns="0" lIns="0" bIns="0" rIns="0">
            <a:spAutoFit/>
          </a:bodyPr>
          <a:lstStyle/>
          <a:p>
            <a:pPr algn="r" marL="0" indent="0" lvl="0">
              <a:lnSpc>
                <a:spcPts val="1512"/>
              </a:lnSpc>
              <a:spcBef>
                <a:spcPct val="0"/>
              </a:spcBef>
            </a:pPr>
            <a:r>
              <a:rPr lang="en-US" sz="1080" strike="noStrike" u="none">
                <a:solidFill>
                  <a:srgbClr val="1E293B"/>
                </a:solidFill>
                <a:latin typeface="프리텐다드"/>
                <a:ea typeface="프리텐다드"/>
                <a:cs typeface="프리텐다드"/>
                <a:sym typeface="프리텐다드"/>
              </a:rPr>
              <a:t>과밀학급 해소 (전체 필요 97%)</a:t>
            </a:r>
          </a:p>
        </p:txBody>
      </p:sp>
      <p:grpSp>
        <p:nvGrpSpPr>
          <p:cNvPr name="Group 150" id="150"/>
          <p:cNvGrpSpPr/>
          <p:nvPr/>
        </p:nvGrpSpPr>
        <p:grpSpPr>
          <a:xfrm rot="0">
            <a:off x="4808857" y="3256777"/>
            <a:ext cx="1213919" cy="52399"/>
            <a:chOff x="0" y="0"/>
            <a:chExt cx="1765300" cy="76200"/>
          </a:xfrm>
        </p:grpSpPr>
        <p:sp>
          <p:nvSpPr>
            <p:cNvPr name="Freeform 151" id="151"/>
            <p:cNvSpPr/>
            <p:nvPr/>
          </p:nvSpPr>
          <p:spPr>
            <a:xfrm flipH="false" flipV="false" rot="0">
              <a:off x="0" y="0"/>
              <a:ext cx="1765300" cy="76200"/>
            </a:xfrm>
            <a:custGeom>
              <a:avLst/>
              <a:gdLst/>
              <a:ahLst/>
              <a:cxnLst/>
              <a:rect r="r" b="b" t="t" l="l"/>
              <a:pathLst>
                <a:path h="76200" w="1765300">
                  <a:moveTo>
                    <a:pt x="1727200" y="0"/>
                  </a:moveTo>
                  <a:cubicBezTo>
                    <a:pt x="1748242" y="0"/>
                    <a:pt x="1765300" y="17058"/>
                    <a:pt x="1765300" y="38100"/>
                  </a:cubicBezTo>
                  <a:cubicBezTo>
                    <a:pt x="1765300" y="59142"/>
                    <a:pt x="1748242" y="76200"/>
                    <a:pt x="1727200" y="76200"/>
                  </a:cubicBezTo>
                  <a:lnTo>
                    <a:pt x="38100" y="76200"/>
                  </a:lnTo>
                  <a:cubicBezTo>
                    <a:pt x="17058" y="76200"/>
                    <a:pt x="0" y="59142"/>
                    <a:pt x="0" y="38100"/>
                  </a:cubicBezTo>
                  <a:cubicBezTo>
                    <a:pt x="0" y="17058"/>
                    <a:pt x="17058" y="0"/>
                    <a:pt x="38100" y="0"/>
                  </a:cubicBezTo>
                  <a:close/>
                </a:path>
              </a:pathLst>
            </a:custGeom>
            <a:solidFill>
              <a:srgbClr val="CBD5E1"/>
            </a:solidFill>
          </p:spPr>
        </p:sp>
        <p:sp>
          <p:nvSpPr>
            <p:cNvPr name="TextBox 152" id="152"/>
            <p:cNvSpPr txBox="true"/>
            <p:nvPr/>
          </p:nvSpPr>
          <p:spPr>
            <a:xfrm>
              <a:off x="0" y="-47625"/>
              <a:ext cx="1765300" cy="123825"/>
            </a:xfrm>
            <a:prstGeom prst="rect">
              <a:avLst/>
            </a:prstGeom>
          </p:spPr>
          <p:txBody>
            <a:bodyPr anchor="ctr" rtlCol="false" tIns="50800" lIns="50800" bIns="50800" rIns="50800"/>
            <a:lstStyle/>
            <a:p>
              <a:pPr algn="l">
                <a:lnSpc>
                  <a:spcPts val="1819"/>
                </a:lnSpc>
              </a:pPr>
            </a:p>
          </p:txBody>
        </p:sp>
      </p:grpSp>
      <p:grpSp>
        <p:nvGrpSpPr>
          <p:cNvPr name="Group 153" id="153"/>
          <p:cNvGrpSpPr/>
          <p:nvPr/>
        </p:nvGrpSpPr>
        <p:grpSpPr>
          <a:xfrm rot="0">
            <a:off x="4756458" y="3230577"/>
            <a:ext cx="104799" cy="104799"/>
            <a:chOff x="0" y="0"/>
            <a:chExt cx="152400" cy="152400"/>
          </a:xfrm>
        </p:grpSpPr>
        <p:sp>
          <p:nvSpPr>
            <p:cNvPr name="Freeform 154" id="154"/>
            <p:cNvSpPr/>
            <p:nvPr/>
          </p:nvSpPr>
          <p:spPr>
            <a:xfrm flipH="false" flipV="false" rot="0">
              <a:off x="0" y="0"/>
              <a:ext cx="152400" cy="152400"/>
            </a:xfrm>
            <a:custGeom>
              <a:avLst/>
              <a:gdLst/>
              <a:ahLst/>
              <a:cxnLst/>
              <a:rect r="r" b="b" t="t" l="l"/>
              <a:pathLst>
                <a:path h="152400" w="152400">
                  <a:moveTo>
                    <a:pt x="76200" y="0"/>
                  </a:moveTo>
                  <a:cubicBezTo>
                    <a:pt x="34116" y="0"/>
                    <a:pt x="0" y="34116"/>
                    <a:pt x="0" y="76200"/>
                  </a:cubicBezTo>
                  <a:cubicBezTo>
                    <a:pt x="0" y="118284"/>
                    <a:pt x="34116" y="152400"/>
                    <a:pt x="76200" y="152400"/>
                  </a:cubicBezTo>
                  <a:cubicBezTo>
                    <a:pt x="118284" y="152400"/>
                    <a:pt x="152400" y="118284"/>
                    <a:pt x="152400" y="76200"/>
                  </a:cubicBezTo>
                  <a:cubicBezTo>
                    <a:pt x="152400" y="34116"/>
                    <a:pt x="118284" y="0"/>
                    <a:pt x="76200" y="0"/>
                  </a:cubicBezTo>
                  <a:close/>
                </a:path>
              </a:pathLst>
            </a:custGeom>
            <a:solidFill>
              <a:srgbClr val="8FA3B8"/>
            </a:solidFill>
          </p:spPr>
        </p:sp>
        <p:sp>
          <p:nvSpPr>
            <p:cNvPr name="TextBox 155" id="155"/>
            <p:cNvSpPr txBox="true"/>
            <p:nvPr/>
          </p:nvSpPr>
          <p:spPr>
            <a:xfrm>
              <a:off x="0" y="-47625"/>
              <a:ext cx="152400" cy="200025"/>
            </a:xfrm>
            <a:prstGeom prst="rect">
              <a:avLst/>
            </a:prstGeom>
          </p:spPr>
          <p:txBody>
            <a:bodyPr anchor="ctr" rtlCol="false" tIns="50800" lIns="50800" bIns="50800" rIns="50800"/>
            <a:lstStyle/>
            <a:p>
              <a:pPr algn="l">
                <a:lnSpc>
                  <a:spcPts val="1819"/>
                </a:lnSpc>
              </a:pPr>
            </a:p>
          </p:txBody>
        </p:sp>
      </p:grpSp>
      <p:grpSp>
        <p:nvGrpSpPr>
          <p:cNvPr name="Group 156" id="156"/>
          <p:cNvGrpSpPr/>
          <p:nvPr/>
        </p:nvGrpSpPr>
        <p:grpSpPr>
          <a:xfrm rot="0">
            <a:off x="5970377" y="3230577"/>
            <a:ext cx="104799" cy="104799"/>
            <a:chOff x="0" y="0"/>
            <a:chExt cx="152400" cy="152400"/>
          </a:xfrm>
        </p:grpSpPr>
        <p:sp>
          <p:nvSpPr>
            <p:cNvPr name="Freeform 157" id="157"/>
            <p:cNvSpPr/>
            <p:nvPr/>
          </p:nvSpPr>
          <p:spPr>
            <a:xfrm flipH="false" flipV="false" rot="0">
              <a:off x="0" y="0"/>
              <a:ext cx="152400" cy="152400"/>
            </a:xfrm>
            <a:custGeom>
              <a:avLst/>
              <a:gdLst/>
              <a:ahLst/>
              <a:cxnLst/>
              <a:rect r="r" b="b" t="t" l="l"/>
              <a:pathLst>
                <a:path h="152400" w="152400">
                  <a:moveTo>
                    <a:pt x="76200" y="0"/>
                  </a:moveTo>
                  <a:cubicBezTo>
                    <a:pt x="34116" y="0"/>
                    <a:pt x="0" y="34116"/>
                    <a:pt x="0" y="76200"/>
                  </a:cubicBezTo>
                  <a:cubicBezTo>
                    <a:pt x="0" y="118284"/>
                    <a:pt x="34116" y="152400"/>
                    <a:pt x="76200" y="152400"/>
                  </a:cubicBezTo>
                  <a:cubicBezTo>
                    <a:pt x="118284" y="152400"/>
                    <a:pt x="152400" y="118284"/>
                    <a:pt x="152400" y="76200"/>
                  </a:cubicBezTo>
                  <a:cubicBezTo>
                    <a:pt x="152400" y="34116"/>
                    <a:pt x="118284" y="0"/>
                    <a:pt x="76200" y="0"/>
                  </a:cubicBezTo>
                  <a:close/>
                </a:path>
              </a:pathLst>
            </a:custGeom>
            <a:solidFill>
              <a:srgbClr val="6B2C2C"/>
            </a:solidFill>
          </p:spPr>
        </p:sp>
        <p:sp>
          <p:nvSpPr>
            <p:cNvPr name="TextBox 158" id="158"/>
            <p:cNvSpPr txBox="true"/>
            <p:nvPr/>
          </p:nvSpPr>
          <p:spPr>
            <a:xfrm>
              <a:off x="0" y="-47625"/>
              <a:ext cx="152400" cy="200025"/>
            </a:xfrm>
            <a:prstGeom prst="rect">
              <a:avLst/>
            </a:prstGeom>
          </p:spPr>
          <p:txBody>
            <a:bodyPr anchor="ctr" rtlCol="false" tIns="50800" lIns="50800" bIns="50800" rIns="50800"/>
            <a:lstStyle/>
            <a:p>
              <a:pPr algn="l">
                <a:lnSpc>
                  <a:spcPts val="1819"/>
                </a:lnSpc>
              </a:pPr>
            </a:p>
          </p:txBody>
        </p:sp>
      </p:grpSp>
      <p:sp>
        <p:nvSpPr>
          <p:cNvPr name="TextBox 159" id="159"/>
          <p:cNvSpPr txBox="true"/>
          <p:nvPr/>
        </p:nvSpPr>
        <p:spPr>
          <a:xfrm rot="0">
            <a:off x="4354730" y="3201139"/>
            <a:ext cx="349329" cy="143461"/>
          </a:xfrm>
          <a:prstGeom prst="rect">
            <a:avLst/>
          </a:prstGeom>
        </p:spPr>
        <p:txBody>
          <a:bodyPr anchor="t" rtlCol="false" tIns="0" lIns="0" bIns="0" rIns="0">
            <a:spAutoFit/>
          </a:bodyPr>
          <a:lstStyle/>
          <a:p>
            <a:pPr algn="r" marL="0" indent="0" lvl="0">
              <a:lnSpc>
                <a:spcPts val="1210"/>
              </a:lnSpc>
              <a:spcBef>
                <a:spcPct val="0"/>
              </a:spcBef>
            </a:pPr>
            <a:r>
              <a:rPr lang="en-US" sz="864" strike="noStrike" u="none">
                <a:solidFill>
                  <a:srgbClr val="8FA3B8"/>
                </a:solidFill>
                <a:latin typeface="프리텐다드"/>
                <a:ea typeface="프리텐다드"/>
                <a:cs typeface="프리텐다드"/>
                <a:sym typeface="프리텐다드"/>
              </a:rPr>
              <a:t>4.75</a:t>
            </a:r>
          </a:p>
        </p:txBody>
      </p:sp>
      <p:sp>
        <p:nvSpPr>
          <p:cNvPr name="TextBox 160" id="160"/>
          <p:cNvSpPr txBox="true"/>
          <p:nvPr/>
        </p:nvSpPr>
        <p:spPr>
          <a:xfrm rot="0">
            <a:off x="6145041" y="3199975"/>
            <a:ext cx="436661" cy="143461"/>
          </a:xfrm>
          <a:prstGeom prst="rect">
            <a:avLst/>
          </a:prstGeom>
        </p:spPr>
        <p:txBody>
          <a:bodyPr anchor="t" rtlCol="false" tIns="0" lIns="0" bIns="0" rIns="0">
            <a:spAutoFit/>
          </a:bodyPr>
          <a:lstStyle/>
          <a:p>
            <a:pPr algn="l" marL="0" indent="0" lvl="0">
              <a:lnSpc>
                <a:spcPts val="1210"/>
              </a:lnSpc>
              <a:spcBef>
                <a:spcPct val="0"/>
              </a:spcBef>
            </a:pPr>
            <a:r>
              <a:rPr lang="en-US" sz="864" strike="noStrike" u="none">
                <a:solidFill>
                  <a:srgbClr val="6B2C2C"/>
                </a:solidFill>
                <a:latin typeface="프리텐다드"/>
                <a:ea typeface="프리텐다드"/>
                <a:cs typeface="프리텐다드"/>
                <a:sym typeface="프리텐다드"/>
              </a:rPr>
              <a:t>+0.08</a:t>
            </a:r>
          </a:p>
        </p:txBody>
      </p:sp>
      <p:grpSp>
        <p:nvGrpSpPr>
          <p:cNvPr name="Group 161" id="161"/>
          <p:cNvGrpSpPr/>
          <p:nvPr/>
        </p:nvGrpSpPr>
        <p:grpSpPr>
          <a:xfrm rot="0">
            <a:off x="8372014" y="3841903"/>
            <a:ext cx="87332" cy="87332"/>
            <a:chOff x="0" y="0"/>
            <a:chExt cx="127000" cy="127000"/>
          </a:xfrm>
        </p:grpSpPr>
        <p:sp>
          <p:nvSpPr>
            <p:cNvPr name="Freeform 162" id="162"/>
            <p:cNvSpPr/>
            <p:nvPr/>
          </p:nvSpPr>
          <p:spPr>
            <a:xfrm flipH="false" flipV="false" rot="0">
              <a:off x="0" y="0"/>
              <a:ext cx="127000" cy="127000"/>
            </a:xfrm>
            <a:custGeom>
              <a:avLst/>
              <a:gdLst/>
              <a:ahLst/>
              <a:cxnLst/>
              <a:rect r="r" b="b" t="t" l="l"/>
              <a:pathLst>
                <a:path h="127000" w="127000">
                  <a:moveTo>
                    <a:pt x="63500" y="0"/>
                  </a:moveTo>
                  <a:cubicBezTo>
                    <a:pt x="28430" y="0"/>
                    <a:pt x="0" y="28430"/>
                    <a:pt x="0" y="63500"/>
                  </a:cubicBezTo>
                  <a:cubicBezTo>
                    <a:pt x="0" y="98570"/>
                    <a:pt x="28430" y="127000"/>
                    <a:pt x="63500" y="127000"/>
                  </a:cubicBezTo>
                  <a:cubicBezTo>
                    <a:pt x="98570" y="127000"/>
                    <a:pt x="127000" y="98570"/>
                    <a:pt x="127000" y="63500"/>
                  </a:cubicBezTo>
                  <a:cubicBezTo>
                    <a:pt x="127000" y="28430"/>
                    <a:pt x="98570" y="0"/>
                    <a:pt x="63500" y="0"/>
                  </a:cubicBezTo>
                  <a:close/>
                </a:path>
              </a:pathLst>
            </a:custGeom>
            <a:solidFill>
              <a:srgbClr val="8FA3B8"/>
            </a:solidFill>
          </p:spPr>
        </p:sp>
        <p:sp>
          <p:nvSpPr>
            <p:cNvPr name="TextBox 163" id="163"/>
            <p:cNvSpPr txBox="true"/>
            <p:nvPr/>
          </p:nvSpPr>
          <p:spPr>
            <a:xfrm>
              <a:off x="0" y="-47625"/>
              <a:ext cx="127000" cy="174625"/>
            </a:xfrm>
            <a:prstGeom prst="rect">
              <a:avLst/>
            </a:prstGeom>
          </p:spPr>
          <p:txBody>
            <a:bodyPr anchor="ctr" rtlCol="false" tIns="50800" lIns="50800" bIns="50800" rIns="50800"/>
            <a:lstStyle/>
            <a:p>
              <a:pPr algn="l">
                <a:lnSpc>
                  <a:spcPts val="1819"/>
                </a:lnSpc>
              </a:pPr>
            </a:p>
          </p:txBody>
        </p:sp>
      </p:grpSp>
      <p:sp>
        <p:nvSpPr>
          <p:cNvPr name="TextBox 164" id="164"/>
          <p:cNvSpPr txBox="true"/>
          <p:nvPr/>
        </p:nvSpPr>
        <p:spPr>
          <a:xfrm rot="0">
            <a:off x="8494279" y="3803732"/>
            <a:ext cx="873323" cy="143461"/>
          </a:xfrm>
          <a:prstGeom prst="rect">
            <a:avLst/>
          </a:prstGeom>
        </p:spPr>
        <p:txBody>
          <a:bodyPr anchor="t" rtlCol="false" tIns="0" lIns="0" bIns="0" rIns="0">
            <a:spAutoFit/>
          </a:bodyPr>
          <a:lstStyle/>
          <a:p>
            <a:pPr algn="l" marL="0" indent="0" lvl="0">
              <a:lnSpc>
                <a:spcPts val="1210"/>
              </a:lnSpc>
              <a:spcBef>
                <a:spcPct val="0"/>
              </a:spcBef>
            </a:pPr>
            <a:r>
              <a:rPr lang="en-US" sz="864" strike="noStrike" u="none">
                <a:solidFill>
                  <a:srgbClr val="1E293B"/>
                </a:solidFill>
                <a:latin typeface="프리텐다드"/>
                <a:ea typeface="프리텐다드"/>
                <a:cs typeface="프리텐다드"/>
                <a:sym typeface="프리텐다드"/>
              </a:rPr>
              <a:t>비침해 교사</a:t>
            </a:r>
          </a:p>
        </p:txBody>
      </p:sp>
      <p:grpSp>
        <p:nvGrpSpPr>
          <p:cNvPr name="Group 165" id="165"/>
          <p:cNvGrpSpPr/>
          <p:nvPr/>
        </p:nvGrpSpPr>
        <p:grpSpPr>
          <a:xfrm rot="0">
            <a:off x="9332669" y="3841903"/>
            <a:ext cx="87332" cy="87332"/>
            <a:chOff x="0" y="0"/>
            <a:chExt cx="127000" cy="127000"/>
          </a:xfrm>
        </p:grpSpPr>
        <p:sp>
          <p:nvSpPr>
            <p:cNvPr name="Freeform 166" id="166"/>
            <p:cNvSpPr/>
            <p:nvPr/>
          </p:nvSpPr>
          <p:spPr>
            <a:xfrm flipH="false" flipV="false" rot="0">
              <a:off x="0" y="0"/>
              <a:ext cx="127000" cy="127000"/>
            </a:xfrm>
            <a:custGeom>
              <a:avLst/>
              <a:gdLst/>
              <a:ahLst/>
              <a:cxnLst/>
              <a:rect r="r" b="b" t="t" l="l"/>
              <a:pathLst>
                <a:path h="127000" w="127000">
                  <a:moveTo>
                    <a:pt x="63500" y="0"/>
                  </a:moveTo>
                  <a:cubicBezTo>
                    <a:pt x="28430" y="0"/>
                    <a:pt x="0" y="28430"/>
                    <a:pt x="0" y="63500"/>
                  </a:cubicBezTo>
                  <a:cubicBezTo>
                    <a:pt x="0" y="98570"/>
                    <a:pt x="28430" y="127000"/>
                    <a:pt x="63500" y="127000"/>
                  </a:cubicBezTo>
                  <a:cubicBezTo>
                    <a:pt x="98570" y="127000"/>
                    <a:pt x="127000" y="98570"/>
                    <a:pt x="127000" y="63500"/>
                  </a:cubicBezTo>
                  <a:cubicBezTo>
                    <a:pt x="127000" y="28430"/>
                    <a:pt x="98570" y="0"/>
                    <a:pt x="63500" y="0"/>
                  </a:cubicBezTo>
                  <a:close/>
                </a:path>
              </a:pathLst>
            </a:custGeom>
            <a:solidFill>
              <a:srgbClr val="6B2C2C"/>
            </a:solidFill>
          </p:spPr>
        </p:sp>
        <p:sp>
          <p:nvSpPr>
            <p:cNvPr name="TextBox 167" id="167"/>
            <p:cNvSpPr txBox="true"/>
            <p:nvPr/>
          </p:nvSpPr>
          <p:spPr>
            <a:xfrm>
              <a:off x="0" y="-47625"/>
              <a:ext cx="127000" cy="174625"/>
            </a:xfrm>
            <a:prstGeom prst="rect">
              <a:avLst/>
            </a:prstGeom>
          </p:spPr>
          <p:txBody>
            <a:bodyPr anchor="ctr" rtlCol="false" tIns="50800" lIns="50800" bIns="50800" rIns="50800"/>
            <a:lstStyle/>
            <a:p>
              <a:pPr algn="l">
                <a:lnSpc>
                  <a:spcPts val="1819"/>
                </a:lnSpc>
              </a:pPr>
            </a:p>
          </p:txBody>
        </p:sp>
      </p:grpSp>
      <p:sp>
        <p:nvSpPr>
          <p:cNvPr name="TextBox 168" id="168"/>
          <p:cNvSpPr txBox="true"/>
          <p:nvPr/>
        </p:nvSpPr>
        <p:spPr>
          <a:xfrm rot="0">
            <a:off x="9454934" y="3803732"/>
            <a:ext cx="960655" cy="143461"/>
          </a:xfrm>
          <a:prstGeom prst="rect">
            <a:avLst/>
          </a:prstGeom>
        </p:spPr>
        <p:txBody>
          <a:bodyPr anchor="t" rtlCol="false" tIns="0" lIns="0" bIns="0" rIns="0">
            <a:spAutoFit/>
          </a:bodyPr>
          <a:lstStyle/>
          <a:p>
            <a:pPr algn="l" marL="0" indent="0" lvl="0">
              <a:lnSpc>
                <a:spcPts val="1210"/>
              </a:lnSpc>
              <a:spcBef>
                <a:spcPct val="0"/>
              </a:spcBef>
            </a:pPr>
            <a:r>
              <a:rPr lang="en-US" sz="864" strike="noStrike" u="none">
                <a:solidFill>
                  <a:srgbClr val="1E293B"/>
                </a:solidFill>
                <a:latin typeface="프리텐다드"/>
                <a:ea typeface="프리텐다드"/>
                <a:cs typeface="프리텐다드"/>
                <a:sym typeface="프리텐다드"/>
              </a:rPr>
              <a:t>침해 경험 교사</a:t>
            </a:r>
          </a:p>
        </p:txBody>
      </p:sp>
      <p:sp>
        <p:nvSpPr>
          <p:cNvPr name="TextBox 169" id="169"/>
          <p:cNvSpPr txBox="true"/>
          <p:nvPr/>
        </p:nvSpPr>
        <p:spPr>
          <a:xfrm rot="0">
            <a:off x="2523291" y="4045748"/>
            <a:ext cx="4567380" cy="143239"/>
          </a:xfrm>
          <a:prstGeom prst="rect">
            <a:avLst/>
          </a:prstGeom>
        </p:spPr>
        <p:txBody>
          <a:bodyPr anchor="t" rtlCol="false" tIns="0" lIns="0" bIns="0" rIns="0">
            <a:spAutoFit/>
          </a:bodyPr>
          <a:lstStyle/>
          <a:p>
            <a:pPr algn="l" marL="0" indent="0" lvl="0">
              <a:lnSpc>
                <a:spcPts val="1207"/>
              </a:lnSpc>
              <a:spcBef>
                <a:spcPct val="0"/>
              </a:spcBef>
            </a:pPr>
            <a:r>
              <a:rPr lang="en-US" sz="862" strike="noStrike" u="none">
                <a:solidFill>
                  <a:srgbClr val="94A3B8"/>
                </a:solidFill>
                <a:latin typeface="프리텐다드"/>
                <a:ea typeface="프리텐다드"/>
                <a:cs typeface="프리텐다드"/>
                <a:sym typeface="프리텐다드"/>
              </a:rPr>
              <a:t>교원 인권상황 실태조사 2024 (n=10,888) | 침해 vs 비침해 정책 수요 격차 | Mann-Whitney p&lt;.001</a:t>
            </a:r>
          </a:p>
        </p:txBody>
      </p:sp>
      <p:sp>
        <p:nvSpPr>
          <p:cNvPr name="AutoShape 170" id="170"/>
          <p:cNvSpPr/>
          <p:nvPr/>
        </p:nvSpPr>
        <p:spPr>
          <a:xfrm flipH="true">
            <a:off x="10658477" y="1054902"/>
            <a:ext cx="0" cy="8802330"/>
          </a:xfrm>
          <a:prstGeom prst="line">
            <a:avLst/>
          </a:prstGeom>
          <a:ln cap="rnd" w="9525">
            <a:solidFill>
              <a:srgbClr val="E2E8F0"/>
            </a:solidFill>
            <a:prstDash val="solid"/>
            <a:headEnd type="none" len="sm" w="sm"/>
            <a:tailEnd type="none" len="sm" w="sm"/>
          </a:ln>
        </p:spPr>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1570676" y="3709628"/>
            <a:ext cx="8036164" cy="157099"/>
          </a:xfrm>
          <a:prstGeom prst="rect">
            <a:avLst/>
          </a:prstGeom>
        </p:spPr>
        <p:txBody>
          <a:bodyPr anchor="t" rtlCol="false" tIns="0" lIns="0" bIns="0" rIns="0">
            <a:spAutoFit/>
          </a:bodyPr>
          <a:lstStyle/>
          <a:p>
            <a:pPr algn="ctr" marL="0" indent="0" lvl="0">
              <a:lnSpc>
                <a:spcPts val="1342"/>
              </a:lnSpc>
              <a:spcBef>
                <a:spcPct val="0"/>
              </a:spcBef>
            </a:pPr>
            <a:r>
              <a:rPr lang="en-US" sz="959" strike="noStrike" u="none">
                <a:solidFill>
                  <a:srgbClr val="94A3B8"/>
                </a:solidFill>
                <a:latin typeface="프리텐다드"/>
                <a:ea typeface="프리텐다드"/>
                <a:cs typeface="프리텐다드"/>
                <a:sym typeface="프리텐다드"/>
              </a:rPr>
              <a:t>각 막대 = 군집별 침해 유형 경험률(%)  | K-means(k=3, Silhouette=0.31)</a:t>
            </a:r>
          </a:p>
        </p:txBody>
      </p:sp>
      <p:sp>
        <p:nvSpPr>
          <p:cNvPr name="TextBox 3" id="3"/>
          <p:cNvSpPr txBox="true"/>
          <p:nvPr/>
        </p:nvSpPr>
        <p:spPr>
          <a:xfrm rot="0">
            <a:off x="7936984" y="3332832"/>
            <a:ext cx="339998" cy="193489"/>
          </a:xfrm>
          <a:prstGeom prst="rect">
            <a:avLst/>
          </a:prstGeom>
        </p:spPr>
        <p:txBody>
          <a:bodyPr anchor="t" rtlCol="false" tIns="0" lIns="0" bIns="0" rIns="0">
            <a:spAutoFit/>
          </a:bodyPr>
          <a:lstStyle/>
          <a:p>
            <a:pPr algn="ctr" marL="0" indent="0" lvl="0">
              <a:lnSpc>
                <a:spcPts val="1540"/>
              </a:lnSpc>
              <a:spcBef>
                <a:spcPct val="0"/>
              </a:spcBef>
            </a:pPr>
            <a:r>
              <a:rPr lang="en-US" b="true" sz="1100" strike="noStrike" u="none">
                <a:solidFill>
                  <a:srgbClr val="FFFFFF"/>
                </a:solidFill>
                <a:latin typeface="프리텐다드 Bold"/>
                <a:ea typeface="프리텐다드 Bold"/>
                <a:cs typeface="프리텐다드 Bold"/>
                <a:sym typeface="프리텐다드 Bold"/>
              </a:rPr>
              <a:t>25%</a:t>
            </a:r>
          </a:p>
        </p:txBody>
      </p:sp>
      <p:grpSp>
        <p:nvGrpSpPr>
          <p:cNvPr name="Group 4" id="4"/>
          <p:cNvGrpSpPr/>
          <p:nvPr/>
        </p:nvGrpSpPr>
        <p:grpSpPr>
          <a:xfrm rot="0">
            <a:off x="7754842" y="3326230"/>
            <a:ext cx="2185699" cy="260338"/>
            <a:chOff x="0" y="0"/>
            <a:chExt cx="1919236" cy="228600"/>
          </a:xfrm>
        </p:grpSpPr>
        <p:sp>
          <p:nvSpPr>
            <p:cNvPr name="Freeform 5" id="5"/>
            <p:cNvSpPr/>
            <p:nvPr/>
          </p:nvSpPr>
          <p:spPr>
            <a:xfrm flipH="false" flipV="false" rot="0">
              <a:off x="0" y="0"/>
              <a:ext cx="1919236" cy="228600"/>
            </a:xfrm>
            <a:custGeom>
              <a:avLst/>
              <a:gdLst/>
              <a:ahLst/>
              <a:cxnLst/>
              <a:rect r="r" b="b" t="t" l="l"/>
              <a:pathLst>
                <a:path h="228600" w="1919236">
                  <a:moveTo>
                    <a:pt x="19192" y="0"/>
                  </a:moveTo>
                  <a:lnTo>
                    <a:pt x="1900044" y="0"/>
                  </a:lnTo>
                  <a:cubicBezTo>
                    <a:pt x="1905134" y="0"/>
                    <a:pt x="1910015" y="2408"/>
                    <a:pt x="1913615" y="6696"/>
                  </a:cubicBezTo>
                  <a:cubicBezTo>
                    <a:pt x="1917214" y="10983"/>
                    <a:pt x="1919236" y="16797"/>
                    <a:pt x="1919236" y="22860"/>
                  </a:cubicBezTo>
                  <a:lnTo>
                    <a:pt x="1919236" y="205740"/>
                  </a:lnTo>
                  <a:cubicBezTo>
                    <a:pt x="1919236" y="211803"/>
                    <a:pt x="1917214" y="217617"/>
                    <a:pt x="1913615" y="221904"/>
                  </a:cubicBezTo>
                  <a:cubicBezTo>
                    <a:pt x="1910015" y="226192"/>
                    <a:pt x="1905134" y="228600"/>
                    <a:pt x="1900044" y="228600"/>
                  </a:cubicBezTo>
                  <a:lnTo>
                    <a:pt x="19192" y="228600"/>
                  </a:lnTo>
                  <a:cubicBezTo>
                    <a:pt x="8593" y="228600"/>
                    <a:pt x="0" y="218365"/>
                    <a:pt x="0" y="205740"/>
                  </a:cubicBezTo>
                  <a:lnTo>
                    <a:pt x="0" y="22860"/>
                  </a:lnTo>
                  <a:cubicBezTo>
                    <a:pt x="0" y="10235"/>
                    <a:pt x="8593" y="0"/>
                    <a:pt x="19192" y="0"/>
                  </a:cubicBezTo>
                  <a:close/>
                </a:path>
              </a:pathLst>
            </a:custGeom>
            <a:solidFill>
              <a:srgbClr val="E8E8E8"/>
            </a:solidFill>
          </p:spPr>
        </p:sp>
        <p:sp>
          <p:nvSpPr>
            <p:cNvPr name="TextBox 6" id="6"/>
            <p:cNvSpPr txBox="true"/>
            <p:nvPr/>
          </p:nvSpPr>
          <p:spPr>
            <a:xfrm>
              <a:off x="0" y="-47625"/>
              <a:ext cx="1919236" cy="276225"/>
            </a:xfrm>
            <a:prstGeom prst="rect">
              <a:avLst/>
            </a:prstGeom>
          </p:spPr>
          <p:txBody>
            <a:bodyPr anchor="ctr" rtlCol="false" tIns="50800" lIns="50800" bIns="50800" rIns="50800"/>
            <a:lstStyle/>
            <a:p>
              <a:pPr algn="l">
                <a:lnSpc>
                  <a:spcPts val="1819"/>
                </a:lnSpc>
              </a:pPr>
            </a:p>
          </p:txBody>
        </p:sp>
      </p:grpSp>
      <p:grpSp>
        <p:nvGrpSpPr>
          <p:cNvPr name="Group 7" id="7"/>
          <p:cNvGrpSpPr/>
          <p:nvPr/>
        </p:nvGrpSpPr>
        <p:grpSpPr>
          <a:xfrm rot="0">
            <a:off x="7754842" y="3326230"/>
            <a:ext cx="546425" cy="260338"/>
            <a:chOff x="0" y="0"/>
            <a:chExt cx="479809" cy="228600"/>
          </a:xfrm>
        </p:grpSpPr>
        <p:sp>
          <p:nvSpPr>
            <p:cNvPr name="Freeform 8" id="8"/>
            <p:cNvSpPr/>
            <p:nvPr/>
          </p:nvSpPr>
          <p:spPr>
            <a:xfrm flipH="false" flipV="false" rot="0">
              <a:off x="0" y="0"/>
              <a:ext cx="479809" cy="228600"/>
            </a:xfrm>
            <a:custGeom>
              <a:avLst/>
              <a:gdLst/>
              <a:ahLst/>
              <a:cxnLst/>
              <a:rect r="r" b="b" t="t" l="l"/>
              <a:pathLst>
                <a:path h="228600" w="479809">
                  <a:moveTo>
                    <a:pt x="19192" y="0"/>
                  </a:moveTo>
                  <a:lnTo>
                    <a:pt x="460617" y="0"/>
                  </a:lnTo>
                  <a:cubicBezTo>
                    <a:pt x="471216" y="0"/>
                    <a:pt x="479809" y="10235"/>
                    <a:pt x="479809" y="22860"/>
                  </a:cubicBezTo>
                  <a:lnTo>
                    <a:pt x="479809" y="205740"/>
                  </a:lnTo>
                  <a:cubicBezTo>
                    <a:pt x="479809" y="218365"/>
                    <a:pt x="471216" y="228600"/>
                    <a:pt x="460617" y="228600"/>
                  </a:cubicBezTo>
                  <a:lnTo>
                    <a:pt x="19192" y="228600"/>
                  </a:lnTo>
                  <a:cubicBezTo>
                    <a:pt x="8593" y="228600"/>
                    <a:pt x="0" y="218365"/>
                    <a:pt x="0" y="205740"/>
                  </a:cubicBezTo>
                  <a:lnTo>
                    <a:pt x="0" y="22860"/>
                  </a:lnTo>
                  <a:cubicBezTo>
                    <a:pt x="0" y="10235"/>
                    <a:pt x="8593" y="0"/>
                    <a:pt x="19192" y="0"/>
                  </a:cubicBezTo>
                  <a:close/>
                </a:path>
              </a:pathLst>
            </a:custGeom>
            <a:solidFill>
              <a:srgbClr val="6B3FA0"/>
            </a:solidFill>
          </p:spPr>
        </p:sp>
        <p:sp>
          <p:nvSpPr>
            <p:cNvPr name="TextBox 9" id="9"/>
            <p:cNvSpPr txBox="true"/>
            <p:nvPr/>
          </p:nvSpPr>
          <p:spPr>
            <a:xfrm>
              <a:off x="0" y="-47625"/>
              <a:ext cx="479809" cy="276225"/>
            </a:xfrm>
            <a:prstGeom prst="rect">
              <a:avLst/>
            </a:prstGeom>
          </p:spPr>
          <p:txBody>
            <a:bodyPr anchor="ctr" rtlCol="false" tIns="50800" lIns="50800" bIns="50800" rIns="50800"/>
            <a:lstStyle/>
            <a:p>
              <a:pPr algn="l">
                <a:lnSpc>
                  <a:spcPts val="1819"/>
                </a:lnSpc>
              </a:pPr>
            </a:p>
          </p:txBody>
        </p:sp>
      </p:grpSp>
      <p:sp>
        <p:nvSpPr>
          <p:cNvPr name="TextBox 10" id="10"/>
          <p:cNvSpPr txBox="true"/>
          <p:nvPr/>
        </p:nvSpPr>
        <p:spPr>
          <a:xfrm rot="0">
            <a:off x="7196274" y="3355188"/>
            <a:ext cx="509997" cy="174694"/>
          </a:xfrm>
          <a:prstGeom prst="rect">
            <a:avLst/>
          </a:prstGeom>
        </p:spPr>
        <p:txBody>
          <a:bodyPr anchor="t" rtlCol="false" tIns="0" lIns="0" bIns="0" rIns="0">
            <a:spAutoFit/>
          </a:bodyPr>
          <a:lstStyle/>
          <a:p>
            <a:pPr algn="r" marL="0" indent="0" lvl="0">
              <a:lnSpc>
                <a:spcPts val="1491"/>
              </a:lnSpc>
              <a:spcBef>
                <a:spcPct val="0"/>
              </a:spcBef>
            </a:pPr>
            <a:r>
              <a:rPr lang="en-US" sz="1065" strike="noStrike" u="none">
                <a:solidFill>
                  <a:srgbClr val="1E293B"/>
                </a:solidFill>
                <a:latin typeface="프리텐다드"/>
                <a:ea typeface="프리텐다드"/>
                <a:cs typeface="프리텐다드"/>
                <a:sym typeface="프리텐다드"/>
              </a:rPr>
              <a:t>관리자</a:t>
            </a:r>
          </a:p>
        </p:txBody>
      </p:sp>
      <p:grpSp>
        <p:nvGrpSpPr>
          <p:cNvPr name="Group 11" id="11"/>
          <p:cNvGrpSpPr/>
          <p:nvPr/>
        </p:nvGrpSpPr>
        <p:grpSpPr>
          <a:xfrm rot="0">
            <a:off x="7754842" y="2979112"/>
            <a:ext cx="2185699" cy="260338"/>
            <a:chOff x="0" y="0"/>
            <a:chExt cx="1919236" cy="228600"/>
          </a:xfrm>
        </p:grpSpPr>
        <p:sp>
          <p:nvSpPr>
            <p:cNvPr name="Freeform 12" id="12"/>
            <p:cNvSpPr/>
            <p:nvPr/>
          </p:nvSpPr>
          <p:spPr>
            <a:xfrm flipH="false" flipV="false" rot="0">
              <a:off x="0" y="0"/>
              <a:ext cx="1919236" cy="228600"/>
            </a:xfrm>
            <a:custGeom>
              <a:avLst/>
              <a:gdLst/>
              <a:ahLst/>
              <a:cxnLst/>
              <a:rect r="r" b="b" t="t" l="l"/>
              <a:pathLst>
                <a:path h="228600" w="1919236">
                  <a:moveTo>
                    <a:pt x="19192" y="0"/>
                  </a:moveTo>
                  <a:lnTo>
                    <a:pt x="1900044" y="0"/>
                  </a:lnTo>
                  <a:cubicBezTo>
                    <a:pt x="1905134" y="0"/>
                    <a:pt x="1910015" y="2408"/>
                    <a:pt x="1913615" y="6696"/>
                  </a:cubicBezTo>
                  <a:cubicBezTo>
                    <a:pt x="1917214" y="10983"/>
                    <a:pt x="1919236" y="16797"/>
                    <a:pt x="1919236" y="22860"/>
                  </a:cubicBezTo>
                  <a:lnTo>
                    <a:pt x="1919236" y="205740"/>
                  </a:lnTo>
                  <a:cubicBezTo>
                    <a:pt x="1919236" y="211803"/>
                    <a:pt x="1917214" y="217617"/>
                    <a:pt x="1913615" y="221904"/>
                  </a:cubicBezTo>
                  <a:cubicBezTo>
                    <a:pt x="1910015" y="226192"/>
                    <a:pt x="1905134" y="228600"/>
                    <a:pt x="1900044" y="228600"/>
                  </a:cubicBezTo>
                  <a:lnTo>
                    <a:pt x="19192" y="228600"/>
                  </a:lnTo>
                  <a:cubicBezTo>
                    <a:pt x="8593" y="228600"/>
                    <a:pt x="0" y="218365"/>
                    <a:pt x="0" y="205740"/>
                  </a:cubicBezTo>
                  <a:lnTo>
                    <a:pt x="0" y="22860"/>
                  </a:lnTo>
                  <a:cubicBezTo>
                    <a:pt x="0" y="10235"/>
                    <a:pt x="8593" y="0"/>
                    <a:pt x="19192" y="0"/>
                  </a:cubicBezTo>
                  <a:close/>
                </a:path>
              </a:pathLst>
            </a:custGeom>
            <a:solidFill>
              <a:srgbClr val="E8E8E8"/>
            </a:solidFill>
          </p:spPr>
        </p:sp>
        <p:sp>
          <p:nvSpPr>
            <p:cNvPr name="TextBox 13" id="13"/>
            <p:cNvSpPr txBox="true"/>
            <p:nvPr/>
          </p:nvSpPr>
          <p:spPr>
            <a:xfrm>
              <a:off x="0" y="-47625"/>
              <a:ext cx="1919236" cy="276225"/>
            </a:xfrm>
            <a:prstGeom prst="rect">
              <a:avLst/>
            </a:prstGeom>
          </p:spPr>
          <p:txBody>
            <a:bodyPr anchor="ctr" rtlCol="false" tIns="50800" lIns="50800" bIns="50800" rIns="50800"/>
            <a:lstStyle/>
            <a:p>
              <a:pPr algn="l">
                <a:lnSpc>
                  <a:spcPts val="1819"/>
                </a:lnSpc>
              </a:pPr>
            </a:p>
          </p:txBody>
        </p:sp>
      </p:grpSp>
      <p:grpSp>
        <p:nvGrpSpPr>
          <p:cNvPr name="Group 14" id="14"/>
          <p:cNvGrpSpPr/>
          <p:nvPr/>
        </p:nvGrpSpPr>
        <p:grpSpPr>
          <a:xfrm rot="0">
            <a:off x="7754842" y="2631994"/>
            <a:ext cx="2185699" cy="260338"/>
            <a:chOff x="0" y="0"/>
            <a:chExt cx="1919236" cy="228600"/>
          </a:xfrm>
        </p:grpSpPr>
        <p:sp>
          <p:nvSpPr>
            <p:cNvPr name="Freeform 15" id="15"/>
            <p:cNvSpPr/>
            <p:nvPr/>
          </p:nvSpPr>
          <p:spPr>
            <a:xfrm flipH="false" flipV="false" rot="0">
              <a:off x="0" y="0"/>
              <a:ext cx="1919236" cy="228600"/>
            </a:xfrm>
            <a:custGeom>
              <a:avLst/>
              <a:gdLst/>
              <a:ahLst/>
              <a:cxnLst/>
              <a:rect r="r" b="b" t="t" l="l"/>
              <a:pathLst>
                <a:path h="228600" w="1919236">
                  <a:moveTo>
                    <a:pt x="19192" y="0"/>
                  </a:moveTo>
                  <a:lnTo>
                    <a:pt x="1900044" y="0"/>
                  </a:lnTo>
                  <a:cubicBezTo>
                    <a:pt x="1905134" y="0"/>
                    <a:pt x="1910015" y="2408"/>
                    <a:pt x="1913615" y="6696"/>
                  </a:cubicBezTo>
                  <a:cubicBezTo>
                    <a:pt x="1917214" y="10983"/>
                    <a:pt x="1919236" y="16797"/>
                    <a:pt x="1919236" y="22860"/>
                  </a:cubicBezTo>
                  <a:lnTo>
                    <a:pt x="1919236" y="205740"/>
                  </a:lnTo>
                  <a:cubicBezTo>
                    <a:pt x="1919236" y="211803"/>
                    <a:pt x="1917214" y="217617"/>
                    <a:pt x="1913615" y="221904"/>
                  </a:cubicBezTo>
                  <a:cubicBezTo>
                    <a:pt x="1910015" y="226192"/>
                    <a:pt x="1905134" y="228600"/>
                    <a:pt x="1900044" y="228600"/>
                  </a:cubicBezTo>
                  <a:lnTo>
                    <a:pt x="19192" y="228600"/>
                  </a:lnTo>
                  <a:cubicBezTo>
                    <a:pt x="8593" y="228600"/>
                    <a:pt x="0" y="218365"/>
                    <a:pt x="0" y="205740"/>
                  </a:cubicBezTo>
                  <a:lnTo>
                    <a:pt x="0" y="22860"/>
                  </a:lnTo>
                  <a:cubicBezTo>
                    <a:pt x="0" y="10235"/>
                    <a:pt x="8593" y="0"/>
                    <a:pt x="19192" y="0"/>
                  </a:cubicBezTo>
                  <a:close/>
                </a:path>
              </a:pathLst>
            </a:custGeom>
            <a:solidFill>
              <a:srgbClr val="E8E8E8"/>
            </a:solidFill>
          </p:spPr>
        </p:sp>
        <p:sp>
          <p:nvSpPr>
            <p:cNvPr name="TextBox 16" id="16"/>
            <p:cNvSpPr txBox="true"/>
            <p:nvPr/>
          </p:nvSpPr>
          <p:spPr>
            <a:xfrm>
              <a:off x="0" y="-47625"/>
              <a:ext cx="1919236" cy="276225"/>
            </a:xfrm>
            <a:prstGeom prst="rect">
              <a:avLst/>
            </a:prstGeom>
          </p:spPr>
          <p:txBody>
            <a:bodyPr anchor="ctr" rtlCol="false" tIns="50800" lIns="50800" bIns="50800" rIns="50800"/>
            <a:lstStyle/>
            <a:p>
              <a:pPr algn="l">
                <a:lnSpc>
                  <a:spcPts val="1819"/>
                </a:lnSpc>
              </a:pPr>
            </a:p>
          </p:txBody>
        </p:sp>
      </p:grpSp>
      <p:sp>
        <p:nvSpPr>
          <p:cNvPr name="TextBox 17" id="17"/>
          <p:cNvSpPr txBox="true"/>
          <p:nvPr/>
        </p:nvSpPr>
        <p:spPr>
          <a:xfrm rot="0">
            <a:off x="8276981" y="2985714"/>
            <a:ext cx="339998" cy="193489"/>
          </a:xfrm>
          <a:prstGeom prst="rect">
            <a:avLst/>
          </a:prstGeom>
        </p:spPr>
        <p:txBody>
          <a:bodyPr anchor="t" rtlCol="false" tIns="0" lIns="0" bIns="0" rIns="0">
            <a:spAutoFit/>
          </a:bodyPr>
          <a:lstStyle/>
          <a:p>
            <a:pPr algn="ctr" marL="0" indent="0" lvl="0">
              <a:lnSpc>
                <a:spcPts val="1540"/>
              </a:lnSpc>
              <a:spcBef>
                <a:spcPct val="0"/>
              </a:spcBef>
            </a:pPr>
            <a:r>
              <a:rPr lang="en-US" b="true" sz="1100" strike="noStrike" u="none">
                <a:solidFill>
                  <a:srgbClr val="FFFFFF"/>
                </a:solidFill>
                <a:latin typeface="프리텐다드 Bold"/>
                <a:ea typeface="프리텐다드 Bold"/>
                <a:cs typeface="프리텐다드 Bold"/>
                <a:sym typeface="프리텐다드 Bold"/>
              </a:rPr>
              <a:t>41%</a:t>
            </a:r>
          </a:p>
        </p:txBody>
      </p:sp>
      <p:grpSp>
        <p:nvGrpSpPr>
          <p:cNvPr name="Group 18" id="18"/>
          <p:cNvGrpSpPr/>
          <p:nvPr/>
        </p:nvGrpSpPr>
        <p:grpSpPr>
          <a:xfrm rot="0">
            <a:off x="7754842" y="2979112"/>
            <a:ext cx="886423" cy="260338"/>
            <a:chOff x="0" y="0"/>
            <a:chExt cx="778357" cy="228600"/>
          </a:xfrm>
        </p:grpSpPr>
        <p:sp>
          <p:nvSpPr>
            <p:cNvPr name="Freeform 19" id="19"/>
            <p:cNvSpPr/>
            <p:nvPr/>
          </p:nvSpPr>
          <p:spPr>
            <a:xfrm flipH="false" flipV="false" rot="0">
              <a:off x="0" y="0"/>
              <a:ext cx="778357" cy="228600"/>
            </a:xfrm>
            <a:custGeom>
              <a:avLst/>
              <a:gdLst/>
              <a:ahLst/>
              <a:cxnLst/>
              <a:rect r="r" b="b" t="t" l="l"/>
              <a:pathLst>
                <a:path h="228600" w="778357">
                  <a:moveTo>
                    <a:pt x="19192" y="0"/>
                  </a:moveTo>
                  <a:lnTo>
                    <a:pt x="759164" y="0"/>
                  </a:lnTo>
                  <a:cubicBezTo>
                    <a:pt x="764254" y="0"/>
                    <a:pt x="769136" y="2408"/>
                    <a:pt x="772735" y="6696"/>
                  </a:cubicBezTo>
                  <a:cubicBezTo>
                    <a:pt x="776335" y="10983"/>
                    <a:pt x="778357" y="16797"/>
                    <a:pt x="778357" y="22860"/>
                  </a:cubicBezTo>
                  <a:lnTo>
                    <a:pt x="778357" y="205740"/>
                  </a:lnTo>
                  <a:cubicBezTo>
                    <a:pt x="778357" y="211803"/>
                    <a:pt x="776335" y="217617"/>
                    <a:pt x="772735" y="221904"/>
                  </a:cubicBezTo>
                  <a:cubicBezTo>
                    <a:pt x="769136" y="226192"/>
                    <a:pt x="764254" y="228600"/>
                    <a:pt x="759164" y="228600"/>
                  </a:cubicBezTo>
                  <a:lnTo>
                    <a:pt x="19192" y="228600"/>
                  </a:lnTo>
                  <a:cubicBezTo>
                    <a:pt x="8593" y="228600"/>
                    <a:pt x="0" y="218365"/>
                    <a:pt x="0" y="205740"/>
                  </a:cubicBezTo>
                  <a:lnTo>
                    <a:pt x="0" y="22860"/>
                  </a:lnTo>
                  <a:cubicBezTo>
                    <a:pt x="0" y="10235"/>
                    <a:pt x="8593" y="0"/>
                    <a:pt x="19192" y="0"/>
                  </a:cubicBezTo>
                  <a:close/>
                </a:path>
              </a:pathLst>
            </a:custGeom>
            <a:solidFill>
              <a:srgbClr val="8B3A3A"/>
            </a:solidFill>
          </p:spPr>
        </p:sp>
        <p:sp>
          <p:nvSpPr>
            <p:cNvPr name="TextBox 20" id="20"/>
            <p:cNvSpPr txBox="true"/>
            <p:nvPr/>
          </p:nvSpPr>
          <p:spPr>
            <a:xfrm>
              <a:off x="0" y="-47625"/>
              <a:ext cx="778357" cy="276225"/>
            </a:xfrm>
            <a:prstGeom prst="rect">
              <a:avLst/>
            </a:prstGeom>
          </p:spPr>
          <p:txBody>
            <a:bodyPr anchor="ctr" rtlCol="false" tIns="50800" lIns="50800" bIns="50800" rIns="50800"/>
            <a:lstStyle/>
            <a:p>
              <a:pPr algn="l">
                <a:lnSpc>
                  <a:spcPts val="1819"/>
                </a:lnSpc>
              </a:pPr>
            </a:p>
          </p:txBody>
        </p:sp>
      </p:grpSp>
      <p:sp>
        <p:nvSpPr>
          <p:cNvPr name="TextBox 21" id="21"/>
          <p:cNvSpPr txBox="true"/>
          <p:nvPr/>
        </p:nvSpPr>
        <p:spPr>
          <a:xfrm rot="0">
            <a:off x="7196274" y="3008070"/>
            <a:ext cx="509997" cy="174694"/>
          </a:xfrm>
          <a:prstGeom prst="rect">
            <a:avLst/>
          </a:prstGeom>
        </p:spPr>
        <p:txBody>
          <a:bodyPr anchor="t" rtlCol="false" tIns="0" lIns="0" bIns="0" rIns="0">
            <a:spAutoFit/>
          </a:bodyPr>
          <a:lstStyle/>
          <a:p>
            <a:pPr algn="r" marL="0" indent="0" lvl="0">
              <a:lnSpc>
                <a:spcPts val="1491"/>
              </a:lnSpc>
              <a:spcBef>
                <a:spcPct val="0"/>
              </a:spcBef>
            </a:pPr>
            <a:r>
              <a:rPr lang="en-US" sz="1065" strike="noStrike" u="none">
                <a:solidFill>
                  <a:srgbClr val="1E293B"/>
                </a:solidFill>
                <a:latin typeface="프리텐다드"/>
                <a:ea typeface="프리텐다드"/>
                <a:cs typeface="프리텐다드"/>
                <a:sym typeface="프리텐다드"/>
              </a:rPr>
              <a:t>보호자</a:t>
            </a:r>
          </a:p>
        </p:txBody>
      </p:sp>
      <p:grpSp>
        <p:nvGrpSpPr>
          <p:cNvPr name="Group 22" id="22"/>
          <p:cNvGrpSpPr/>
          <p:nvPr/>
        </p:nvGrpSpPr>
        <p:grpSpPr>
          <a:xfrm rot="0">
            <a:off x="7754842" y="2631994"/>
            <a:ext cx="1372134" cy="260338"/>
            <a:chOff x="0" y="0"/>
            <a:chExt cx="1204854" cy="228600"/>
          </a:xfrm>
        </p:grpSpPr>
        <p:sp>
          <p:nvSpPr>
            <p:cNvPr name="Freeform 23" id="23"/>
            <p:cNvSpPr/>
            <p:nvPr/>
          </p:nvSpPr>
          <p:spPr>
            <a:xfrm flipH="false" flipV="false" rot="0">
              <a:off x="0" y="0"/>
              <a:ext cx="1204854" cy="228600"/>
            </a:xfrm>
            <a:custGeom>
              <a:avLst/>
              <a:gdLst/>
              <a:ahLst/>
              <a:cxnLst/>
              <a:rect r="r" b="b" t="t" l="l"/>
              <a:pathLst>
                <a:path h="228600" w="1204854">
                  <a:moveTo>
                    <a:pt x="19192" y="0"/>
                  </a:moveTo>
                  <a:lnTo>
                    <a:pt x="1185661" y="0"/>
                  </a:lnTo>
                  <a:cubicBezTo>
                    <a:pt x="1190751" y="0"/>
                    <a:pt x="1195633" y="2408"/>
                    <a:pt x="1199232" y="6696"/>
                  </a:cubicBezTo>
                  <a:cubicBezTo>
                    <a:pt x="1202832" y="10983"/>
                    <a:pt x="1204854" y="16797"/>
                    <a:pt x="1204854" y="22860"/>
                  </a:cubicBezTo>
                  <a:lnTo>
                    <a:pt x="1204854" y="205740"/>
                  </a:lnTo>
                  <a:cubicBezTo>
                    <a:pt x="1204854" y="211803"/>
                    <a:pt x="1202832" y="217617"/>
                    <a:pt x="1199232" y="221904"/>
                  </a:cubicBezTo>
                  <a:cubicBezTo>
                    <a:pt x="1195633" y="226192"/>
                    <a:pt x="1190751" y="228600"/>
                    <a:pt x="1185661" y="228600"/>
                  </a:cubicBezTo>
                  <a:lnTo>
                    <a:pt x="19192" y="228600"/>
                  </a:lnTo>
                  <a:cubicBezTo>
                    <a:pt x="8593" y="228600"/>
                    <a:pt x="0" y="218365"/>
                    <a:pt x="0" y="205740"/>
                  </a:cubicBezTo>
                  <a:lnTo>
                    <a:pt x="0" y="22860"/>
                  </a:lnTo>
                  <a:cubicBezTo>
                    <a:pt x="0" y="10235"/>
                    <a:pt x="8593" y="0"/>
                    <a:pt x="19192" y="0"/>
                  </a:cubicBezTo>
                  <a:close/>
                </a:path>
              </a:pathLst>
            </a:custGeom>
            <a:solidFill>
              <a:srgbClr val="1B2A4A"/>
            </a:solidFill>
          </p:spPr>
        </p:sp>
        <p:sp>
          <p:nvSpPr>
            <p:cNvPr name="TextBox 24" id="24"/>
            <p:cNvSpPr txBox="true"/>
            <p:nvPr/>
          </p:nvSpPr>
          <p:spPr>
            <a:xfrm>
              <a:off x="0" y="-47625"/>
              <a:ext cx="1204854" cy="276225"/>
            </a:xfrm>
            <a:prstGeom prst="rect">
              <a:avLst/>
            </a:prstGeom>
          </p:spPr>
          <p:txBody>
            <a:bodyPr anchor="ctr" rtlCol="false" tIns="50800" lIns="50800" bIns="50800" rIns="50800"/>
            <a:lstStyle/>
            <a:p>
              <a:pPr algn="l">
                <a:lnSpc>
                  <a:spcPts val="1819"/>
                </a:lnSpc>
              </a:pPr>
            </a:p>
          </p:txBody>
        </p:sp>
      </p:grpSp>
      <p:sp>
        <p:nvSpPr>
          <p:cNvPr name="TextBox 25" id="25"/>
          <p:cNvSpPr txBox="true"/>
          <p:nvPr/>
        </p:nvSpPr>
        <p:spPr>
          <a:xfrm rot="0">
            <a:off x="7196274" y="2660952"/>
            <a:ext cx="509997" cy="174694"/>
          </a:xfrm>
          <a:prstGeom prst="rect">
            <a:avLst/>
          </a:prstGeom>
        </p:spPr>
        <p:txBody>
          <a:bodyPr anchor="t" rtlCol="false" tIns="0" lIns="0" bIns="0" rIns="0">
            <a:spAutoFit/>
          </a:bodyPr>
          <a:lstStyle/>
          <a:p>
            <a:pPr algn="r" marL="0" indent="0" lvl="0">
              <a:lnSpc>
                <a:spcPts val="1491"/>
              </a:lnSpc>
              <a:spcBef>
                <a:spcPct val="0"/>
              </a:spcBef>
            </a:pPr>
            <a:r>
              <a:rPr lang="en-US" sz="1065" strike="noStrike" u="none">
                <a:solidFill>
                  <a:srgbClr val="1E293B"/>
                </a:solidFill>
                <a:latin typeface="프리텐다드"/>
                <a:ea typeface="프리텐다드"/>
                <a:cs typeface="프리텐다드"/>
                <a:sym typeface="프리텐다드"/>
              </a:rPr>
              <a:t>학생</a:t>
            </a:r>
          </a:p>
        </p:txBody>
      </p:sp>
      <p:sp>
        <p:nvSpPr>
          <p:cNvPr name="TextBox 26" id="26"/>
          <p:cNvSpPr txBox="true"/>
          <p:nvPr/>
        </p:nvSpPr>
        <p:spPr>
          <a:xfrm rot="0">
            <a:off x="7196274" y="2411340"/>
            <a:ext cx="3278549" cy="157099"/>
          </a:xfrm>
          <a:prstGeom prst="rect">
            <a:avLst/>
          </a:prstGeom>
        </p:spPr>
        <p:txBody>
          <a:bodyPr anchor="t" rtlCol="false" tIns="0" lIns="0" bIns="0" rIns="0">
            <a:spAutoFit/>
          </a:bodyPr>
          <a:lstStyle/>
          <a:p>
            <a:pPr algn="ctr" marL="0" indent="0" lvl="0">
              <a:lnSpc>
                <a:spcPts val="1342"/>
              </a:lnSpc>
              <a:spcBef>
                <a:spcPct val="0"/>
              </a:spcBef>
            </a:pPr>
            <a:r>
              <a:rPr lang="en-US" sz="959" strike="noStrike" u="none">
                <a:solidFill>
                  <a:srgbClr val="94A3B8"/>
                </a:solidFill>
                <a:latin typeface="프리텐다드"/>
                <a:ea typeface="프리텐다드"/>
                <a:cs typeface="프리텐다드"/>
                <a:sym typeface="프리텐다드"/>
              </a:rPr>
              <a:t>학교급 초0/중0/고100 | 침해지수 1.30</a:t>
            </a:r>
          </a:p>
        </p:txBody>
      </p:sp>
      <p:sp>
        <p:nvSpPr>
          <p:cNvPr name="TextBox 27" id="27"/>
          <p:cNvSpPr txBox="true"/>
          <p:nvPr/>
        </p:nvSpPr>
        <p:spPr>
          <a:xfrm rot="0">
            <a:off x="7196274" y="2210969"/>
            <a:ext cx="3278549" cy="184806"/>
          </a:xfrm>
          <a:prstGeom prst="rect">
            <a:avLst/>
          </a:prstGeom>
        </p:spPr>
        <p:txBody>
          <a:bodyPr anchor="t" rtlCol="false" tIns="0" lIns="0" bIns="0" rIns="0">
            <a:spAutoFit/>
          </a:bodyPr>
          <a:lstStyle/>
          <a:p>
            <a:pPr algn="ctr" marL="0" indent="0" lvl="0">
              <a:lnSpc>
                <a:spcPts val="1459"/>
              </a:lnSpc>
              <a:spcBef>
                <a:spcPct val="0"/>
              </a:spcBef>
            </a:pPr>
            <a:r>
              <a:rPr lang="en-US" sz="1042" strike="noStrike" u="none">
                <a:solidFill>
                  <a:srgbClr val="64748B"/>
                </a:solidFill>
                <a:latin typeface="프리텐다드"/>
                <a:ea typeface="프리텐다드"/>
                <a:cs typeface="프리텐다드"/>
                <a:sym typeface="프리텐다드"/>
              </a:rPr>
              <a:t>표본 6% (n=686)</a:t>
            </a:r>
          </a:p>
        </p:txBody>
      </p:sp>
      <p:grpSp>
        <p:nvGrpSpPr>
          <p:cNvPr name="Group 28" id="28"/>
          <p:cNvGrpSpPr/>
          <p:nvPr/>
        </p:nvGrpSpPr>
        <p:grpSpPr>
          <a:xfrm rot="0">
            <a:off x="7317702" y="2140244"/>
            <a:ext cx="3035694" cy="43390"/>
            <a:chOff x="0" y="0"/>
            <a:chExt cx="2665605" cy="38100"/>
          </a:xfrm>
        </p:grpSpPr>
        <p:sp>
          <p:nvSpPr>
            <p:cNvPr name="Freeform 29" id="29"/>
            <p:cNvSpPr/>
            <p:nvPr/>
          </p:nvSpPr>
          <p:spPr>
            <a:xfrm flipH="false" flipV="false" rot="0">
              <a:off x="0" y="0"/>
              <a:ext cx="2665605" cy="38100"/>
            </a:xfrm>
            <a:custGeom>
              <a:avLst/>
              <a:gdLst/>
              <a:ahLst/>
              <a:cxnLst/>
              <a:rect r="r" b="b" t="t" l="l"/>
              <a:pathLst>
                <a:path h="38100" w="2665605">
                  <a:moveTo>
                    <a:pt x="0" y="0"/>
                  </a:moveTo>
                  <a:lnTo>
                    <a:pt x="2665605" y="0"/>
                  </a:lnTo>
                  <a:lnTo>
                    <a:pt x="2665605" y="38100"/>
                  </a:lnTo>
                  <a:lnTo>
                    <a:pt x="0" y="38100"/>
                  </a:lnTo>
                  <a:close/>
                </a:path>
              </a:pathLst>
            </a:custGeom>
            <a:solidFill>
              <a:srgbClr val="6B3FA0"/>
            </a:solidFill>
          </p:spPr>
        </p:sp>
        <p:sp>
          <p:nvSpPr>
            <p:cNvPr name="TextBox 30" id="30"/>
            <p:cNvSpPr txBox="true"/>
            <p:nvPr/>
          </p:nvSpPr>
          <p:spPr>
            <a:xfrm>
              <a:off x="0" y="-47625"/>
              <a:ext cx="2665605" cy="85725"/>
            </a:xfrm>
            <a:prstGeom prst="rect">
              <a:avLst/>
            </a:prstGeom>
          </p:spPr>
          <p:txBody>
            <a:bodyPr anchor="ctr" rtlCol="false" tIns="50800" lIns="50800" bIns="50800" rIns="50800"/>
            <a:lstStyle/>
            <a:p>
              <a:pPr algn="l">
                <a:lnSpc>
                  <a:spcPts val="1819"/>
                </a:lnSpc>
              </a:pPr>
            </a:p>
          </p:txBody>
        </p:sp>
      </p:grpSp>
      <p:sp>
        <p:nvSpPr>
          <p:cNvPr name="TextBox 31" id="31"/>
          <p:cNvSpPr txBox="true"/>
          <p:nvPr/>
        </p:nvSpPr>
        <p:spPr>
          <a:xfrm rot="0">
            <a:off x="7196274" y="1880669"/>
            <a:ext cx="3278549" cy="228306"/>
          </a:xfrm>
          <a:prstGeom prst="rect">
            <a:avLst/>
          </a:prstGeom>
        </p:spPr>
        <p:txBody>
          <a:bodyPr anchor="t" rtlCol="false" tIns="0" lIns="0" bIns="0" rIns="0">
            <a:spAutoFit/>
          </a:bodyPr>
          <a:lstStyle/>
          <a:p>
            <a:pPr algn="ctr" marL="0" indent="0" lvl="0">
              <a:lnSpc>
                <a:spcPts val="1859"/>
              </a:lnSpc>
              <a:spcBef>
                <a:spcPct val="0"/>
              </a:spcBef>
            </a:pPr>
            <a:r>
              <a:rPr lang="en-US" b="true" sz="1328" strike="noStrike" u="none">
                <a:solidFill>
                  <a:srgbClr val="1E293B"/>
                </a:solidFill>
                <a:latin typeface="프리텐다드 Bold"/>
                <a:ea typeface="프리텐다드 Bold"/>
                <a:cs typeface="프리텐다드 Bold"/>
                <a:sym typeface="프리텐다드 Bold"/>
              </a:rPr>
              <a:t>고등·저위험형</a:t>
            </a:r>
          </a:p>
        </p:txBody>
      </p:sp>
      <p:grpSp>
        <p:nvGrpSpPr>
          <p:cNvPr name="Group 32" id="32"/>
          <p:cNvGrpSpPr/>
          <p:nvPr/>
        </p:nvGrpSpPr>
        <p:grpSpPr>
          <a:xfrm rot="0">
            <a:off x="4476293" y="2979112"/>
            <a:ext cx="2185699" cy="260338"/>
            <a:chOff x="0" y="0"/>
            <a:chExt cx="1919236" cy="228600"/>
          </a:xfrm>
        </p:grpSpPr>
        <p:sp>
          <p:nvSpPr>
            <p:cNvPr name="Freeform 33" id="33"/>
            <p:cNvSpPr/>
            <p:nvPr/>
          </p:nvSpPr>
          <p:spPr>
            <a:xfrm flipH="false" flipV="false" rot="0">
              <a:off x="0" y="0"/>
              <a:ext cx="1919236" cy="228600"/>
            </a:xfrm>
            <a:custGeom>
              <a:avLst/>
              <a:gdLst/>
              <a:ahLst/>
              <a:cxnLst/>
              <a:rect r="r" b="b" t="t" l="l"/>
              <a:pathLst>
                <a:path h="228600" w="1919236">
                  <a:moveTo>
                    <a:pt x="19192" y="0"/>
                  </a:moveTo>
                  <a:lnTo>
                    <a:pt x="1900044" y="0"/>
                  </a:lnTo>
                  <a:cubicBezTo>
                    <a:pt x="1905134" y="0"/>
                    <a:pt x="1910015" y="2408"/>
                    <a:pt x="1913615" y="6696"/>
                  </a:cubicBezTo>
                  <a:cubicBezTo>
                    <a:pt x="1917214" y="10983"/>
                    <a:pt x="1919236" y="16797"/>
                    <a:pt x="1919236" y="22860"/>
                  </a:cubicBezTo>
                  <a:lnTo>
                    <a:pt x="1919236" y="205740"/>
                  </a:lnTo>
                  <a:cubicBezTo>
                    <a:pt x="1919236" y="211803"/>
                    <a:pt x="1917214" y="217617"/>
                    <a:pt x="1913615" y="221904"/>
                  </a:cubicBezTo>
                  <a:cubicBezTo>
                    <a:pt x="1910015" y="226192"/>
                    <a:pt x="1905134" y="228600"/>
                    <a:pt x="1900044" y="228600"/>
                  </a:cubicBezTo>
                  <a:lnTo>
                    <a:pt x="19192" y="228600"/>
                  </a:lnTo>
                  <a:cubicBezTo>
                    <a:pt x="8593" y="228600"/>
                    <a:pt x="0" y="218365"/>
                    <a:pt x="0" y="205740"/>
                  </a:cubicBezTo>
                  <a:lnTo>
                    <a:pt x="0" y="22860"/>
                  </a:lnTo>
                  <a:cubicBezTo>
                    <a:pt x="0" y="10235"/>
                    <a:pt x="8593" y="0"/>
                    <a:pt x="19192" y="0"/>
                  </a:cubicBezTo>
                  <a:close/>
                </a:path>
              </a:pathLst>
            </a:custGeom>
            <a:solidFill>
              <a:srgbClr val="E8E8E8"/>
            </a:solidFill>
          </p:spPr>
        </p:sp>
        <p:sp>
          <p:nvSpPr>
            <p:cNvPr name="TextBox 34" id="34"/>
            <p:cNvSpPr txBox="true"/>
            <p:nvPr/>
          </p:nvSpPr>
          <p:spPr>
            <a:xfrm>
              <a:off x="0" y="-47625"/>
              <a:ext cx="1919236" cy="276225"/>
            </a:xfrm>
            <a:prstGeom prst="rect">
              <a:avLst/>
            </a:prstGeom>
          </p:spPr>
          <p:txBody>
            <a:bodyPr anchor="ctr" rtlCol="false" tIns="50800" lIns="50800" bIns="50800" rIns="50800"/>
            <a:lstStyle/>
            <a:p>
              <a:pPr algn="l">
                <a:lnSpc>
                  <a:spcPts val="1819"/>
                </a:lnSpc>
              </a:pPr>
            </a:p>
          </p:txBody>
        </p:sp>
      </p:grpSp>
      <p:grpSp>
        <p:nvGrpSpPr>
          <p:cNvPr name="Group 35" id="35"/>
          <p:cNvGrpSpPr/>
          <p:nvPr/>
        </p:nvGrpSpPr>
        <p:grpSpPr>
          <a:xfrm rot="0">
            <a:off x="4476293" y="2631994"/>
            <a:ext cx="2185699" cy="260338"/>
            <a:chOff x="0" y="0"/>
            <a:chExt cx="1919236" cy="228600"/>
          </a:xfrm>
        </p:grpSpPr>
        <p:sp>
          <p:nvSpPr>
            <p:cNvPr name="Freeform 36" id="36"/>
            <p:cNvSpPr/>
            <p:nvPr/>
          </p:nvSpPr>
          <p:spPr>
            <a:xfrm flipH="false" flipV="false" rot="0">
              <a:off x="0" y="0"/>
              <a:ext cx="1919236" cy="228600"/>
            </a:xfrm>
            <a:custGeom>
              <a:avLst/>
              <a:gdLst/>
              <a:ahLst/>
              <a:cxnLst/>
              <a:rect r="r" b="b" t="t" l="l"/>
              <a:pathLst>
                <a:path h="228600" w="1919236">
                  <a:moveTo>
                    <a:pt x="19192" y="0"/>
                  </a:moveTo>
                  <a:lnTo>
                    <a:pt x="1900044" y="0"/>
                  </a:lnTo>
                  <a:cubicBezTo>
                    <a:pt x="1905134" y="0"/>
                    <a:pt x="1910015" y="2408"/>
                    <a:pt x="1913615" y="6696"/>
                  </a:cubicBezTo>
                  <a:cubicBezTo>
                    <a:pt x="1917214" y="10983"/>
                    <a:pt x="1919236" y="16797"/>
                    <a:pt x="1919236" y="22860"/>
                  </a:cubicBezTo>
                  <a:lnTo>
                    <a:pt x="1919236" y="205740"/>
                  </a:lnTo>
                  <a:cubicBezTo>
                    <a:pt x="1919236" y="211803"/>
                    <a:pt x="1917214" y="217617"/>
                    <a:pt x="1913615" y="221904"/>
                  </a:cubicBezTo>
                  <a:cubicBezTo>
                    <a:pt x="1910015" y="226192"/>
                    <a:pt x="1905134" y="228600"/>
                    <a:pt x="1900044" y="228600"/>
                  </a:cubicBezTo>
                  <a:lnTo>
                    <a:pt x="19192" y="228600"/>
                  </a:lnTo>
                  <a:cubicBezTo>
                    <a:pt x="8593" y="228600"/>
                    <a:pt x="0" y="218365"/>
                    <a:pt x="0" y="205740"/>
                  </a:cubicBezTo>
                  <a:lnTo>
                    <a:pt x="0" y="22860"/>
                  </a:lnTo>
                  <a:cubicBezTo>
                    <a:pt x="0" y="10235"/>
                    <a:pt x="8593" y="0"/>
                    <a:pt x="19192" y="0"/>
                  </a:cubicBezTo>
                  <a:close/>
                </a:path>
              </a:pathLst>
            </a:custGeom>
            <a:solidFill>
              <a:srgbClr val="E8E8E8"/>
            </a:solidFill>
          </p:spPr>
        </p:sp>
        <p:sp>
          <p:nvSpPr>
            <p:cNvPr name="TextBox 37" id="37"/>
            <p:cNvSpPr txBox="true"/>
            <p:nvPr/>
          </p:nvSpPr>
          <p:spPr>
            <a:xfrm>
              <a:off x="0" y="-47625"/>
              <a:ext cx="1919236" cy="276225"/>
            </a:xfrm>
            <a:prstGeom prst="rect">
              <a:avLst/>
            </a:prstGeom>
          </p:spPr>
          <p:txBody>
            <a:bodyPr anchor="ctr" rtlCol="false" tIns="50800" lIns="50800" bIns="50800" rIns="50800"/>
            <a:lstStyle/>
            <a:p>
              <a:pPr algn="l">
                <a:lnSpc>
                  <a:spcPts val="1819"/>
                </a:lnSpc>
              </a:pPr>
            </a:p>
          </p:txBody>
        </p:sp>
      </p:grpSp>
      <p:grpSp>
        <p:nvGrpSpPr>
          <p:cNvPr name="Group 38" id="38"/>
          <p:cNvGrpSpPr/>
          <p:nvPr/>
        </p:nvGrpSpPr>
        <p:grpSpPr>
          <a:xfrm rot="0">
            <a:off x="1204950" y="3326230"/>
            <a:ext cx="2185699" cy="260338"/>
            <a:chOff x="0" y="0"/>
            <a:chExt cx="1919236" cy="228600"/>
          </a:xfrm>
        </p:grpSpPr>
        <p:sp>
          <p:nvSpPr>
            <p:cNvPr name="Freeform 39" id="39"/>
            <p:cNvSpPr/>
            <p:nvPr/>
          </p:nvSpPr>
          <p:spPr>
            <a:xfrm flipH="false" flipV="false" rot="0">
              <a:off x="0" y="0"/>
              <a:ext cx="1919236" cy="228600"/>
            </a:xfrm>
            <a:custGeom>
              <a:avLst/>
              <a:gdLst/>
              <a:ahLst/>
              <a:cxnLst/>
              <a:rect r="r" b="b" t="t" l="l"/>
              <a:pathLst>
                <a:path h="228600" w="1919236">
                  <a:moveTo>
                    <a:pt x="19192" y="0"/>
                  </a:moveTo>
                  <a:lnTo>
                    <a:pt x="1900044" y="0"/>
                  </a:lnTo>
                  <a:cubicBezTo>
                    <a:pt x="1905134" y="0"/>
                    <a:pt x="1910015" y="2408"/>
                    <a:pt x="1913615" y="6696"/>
                  </a:cubicBezTo>
                  <a:cubicBezTo>
                    <a:pt x="1917214" y="10983"/>
                    <a:pt x="1919236" y="16797"/>
                    <a:pt x="1919236" y="22860"/>
                  </a:cubicBezTo>
                  <a:lnTo>
                    <a:pt x="1919236" y="205740"/>
                  </a:lnTo>
                  <a:cubicBezTo>
                    <a:pt x="1919236" y="211803"/>
                    <a:pt x="1917214" y="217617"/>
                    <a:pt x="1913615" y="221904"/>
                  </a:cubicBezTo>
                  <a:cubicBezTo>
                    <a:pt x="1910015" y="226192"/>
                    <a:pt x="1905134" y="228600"/>
                    <a:pt x="1900044" y="228600"/>
                  </a:cubicBezTo>
                  <a:lnTo>
                    <a:pt x="19192" y="228600"/>
                  </a:lnTo>
                  <a:cubicBezTo>
                    <a:pt x="8593" y="228600"/>
                    <a:pt x="0" y="218365"/>
                    <a:pt x="0" y="205740"/>
                  </a:cubicBezTo>
                  <a:lnTo>
                    <a:pt x="0" y="22860"/>
                  </a:lnTo>
                  <a:cubicBezTo>
                    <a:pt x="0" y="10235"/>
                    <a:pt x="8593" y="0"/>
                    <a:pt x="19192" y="0"/>
                  </a:cubicBezTo>
                  <a:close/>
                </a:path>
              </a:pathLst>
            </a:custGeom>
            <a:solidFill>
              <a:srgbClr val="E8E8E8"/>
            </a:solidFill>
          </p:spPr>
        </p:sp>
        <p:sp>
          <p:nvSpPr>
            <p:cNvPr name="TextBox 40" id="40"/>
            <p:cNvSpPr txBox="true"/>
            <p:nvPr/>
          </p:nvSpPr>
          <p:spPr>
            <a:xfrm>
              <a:off x="0" y="-47625"/>
              <a:ext cx="1919236" cy="276225"/>
            </a:xfrm>
            <a:prstGeom prst="rect">
              <a:avLst/>
            </a:prstGeom>
          </p:spPr>
          <p:txBody>
            <a:bodyPr anchor="ctr" rtlCol="false" tIns="50800" lIns="50800" bIns="50800" rIns="50800"/>
            <a:lstStyle/>
            <a:p>
              <a:pPr algn="l">
                <a:lnSpc>
                  <a:spcPts val="1819"/>
                </a:lnSpc>
              </a:pPr>
            </a:p>
          </p:txBody>
        </p:sp>
      </p:grpSp>
      <p:grpSp>
        <p:nvGrpSpPr>
          <p:cNvPr name="Group 41" id="41"/>
          <p:cNvGrpSpPr/>
          <p:nvPr/>
        </p:nvGrpSpPr>
        <p:grpSpPr>
          <a:xfrm rot="0">
            <a:off x="1204950" y="2631994"/>
            <a:ext cx="2185699" cy="260338"/>
            <a:chOff x="0" y="0"/>
            <a:chExt cx="1919236" cy="228600"/>
          </a:xfrm>
        </p:grpSpPr>
        <p:sp>
          <p:nvSpPr>
            <p:cNvPr name="Freeform 42" id="42"/>
            <p:cNvSpPr/>
            <p:nvPr/>
          </p:nvSpPr>
          <p:spPr>
            <a:xfrm flipH="false" flipV="false" rot="0">
              <a:off x="0" y="0"/>
              <a:ext cx="1919236" cy="228600"/>
            </a:xfrm>
            <a:custGeom>
              <a:avLst/>
              <a:gdLst/>
              <a:ahLst/>
              <a:cxnLst/>
              <a:rect r="r" b="b" t="t" l="l"/>
              <a:pathLst>
                <a:path h="228600" w="1919236">
                  <a:moveTo>
                    <a:pt x="19192" y="0"/>
                  </a:moveTo>
                  <a:lnTo>
                    <a:pt x="1900044" y="0"/>
                  </a:lnTo>
                  <a:cubicBezTo>
                    <a:pt x="1905134" y="0"/>
                    <a:pt x="1910015" y="2408"/>
                    <a:pt x="1913615" y="6696"/>
                  </a:cubicBezTo>
                  <a:cubicBezTo>
                    <a:pt x="1917214" y="10983"/>
                    <a:pt x="1919236" y="16797"/>
                    <a:pt x="1919236" y="22860"/>
                  </a:cubicBezTo>
                  <a:lnTo>
                    <a:pt x="1919236" y="205740"/>
                  </a:lnTo>
                  <a:cubicBezTo>
                    <a:pt x="1919236" y="211803"/>
                    <a:pt x="1917214" y="217617"/>
                    <a:pt x="1913615" y="221904"/>
                  </a:cubicBezTo>
                  <a:cubicBezTo>
                    <a:pt x="1910015" y="226192"/>
                    <a:pt x="1905134" y="228600"/>
                    <a:pt x="1900044" y="228600"/>
                  </a:cubicBezTo>
                  <a:lnTo>
                    <a:pt x="19192" y="228600"/>
                  </a:lnTo>
                  <a:cubicBezTo>
                    <a:pt x="8593" y="228600"/>
                    <a:pt x="0" y="218365"/>
                    <a:pt x="0" y="205740"/>
                  </a:cubicBezTo>
                  <a:lnTo>
                    <a:pt x="0" y="22860"/>
                  </a:lnTo>
                  <a:cubicBezTo>
                    <a:pt x="0" y="10235"/>
                    <a:pt x="8593" y="0"/>
                    <a:pt x="19192" y="0"/>
                  </a:cubicBezTo>
                  <a:close/>
                </a:path>
              </a:pathLst>
            </a:custGeom>
            <a:solidFill>
              <a:srgbClr val="E8E8E8"/>
            </a:solidFill>
          </p:spPr>
        </p:sp>
        <p:sp>
          <p:nvSpPr>
            <p:cNvPr name="TextBox 43" id="43"/>
            <p:cNvSpPr txBox="true"/>
            <p:nvPr/>
          </p:nvSpPr>
          <p:spPr>
            <a:xfrm>
              <a:off x="0" y="-47625"/>
              <a:ext cx="1919236" cy="276225"/>
            </a:xfrm>
            <a:prstGeom prst="rect">
              <a:avLst/>
            </a:prstGeom>
          </p:spPr>
          <p:txBody>
            <a:bodyPr anchor="ctr" rtlCol="false" tIns="50800" lIns="50800" bIns="50800" rIns="50800"/>
            <a:lstStyle/>
            <a:p>
              <a:pPr algn="l">
                <a:lnSpc>
                  <a:spcPts val="1819"/>
                </a:lnSpc>
              </a:pPr>
            </a:p>
          </p:txBody>
        </p:sp>
      </p:grpSp>
      <p:grpSp>
        <p:nvGrpSpPr>
          <p:cNvPr name="Group 44" id="44"/>
          <p:cNvGrpSpPr/>
          <p:nvPr/>
        </p:nvGrpSpPr>
        <p:grpSpPr>
          <a:xfrm rot="0">
            <a:off x="4476293" y="3326230"/>
            <a:ext cx="2185699" cy="260338"/>
            <a:chOff x="0" y="0"/>
            <a:chExt cx="1919236" cy="228600"/>
          </a:xfrm>
        </p:grpSpPr>
        <p:sp>
          <p:nvSpPr>
            <p:cNvPr name="Freeform 45" id="45"/>
            <p:cNvSpPr/>
            <p:nvPr/>
          </p:nvSpPr>
          <p:spPr>
            <a:xfrm flipH="false" flipV="false" rot="0">
              <a:off x="0" y="0"/>
              <a:ext cx="1919236" cy="228600"/>
            </a:xfrm>
            <a:custGeom>
              <a:avLst/>
              <a:gdLst/>
              <a:ahLst/>
              <a:cxnLst/>
              <a:rect r="r" b="b" t="t" l="l"/>
              <a:pathLst>
                <a:path h="228600" w="1919236">
                  <a:moveTo>
                    <a:pt x="19192" y="0"/>
                  </a:moveTo>
                  <a:lnTo>
                    <a:pt x="1900044" y="0"/>
                  </a:lnTo>
                  <a:cubicBezTo>
                    <a:pt x="1905134" y="0"/>
                    <a:pt x="1910015" y="2408"/>
                    <a:pt x="1913615" y="6696"/>
                  </a:cubicBezTo>
                  <a:cubicBezTo>
                    <a:pt x="1917214" y="10983"/>
                    <a:pt x="1919236" y="16797"/>
                    <a:pt x="1919236" y="22860"/>
                  </a:cubicBezTo>
                  <a:lnTo>
                    <a:pt x="1919236" y="205740"/>
                  </a:lnTo>
                  <a:cubicBezTo>
                    <a:pt x="1919236" y="211803"/>
                    <a:pt x="1917214" y="217617"/>
                    <a:pt x="1913615" y="221904"/>
                  </a:cubicBezTo>
                  <a:cubicBezTo>
                    <a:pt x="1910015" y="226192"/>
                    <a:pt x="1905134" y="228600"/>
                    <a:pt x="1900044" y="228600"/>
                  </a:cubicBezTo>
                  <a:lnTo>
                    <a:pt x="19192" y="228600"/>
                  </a:lnTo>
                  <a:cubicBezTo>
                    <a:pt x="8593" y="228600"/>
                    <a:pt x="0" y="218365"/>
                    <a:pt x="0" y="205740"/>
                  </a:cubicBezTo>
                  <a:lnTo>
                    <a:pt x="0" y="22860"/>
                  </a:lnTo>
                  <a:cubicBezTo>
                    <a:pt x="0" y="10235"/>
                    <a:pt x="8593" y="0"/>
                    <a:pt x="19192" y="0"/>
                  </a:cubicBezTo>
                  <a:close/>
                </a:path>
              </a:pathLst>
            </a:custGeom>
            <a:solidFill>
              <a:srgbClr val="E8E8E8"/>
            </a:solidFill>
          </p:spPr>
        </p:sp>
        <p:sp>
          <p:nvSpPr>
            <p:cNvPr name="TextBox 46" id="46"/>
            <p:cNvSpPr txBox="true"/>
            <p:nvPr/>
          </p:nvSpPr>
          <p:spPr>
            <a:xfrm>
              <a:off x="0" y="-47625"/>
              <a:ext cx="1919236" cy="276225"/>
            </a:xfrm>
            <a:prstGeom prst="rect">
              <a:avLst/>
            </a:prstGeom>
          </p:spPr>
          <p:txBody>
            <a:bodyPr anchor="ctr" rtlCol="false" tIns="50800" lIns="50800" bIns="50800" rIns="50800"/>
            <a:lstStyle/>
            <a:p>
              <a:pPr algn="l">
                <a:lnSpc>
                  <a:spcPts val="1819"/>
                </a:lnSpc>
              </a:pPr>
            </a:p>
          </p:txBody>
        </p:sp>
      </p:grpSp>
      <p:grpSp>
        <p:nvGrpSpPr>
          <p:cNvPr name="Group 47" id="47"/>
          <p:cNvGrpSpPr/>
          <p:nvPr/>
        </p:nvGrpSpPr>
        <p:grpSpPr>
          <a:xfrm rot="0">
            <a:off x="1204950" y="2979112"/>
            <a:ext cx="2185699" cy="260338"/>
            <a:chOff x="0" y="0"/>
            <a:chExt cx="1919236" cy="228600"/>
          </a:xfrm>
        </p:grpSpPr>
        <p:sp>
          <p:nvSpPr>
            <p:cNvPr name="Freeform 48" id="48"/>
            <p:cNvSpPr/>
            <p:nvPr/>
          </p:nvSpPr>
          <p:spPr>
            <a:xfrm flipH="false" flipV="false" rot="0">
              <a:off x="0" y="0"/>
              <a:ext cx="1919236" cy="228600"/>
            </a:xfrm>
            <a:custGeom>
              <a:avLst/>
              <a:gdLst/>
              <a:ahLst/>
              <a:cxnLst/>
              <a:rect r="r" b="b" t="t" l="l"/>
              <a:pathLst>
                <a:path h="228600" w="1919236">
                  <a:moveTo>
                    <a:pt x="19192" y="0"/>
                  </a:moveTo>
                  <a:lnTo>
                    <a:pt x="1900044" y="0"/>
                  </a:lnTo>
                  <a:cubicBezTo>
                    <a:pt x="1905134" y="0"/>
                    <a:pt x="1910015" y="2408"/>
                    <a:pt x="1913615" y="6696"/>
                  </a:cubicBezTo>
                  <a:cubicBezTo>
                    <a:pt x="1917214" y="10983"/>
                    <a:pt x="1919236" y="16797"/>
                    <a:pt x="1919236" y="22860"/>
                  </a:cubicBezTo>
                  <a:lnTo>
                    <a:pt x="1919236" y="205740"/>
                  </a:lnTo>
                  <a:cubicBezTo>
                    <a:pt x="1919236" y="211803"/>
                    <a:pt x="1917214" y="217617"/>
                    <a:pt x="1913615" y="221904"/>
                  </a:cubicBezTo>
                  <a:cubicBezTo>
                    <a:pt x="1910015" y="226192"/>
                    <a:pt x="1905134" y="228600"/>
                    <a:pt x="1900044" y="228600"/>
                  </a:cubicBezTo>
                  <a:lnTo>
                    <a:pt x="19192" y="228600"/>
                  </a:lnTo>
                  <a:cubicBezTo>
                    <a:pt x="8593" y="228600"/>
                    <a:pt x="0" y="218365"/>
                    <a:pt x="0" y="205740"/>
                  </a:cubicBezTo>
                  <a:lnTo>
                    <a:pt x="0" y="22860"/>
                  </a:lnTo>
                  <a:cubicBezTo>
                    <a:pt x="0" y="10235"/>
                    <a:pt x="8593" y="0"/>
                    <a:pt x="19192" y="0"/>
                  </a:cubicBezTo>
                  <a:close/>
                </a:path>
              </a:pathLst>
            </a:custGeom>
            <a:solidFill>
              <a:srgbClr val="E8E8E8"/>
            </a:solidFill>
          </p:spPr>
        </p:sp>
        <p:sp>
          <p:nvSpPr>
            <p:cNvPr name="TextBox 49" id="49"/>
            <p:cNvSpPr txBox="true"/>
            <p:nvPr/>
          </p:nvSpPr>
          <p:spPr>
            <a:xfrm>
              <a:off x="0" y="-47625"/>
              <a:ext cx="1919236" cy="276225"/>
            </a:xfrm>
            <a:prstGeom prst="rect">
              <a:avLst/>
            </a:prstGeom>
          </p:spPr>
          <p:txBody>
            <a:bodyPr anchor="ctr" rtlCol="false" tIns="50800" lIns="50800" bIns="50800" rIns="50800"/>
            <a:lstStyle/>
            <a:p>
              <a:pPr algn="l">
                <a:lnSpc>
                  <a:spcPts val="1819"/>
                </a:lnSpc>
              </a:pPr>
            </a:p>
          </p:txBody>
        </p:sp>
      </p:grpSp>
      <p:sp>
        <p:nvSpPr>
          <p:cNvPr name="TextBox 50" id="50"/>
          <p:cNvSpPr txBox="true"/>
          <p:nvPr/>
        </p:nvSpPr>
        <p:spPr>
          <a:xfrm rot="0">
            <a:off x="4804148" y="3332832"/>
            <a:ext cx="339998" cy="193489"/>
          </a:xfrm>
          <a:prstGeom prst="rect">
            <a:avLst/>
          </a:prstGeom>
        </p:spPr>
        <p:txBody>
          <a:bodyPr anchor="t" rtlCol="false" tIns="0" lIns="0" bIns="0" rIns="0">
            <a:spAutoFit/>
          </a:bodyPr>
          <a:lstStyle/>
          <a:p>
            <a:pPr algn="ctr" marL="0" indent="0" lvl="0">
              <a:lnSpc>
                <a:spcPts val="1540"/>
              </a:lnSpc>
              <a:spcBef>
                <a:spcPct val="0"/>
              </a:spcBef>
            </a:pPr>
            <a:r>
              <a:rPr lang="en-US" b="true" sz="1100" strike="noStrike" u="none">
                <a:solidFill>
                  <a:srgbClr val="FFFFFF"/>
                </a:solidFill>
                <a:latin typeface="프리텐다드 Bold"/>
                <a:ea typeface="프리텐다드 Bold"/>
                <a:cs typeface="프리텐다드 Bold"/>
                <a:sym typeface="프리텐다드 Bold"/>
              </a:rPr>
              <a:t>32%</a:t>
            </a:r>
          </a:p>
        </p:txBody>
      </p:sp>
      <p:grpSp>
        <p:nvGrpSpPr>
          <p:cNvPr name="Group 51" id="51"/>
          <p:cNvGrpSpPr/>
          <p:nvPr/>
        </p:nvGrpSpPr>
        <p:grpSpPr>
          <a:xfrm rot="0">
            <a:off x="4476293" y="3326230"/>
            <a:ext cx="692138" cy="260338"/>
            <a:chOff x="0" y="0"/>
            <a:chExt cx="607758" cy="228600"/>
          </a:xfrm>
        </p:grpSpPr>
        <p:sp>
          <p:nvSpPr>
            <p:cNvPr name="Freeform 52" id="52"/>
            <p:cNvSpPr/>
            <p:nvPr/>
          </p:nvSpPr>
          <p:spPr>
            <a:xfrm flipH="false" flipV="false" rot="0">
              <a:off x="0" y="0"/>
              <a:ext cx="607758" cy="228600"/>
            </a:xfrm>
            <a:custGeom>
              <a:avLst/>
              <a:gdLst/>
              <a:ahLst/>
              <a:cxnLst/>
              <a:rect r="r" b="b" t="t" l="l"/>
              <a:pathLst>
                <a:path h="228600" w="607758">
                  <a:moveTo>
                    <a:pt x="19192" y="0"/>
                  </a:moveTo>
                  <a:lnTo>
                    <a:pt x="588566" y="0"/>
                  </a:lnTo>
                  <a:cubicBezTo>
                    <a:pt x="599165" y="0"/>
                    <a:pt x="607758" y="10235"/>
                    <a:pt x="607758" y="22860"/>
                  </a:cubicBezTo>
                  <a:lnTo>
                    <a:pt x="607758" y="205740"/>
                  </a:lnTo>
                  <a:cubicBezTo>
                    <a:pt x="607758" y="218365"/>
                    <a:pt x="599165" y="228600"/>
                    <a:pt x="588566" y="228600"/>
                  </a:cubicBezTo>
                  <a:lnTo>
                    <a:pt x="19192" y="228600"/>
                  </a:lnTo>
                  <a:cubicBezTo>
                    <a:pt x="8593" y="228600"/>
                    <a:pt x="0" y="218365"/>
                    <a:pt x="0" y="205740"/>
                  </a:cubicBezTo>
                  <a:lnTo>
                    <a:pt x="0" y="22860"/>
                  </a:lnTo>
                  <a:cubicBezTo>
                    <a:pt x="0" y="10235"/>
                    <a:pt x="8593" y="0"/>
                    <a:pt x="19192" y="0"/>
                  </a:cubicBezTo>
                  <a:close/>
                </a:path>
              </a:pathLst>
            </a:custGeom>
            <a:solidFill>
              <a:srgbClr val="6B3FA0"/>
            </a:solidFill>
          </p:spPr>
        </p:sp>
        <p:sp>
          <p:nvSpPr>
            <p:cNvPr name="TextBox 53" id="53"/>
            <p:cNvSpPr txBox="true"/>
            <p:nvPr/>
          </p:nvSpPr>
          <p:spPr>
            <a:xfrm>
              <a:off x="0" y="-47625"/>
              <a:ext cx="607758" cy="276225"/>
            </a:xfrm>
            <a:prstGeom prst="rect">
              <a:avLst/>
            </a:prstGeom>
          </p:spPr>
          <p:txBody>
            <a:bodyPr anchor="ctr" rtlCol="false" tIns="50800" lIns="50800" bIns="50800" rIns="50800"/>
            <a:lstStyle/>
            <a:p>
              <a:pPr algn="l">
                <a:lnSpc>
                  <a:spcPts val="1819"/>
                </a:lnSpc>
              </a:pPr>
            </a:p>
          </p:txBody>
        </p:sp>
      </p:grpSp>
      <p:sp>
        <p:nvSpPr>
          <p:cNvPr name="TextBox 54" id="54"/>
          <p:cNvSpPr txBox="true"/>
          <p:nvPr/>
        </p:nvSpPr>
        <p:spPr>
          <a:xfrm rot="0">
            <a:off x="3917725" y="3355188"/>
            <a:ext cx="509997" cy="174694"/>
          </a:xfrm>
          <a:prstGeom prst="rect">
            <a:avLst/>
          </a:prstGeom>
        </p:spPr>
        <p:txBody>
          <a:bodyPr anchor="t" rtlCol="false" tIns="0" lIns="0" bIns="0" rIns="0">
            <a:spAutoFit/>
          </a:bodyPr>
          <a:lstStyle/>
          <a:p>
            <a:pPr algn="r" marL="0" indent="0" lvl="0">
              <a:lnSpc>
                <a:spcPts val="1491"/>
              </a:lnSpc>
              <a:spcBef>
                <a:spcPct val="0"/>
              </a:spcBef>
            </a:pPr>
            <a:r>
              <a:rPr lang="en-US" sz="1065" strike="noStrike" u="none">
                <a:solidFill>
                  <a:srgbClr val="1E293B"/>
                </a:solidFill>
                <a:latin typeface="프리텐다드"/>
                <a:ea typeface="프리텐다드"/>
                <a:cs typeface="프리텐다드"/>
                <a:sym typeface="프리텐다드"/>
              </a:rPr>
              <a:t>관리자</a:t>
            </a:r>
          </a:p>
        </p:txBody>
      </p:sp>
      <p:sp>
        <p:nvSpPr>
          <p:cNvPr name="TextBox 55" id="55"/>
          <p:cNvSpPr txBox="true"/>
          <p:nvPr/>
        </p:nvSpPr>
        <p:spPr>
          <a:xfrm rot="0">
            <a:off x="5180574" y="2985714"/>
            <a:ext cx="339998" cy="193489"/>
          </a:xfrm>
          <a:prstGeom prst="rect">
            <a:avLst/>
          </a:prstGeom>
        </p:spPr>
        <p:txBody>
          <a:bodyPr anchor="t" rtlCol="false" tIns="0" lIns="0" bIns="0" rIns="0">
            <a:spAutoFit/>
          </a:bodyPr>
          <a:lstStyle/>
          <a:p>
            <a:pPr algn="ctr" marL="0" indent="0" lvl="0">
              <a:lnSpc>
                <a:spcPts val="1540"/>
              </a:lnSpc>
              <a:spcBef>
                <a:spcPct val="0"/>
              </a:spcBef>
            </a:pPr>
            <a:r>
              <a:rPr lang="en-US" b="true" sz="1100" strike="noStrike" u="none">
                <a:solidFill>
                  <a:srgbClr val="FFFFFF"/>
                </a:solidFill>
                <a:latin typeface="프리텐다드 Bold"/>
                <a:ea typeface="프리텐다드 Bold"/>
                <a:cs typeface="프리텐다드 Bold"/>
                <a:sym typeface="프리텐다드 Bold"/>
              </a:rPr>
              <a:t>49%</a:t>
            </a:r>
          </a:p>
        </p:txBody>
      </p:sp>
      <p:grpSp>
        <p:nvGrpSpPr>
          <p:cNvPr name="Group 56" id="56"/>
          <p:cNvGrpSpPr/>
          <p:nvPr/>
        </p:nvGrpSpPr>
        <p:grpSpPr>
          <a:xfrm rot="0">
            <a:off x="4476293" y="2979112"/>
            <a:ext cx="1068564" cy="260338"/>
            <a:chOff x="0" y="0"/>
            <a:chExt cx="938293" cy="228600"/>
          </a:xfrm>
        </p:grpSpPr>
        <p:sp>
          <p:nvSpPr>
            <p:cNvPr name="Freeform 57" id="57"/>
            <p:cNvSpPr/>
            <p:nvPr/>
          </p:nvSpPr>
          <p:spPr>
            <a:xfrm flipH="false" flipV="false" rot="0">
              <a:off x="0" y="0"/>
              <a:ext cx="938293" cy="228600"/>
            </a:xfrm>
            <a:custGeom>
              <a:avLst/>
              <a:gdLst/>
              <a:ahLst/>
              <a:cxnLst/>
              <a:rect r="r" b="b" t="t" l="l"/>
              <a:pathLst>
                <a:path h="228600" w="938293">
                  <a:moveTo>
                    <a:pt x="19192" y="0"/>
                  </a:moveTo>
                  <a:lnTo>
                    <a:pt x="919101" y="0"/>
                  </a:lnTo>
                  <a:cubicBezTo>
                    <a:pt x="924191" y="0"/>
                    <a:pt x="929072" y="2408"/>
                    <a:pt x="932672" y="6696"/>
                  </a:cubicBezTo>
                  <a:cubicBezTo>
                    <a:pt x="936271" y="10983"/>
                    <a:pt x="938293" y="16797"/>
                    <a:pt x="938293" y="22860"/>
                  </a:cubicBezTo>
                  <a:lnTo>
                    <a:pt x="938293" y="205740"/>
                  </a:lnTo>
                  <a:cubicBezTo>
                    <a:pt x="938293" y="211803"/>
                    <a:pt x="936271" y="217617"/>
                    <a:pt x="932672" y="221904"/>
                  </a:cubicBezTo>
                  <a:cubicBezTo>
                    <a:pt x="929072" y="226192"/>
                    <a:pt x="924191" y="228600"/>
                    <a:pt x="919101" y="228600"/>
                  </a:cubicBezTo>
                  <a:lnTo>
                    <a:pt x="19192" y="228600"/>
                  </a:lnTo>
                  <a:cubicBezTo>
                    <a:pt x="8593" y="228600"/>
                    <a:pt x="0" y="218365"/>
                    <a:pt x="0" y="205740"/>
                  </a:cubicBezTo>
                  <a:lnTo>
                    <a:pt x="0" y="22860"/>
                  </a:lnTo>
                  <a:cubicBezTo>
                    <a:pt x="0" y="10235"/>
                    <a:pt x="8593" y="0"/>
                    <a:pt x="19192" y="0"/>
                  </a:cubicBezTo>
                  <a:close/>
                </a:path>
              </a:pathLst>
            </a:custGeom>
            <a:solidFill>
              <a:srgbClr val="8B3A3A"/>
            </a:solidFill>
          </p:spPr>
        </p:sp>
        <p:sp>
          <p:nvSpPr>
            <p:cNvPr name="TextBox 58" id="58"/>
            <p:cNvSpPr txBox="true"/>
            <p:nvPr/>
          </p:nvSpPr>
          <p:spPr>
            <a:xfrm>
              <a:off x="0" y="-47625"/>
              <a:ext cx="938293" cy="276225"/>
            </a:xfrm>
            <a:prstGeom prst="rect">
              <a:avLst/>
            </a:prstGeom>
          </p:spPr>
          <p:txBody>
            <a:bodyPr anchor="ctr" rtlCol="false" tIns="50800" lIns="50800" bIns="50800" rIns="50800"/>
            <a:lstStyle/>
            <a:p>
              <a:pPr algn="l">
                <a:lnSpc>
                  <a:spcPts val="1819"/>
                </a:lnSpc>
              </a:pPr>
            </a:p>
          </p:txBody>
        </p:sp>
      </p:grpSp>
      <p:sp>
        <p:nvSpPr>
          <p:cNvPr name="TextBox 59" id="59"/>
          <p:cNvSpPr txBox="true"/>
          <p:nvPr/>
        </p:nvSpPr>
        <p:spPr>
          <a:xfrm rot="0">
            <a:off x="3917725" y="3008070"/>
            <a:ext cx="509997" cy="174694"/>
          </a:xfrm>
          <a:prstGeom prst="rect">
            <a:avLst/>
          </a:prstGeom>
        </p:spPr>
        <p:txBody>
          <a:bodyPr anchor="t" rtlCol="false" tIns="0" lIns="0" bIns="0" rIns="0">
            <a:spAutoFit/>
          </a:bodyPr>
          <a:lstStyle/>
          <a:p>
            <a:pPr algn="r" marL="0" indent="0" lvl="0">
              <a:lnSpc>
                <a:spcPts val="1491"/>
              </a:lnSpc>
              <a:spcBef>
                <a:spcPct val="0"/>
              </a:spcBef>
            </a:pPr>
            <a:r>
              <a:rPr lang="en-US" sz="1065" strike="noStrike" u="none">
                <a:solidFill>
                  <a:srgbClr val="1E293B"/>
                </a:solidFill>
                <a:latin typeface="프리텐다드"/>
                <a:ea typeface="프리텐다드"/>
                <a:cs typeface="프리텐다드"/>
                <a:sym typeface="프리텐다드"/>
              </a:rPr>
              <a:t>보호자</a:t>
            </a:r>
          </a:p>
        </p:txBody>
      </p:sp>
      <p:sp>
        <p:nvSpPr>
          <p:cNvPr name="TextBox 60" id="60"/>
          <p:cNvSpPr txBox="true"/>
          <p:nvPr/>
        </p:nvSpPr>
        <p:spPr>
          <a:xfrm rot="0">
            <a:off x="5569143" y="2638596"/>
            <a:ext cx="339998" cy="193489"/>
          </a:xfrm>
          <a:prstGeom prst="rect">
            <a:avLst/>
          </a:prstGeom>
        </p:spPr>
        <p:txBody>
          <a:bodyPr anchor="t" rtlCol="false" tIns="0" lIns="0" bIns="0" rIns="0">
            <a:spAutoFit/>
          </a:bodyPr>
          <a:lstStyle/>
          <a:p>
            <a:pPr algn="ctr" marL="0" indent="0" lvl="0">
              <a:lnSpc>
                <a:spcPts val="1540"/>
              </a:lnSpc>
              <a:spcBef>
                <a:spcPct val="0"/>
              </a:spcBef>
            </a:pPr>
            <a:r>
              <a:rPr lang="en-US" b="true" sz="1100" strike="noStrike" u="none">
                <a:solidFill>
                  <a:srgbClr val="FFFFFF"/>
                </a:solidFill>
                <a:latin typeface="프리텐다드 Bold"/>
                <a:ea typeface="프리텐다드 Bold"/>
                <a:cs typeface="프리텐다드 Bold"/>
                <a:sym typeface="프리텐다드 Bold"/>
              </a:rPr>
              <a:t>67%</a:t>
            </a:r>
          </a:p>
        </p:txBody>
      </p:sp>
      <p:grpSp>
        <p:nvGrpSpPr>
          <p:cNvPr name="Group 61" id="61"/>
          <p:cNvGrpSpPr/>
          <p:nvPr/>
        </p:nvGrpSpPr>
        <p:grpSpPr>
          <a:xfrm rot="0">
            <a:off x="4476293" y="2631994"/>
            <a:ext cx="1457133" cy="260338"/>
            <a:chOff x="0" y="0"/>
            <a:chExt cx="1279491" cy="228600"/>
          </a:xfrm>
        </p:grpSpPr>
        <p:sp>
          <p:nvSpPr>
            <p:cNvPr name="Freeform 62" id="62"/>
            <p:cNvSpPr/>
            <p:nvPr/>
          </p:nvSpPr>
          <p:spPr>
            <a:xfrm flipH="false" flipV="false" rot="0">
              <a:off x="0" y="0"/>
              <a:ext cx="1279491" cy="228600"/>
            </a:xfrm>
            <a:custGeom>
              <a:avLst/>
              <a:gdLst/>
              <a:ahLst/>
              <a:cxnLst/>
              <a:rect r="r" b="b" t="t" l="l"/>
              <a:pathLst>
                <a:path h="228600" w="1279491">
                  <a:moveTo>
                    <a:pt x="19192" y="0"/>
                  </a:moveTo>
                  <a:lnTo>
                    <a:pt x="1260298" y="0"/>
                  </a:lnTo>
                  <a:cubicBezTo>
                    <a:pt x="1265388" y="0"/>
                    <a:pt x="1270270" y="2408"/>
                    <a:pt x="1273869" y="6696"/>
                  </a:cubicBezTo>
                  <a:cubicBezTo>
                    <a:pt x="1277469" y="10983"/>
                    <a:pt x="1279491" y="16797"/>
                    <a:pt x="1279491" y="22860"/>
                  </a:cubicBezTo>
                  <a:lnTo>
                    <a:pt x="1279491" y="205740"/>
                  </a:lnTo>
                  <a:cubicBezTo>
                    <a:pt x="1279491" y="211803"/>
                    <a:pt x="1277469" y="217617"/>
                    <a:pt x="1273869" y="221904"/>
                  </a:cubicBezTo>
                  <a:cubicBezTo>
                    <a:pt x="1270270" y="226192"/>
                    <a:pt x="1265388" y="228600"/>
                    <a:pt x="1260298" y="228600"/>
                  </a:cubicBezTo>
                  <a:lnTo>
                    <a:pt x="19192" y="228600"/>
                  </a:lnTo>
                  <a:cubicBezTo>
                    <a:pt x="8593" y="228600"/>
                    <a:pt x="0" y="218365"/>
                    <a:pt x="0" y="205740"/>
                  </a:cubicBezTo>
                  <a:lnTo>
                    <a:pt x="0" y="22860"/>
                  </a:lnTo>
                  <a:cubicBezTo>
                    <a:pt x="0" y="10235"/>
                    <a:pt x="8593" y="0"/>
                    <a:pt x="19192" y="0"/>
                  </a:cubicBezTo>
                  <a:close/>
                </a:path>
              </a:pathLst>
            </a:custGeom>
            <a:solidFill>
              <a:srgbClr val="1B2A4A"/>
            </a:solidFill>
          </p:spPr>
        </p:sp>
        <p:sp>
          <p:nvSpPr>
            <p:cNvPr name="TextBox 63" id="63"/>
            <p:cNvSpPr txBox="true"/>
            <p:nvPr/>
          </p:nvSpPr>
          <p:spPr>
            <a:xfrm>
              <a:off x="0" y="-47625"/>
              <a:ext cx="1279491" cy="276225"/>
            </a:xfrm>
            <a:prstGeom prst="rect">
              <a:avLst/>
            </a:prstGeom>
          </p:spPr>
          <p:txBody>
            <a:bodyPr anchor="ctr" rtlCol="false" tIns="50800" lIns="50800" bIns="50800" rIns="50800"/>
            <a:lstStyle/>
            <a:p>
              <a:pPr algn="l">
                <a:lnSpc>
                  <a:spcPts val="1819"/>
                </a:lnSpc>
              </a:pPr>
            </a:p>
          </p:txBody>
        </p:sp>
      </p:grpSp>
      <p:sp>
        <p:nvSpPr>
          <p:cNvPr name="TextBox 64" id="64"/>
          <p:cNvSpPr txBox="true"/>
          <p:nvPr/>
        </p:nvSpPr>
        <p:spPr>
          <a:xfrm rot="0">
            <a:off x="3917725" y="2660952"/>
            <a:ext cx="509997" cy="174694"/>
          </a:xfrm>
          <a:prstGeom prst="rect">
            <a:avLst/>
          </a:prstGeom>
        </p:spPr>
        <p:txBody>
          <a:bodyPr anchor="t" rtlCol="false" tIns="0" lIns="0" bIns="0" rIns="0">
            <a:spAutoFit/>
          </a:bodyPr>
          <a:lstStyle/>
          <a:p>
            <a:pPr algn="r" marL="0" indent="0" lvl="0">
              <a:lnSpc>
                <a:spcPts val="1491"/>
              </a:lnSpc>
              <a:spcBef>
                <a:spcPct val="0"/>
              </a:spcBef>
            </a:pPr>
            <a:r>
              <a:rPr lang="en-US" sz="1065" strike="noStrike" u="none">
                <a:solidFill>
                  <a:srgbClr val="1E293B"/>
                </a:solidFill>
                <a:latin typeface="프리텐다드"/>
                <a:ea typeface="프리텐다드"/>
                <a:cs typeface="프리텐다드"/>
                <a:sym typeface="프리텐다드"/>
              </a:rPr>
              <a:t>학생</a:t>
            </a:r>
          </a:p>
        </p:txBody>
      </p:sp>
      <p:sp>
        <p:nvSpPr>
          <p:cNvPr name="TextBox 65" id="65"/>
          <p:cNvSpPr txBox="true"/>
          <p:nvPr/>
        </p:nvSpPr>
        <p:spPr>
          <a:xfrm rot="0">
            <a:off x="3917725" y="2210969"/>
            <a:ext cx="3278549" cy="184806"/>
          </a:xfrm>
          <a:prstGeom prst="rect">
            <a:avLst/>
          </a:prstGeom>
        </p:spPr>
        <p:txBody>
          <a:bodyPr anchor="t" rtlCol="false" tIns="0" lIns="0" bIns="0" rIns="0">
            <a:spAutoFit/>
          </a:bodyPr>
          <a:lstStyle/>
          <a:p>
            <a:pPr algn="ctr" marL="0" indent="0" lvl="0">
              <a:lnSpc>
                <a:spcPts val="1459"/>
              </a:lnSpc>
              <a:spcBef>
                <a:spcPct val="0"/>
              </a:spcBef>
            </a:pPr>
            <a:r>
              <a:rPr lang="en-US" sz="1042" strike="noStrike" u="none">
                <a:solidFill>
                  <a:srgbClr val="64748B"/>
                </a:solidFill>
                <a:latin typeface="프리텐다드"/>
                <a:ea typeface="프리텐다드"/>
                <a:cs typeface="프리텐다드"/>
                <a:sym typeface="프리텐다드"/>
              </a:rPr>
              <a:t>표본 22% (n=2,430)</a:t>
            </a:r>
          </a:p>
        </p:txBody>
      </p:sp>
      <p:grpSp>
        <p:nvGrpSpPr>
          <p:cNvPr name="Group 66" id="66"/>
          <p:cNvGrpSpPr/>
          <p:nvPr/>
        </p:nvGrpSpPr>
        <p:grpSpPr>
          <a:xfrm rot="0">
            <a:off x="4039153" y="2140244"/>
            <a:ext cx="3035694" cy="43390"/>
            <a:chOff x="0" y="0"/>
            <a:chExt cx="2665605" cy="38100"/>
          </a:xfrm>
        </p:grpSpPr>
        <p:sp>
          <p:nvSpPr>
            <p:cNvPr name="Freeform 67" id="67"/>
            <p:cNvSpPr/>
            <p:nvPr/>
          </p:nvSpPr>
          <p:spPr>
            <a:xfrm flipH="false" flipV="false" rot="0">
              <a:off x="0" y="0"/>
              <a:ext cx="2665605" cy="38100"/>
            </a:xfrm>
            <a:custGeom>
              <a:avLst/>
              <a:gdLst/>
              <a:ahLst/>
              <a:cxnLst/>
              <a:rect r="r" b="b" t="t" l="l"/>
              <a:pathLst>
                <a:path h="38100" w="2665605">
                  <a:moveTo>
                    <a:pt x="0" y="0"/>
                  </a:moveTo>
                  <a:lnTo>
                    <a:pt x="2665605" y="0"/>
                  </a:lnTo>
                  <a:lnTo>
                    <a:pt x="2665605" y="38100"/>
                  </a:lnTo>
                  <a:lnTo>
                    <a:pt x="0" y="38100"/>
                  </a:lnTo>
                  <a:close/>
                </a:path>
              </a:pathLst>
            </a:custGeom>
            <a:solidFill>
              <a:srgbClr val="4A6FA5"/>
            </a:solidFill>
          </p:spPr>
        </p:sp>
        <p:sp>
          <p:nvSpPr>
            <p:cNvPr name="TextBox 68" id="68"/>
            <p:cNvSpPr txBox="true"/>
            <p:nvPr/>
          </p:nvSpPr>
          <p:spPr>
            <a:xfrm>
              <a:off x="0" y="-47625"/>
              <a:ext cx="2665605" cy="85725"/>
            </a:xfrm>
            <a:prstGeom prst="rect">
              <a:avLst/>
            </a:prstGeom>
          </p:spPr>
          <p:txBody>
            <a:bodyPr anchor="ctr" rtlCol="false" tIns="50800" lIns="50800" bIns="50800" rIns="50800"/>
            <a:lstStyle/>
            <a:p>
              <a:pPr algn="l">
                <a:lnSpc>
                  <a:spcPts val="1819"/>
                </a:lnSpc>
              </a:pPr>
            </a:p>
          </p:txBody>
        </p:sp>
      </p:grpSp>
      <p:sp>
        <p:nvSpPr>
          <p:cNvPr name="TextBox 69" id="69"/>
          <p:cNvSpPr txBox="true"/>
          <p:nvPr/>
        </p:nvSpPr>
        <p:spPr>
          <a:xfrm rot="0">
            <a:off x="3917725" y="1880669"/>
            <a:ext cx="3278549" cy="228306"/>
          </a:xfrm>
          <a:prstGeom prst="rect">
            <a:avLst/>
          </a:prstGeom>
        </p:spPr>
        <p:txBody>
          <a:bodyPr anchor="t" rtlCol="false" tIns="0" lIns="0" bIns="0" rIns="0">
            <a:spAutoFit/>
          </a:bodyPr>
          <a:lstStyle/>
          <a:p>
            <a:pPr algn="ctr" marL="0" indent="0" lvl="0">
              <a:lnSpc>
                <a:spcPts val="1859"/>
              </a:lnSpc>
              <a:spcBef>
                <a:spcPct val="0"/>
              </a:spcBef>
            </a:pPr>
            <a:r>
              <a:rPr lang="en-US" b="true" sz="1328" strike="noStrike" u="none">
                <a:solidFill>
                  <a:srgbClr val="1E293B"/>
                </a:solidFill>
                <a:latin typeface="프리텐다드 Bold"/>
                <a:ea typeface="프리텐다드 Bold"/>
                <a:cs typeface="프리텐다드 Bold"/>
                <a:sym typeface="프리텐다드 Bold"/>
              </a:rPr>
              <a:t>중등·관리자 혼재형</a:t>
            </a:r>
          </a:p>
        </p:txBody>
      </p:sp>
      <p:sp>
        <p:nvSpPr>
          <p:cNvPr name="TextBox 70" id="70"/>
          <p:cNvSpPr txBox="true"/>
          <p:nvPr/>
        </p:nvSpPr>
        <p:spPr>
          <a:xfrm rot="0">
            <a:off x="1289950" y="3332832"/>
            <a:ext cx="339998" cy="193489"/>
          </a:xfrm>
          <a:prstGeom prst="rect">
            <a:avLst/>
          </a:prstGeom>
        </p:spPr>
        <p:txBody>
          <a:bodyPr anchor="t" rtlCol="false" tIns="0" lIns="0" bIns="0" rIns="0">
            <a:spAutoFit/>
          </a:bodyPr>
          <a:lstStyle/>
          <a:p>
            <a:pPr algn="ctr" marL="0" indent="0" lvl="0">
              <a:lnSpc>
                <a:spcPts val="1540"/>
              </a:lnSpc>
              <a:spcBef>
                <a:spcPct val="0"/>
              </a:spcBef>
            </a:pPr>
            <a:r>
              <a:rPr lang="en-US" b="true" sz="1100" strike="noStrike" u="none">
                <a:solidFill>
                  <a:srgbClr val="FFFFFF"/>
                </a:solidFill>
                <a:latin typeface="프리텐다드 Bold"/>
                <a:ea typeface="프리텐다드 Bold"/>
                <a:cs typeface="프리텐다드 Bold"/>
                <a:sym typeface="프리텐다드 Bold"/>
              </a:rPr>
              <a:t>21%</a:t>
            </a:r>
          </a:p>
        </p:txBody>
      </p:sp>
      <p:grpSp>
        <p:nvGrpSpPr>
          <p:cNvPr name="Group 71" id="71"/>
          <p:cNvGrpSpPr/>
          <p:nvPr/>
        </p:nvGrpSpPr>
        <p:grpSpPr>
          <a:xfrm rot="0">
            <a:off x="1204950" y="3326230"/>
            <a:ext cx="449283" cy="260338"/>
            <a:chOff x="0" y="0"/>
            <a:chExt cx="394510" cy="228600"/>
          </a:xfrm>
        </p:grpSpPr>
        <p:sp>
          <p:nvSpPr>
            <p:cNvPr name="Freeform 72" id="72"/>
            <p:cNvSpPr/>
            <p:nvPr/>
          </p:nvSpPr>
          <p:spPr>
            <a:xfrm flipH="false" flipV="false" rot="0">
              <a:off x="0" y="0"/>
              <a:ext cx="394510" cy="228600"/>
            </a:xfrm>
            <a:custGeom>
              <a:avLst/>
              <a:gdLst/>
              <a:ahLst/>
              <a:cxnLst/>
              <a:rect r="r" b="b" t="t" l="l"/>
              <a:pathLst>
                <a:path h="228600" w="394510">
                  <a:moveTo>
                    <a:pt x="19192" y="0"/>
                  </a:moveTo>
                  <a:lnTo>
                    <a:pt x="375317" y="0"/>
                  </a:lnTo>
                  <a:cubicBezTo>
                    <a:pt x="385917" y="0"/>
                    <a:pt x="394510" y="10235"/>
                    <a:pt x="394510" y="22860"/>
                  </a:cubicBezTo>
                  <a:lnTo>
                    <a:pt x="394510" y="205740"/>
                  </a:lnTo>
                  <a:cubicBezTo>
                    <a:pt x="394510" y="218365"/>
                    <a:pt x="385917" y="228600"/>
                    <a:pt x="375317" y="228600"/>
                  </a:cubicBezTo>
                  <a:lnTo>
                    <a:pt x="19192" y="228600"/>
                  </a:lnTo>
                  <a:cubicBezTo>
                    <a:pt x="8593" y="228600"/>
                    <a:pt x="0" y="218365"/>
                    <a:pt x="0" y="205740"/>
                  </a:cubicBezTo>
                  <a:lnTo>
                    <a:pt x="0" y="22860"/>
                  </a:lnTo>
                  <a:cubicBezTo>
                    <a:pt x="0" y="10235"/>
                    <a:pt x="8593" y="0"/>
                    <a:pt x="19192" y="0"/>
                  </a:cubicBezTo>
                  <a:close/>
                </a:path>
              </a:pathLst>
            </a:custGeom>
            <a:solidFill>
              <a:srgbClr val="6B3FA0"/>
            </a:solidFill>
          </p:spPr>
        </p:sp>
        <p:sp>
          <p:nvSpPr>
            <p:cNvPr name="TextBox 73" id="73"/>
            <p:cNvSpPr txBox="true"/>
            <p:nvPr/>
          </p:nvSpPr>
          <p:spPr>
            <a:xfrm>
              <a:off x="0" y="-47625"/>
              <a:ext cx="394510" cy="276225"/>
            </a:xfrm>
            <a:prstGeom prst="rect">
              <a:avLst/>
            </a:prstGeom>
          </p:spPr>
          <p:txBody>
            <a:bodyPr anchor="ctr" rtlCol="false" tIns="50800" lIns="50800" bIns="50800" rIns="50800"/>
            <a:lstStyle/>
            <a:p>
              <a:pPr algn="l">
                <a:lnSpc>
                  <a:spcPts val="1819"/>
                </a:lnSpc>
              </a:pPr>
            </a:p>
          </p:txBody>
        </p:sp>
      </p:grpSp>
      <p:sp>
        <p:nvSpPr>
          <p:cNvPr name="TextBox 74" id="74"/>
          <p:cNvSpPr txBox="true"/>
          <p:nvPr/>
        </p:nvSpPr>
        <p:spPr>
          <a:xfrm rot="0">
            <a:off x="646383" y="3355188"/>
            <a:ext cx="509997" cy="174694"/>
          </a:xfrm>
          <a:prstGeom prst="rect">
            <a:avLst/>
          </a:prstGeom>
        </p:spPr>
        <p:txBody>
          <a:bodyPr anchor="t" rtlCol="false" tIns="0" lIns="0" bIns="0" rIns="0">
            <a:spAutoFit/>
          </a:bodyPr>
          <a:lstStyle/>
          <a:p>
            <a:pPr algn="r" marL="0" indent="0" lvl="0">
              <a:lnSpc>
                <a:spcPts val="1491"/>
              </a:lnSpc>
              <a:spcBef>
                <a:spcPct val="0"/>
              </a:spcBef>
            </a:pPr>
            <a:r>
              <a:rPr lang="en-US" sz="1065" strike="noStrike" u="none">
                <a:solidFill>
                  <a:srgbClr val="1E293B"/>
                </a:solidFill>
                <a:latin typeface="프리텐다드"/>
                <a:ea typeface="프리텐다드"/>
                <a:cs typeface="프리텐다드"/>
                <a:sym typeface="프리텐다드"/>
              </a:rPr>
              <a:t>관리자</a:t>
            </a:r>
          </a:p>
        </p:txBody>
      </p:sp>
      <p:sp>
        <p:nvSpPr>
          <p:cNvPr name="TextBox 75" id="75"/>
          <p:cNvSpPr txBox="true"/>
          <p:nvPr/>
        </p:nvSpPr>
        <p:spPr>
          <a:xfrm rot="0">
            <a:off x="2237086" y="2985714"/>
            <a:ext cx="339998" cy="193489"/>
          </a:xfrm>
          <a:prstGeom prst="rect">
            <a:avLst/>
          </a:prstGeom>
        </p:spPr>
        <p:txBody>
          <a:bodyPr anchor="t" rtlCol="false" tIns="0" lIns="0" bIns="0" rIns="0">
            <a:spAutoFit/>
          </a:bodyPr>
          <a:lstStyle/>
          <a:p>
            <a:pPr algn="ctr" marL="0" indent="0" lvl="0">
              <a:lnSpc>
                <a:spcPts val="1540"/>
              </a:lnSpc>
              <a:spcBef>
                <a:spcPct val="0"/>
              </a:spcBef>
            </a:pPr>
            <a:r>
              <a:rPr lang="en-US" b="true" sz="1100" strike="noStrike" u="none">
                <a:solidFill>
                  <a:srgbClr val="FFFFFF"/>
                </a:solidFill>
                <a:latin typeface="프리텐다드 Bold"/>
                <a:ea typeface="프리텐다드 Bold"/>
                <a:cs typeface="프리텐다드 Bold"/>
                <a:sym typeface="프리텐다드 Bold"/>
              </a:rPr>
              <a:t>64%</a:t>
            </a:r>
          </a:p>
        </p:txBody>
      </p:sp>
      <p:grpSp>
        <p:nvGrpSpPr>
          <p:cNvPr name="Group 76" id="76"/>
          <p:cNvGrpSpPr/>
          <p:nvPr/>
        </p:nvGrpSpPr>
        <p:grpSpPr>
          <a:xfrm rot="0">
            <a:off x="1204950" y="2979112"/>
            <a:ext cx="1396419" cy="260338"/>
            <a:chOff x="0" y="0"/>
            <a:chExt cx="1226178" cy="228600"/>
          </a:xfrm>
        </p:grpSpPr>
        <p:sp>
          <p:nvSpPr>
            <p:cNvPr name="Freeform 77" id="77"/>
            <p:cNvSpPr/>
            <p:nvPr/>
          </p:nvSpPr>
          <p:spPr>
            <a:xfrm flipH="false" flipV="false" rot="0">
              <a:off x="0" y="0"/>
              <a:ext cx="1226178" cy="228600"/>
            </a:xfrm>
            <a:custGeom>
              <a:avLst/>
              <a:gdLst/>
              <a:ahLst/>
              <a:cxnLst/>
              <a:rect r="r" b="b" t="t" l="l"/>
              <a:pathLst>
                <a:path h="228600" w="1226178">
                  <a:moveTo>
                    <a:pt x="19192" y="0"/>
                  </a:moveTo>
                  <a:lnTo>
                    <a:pt x="1206986" y="0"/>
                  </a:lnTo>
                  <a:cubicBezTo>
                    <a:pt x="1212076" y="0"/>
                    <a:pt x="1216958" y="2408"/>
                    <a:pt x="1220557" y="6696"/>
                  </a:cubicBezTo>
                  <a:cubicBezTo>
                    <a:pt x="1224156" y="10983"/>
                    <a:pt x="1226178" y="16797"/>
                    <a:pt x="1226178" y="22860"/>
                  </a:cubicBezTo>
                  <a:lnTo>
                    <a:pt x="1226178" y="205740"/>
                  </a:lnTo>
                  <a:cubicBezTo>
                    <a:pt x="1226178" y="211803"/>
                    <a:pt x="1224156" y="217617"/>
                    <a:pt x="1220557" y="221904"/>
                  </a:cubicBezTo>
                  <a:cubicBezTo>
                    <a:pt x="1216958" y="226192"/>
                    <a:pt x="1212076" y="228600"/>
                    <a:pt x="1206986" y="228600"/>
                  </a:cubicBezTo>
                  <a:lnTo>
                    <a:pt x="19192" y="228600"/>
                  </a:lnTo>
                  <a:cubicBezTo>
                    <a:pt x="8593" y="228600"/>
                    <a:pt x="0" y="218365"/>
                    <a:pt x="0" y="205740"/>
                  </a:cubicBezTo>
                  <a:lnTo>
                    <a:pt x="0" y="22860"/>
                  </a:lnTo>
                  <a:cubicBezTo>
                    <a:pt x="0" y="10235"/>
                    <a:pt x="8593" y="0"/>
                    <a:pt x="19192" y="0"/>
                  </a:cubicBezTo>
                  <a:close/>
                </a:path>
              </a:pathLst>
            </a:custGeom>
            <a:solidFill>
              <a:srgbClr val="8B3A3A"/>
            </a:solidFill>
          </p:spPr>
        </p:sp>
        <p:sp>
          <p:nvSpPr>
            <p:cNvPr name="TextBox 78" id="78"/>
            <p:cNvSpPr txBox="true"/>
            <p:nvPr/>
          </p:nvSpPr>
          <p:spPr>
            <a:xfrm>
              <a:off x="0" y="-47625"/>
              <a:ext cx="1226178" cy="276225"/>
            </a:xfrm>
            <a:prstGeom prst="rect">
              <a:avLst/>
            </a:prstGeom>
          </p:spPr>
          <p:txBody>
            <a:bodyPr anchor="ctr" rtlCol="false" tIns="50800" lIns="50800" bIns="50800" rIns="50800"/>
            <a:lstStyle/>
            <a:p>
              <a:pPr algn="l">
                <a:lnSpc>
                  <a:spcPts val="1819"/>
                </a:lnSpc>
              </a:pPr>
            </a:p>
          </p:txBody>
        </p:sp>
      </p:grpSp>
      <p:sp>
        <p:nvSpPr>
          <p:cNvPr name="TextBox 79" id="79"/>
          <p:cNvSpPr txBox="true"/>
          <p:nvPr/>
        </p:nvSpPr>
        <p:spPr>
          <a:xfrm rot="0">
            <a:off x="646383" y="3008070"/>
            <a:ext cx="509997" cy="174694"/>
          </a:xfrm>
          <a:prstGeom prst="rect">
            <a:avLst/>
          </a:prstGeom>
        </p:spPr>
        <p:txBody>
          <a:bodyPr anchor="t" rtlCol="false" tIns="0" lIns="0" bIns="0" rIns="0">
            <a:spAutoFit/>
          </a:bodyPr>
          <a:lstStyle/>
          <a:p>
            <a:pPr algn="r" marL="0" indent="0" lvl="0">
              <a:lnSpc>
                <a:spcPts val="1491"/>
              </a:lnSpc>
              <a:spcBef>
                <a:spcPct val="0"/>
              </a:spcBef>
            </a:pPr>
            <a:r>
              <a:rPr lang="en-US" sz="1065" strike="noStrike" u="none">
                <a:solidFill>
                  <a:srgbClr val="1E293B"/>
                </a:solidFill>
                <a:latin typeface="프리텐다드"/>
                <a:ea typeface="프리텐다드"/>
                <a:cs typeface="프리텐다드"/>
                <a:sym typeface="프리텐다드"/>
              </a:rPr>
              <a:t>보호자</a:t>
            </a:r>
          </a:p>
        </p:txBody>
      </p:sp>
      <p:sp>
        <p:nvSpPr>
          <p:cNvPr name="TextBox 80" id="80"/>
          <p:cNvSpPr txBox="true"/>
          <p:nvPr/>
        </p:nvSpPr>
        <p:spPr>
          <a:xfrm rot="0">
            <a:off x="2674226" y="2638596"/>
            <a:ext cx="339998" cy="193489"/>
          </a:xfrm>
          <a:prstGeom prst="rect">
            <a:avLst/>
          </a:prstGeom>
        </p:spPr>
        <p:txBody>
          <a:bodyPr anchor="t" rtlCol="false" tIns="0" lIns="0" bIns="0" rIns="0">
            <a:spAutoFit/>
          </a:bodyPr>
          <a:lstStyle/>
          <a:p>
            <a:pPr algn="ctr" marL="0" indent="0" lvl="0">
              <a:lnSpc>
                <a:spcPts val="1540"/>
              </a:lnSpc>
              <a:spcBef>
                <a:spcPct val="0"/>
              </a:spcBef>
            </a:pPr>
            <a:r>
              <a:rPr lang="en-US" b="true" sz="1100" strike="noStrike" u="none">
                <a:solidFill>
                  <a:srgbClr val="FFFFFF"/>
                </a:solidFill>
                <a:latin typeface="프리텐다드 Bold"/>
                <a:ea typeface="프리텐다드 Bold"/>
                <a:cs typeface="프리텐다드 Bold"/>
                <a:sym typeface="프리텐다드 Bold"/>
              </a:rPr>
              <a:t>84%</a:t>
            </a:r>
          </a:p>
        </p:txBody>
      </p:sp>
      <p:grpSp>
        <p:nvGrpSpPr>
          <p:cNvPr name="Group 81" id="81"/>
          <p:cNvGrpSpPr/>
          <p:nvPr/>
        </p:nvGrpSpPr>
        <p:grpSpPr>
          <a:xfrm rot="0">
            <a:off x="1204950" y="2631994"/>
            <a:ext cx="1833559" cy="260338"/>
            <a:chOff x="0" y="0"/>
            <a:chExt cx="1610026" cy="228600"/>
          </a:xfrm>
        </p:grpSpPr>
        <p:sp>
          <p:nvSpPr>
            <p:cNvPr name="Freeform 82" id="82"/>
            <p:cNvSpPr/>
            <p:nvPr/>
          </p:nvSpPr>
          <p:spPr>
            <a:xfrm flipH="false" flipV="false" rot="0">
              <a:off x="0" y="0"/>
              <a:ext cx="1610026" cy="228600"/>
            </a:xfrm>
            <a:custGeom>
              <a:avLst/>
              <a:gdLst/>
              <a:ahLst/>
              <a:cxnLst/>
              <a:rect r="r" b="b" t="t" l="l"/>
              <a:pathLst>
                <a:path h="228600" w="1610026">
                  <a:moveTo>
                    <a:pt x="19192" y="0"/>
                  </a:moveTo>
                  <a:lnTo>
                    <a:pt x="1590833" y="0"/>
                  </a:lnTo>
                  <a:cubicBezTo>
                    <a:pt x="1595923" y="0"/>
                    <a:pt x="1600805" y="2408"/>
                    <a:pt x="1604404" y="6696"/>
                  </a:cubicBezTo>
                  <a:cubicBezTo>
                    <a:pt x="1608004" y="10983"/>
                    <a:pt x="1610026" y="16797"/>
                    <a:pt x="1610026" y="22860"/>
                  </a:cubicBezTo>
                  <a:lnTo>
                    <a:pt x="1610026" y="205740"/>
                  </a:lnTo>
                  <a:cubicBezTo>
                    <a:pt x="1610026" y="211803"/>
                    <a:pt x="1608004" y="217617"/>
                    <a:pt x="1604404" y="221904"/>
                  </a:cubicBezTo>
                  <a:cubicBezTo>
                    <a:pt x="1600805" y="226192"/>
                    <a:pt x="1595923" y="228600"/>
                    <a:pt x="1590833" y="228600"/>
                  </a:cubicBezTo>
                  <a:lnTo>
                    <a:pt x="19192" y="228600"/>
                  </a:lnTo>
                  <a:cubicBezTo>
                    <a:pt x="8593" y="228600"/>
                    <a:pt x="0" y="218365"/>
                    <a:pt x="0" y="205740"/>
                  </a:cubicBezTo>
                  <a:lnTo>
                    <a:pt x="0" y="22860"/>
                  </a:lnTo>
                  <a:cubicBezTo>
                    <a:pt x="0" y="10235"/>
                    <a:pt x="8593" y="0"/>
                    <a:pt x="19192" y="0"/>
                  </a:cubicBezTo>
                  <a:close/>
                </a:path>
              </a:pathLst>
            </a:custGeom>
            <a:solidFill>
              <a:srgbClr val="1B2A4A"/>
            </a:solidFill>
          </p:spPr>
        </p:sp>
        <p:sp>
          <p:nvSpPr>
            <p:cNvPr name="TextBox 83" id="83"/>
            <p:cNvSpPr txBox="true"/>
            <p:nvPr/>
          </p:nvSpPr>
          <p:spPr>
            <a:xfrm>
              <a:off x="0" y="-47625"/>
              <a:ext cx="1610026" cy="276225"/>
            </a:xfrm>
            <a:prstGeom prst="rect">
              <a:avLst/>
            </a:prstGeom>
          </p:spPr>
          <p:txBody>
            <a:bodyPr anchor="ctr" rtlCol="false" tIns="50800" lIns="50800" bIns="50800" rIns="50800"/>
            <a:lstStyle/>
            <a:p>
              <a:pPr algn="l">
                <a:lnSpc>
                  <a:spcPts val="1819"/>
                </a:lnSpc>
              </a:pPr>
            </a:p>
          </p:txBody>
        </p:sp>
      </p:grpSp>
      <p:sp>
        <p:nvSpPr>
          <p:cNvPr name="TextBox 84" id="84"/>
          <p:cNvSpPr txBox="true"/>
          <p:nvPr/>
        </p:nvSpPr>
        <p:spPr>
          <a:xfrm rot="0">
            <a:off x="646383" y="2660952"/>
            <a:ext cx="509997" cy="174694"/>
          </a:xfrm>
          <a:prstGeom prst="rect">
            <a:avLst/>
          </a:prstGeom>
        </p:spPr>
        <p:txBody>
          <a:bodyPr anchor="t" rtlCol="false" tIns="0" lIns="0" bIns="0" rIns="0">
            <a:spAutoFit/>
          </a:bodyPr>
          <a:lstStyle/>
          <a:p>
            <a:pPr algn="r" marL="0" indent="0" lvl="0">
              <a:lnSpc>
                <a:spcPts val="1491"/>
              </a:lnSpc>
              <a:spcBef>
                <a:spcPct val="0"/>
              </a:spcBef>
            </a:pPr>
            <a:r>
              <a:rPr lang="en-US" sz="1065" strike="noStrike" u="none">
                <a:solidFill>
                  <a:srgbClr val="1E293B"/>
                </a:solidFill>
                <a:latin typeface="프리텐다드"/>
                <a:ea typeface="프리텐다드"/>
                <a:cs typeface="프리텐다드"/>
                <a:sym typeface="프리텐다드"/>
              </a:rPr>
              <a:t>학생</a:t>
            </a:r>
          </a:p>
        </p:txBody>
      </p:sp>
      <p:sp>
        <p:nvSpPr>
          <p:cNvPr name="TextBox 85" id="85"/>
          <p:cNvSpPr txBox="true"/>
          <p:nvPr/>
        </p:nvSpPr>
        <p:spPr>
          <a:xfrm rot="0">
            <a:off x="646383" y="2411340"/>
            <a:ext cx="3278549" cy="157099"/>
          </a:xfrm>
          <a:prstGeom prst="rect">
            <a:avLst/>
          </a:prstGeom>
        </p:spPr>
        <p:txBody>
          <a:bodyPr anchor="t" rtlCol="false" tIns="0" lIns="0" bIns="0" rIns="0">
            <a:spAutoFit/>
          </a:bodyPr>
          <a:lstStyle/>
          <a:p>
            <a:pPr algn="ctr" marL="0" indent="0" lvl="0">
              <a:lnSpc>
                <a:spcPts val="1342"/>
              </a:lnSpc>
              <a:spcBef>
                <a:spcPct val="0"/>
              </a:spcBef>
            </a:pPr>
            <a:r>
              <a:rPr lang="en-US" sz="959" strike="noStrike" u="none">
                <a:solidFill>
                  <a:srgbClr val="94A3B8"/>
                </a:solidFill>
                <a:latin typeface="프리텐다드"/>
                <a:ea typeface="프리텐다드"/>
                <a:cs typeface="프리텐다드"/>
                <a:sym typeface="프리텐다드"/>
              </a:rPr>
              <a:t>학교급 초97/중0/고0 | 침해지수 1.69</a:t>
            </a:r>
          </a:p>
        </p:txBody>
      </p:sp>
      <p:sp>
        <p:nvSpPr>
          <p:cNvPr name="TextBox 86" id="86"/>
          <p:cNvSpPr txBox="true"/>
          <p:nvPr/>
        </p:nvSpPr>
        <p:spPr>
          <a:xfrm rot="0">
            <a:off x="646383" y="2210969"/>
            <a:ext cx="3278549" cy="184806"/>
          </a:xfrm>
          <a:prstGeom prst="rect">
            <a:avLst/>
          </a:prstGeom>
        </p:spPr>
        <p:txBody>
          <a:bodyPr anchor="t" rtlCol="false" tIns="0" lIns="0" bIns="0" rIns="0">
            <a:spAutoFit/>
          </a:bodyPr>
          <a:lstStyle/>
          <a:p>
            <a:pPr algn="ctr" marL="0" indent="0" lvl="0">
              <a:lnSpc>
                <a:spcPts val="1459"/>
              </a:lnSpc>
              <a:spcBef>
                <a:spcPct val="0"/>
              </a:spcBef>
            </a:pPr>
            <a:r>
              <a:rPr lang="en-US" sz="1042" strike="noStrike" u="none">
                <a:solidFill>
                  <a:srgbClr val="64748B"/>
                </a:solidFill>
                <a:latin typeface="프리텐다드"/>
                <a:ea typeface="프리텐다드"/>
                <a:cs typeface="프리텐다드"/>
                <a:sym typeface="프리텐다드"/>
              </a:rPr>
              <a:t>표본 71% (n=7,772)</a:t>
            </a:r>
          </a:p>
        </p:txBody>
      </p:sp>
      <p:grpSp>
        <p:nvGrpSpPr>
          <p:cNvPr name="Group 87" id="87"/>
          <p:cNvGrpSpPr/>
          <p:nvPr/>
        </p:nvGrpSpPr>
        <p:grpSpPr>
          <a:xfrm rot="0">
            <a:off x="767811" y="2140244"/>
            <a:ext cx="3035694" cy="43390"/>
            <a:chOff x="0" y="0"/>
            <a:chExt cx="2665605" cy="38100"/>
          </a:xfrm>
        </p:grpSpPr>
        <p:sp>
          <p:nvSpPr>
            <p:cNvPr name="Freeform 88" id="88"/>
            <p:cNvSpPr/>
            <p:nvPr/>
          </p:nvSpPr>
          <p:spPr>
            <a:xfrm flipH="false" flipV="false" rot="0">
              <a:off x="0" y="0"/>
              <a:ext cx="2665605" cy="38100"/>
            </a:xfrm>
            <a:custGeom>
              <a:avLst/>
              <a:gdLst/>
              <a:ahLst/>
              <a:cxnLst/>
              <a:rect r="r" b="b" t="t" l="l"/>
              <a:pathLst>
                <a:path h="38100" w="2665605">
                  <a:moveTo>
                    <a:pt x="0" y="0"/>
                  </a:moveTo>
                  <a:lnTo>
                    <a:pt x="2665605" y="0"/>
                  </a:lnTo>
                  <a:lnTo>
                    <a:pt x="2665605" y="38100"/>
                  </a:lnTo>
                  <a:lnTo>
                    <a:pt x="0" y="38100"/>
                  </a:lnTo>
                  <a:close/>
                </a:path>
              </a:pathLst>
            </a:custGeom>
            <a:solidFill>
              <a:srgbClr val="1B2A4A"/>
            </a:solidFill>
          </p:spPr>
        </p:sp>
        <p:sp>
          <p:nvSpPr>
            <p:cNvPr name="TextBox 89" id="89"/>
            <p:cNvSpPr txBox="true"/>
            <p:nvPr/>
          </p:nvSpPr>
          <p:spPr>
            <a:xfrm>
              <a:off x="0" y="-47625"/>
              <a:ext cx="2665605" cy="85725"/>
            </a:xfrm>
            <a:prstGeom prst="rect">
              <a:avLst/>
            </a:prstGeom>
          </p:spPr>
          <p:txBody>
            <a:bodyPr anchor="ctr" rtlCol="false" tIns="50800" lIns="50800" bIns="50800" rIns="50800"/>
            <a:lstStyle/>
            <a:p>
              <a:pPr algn="l">
                <a:lnSpc>
                  <a:spcPts val="1819"/>
                </a:lnSpc>
              </a:pPr>
            </a:p>
          </p:txBody>
        </p:sp>
      </p:grpSp>
      <p:sp>
        <p:nvSpPr>
          <p:cNvPr name="TextBox 90" id="90"/>
          <p:cNvSpPr txBox="true"/>
          <p:nvPr/>
        </p:nvSpPr>
        <p:spPr>
          <a:xfrm rot="0">
            <a:off x="646383" y="1880669"/>
            <a:ext cx="3278549" cy="228306"/>
          </a:xfrm>
          <a:prstGeom prst="rect">
            <a:avLst/>
          </a:prstGeom>
        </p:spPr>
        <p:txBody>
          <a:bodyPr anchor="t" rtlCol="false" tIns="0" lIns="0" bIns="0" rIns="0">
            <a:spAutoFit/>
          </a:bodyPr>
          <a:lstStyle/>
          <a:p>
            <a:pPr algn="ctr" marL="0" indent="0" lvl="0">
              <a:lnSpc>
                <a:spcPts val="1859"/>
              </a:lnSpc>
              <a:spcBef>
                <a:spcPct val="0"/>
              </a:spcBef>
            </a:pPr>
            <a:r>
              <a:rPr lang="en-US" b="true" sz="1328" strike="noStrike" u="none">
                <a:solidFill>
                  <a:srgbClr val="1E293B"/>
                </a:solidFill>
                <a:latin typeface="프리텐다드 Bold"/>
                <a:ea typeface="프리텐다드 Bold"/>
                <a:cs typeface="프리텐다드 Bold"/>
                <a:sym typeface="프리텐다드 Bold"/>
              </a:rPr>
              <a:t>초등·복합 고위험형</a:t>
            </a:r>
          </a:p>
        </p:txBody>
      </p:sp>
      <p:grpSp>
        <p:nvGrpSpPr>
          <p:cNvPr name="Group 91" id="91"/>
          <p:cNvGrpSpPr/>
          <p:nvPr/>
        </p:nvGrpSpPr>
        <p:grpSpPr>
          <a:xfrm rot="0">
            <a:off x="17007840" y="9976001"/>
            <a:ext cx="914400" cy="274320"/>
            <a:chOff x="0" y="0"/>
            <a:chExt cx="1219200" cy="365760"/>
          </a:xfrm>
        </p:grpSpPr>
        <p:sp>
          <p:nvSpPr>
            <p:cNvPr name="Freeform 92" id="92"/>
            <p:cNvSpPr/>
            <p:nvPr/>
          </p:nvSpPr>
          <p:spPr>
            <a:xfrm flipH="false" flipV="false" rot="0">
              <a:off x="0" y="0"/>
              <a:ext cx="1219200" cy="365760"/>
            </a:xfrm>
            <a:custGeom>
              <a:avLst/>
              <a:gdLst/>
              <a:ahLst/>
              <a:cxnLst/>
              <a:rect r="r" b="b" t="t" l="l"/>
              <a:pathLst>
                <a:path h="365760" w="1219200">
                  <a:moveTo>
                    <a:pt x="0" y="0"/>
                  </a:moveTo>
                  <a:lnTo>
                    <a:pt x="1219200" y="0"/>
                  </a:lnTo>
                  <a:lnTo>
                    <a:pt x="1219200" y="365760"/>
                  </a:lnTo>
                  <a:lnTo>
                    <a:pt x="0" y="365760"/>
                  </a:lnTo>
                  <a:close/>
                </a:path>
              </a:pathLst>
            </a:custGeom>
            <a:blipFill>
              <a:blip r:embed="rId2">
                <a:alphaModFix amt="0"/>
              </a:blip>
              <a:stretch>
                <a:fillRect l="0" t="-14950" r="0" b="-14950"/>
              </a:stretch>
            </a:blipFill>
          </p:spPr>
        </p:sp>
        <p:sp>
          <p:nvSpPr>
            <p:cNvPr name="TextBox 93" id="93"/>
            <p:cNvSpPr txBox="true"/>
            <p:nvPr/>
          </p:nvSpPr>
          <p:spPr>
            <a:xfrm>
              <a:off x="0" y="-9525"/>
              <a:ext cx="1219200" cy="375285"/>
            </a:xfrm>
            <a:prstGeom prst="rect">
              <a:avLst/>
            </a:prstGeom>
          </p:spPr>
          <p:txBody>
            <a:bodyPr anchor="ctr" rtlCol="false" tIns="0" lIns="0" bIns="0" rIns="0"/>
            <a:lstStyle/>
            <a:p>
              <a:pPr algn="r">
                <a:lnSpc>
                  <a:spcPts val="1320"/>
                </a:lnSpc>
              </a:pPr>
              <a:r>
                <a:rPr lang="en-US" sz="1100">
                  <a:solidFill>
                    <a:srgbClr val="64748B"/>
                  </a:solidFill>
                  <a:latin typeface="Playfair Display"/>
                  <a:ea typeface="Playfair Display"/>
                  <a:cs typeface="Playfair Display"/>
                  <a:sym typeface="Playfair Display"/>
                </a:rPr>
                <a:t>7 / 10</a:t>
              </a:r>
            </a:p>
          </p:txBody>
        </p:sp>
      </p:grpSp>
      <p:sp>
        <p:nvSpPr>
          <p:cNvPr name="AutoShape 94" id="94"/>
          <p:cNvSpPr/>
          <p:nvPr/>
        </p:nvSpPr>
        <p:spPr>
          <a:xfrm>
            <a:off x="1581998" y="6449183"/>
            <a:ext cx="8771397" cy="0"/>
          </a:xfrm>
          <a:prstGeom prst="line">
            <a:avLst/>
          </a:prstGeom>
          <a:ln cap="flat" w="9525">
            <a:solidFill>
              <a:srgbClr val="E2E8F0"/>
            </a:solidFill>
            <a:prstDash val="solid"/>
            <a:headEnd type="none" len="sm" w="sm"/>
            <a:tailEnd type="none" len="sm" w="sm"/>
          </a:ln>
        </p:spPr>
      </p:sp>
      <p:sp>
        <p:nvSpPr>
          <p:cNvPr name="AutoShape 95" id="95"/>
          <p:cNvSpPr/>
          <p:nvPr/>
        </p:nvSpPr>
        <p:spPr>
          <a:xfrm>
            <a:off x="1581998" y="6114662"/>
            <a:ext cx="8771397" cy="0"/>
          </a:xfrm>
          <a:prstGeom prst="line">
            <a:avLst/>
          </a:prstGeom>
          <a:ln cap="flat" w="9525">
            <a:solidFill>
              <a:srgbClr val="E2E8F0"/>
            </a:solidFill>
            <a:prstDash val="solid"/>
            <a:headEnd type="none" len="sm" w="sm"/>
            <a:tailEnd type="none" len="sm" w="sm"/>
          </a:ln>
        </p:spPr>
      </p:sp>
      <p:sp>
        <p:nvSpPr>
          <p:cNvPr name="AutoShape 96" id="96"/>
          <p:cNvSpPr/>
          <p:nvPr/>
        </p:nvSpPr>
        <p:spPr>
          <a:xfrm>
            <a:off x="1581998" y="5780141"/>
            <a:ext cx="8771397" cy="0"/>
          </a:xfrm>
          <a:prstGeom prst="line">
            <a:avLst/>
          </a:prstGeom>
          <a:ln cap="flat" w="9525">
            <a:solidFill>
              <a:srgbClr val="E2E8F0"/>
            </a:solidFill>
            <a:prstDash val="solid"/>
            <a:headEnd type="none" len="sm" w="sm"/>
            <a:tailEnd type="none" len="sm" w="sm"/>
          </a:ln>
        </p:spPr>
      </p:sp>
      <p:sp>
        <p:nvSpPr>
          <p:cNvPr name="AutoShape 97" id="97"/>
          <p:cNvSpPr/>
          <p:nvPr/>
        </p:nvSpPr>
        <p:spPr>
          <a:xfrm>
            <a:off x="1581998" y="5431075"/>
            <a:ext cx="8771397" cy="0"/>
          </a:xfrm>
          <a:prstGeom prst="line">
            <a:avLst/>
          </a:prstGeom>
          <a:ln cap="flat" w="9525">
            <a:solidFill>
              <a:srgbClr val="E2E8F0"/>
            </a:solidFill>
            <a:prstDash val="solid"/>
            <a:headEnd type="none" len="sm" w="sm"/>
            <a:tailEnd type="none" len="sm" w="sm"/>
          </a:ln>
        </p:spPr>
      </p:sp>
      <p:sp>
        <p:nvSpPr>
          <p:cNvPr name="AutoShape 98" id="98"/>
          <p:cNvSpPr/>
          <p:nvPr/>
        </p:nvSpPr>
        <p:spPr>
          <a:xfrm>
            <a:off x="1581998" y="5096554"/>
            <a:ext cx="8771397" cy="0"/>
          </a:xfrm>
          <a:prstGeom prst="line">
            <a:avLst/>
          </a:prstGeom>
          <a:ln cap="flat" w="9525">
            <a:solidFill>
              <a:srgbClr val="E2E8F0"/>
            </a:solidFill>
            <a:prstDash val="solid"/>
            <a:headEnd type="none" len="sm" w="sm"/>
            <a:tailEnd type="none" len="sm" w="sm"/>
          </a:ln>
        </p:spPr>
      </p:sp>
      <p:sp>
        <p:nvSpPr>
          <p:cNvPr name="AutoShape 99" id="99"/>
          <p:cNvSpPr/>
          <p:nvPr/>
        </p:nvSpPr>
        <p:spPr>
          <a:xfrm>
            <a:off x="1581998" y="4762033"/>
            <a:ext cx="8771397" cy="0"/>
          </a:xfrm>
          <a:prstGeom prst="line">
            <a:avLst/>
          </a:prstGeom>
          <a:ln cap="flat" w="9525">
            <a:solidFill>
              <a:srgbClr val="E2E8F0"/>
            </a:solidFill>
            <a:prstDash val="solid"/>
            <a:headEnd type="none" len="sm" w="sm"/>
            <a:tailEnd type="none" len="sm" w="sm"/>
          </a:ln>
        </p:spPr>
      </p:sp>
      <p:sp>
        <p:nvSpPr>
          <p:cNvPr name="TextBox 100" id="100"/>
          <p:cNvSpPr txBox="true"/>
          <p:nvPr/>
        </p:nvSpPr>
        <p:spPr>
          <a:xfrm rot="0">
            <a:off x="1937270" y="4486171"/>
            <a:ext cx="7764929" cy="209883"/>
          </a:xfrm>
          <a:prstGeom prst="rect">
            <a:avLst/>
          </a:prstGeom>
        </p:spPr>
        <p:txBody>
          <a:bodyPr anchor="t" rtlCol="false" tIns="0" lIns="0" bIns="0" rIns="0">
            <a:spAutoFit/>
          </a:bodyPr>
          <a:lstStyle/>
          <a:p>
            <a:pPr algn="ctr" marL="0" indent="0" lvl="0">
              <a:lnSpc>
                <a:spcPts val="1790"/>
              </a:lnSpc>
              <a:spcBef>
                <a:spcPct val="0"/>
              </a:spcBef>
            </a:pPr>
            <a:r>
              <a:rPr lang="en-US" b="true" sz="1278" strike="noStrike" u="none">
                <a:solidFill>
                  <a:srgbClr val="1E293B"/>
                </a:solidFill>
                <a:latin typeface="프리텐다드 Bold"/>
                <a:ea typeface="프리텐다드 Bold"/>
                <a:cs typeface="프리텐다드 Bold"/>
                <a:sym typeface="프리텐다드 Bold"/>
              </a:rPr>
              <a:t>군집별 이직 고려율 — 복합 고위험형이 가장 높다</a:t>
            </a:r>
          </a:p>
        </p:txBody>
      </p:sp>
      <p:grpSp>
        <p:nvGrpSpPr>
          <p:cNvPr name="Group 101" id="101"/>
          <p:cNvGrpSpPr/>
          <p:nvPr/>
        </p:nvGrpSpPr>
        <p:grpSpPr>
          <a:xfrm rot="0">
            <a:off x="3862562" y="5169276"/>
            <a:ext cx="935616" cy="1628973"/>
            <a:chOff x="0" y="0"/>
            <a:chExt cx="816969" cy="1422400"/>
          </a:xfrm>
        </p:grpSpPr>
        <p:sp>
          <p:nvSpPr>
            <p:cNvPr name="Freeform 102" id="102"/>
            <p:cNvSpPr/>
            <p:nvPr/>
          </p:nvSpPr>
          <p:spPr>
            <a:xfrm flipH="false" flipV="false" rot="0">
              <a:off x="0" y="0"/>
              <a:ext cx="816969" cy="1422400"/>
            </a:xfrm>
            <a:custGeom>
              <a:avLst/>
              <a:gdLst/>
              <a:ahLst/>
              <a:cxnLst/>
              <a:rect r="r" b="b" t="t" l="l"/>
              <a:pathLst>
                <a:path h="1422400" w="816969">
                  <a:moveTo>
                    <a:pt x="0" y="0"/>
                  </a:moveTo>
                  <a:lnTo>
                    <a:pt x="816969" y="0"/>
                  </a:lnTo>
                  <a:lnTo>
                    <a:pt x="816969" y="1422400"/>
                  </a:lnTo>
                  <a:lnTo>
                    <a:pt x="0" y="1422400"/>
                  </a:lnTo>
                  <a:close/>
                </a:path>
              </a:pathLst>
            </a:custGeom>
            <a:solidFill>
              <a:srgbClr val="1B2A4A"/>
            </a:solidFill>
          </p:spPr>
        </p:sp>
        <p:sp>
          <p:nvSpPr>
            <p:cNvPr name="TextBox 103" id="103"/>
            <p:cNvSpPr txBox="true"/>
            <p:nvPr/>
          </p:nvSpPr>
          <p:spPr>
            <a:xfrm>
              <a:off x="0" y="-47625"/>
              <a:ext cx="816969" cy="1470025"/>
            </a:xfrm>
            <a:prstGeom prst="rect">
              <a:avLst/>
            </a:prstGeom>
          </p:spPr>
          <p:txBody>
            <a:bodyPr anchor="ctr" rtlCol="false" tIns="50800" lIns="50800" bIns="50800" rIns="50800"/>
            <a:lstStyle/>
            <a:p>
              <a:pPr algn="l">
                <a:lnSpc>
                  <a:spcPts val="1819"/>
                </a:lnSpc>
              </a:pPr>
            </a:p>
          </p:txBody>
        </p:sp>
      </p:grpSp>
      <p:sp>
        <p:nvSpPr>
          <p:cNvPr name="TextBox 104" id="104"/>
          <p:cNvSpPr txBox="true"/>
          <p:nvPr/>
        </p:nvSpPr>
        <p:spPr>
          <a:xfrm rot="0">
            <a:off x="4096466" y="4917648"/>
            <a:ext cx="467808" cy="209802"/>
          </a:xfrm>
          <a:prstGeom prst="rect">
            <a:avLst/>
          </a:prstGeom>
        </p:spPr>
        <p:txBody>
          <a:bodyPr anchor="t" rtlCol="false" tIns="0" lIns="0" bIns="0" rIns="0">
            <a:spAutoFit/>
          </a:bodyPr>
          <a:lstStyle/>
          <a:p>
            <a:pPr algn="ctr" marL="0" indent="0" lvl="0">
              <a:lnSpc>
                <a:spcPts val="1794"/>
              </a:lnSpc>
              <a:spcBef>
                <a:spcPct val="0"/>
              </a:spcBef>
            </a:pPr>
            <a:r>
              <a:rPr lang="en-US" b="true" sz="1282" strike="noStrike" u="none">
                <a:solidFill>
                  <a:srgbClr val="1B2A4A"/>
                </a:solidFill>
                <a:latin typeface="프리텐다드 Bold"/>
                <a:ea typeface="프리텐다드 Bold"/>
                <a:cs typeface="프리텐다드 Bold"/>
                <a:sym typeface="프리텐다드 Bold"/>
              </a:rPr>
              <a:t>48%</a:t>
            </a:r>
          </a:p>
        </p:txBody>
      </p:sp>
      <p:sp>
        <p:nvSpPr>
          <p:cNvPr name="TextBox 105" id="105"/>
          <p:cNvSpPr txBox="true"/>
          <p:nvPr/>
        </p:nvSpPr>
        <p:spPr>
          <a:xfrm rot="0">
            <a:off x="3979514" y="6878793"/>
            <a:ext cx="701712" cy="209883"/>
          </a:xfrm>
          <a:prstGeom prst="rect">
            <a:avLst/>
          </a:prstGeom>
        </p:spPr>
        <p:txBody>
          <a:bodyPr anchor="t" rtlCol="false" tIns="0" lIns="0" bIns="0" rIns="0">
            <a:spAutoFit/>
          </a:bodyPr>
          <a:lstStyle/>
          <a:p>
            <a:pPr algn="ctr" marL="0" indent="0" lvl="0">
              <a:lnSpc>
                <a:spcPts val="1790"/>
              </a:lnSpc>
              <a:spcBef>
                <a:spcPct val="0"/>
              </a:spcBef>
            </a:pPr>
            <a:r>
              <a:rPr lang="en-US" sz="1278" strike="noStrike" u="none">
                <a:solidFill>
                  <a:srgbClr val="1E293B"/>
                </a:solidFill>
                <a:latin typeface="프리텐다드"/>
                <a:ea typeface="프리텐다드"/>
                <a:cs typeface="프리텐다드"/>
                <a:sym typeface="프리텐다드"/>
              </a:rPr>
              <a:t>초등</a:t>
            </a:r>
          </a:p>
        </p:txBody>
      </p:sp>
      <p:grpSp>
        <p:nvGrpSpPr>
          <p:cNvPr name="Group 106" id="106"/>
          <p:cNvGrpSpPr/>
          <p:nvPr/>
        </p:nvGrpSpPr>
        <p:grpSpPr>
          <a:xfrm rot="0">
            <a:off x="5499889" y="5314720"/>
            <a:ext cx="935616" cy="1483529"/>
            <a:chOff x="0" y="0"/>
            <a:chExt cx="816969" cy="1295400"/>
          </a:xfrm>
        </p:grpSpPr>
        <p:sp>
          <p:nvSpPr>
            <p:cNvPr name="Freeform 107" id="107"/>
            <p:cNvSpPr/>
            <p:nvPr/>
          </p:nvSpPr>
          <p:spPr>
            <a:xfrm flipH="false" flipV="false" rot="0">
              <a:off x="0" y="0"/>
              <a:ext cx="816969" cy="1295400"/>
            </a:xfrm>
            <a:custGeom>
              <a:avLst/>
              <a:gdLst/>
              <a:ahLst/>
              <a:cxnLst/>
              <a:rect r="r" b="b" t="t" l="l"/>
              <a:pathLst>
                <a:path h="1295400" w="816969">
                  <a:moveTo>
                    <a:pt x="0" y="0"/>
                  </a:moveTo>
                  <a:lnTo>
                    <a:pt x="816969" y="0"/>
                  </a:lnTo>
                  <a:lnTo>
                    <a:pt x="816969" y="1295400"/>
                  </a:lnTo>
                  <a:lnTo>
                    <a:pt x="0" y="1295400"/>
                  </a:lnTo>
                  <a:close/>
                </a:path>
              </a:pathLst>
            </a:custGeom>
            <a:solidFill>
              <a:srgbClr val="4A6FA5"/>
            </a:solidFill>
          </p:spPr>
        </p:sp>
        <p:sp>
          <p:nvSpPr>
            <p:cNvPr name="TextBox 108" id="108"/>
            <p:cNvSpPr txBox="true"/>
            <p:nvPr/>
          </p:nvSpPr>
          <p:spPr>
            <a:xfrm>
              <a:off x="0" y="-47625"/>
              <a:ext cx="816969" cy="1343025"/>
            </a:xfrm>
            <a:prstGeom prst="rect">
              <a:avLst/>
            </a:prstGeom>
          </p:spPr>
          <p:txBody>
            <a:bodyPr anchor="ctr" rtlCol="false" tIns="50800" lIns="50800" bIns="50800" rIns="50800"/>
            <a:lstStyle/>
            <a:p>
              <a:pPr algn="l">
                <a:lnSpc>
                  <a:spcPts val="1819"/>
                </a:lnSpc>
              </a:pPr>
            </a:p>
          </p:txBody>
        </p:sp>
      </p:grpSp>
      <p:sp>
        <p:nvSpPr>
          <p:cNvPr name="TextBox 109" id="109"/>
          <p:cNvSpPr txBox="true"/>
          <p:nvPr/>
        </p:nvSpPr>
        <p:spPr>
          <a:xfrm rot="0">
            <a:off x="5733793" y="5063092"/>
            <a:ext cx="467808" cy="209802"/>
          </a:xfrm>
          <a:prstGeom prst="rect">
            <a:avLst/>
          </a:prstGeom>
        </p:spPr>
        <p:txBody>
          <a:bodyPr anchor="t" rtlCol="false" tIns="0" lIns="0" bIns="0" rIns="0">
            <a:spAutoFit/>
          </a:bodyPr>
          <a:lstStyle/>
          <a:p>
            <a:pPr algn="ctr" marL="0" indent="0" lvl="0">
              <a:lnSpc>
                <a:spcPts val="1794"/>
              </a:lnSpc>
              <a:spcBef>
                <a:spcPct val="0"/>
              </a:spcBef>
            </a:pPr>
            <a:r>
              <a:rPr lang="en-US" b="true" sz="1282" strike="noStrike" u="none">
                <a:solidFill>
                  <a:srgbClr val="4A6FA5"/>
                </a:solidFill>
                <a:latin typeface="프리텐다드 Bold"/>
                <a:ea typeface="프리텐다드 Bold"/>
                <a:cs typeface="프리텐다드 Bold"/>
                <a:sym typeface="프리텐다드 Bold"/>
              </a:rPr>
              <a:t>44%</a:t>
            </a:r>
          </a:p>
        </p:txBody>
      </p:sp>
      <p:sp>
        <p:nvSpPr>
          <p:cNvPr name="TextBox 110" id="110"/>
          <p:cNvSpPr txBox="true"/>
          <p:nvPr/>
        </p:nvSpPr>
        <p:spPr>
          <a:xfrm rot="0">
            <a:off x="5616841" y="6878793"/>
            <a:ext cx="701712" cy="209883"/>
          </a:xfrm>
          <a:prstGeom prst="rect">
            <a:avLst/>
          </a:prstGeom>
        </p:spPr>
        <p:txBody>
          <a:bodyPr anchor="t" rtlCol="false" tIns="0" lIns="0" bIns="0" rIns="0">
            <a:spAutoFit/>
          </a:bodyPr>
          <a:lstStyle/>
          <a:p>
            <a:pPr algn="ctr" marL="0" indent="0" lvl="0">
              <a:lnSpc>
                <a:spcPts val="1790"/>
              </a:lnSpc>
              <a:spcBef>
                <a:spcPct val="0"/>
              </a:spcBef>
            </a:pPr>
            <a:r>
              <a:rPr lang="en-US" sz="1278" strike="noStrike" u="none">
                <a:solidFill>
                  <a:srgbClr val="1E293B"/>
                </a:solidFill>
                <a:latin typeface="프리텐다드"/>
                <a:ea typeface="프리텐다드"/>
                <a:cs typeface="프리텐다드"/>
                <a:sym typeface="프리텐다드"/>
              </a:rPr>
              <a:t>중등</a:t>
            </a:r>
          </a:p>
        </p:txBody>
      </p:sp>
      <p:grpSp>
        <p:nvGrpSpPr>
          <p:cNvPr name="Group 111" id="111"/>
          <p:cNvGrpSpPr/>
          <p:nvPr/>
        </p:nvGrpSpPr>
        <p:grpSpPr>
          <a:xfrm rot="0">
            <a:off x="7137217" y="5576519"/>
            <a:ext cx="935616" cy="1221729"/>
            <a:chOff x="0" y="0"/>
            <a:chExt cx="816969" cy="1066800"/>
          </a:xfrm>
        </p:grpSpPr>
        <p:sp>
          <p:nvSpPr>
            <p:cNvPr name="Freeform 112" id="112"/>
            <p:cNvSpPr/>
            <p:nvPr/>
          </p:nvSpPr>
          <p:spPr>
            <a:xfrm flipH="false" flipV="false" rot="0">
              <a:off x="0" y="0"/>
              <a:ext cx="816969" cy="1066800"/>
            </a:xfrm>
            <a:custGeom>
              <a:avLst/>
              <a:gdLst/>
              <a:ahLst/>
              <a:cxnLst/>
              <a:rect r="r" b="b" t="t" l="l"/>
              <a:pathLst>
                <a:path h="1066800" w="816969">
                  <a:moveTo>
                    <a:pt x="0" y="0"/>
                  </a:moveTo>
                  <a:lnTo>
                    <a:pt x="816969" y="0"/>
                  </a:lnTo>
                  <a:lnTo>
                    <a:pt x="816969" y="1066800"/>
                  </a:lnTo>
                  <a:lnTo>
                    <a:pt x="0" y="1066800"/>
                  </a:lnTo>
                  <a:close/>
                </a:path>
              </a:pathLst>
            </a:custGeom>
            <a:solidFill>
              <a:srgbClr val="6B3FA0"/>
            </a:solidFill>
          </p:spPr>
        </p:sp>
        <p:sp>
          <p:nvSpPr>
            <p:cNvPr name="TextBox 113" id="113"/>
            <p:cNvSpPr txBox="true"/>
            <p:nvPr/>
          </p:nvSpPr>
          <p:spPr>
            <a:xfrm>
              <a:off x="0" y="-47625"/>
              <a:ext cx="816969" cy="1114425"/>
            </a:xfrm>
            <a:prstGeom prst="rect">
              <a:avLst/>
            </a:prstGeom>
          </p:spPr>
          <p:txBody>
            <a:bodyPr anchor="ctr" rtlCol="false" tIns="50800" lIns="50800" bIns="50800" rIns="50800"/>
            <a:lstStyle/>
            <a:p>
              <a:pPr algn="l">
                <a:lnSpc>
                  <a:spcPts val="1819"/>
                </a:lnSpc>
              </a:pPr>
            </a:p>
          </p:txBody>
        </p:sp>
      </p:grpSp>
      <p:sp>
        <p:nvSpPr>
          <p:cNvPr name="TextBox 114" id="114"/>
          <p:cNvSpPr txBox="true"/>
          <p:nvPr/>
        </p:nvSpPr>
        <p:spPr>
          <a:xfrm rot="0">
            <a:off x="7371121" y="5324891"/>
            <a:ext cx="467808" cy="209802"/>
          </a:xfrm>
          <a:prstGeom prst="rect">
            <a:avLst/>
          </a:prstGeom>
        </p:spPr>
        <p:txBody>
          <a:bodyPr anchor="t" rtlCol="false" tIns="0" lIns="0" bIns="0" rIns="0">
            <a:spAutoFit/>
          </a:bodyPr>
          <a:lstStyle/>
          <a:p>
            <a:pPr algn="ctr" marL="0" indent="0" lvl="0">
              <a:lnSpc>
                <a:spcPts val="1794"/>
              </a:lnSpc>
              <a:spcBef>
                <a:spcPct val="0"/>
              </a:spcBef>
            </a:pPr>
            <a:r>
              <a:rPr lang="en-US" b="true" sz="1282" strike="noStrike" u="none">
                <a:solidFill>
                  <a:srgbClr val="6B3FA0"/>
                </a:solidFill>
                <a:latin typeface="프리텐다드 Bold"/>
                <a:ea typeface="프리텐다드 Bold"/>
                <a:cs typeface="프리텐다드 Bold"/>
                <a:sym typeface="프리텐다드 Bold"/>
              </a:rPr>
              <a:t>36%</a:t>
            </a:r>
          </a:p>
        </p:txBody>
      </p:sp>
      <p:sp>
        <p:nvSpPr>
          <p:cNvPr name="TextBox 115" id="115"/>
          <p:cNvSpPr txBox="true"/>
          <p:nvPr/>
        </p:nvSpPr>
        <p:spPr>
          <a:xfrm rot="0">
            <a:off x="7254169" y="6878793"/>
            <a:ext cx="701712" cy="209883"/>
          </a:xfrm>
          <a:prstGeom prst="rect">
            <a:avLst/>
          </a:prstGeom>
        </p:spPr>
        <p:txBody>
          <a:bodyPr anchor="t" rtlCol="false" tIns="0" lIns="0" bIns="0" rIns="0">
            <a:spAutoFit/>
          </a:bodyPr>
          <a:lstStyle/>
          <a:p>
            <a:pPr algn="ctr" marL="0" indent="0" lvl="0">
              <a:lnSpc>
                <a:spcPts val="1790"/>
              </a:lnSpc>
              <a:spcBef>
                <a:spcPct val="0"/>
              </a:spcBef>
            </a:pPr>
            <a:r>
              <a:rPr lang="en-US" sz="1278" strike="noStrike" u="none">
                <a:solidFill>
                  <a:srgbClr val="1E293B"/>
                </a:solidFill>
                <a:latin typeface="프리텐다드"/>
                <a:ea typeface="프리텐다드"/>
                <a:cs typeface="프리텐다드"/>
                <a:sym typeface="프리텐다드"/>
              </a:rPr>
              <a:t>고등</a:t>
            </a:r>
          </a:p>
        </p:txBody>
      </p:sp>
      <p:grpSp>
        <p:nvGrpSpPr>
          <p:cNvPr name="Group 116" id="116"/>
          <p:cNvGrpSpPr/>
          <p:nvPr/>
        </p:nvGrpSpPr>
        <p:grpSpPr>
          <a:xfrm rot="0">
            <a:off x="850404" y="7720921"/>
            <a:ext cx="9502992" cy="2169355"/>
            <a:chOff x="0" y="0"/>
            <a:chExt cx="11216640" cy="2560549"/>
          </a:xfrm>
        </p:grpSpPr>
        <p:sp>
          <p:nvSpPr>
            <p:cNvPr name="Freeform 117" id="117" descr="/sessions/determined-awesome-maxwell/mnt/kossda/output/figures_geonsang/Fig_G2c_학교급구성.png"/>
            <p:cNvSpPr/>
            <p:nvPr/>
          </p:nvSpPr>
          <p:spPr>
            <a:xfrm flipH="false" flipV="false" rot="0">
              <a:off x="0" y="0"/>
              <a:ext cx="11216640" cy="2560574"/>
            </a:xfrm>
            <a:custGeom>
              <a:avLst/>
              <a:gdLst/>
              <a:ahLst/>
              <a:cxnLst/>
              <a:rect r="r" b="b" t="t" l="l"/>
              <a:pathLst>
                <a:path h="2560574" w="11216640">
                  <a:moveTo>
                    <a:pt x="0" y="0"/>
                  </a:moveTo>
                  <a:lnTo>
                    <a:pt x="11216640" y="0"/>
                  </a:lnTo>
                  <a:lnTo>
                    <a:pt x="11216640" y="2560574"/>
                  </a:lnTo>
                  <a:lnTo>
                    <a:pt x="0" y="2560574"/>
                  </a:lnTo>
                  <a:lnTo>
                    <a:pt x="0" y="0"/>
                  </a:lnTo>
                  <a:close/>
                </a:path>
              </a:pathLst>
            </a:custGeom>
            <a:blipFill>
              <a:blip r:embed="rId3"/>
              <a:stretch>
                <a:fillRect l="0" t="0" r="0" b="0"/>
              </a:stretch>
            </a:blipFill>
          </p:spPr>
        </p:sp>
      </p:grpSp>
      <p:sp>
        <p:nvSpPr>
          <p:cNvPr name="AutoShape 118" id="118"/>
          <p:cNvSpPr/>
          <p:nvPr/>
        </p:nvSpPr>
        <p:spPr>
          <a:xfrm>
            <a:off x="866776" y="738829"/>
            <a:ext cx="16554447" cy="9824"/>
          </a:xfrm>
          <a:prstGeom prst="line">
            <a:avLst/>
          </a:prstGeom>
          <a:ln cap="rnd" w="9525">
            <a:solidFill>
              <a:srgbClr val="E2E8F0"/>
            </a:solidFill>
            <a:prstDash val="solid"/>
            <a:headEnd type="none" len="sm" w="sm"/>
            <a:tailEnd type="none" len="sm" w="sm"/>
          </a:ln>
        </p:spPr>
      </p:sp>
      <p:sp>
        <p:nvSpPr>
          <p:cNvPr name="AutoShape 119" id="119"/>
          <p:cNvSpPr/>
          <p:nvPr/>
        </p:nvSpPr>
        <p:spPr>
          <a:xfrm flipH="true" flipV="true">
            <a:off x="10956429" y="4052080"/>
            <a:ext cx="6419849" cy="0"/>
          </a:xfrm>
          <a:prstGeom prst="line">
            <a:avLst/>
          </a:prstGeom>
          <a:ln cap="rnd" w="9525">
            <a:solidFill>
              <a:srgbClr val="E2E8F0"/>
            </a:solidFill>
            <a:prstDash val="solid"/>
            <a:headEnd type="none" len="sm" w="sm"/>
            <a:tailEnd type="none" len="sm" w="sm"/>
          </a:ln>
        </p:spPr>
      </p:sp>
      <p:sp>
        <p:nvSpPr>
          <p:cNvPr name="TextBox 120" id="120"/>
          <p:cNvSpPr txBox="true"/>
          <p:nvPr/>
        </p:nvSpPr>
        <p:spPr>
          <a:xfrm rot="0">
            <a:off x="10956429" y="1816518"/>
            <a:ext cx="6419849" cy="2095500"/>
          </a:xfrm>
          <a:prstGeom prst="rect">
            <a:avLst/>
          </a:prstGeom>
        </p:spPr>
        <p:txBody>
          <a:bodyPr anchor="t" rtlCol="false" tIns="0" lIns="0" bIns="0" rIns="0">
            <a:spAutoFit/>
          </a:bodyPr>
          <a:lstStyle/>
          <a:p>
            <a:pPr algn="l">
              <a:lnSpc>
                <a:spcPts val="1559"/>
              </a:lnSpc>
            </a:pPr>
            <a:r>
              <a:rPr lang="en-US" sz="1299">
                <a:solidFill>
                  <a:srgbClr val="475569"/>
                </a:solidFill>
                <a:latin typeface="프리텐다드"/>
                <a:ea typeface="프리텐다드"/>
                <a:cs typeface="프리텐다드"/>
                <a:sym typeface="프리텐다드"/>
              </a:rPr>
              <a:t>군집화는</a:t>
            </a:r>
            <a:r>
              <a:rPr lang="en-US" sz="1299">
                <a:solidFill>
                  <a:srgbClr val="475569"/>
                </a:solidFill>
                <a:latin typeface="프리텐다드"/>
                <a:ea typeface="프리텐다드"/>
                <a:cs typeface="프리텐다드"/>
                <a:sym typeface="프리텐다드"/>
              </a:rPr>
              <a:t> 구조</a:t>
            </a:r>
            <a:r>
              <a:rPr lang="en-US" sz="1299">
                <a:solidFill>
                  <a:srgbClr val="475569"/>
                </a:solidFill>
                <a:latin typeface="프리텐다드"/>
                <a:ea typeface="프리텐다드"/>
                <a:cs typeface="프리텐다드"/>
                <a:sym typeface="프리텐다드"/>
              </a:rPr>
              <a:t> 변수(학교급·규</a:t>
            </a:r>
            <a:r>
              <a:rPr lang="en-US" sz="1299">
                <a:solidFill>
                  <a:srgbClr val="475569"/>
                </a:solidFill>
                <a:latin typeface="프리텐다드"/>
                <a:ea typeface="프리텐다드"/>
                <a:cs typeface="프리텐다드"/>
                <a:sym typeface="프리텐다드"/>
              </a:rPr>
              <a:t>모·설립·고용형태)에 학생·보호자·관리자 침해 프로파일과 번아웃을 더해 표준화한 뒤 K-means(k=3)로</a:t>
            </a:r>
            <a:r>
              <a:rPr lang="en-US" sz="1299">
                <a:solidFill>
                  <a:srgbClr val="475569"/>
                </a:solidFill>
                <a:latin typeface="프리텐다드"/>
                <a:ea typeface="프리텐다드"/>
                <a:cs typeface="프리텐다드"/>
                <a:sym typeface="프리텐다드"/>
              </a:rPr>
              <a:t> 수행했고, 제도수요(D2</a:t>
            </a:r>
            <a:r>
              <a:rPr lang="en-US" sz="1299">
                <a:solidFill>
                  <a:srgbClr val="475569"/>
                </a:solidFill>
                <a:latin typeface="프리텐다드"/>
                <a:ea typeface="프리텐다드"/>
                <a:cs typeface="프리텐다드"/>
                <a:sym typeface="프리텐다드"/>
              </a:rPr>
              <a:t>)는</a:t>
            </a:r>
            <a:r>
              <a:rPr lang="en-US" sz="1299">
                <a:solidFill>
                  <a:srgbClr val="475569"/>
                </a:solidFill>
                <a:latin typeface="프리텐다드"/>
                <a:ea typeface="프리텐다드"/>
                <a:cs typeface="프리텐다드"/>
                <a:sym typeface="프리텐다드"/>
              </a:rPr>
              <a:t> 제외해 ‘제도</a:t>
            </a:r>
            <a:r>
              <a:rPr lang="en-US" sz="1299">
                <a:solidFill>
                  <a:srgbClr val="475569"/>
                </a:solidFill>
                <a:latin typeface="프리텐다드"/>
                <a:ea typeface="프리텐다드"/>
                <a:cs typeface="프리텐다드"/>
                <a:sym typeface="프리텐다드"/>
              </a:rPr>
              <a:t>로 군집을 만든 뒤 다시 제도 효과를 본다’는 순환논리를 차단했다. </a:t>
            </a:r>
          </a:p>
          <a:p>
            <a:pPr algn="l">
              <a:lnSpc>
                <a:spcPts val="1559"/>
              </a:lnSpc>
            </a:pPr>
          </a:p>
          <a:p>
            <a:pPr algn="l">
              <a:lnSpc>
                <a:spcPts val="1559"/>
              </a:lnSpc>
            </a:pPr>
            <a:r>
              <a:rPr lang="en-US" sz="1299">
                <a:solidFill>
                  <a:srgbClr val="475569"/>
                </a:solidFill>
                <a:latin typeface="프리텐다드"/>
                <a:ea typeface="프리텐다드"/>
                <a:cs typeface="프리텐다드"/>
                <a:sym typeface="프리텐다드"/>
              </a:rPr>
              <a:t>각 카드의 막대는 그 군집 </a:t>
            </a:r>
            <a:r>
              <a:rPr lang="en-US" sz="1299">
                <a:solidFill>
                  <a:srgbClr val="475569"/>
                </a:solidFill>
                <a:latin typeface="프리텐다드"/>
                <a:ea typeface="프리텐다드"/>
                <a:cs typeface="프리텐다드"/>
                <a:sym typeface="프리텐다드"/>
              </a:rPr>
              <a:t>교사의 침해 유형별 경험률이다. </a:t>
            </a:r>
          </a:p>
          <a:p>
            <a:pPr algn="l">
              <a:lnSpc>
                <a:spcPts val="1559"/>
              </a:lnSpc>
            </a:pPr>
            <a:r>
              <a:rPr lang="en-US" sz="1299">
                <a:solidFill>
                  <a:srgbClr val="475569"/>
                </a:solidFill>
                <a:latin typeface="프리텐다드"/>
                <a:ea typeface="프리텐다드"/>
                <a:cs typeface="프리텐다드"/>
                <a:sym typeface="프리텐다드"/>
              </a:rPr>
              <a:t>초등·복합형</a:t>
            </a:r>
            <a:r>
              <a:rPr lang="en-US" sz="1299">
                <a:solidFill>
                  <a:srgbClr val="475569"/>
                </a:solidFill>
                <a:latin typeface="프리텐다드"/>
                <a:ea typeface="프리텐다드"/>
                <a:cs typeface="프리텐다드"/>
                <a:sym typeface="프리텐다드"/>
              </a:rPr>
              <a:t>(표본 71%)은 학생 84%·보호자 64%로 두 침해가 동시에 높아 침해지수(0~3 합산)가 1.69로 세 군집 중 가장 높다. </a:t>
            </a:r>
          </a:p>
          <a:p>
            <a:pPr algn="l">
              <a:lnSpc>
                <a:spcPts val="1559"/>
              </a:lnSpc>
            </a:pPr>
            <a:r>
              <a:rPr lang="en-US" sz="1299">
                <a:solidFill>
                  <a:srgbClr val="475569"/>
                </a:solidFill>
                <a:latin typeface="프리텐다드"/>
                <a:ea typeface="프리텐다드"/>
                <a:cs typeface="프리텐다드"/>
                <a:sym typeface="프리텐다드"/>
              </a:rPr>
              <a:t>중등·관리자형(22%)은 학생·보호자 침해는 중간이지만 관리자 침해가 32%로 가장 높아, 학생·학부모가 아닌 학교 내부 권력 갈등이 두드러지는 집단이다. </a:t>
            </a:r>
          </a:p>
          <a:p>
            <a:pPr algn="l">
              <a:lnSpc>
                <a:spcPts val="1559"/>
              </a:lnSpc>
            </a:pPr>
            <a:r>
              <a:rPr lang="en-US" sz="1299">
                <a:solidFill>
                  <a:srgbClr val="475569"/>
                </a:solidFill>
                <a:latin typeface="프리텐다드"/>
                <a:ea typeface="프리텐다드"/>
                <a:cs typeface="프리텐다드"/>
                <a:sym typeface="프리텐다드"/>
              </a:rPr>
              <a:t>고등·저위험형(6%)은 학생 63%·보호자 41%로 침해지수 1.30으로 가장 낮다. 즉 같은 교권침해라도 군집마다 가해</a:t>
            </a:r>
            <a:r>
              <a:rPr lang="en-US" sz="1299">
                <a:solidFill>
                  <a:srgbClr val="475569"/>
                </a:solidFill>
                <a:latin typeface="프리텐다드"/>
                <a:ea typeface="프리텐다드"/>
                <a:cs typeface="프리텐다드"/>
                <a:sym typeface="프리텐다드"/>
              </a:rPr>
              <a:t> 주체의 조합이 뚜렷이 다르</a:t>
            </a:r>
            <a:r>
              <a:rPr lang="en-US" sz="1299">
                <a:solidFill>
                  <a:srgbClr val="475569"/>
                </a:solidFill>
                <a:latin typeface="프리텐다드"/>
                <a:ea typeface="프리텐다드"/>
                <a:cs typeface="프리텐다드"/>
                <a:sym typeface="프리텐다드"/>
              </a:rPr>
              <a:t>다.</a:t>
            </a:r>
          </a:p>
        </p:txBody>
      </p:sp>
      <p:sp>
        <p:nvSpPr>
          <p:cNvPr name="TextBox 121" id="121"/>
          <p:cNvSpPr txBox="true"/>
          <p:nvPr/>
        </p:nvSpPr>
        <p:spPr>
          <a:xfrm rot="0">
            <a:off x="10956429" y="1350715"/>
            <a:ext cx="1225451" cy="265778"/>
          </a:xfrm>
          <a:prstGeom prst="rect">
            <a:avLst/>
          </a:prstGeom>
        </p:spPr>
        <p:txBody>
          <a:bodyPr anchor="t" rtlCol="false" tIns="0" lIns="0" bIns="0" rIns="0">
            <a:spAutoFit/>
          </a:bodyPr>
          <a:lstStyle/>
          <a:p>
            <a:pPr algn="ctr">
              <a:lnSpc>
                <a:spcPts val="2150"/>
              </a:lnSpc>
              <a:spcBef>
                <a:spcPct val="0"/>
              </a:spcBef>
            </a:pPr>
            <a:r>
              <a:rPr lang="en-US" b="true" sz="1536">
                <a:solidFill>
                  <a:srgbClr val="000000"/>
                </a:solidFill>
                <a:latin typeface="프리텐다드 Bold"/>
                <a:ea typeface="프리텐다드 Bold"/>
                <a:cs typeface="프리텐다드 Bold"/>
                <a:sym typeface="프리텐다드 Bold"/>
              </a:rPr>
              <a:t>군집 프로파일링</a:t>
            </a:r>
          </a:p>
        </p:txBody>
      </p:sp>
      <p:sp>
        <p:nvSpPr>
          <p:cNvPr name="TextBox 122" id="122"/>
          <p:cNvSpPr txBox="true"/>
          <p:nvPr/>
        </p:nvSpPr>
        <p:spPr>
          <a:xfrm rot="0">
            <a:off x="10956429" y="4684571"/>
            <a:ext cx="6419849" cy="1524000"/>
          </a:xfrm>
          <a:prstGeom prst="rect">
            <a:avLst/>
          </a:prstGeom>
        </p:spPr>
        <p:txBody>
          <a:bodyPr anchor="t" rtlCol="false" tIns="0" lIns="0" bIns="0" rIns="0">
            <a:spAutoFit/>
          </a:bodyPr>
          <a:lstStyle/>
          <a:p>
            <a:pPr algn="l">
              <a:lnSpc>
                <a:spcPts val="1559"/>
              </a:lnSpc>
            </a:pPr>
            <a:r>
              <a:rPr lang="en-US" sz="1299">
                <a:solidFill>
                  <a:srgbClr val="475569"/>
                </a:solidFill>
                <a:latin typeface="프리텐다드"/>
                <a:ea typeface="프리텐다드"/>
                <a:cs typeface="프리텐다드"/>
                <a:sym typeface="프리텐다드"/>
              </a:rPr>
              <a:t>군집은</a:t>
            </a:r>
            <a:r>
              <a:rPr lang="en-US" sz="1299">
                <a:solidFill>
                  <a:srgbClr val="475569"/>
                </a:solidFill>
                <a:latin typeface="프리텐다드"/>
                <a:ea typeface="프리텐다드"/>
                <a:cs typeface="프리텐다드"/>
                <a:sym typeface="프리텐다드"/>
              </a:rPr>
              <a:t> 단순</a:t>
            </a:r>
            <a:r>
              <a:rPr lang="en-US" sz="1299">
                <a:solidFill>
                  <a:srgbClr val="475569"/>
                </a:solidFill>
                <a:latin typeface="프리텐다드"/>
                <a:ea typeface="프리텐다드"/>
                <a:cs typeface="프리텐다드"/>
                <a:sym typeface="프리텐다드"/>
              </a:rPr>
              <a:t> 분류를 넘어 ‘위기의 정도’를 가른다. 군집별 이직 고려율은 초등 48% &gt; 중등 44%</a:t>
            </a:r>
            <a:r>
              <a:rPr lang="en-US" sz="1299">
                <a:solidFill>
                  <a:srgbClr val="475569"/>
                </a:solidFill>
                <a:latin typeface="프리텐다드"/>
                <a:ea typeface="프리텐다드"/>
                <a:cs typeface="프리텐다드"/>
                <a:sym typeface="프리텐다드"/>
              </a:rPr>
              <a:t> &gt; 고등 36% 순으로, 앞서 본 침해율·침해지수의 순서와 정확히 일치한다. 침해가 많은 군집일수록 교사가 실제로 교단을 떠나려는 의향도 함께 높다는 뜻이다. </a:t>
            </a:r>
          </a:p>
          <a:p>
            <a:pPr algn="l">
              <a:lnSpc>
                <a:spcPts val="1559"/>
              </a:lnSpc>
            </a:pPr>
          </a:p>
          <a:p>
            <a:pPr algn="l">
              <a:lnSpc>
                <a:spcPts val="1559"/>
              </a:lnSpc>
            </a:pPr>
            <a:r>
              <a:rPr lang="en-US" sz="1299">
                <a:solidFill>
                  <a:srgbClr val="475569"/>
                </a:solidFill>
                <a:latin typeface="프리텐다드"/>
                <a:ea typeface="프리텐다드"/>
                <a:cs typeface="프리텐다드"/>
                <a:sym typeface="프리텐다드"/>
              </a:rPr>
              <a:t>따라서 이 군집은 ‘어떤 유형의 침해를 받는가’만이 아니라 침해·소진·이탈이 함께 누적되는 ‘위기 수준’의 분류로 읽어야 한다.</a:t>
            </a:r>
            <a:r>
              <a:rPr lang="en-US" sz="1299">
                <a:solidFill>
                  <a:srgbClr val="475569"/>
                </a:solidFill>
                <a:latin typeface="프리텐다드"/>
                <a:ea typeface="프리텐다드"/>
                <a:cs typeface="프리텐다드"/>
                <a:sym typeface="프리텐다드"/>
              </a:rPr>
              <a:t> 이는 침해가 개인의 불편을 넘어 교직 이탈로 이어진다는 9p의 침해→이직·자살 dose-response 분석과 동일한 메시지이며, 자원을 어느 집단에 먼저 투입해야 하는지에 대한 근거가 된</a:t>
            </a:r>
            <a:r>
              <a:rPr lang="en-US" sz="1299">
                <a:solidFill>
                  <a:srgbClr val="475569"/>
                </a:solidFill>
                <a:latin typeface="프리텐다드"/>
                <a:ea typeface="프리텐다드"/>
                <a:cs typeface="프리텐다드"/>
                <a:sym typeface="프리텐다드"/>
              </a:rPr>
              <a:t>다.</a:t>
            </a:r>
          </a:p>
        </p:txBody>
      </p:sp>
      <p:sp>
        <p:nvSpPr>
          <p:cNvPr name="TextBox 123" id="123"/>
          <p:cNvSpPr txBox="true"/>
          <p:nvPr/>
        </p:nvSpPr>
        <p:spPr>
          <a:xfrm rot="0">
            <a:off x="10978902" y="4218768"/>
            <a:ext cx="1270397" cy="265778"/>
          </a:xfrm>
          <a:prstGeom prst="rect">
            <a:avLst/>
          </a:prstGeom>
        </p:spPr>
        <p:txBody>
          <a:bodyPr anchor="t" rtlCol="false" tIns="0" lIns="0" bIns="0" rIns="0">
            <a:spAutoFit/>
          </a:bodyPr>
          <a:lstStyle/>
          <a:p>
            <a:pPr algn="ctr">
              <a:lnSpc>
                <a:spcPts val="2150"/>
              </a:lnSpc>
              <a:spcBef>
                <a:spcPct val="0"/>
              </a:spcBef>
            </a:pPr>
            <a:r>
              <a:rPr lang="en-US" b="true" sz="1536">
                <a:solidFill>
                  <a:srgbClr val="000000"/>
                </a:solidFill>
                <a:latin typeface="프리텐다드 Bold"/>
                <a:ea typeface="프리텐다드 Bold"/>
                <a:cs typeface="프리텐다드 Bold"/>
                <a:sym typeface="프리텐다드 Bold"/>
              </a:rPr>
              <a:t>위기 수준의 분류</a:t>
            </a:r>
          </a:p>
        </p:txBody>
      </p:sp>
      <p:sp>
        <p:nvSpPr>
          <p:cNvPr name="TextBox 124" id="124"/>
          <p:cNvSpPr txBox="true"/>
          <p:nvPr/>
        </p:nvSpPr>
        <p:spPr>
          <a:xfrm rot="0">
            <a:off x="10956429" y="7552064"/>
            <a:ext cx="6419849" cy="2095500"/>
          </a:xfrm>
          <a:prstGeom prst="rect">
            <a:avLst/>
          </a:prstGeom>
        </p:spPr>
        <p:txBody>
          <a:bodyPr anchor="t" rtlCol="false" tIns="0" lIns="0" bIns="0" rIns="0">
            <a:spAutoFit/>
          </a:bodyPr>
          <a:lstStyle/>
          <a:p>
            <a:pPr algn="l">
              <a:lnSpc>
                <a:spcPts val="1559"/>
              </a:lnSpc>
            </a:pPr>
            <a:r>
              <a:rPr lang="en-US" sz="1299">
                <a:solidFill>
                  <a:srgbClr val="475569"/>
                </a:solidFill>
                <a:latin typeface="프리텐다드"/>
                <a:ea typeface="프리텐다드"/>
                <a:cs typeface="프리텐다드"/>
                <a:sym typeface="프리텐다드"/>
              </a:rPr>
              <a:t>군집은 사실상 학교급 축을 크게 따른다(초등형 97%·고등형 100%). 군집의 Silhouette 계수는 0.31로 높지 않은데, 이는</a:t>
            </a:r>
            <a:r>
              <a:rPr lang="en-US" sz="1299">
                <a:solidFill>
                  <a:srgbClr val="475569"/>
                </a:solidFill>
                <a:latin typeface="프리텐다드"/>
                <a:ea typeface="프리텐다드"/>
                <a:cs typeface="프리텐다드"/>
                <a:sym typeface="프리텐다드"/>
              </a:rPr>
              <a:t> 군집이 부실해서가 아니라 우리 변수가</a:t>
            </a:r>
            <a:r>
              <a:rPr lang="en-US" sz="1299">
                <a:solidFill>
                  <a:srgbClr val="475569"/>
                </a:solidFill>
                <a:latin typeface="프리텐다드"/>
                <a:ea typeface="프리텐다드"/>
                <a:cs typeface="프리텐다드"/>
                <a:sym typeface="프리텐다드"/>
              </a:rPr>
              <a:t> 이진(0/1) 더미와 순서형이 섞인 혼합·고차원 자료여서, 차원의 저주로 점 간 거리가 비슷해지고 Silhouette가 가정하는</a:t>
            </a:r>
            <a:r>
              <a:rPr lang="en-US" sz="1299">
                <a:solidFill>
                  <a:srgbClr val="475569"/>
                </a:solidFill>
                <a:latin typeface="프리텐다드"/>
                <a:ea typeface="프리텐다드"/>
                <a:cs typeface="프리텐다드"/>
                <a:sym typeface="프리텐다드"/>
              </a:rPr>
              <a:t> 볼록·구형 군집과 맞지 않아 값이 구조적으로 낮게 나오기 때문이다. </a:t>
            </a:r>
          </a:p>
          <a:p>
            <a:pPr algn="l">
              <a:lnSpc>
                <a:spcPts val="1559"/>
              </a:lnSpc>
            </a:pPr>
          </a:p>
          <a:p>
            <a:pPr algn="l">
              <a:lnSpc>
                <a:spcPts val="1559"/>
              </a:lnSpc>
            </a:pPr>
            <a:r>
              <a:rPr lang="en-US" sz="1299">
                <a:solidFill>
                  <a:srgbClr val="475569"/>
                </a:solidFill>
                <a:latin typeface="프리텐다드"/>
                <a:ea typeface="프리텐다드"/>
                <a:cs typeface="프리텐다드"/>
                <a:sym typeface="프리텐다드"/>
              </a:rPr>
              <a:t>군집 타당성에는 보편적으로 옳은 단일 지표가 없으며 해석가능성·응용맥락으로 판단해야 한다는 방법론[5]에 따라, 우리는 Silhouette를 보조 지표로만 두고 프로파일의 시각적 해석가능성으로 k=3을 채택했다. 이 유형 구성은 외부 행정통계와도 합치한다 — 교육부 2024학년도 실태조사 역시 주요 침해 유형을 학생의 ‘정당한 생활지도 불응’과 보호자의 ‘반복·부당 간섭’으로 보고했는데[1], 본 초등·복합형(학생+보호자 동시)과 정확히 일치한다. 가해 주체가 달라 학교 유형별 대응이 바람직하나, 정책 ‘효과’의 군집 차이는 통계적으로 확인되지</a:t>
            </a:r>
            <a:r>
              <a:rPr lang="en-US" sz="1299">
                <a:solidFill>
                  <a:srgbClr val="475569"/>
                </a:solidFill>
                <a:latin typeface="프리텐다드"/>
                <a:ea typeface="프리텐다드"/>
                <a:cs typeface="프리텐다드"/>
                <a:sym typeface="프리텐다드"/>
              </a:rPr>
              <a:t> 않아(8p) 우선순위는 공통 제도에 둔</a:t>
            </a:r>
            <a:r>
              <a:rPr lang="en-US" sz="1299">
                <a:solidFill>
                  <a:srgbClr val="475569"/>
                </a:solidFill>
                <a:latin typeface="프리텐다드"/>
                <a:ea typeface="프리텐다드"/>
                <a:cs typeface="프리텐다드"/>
                <a:sym typeface="프리텐다드"/>
              </a:rPr>
              <a:t>다.</a:t>
            </a:r>
          </a:p>
        </p:txBody>
      </p:sp>
      <p:sp>
        <p:nvSpPr>
          <p:cNvPr name="TextBox 125" id="125"/>
          <p:cNvSpPr txBox="true"/>
          <p:nvPr/>
        </p:nvSpPr>
        <p:spPr>
          <a:xfrm rot="0">
            <a:off x="11001375" y="7076736"/>
            <a:ext cx="1776264" cy="265778"/>
          </a:xfrm>
          <a:prstGeom prst="rect">
            <a:avLst/>
          </a:prstGeom>
        </p:spPr>
        <p:txBody>
          <a:bodyPr anchor="t" rtlCol="false" tIns="0" lIns="0" bIns="0" rIns="0">
            <a:spAutoFit/>
          </a:bodyPr>
          <a:lstStyle/>
          <a:p>
            <a:pPr algn="ctr">
              <a:lnSpc>
                <a:spcPts val="2150"/>
              </a:lnSpc>
              <a:spcBef>
                <a:spcPct val="0"/>
              </a:spcBef>
            </a:pPr>
            <a:r>
              <a:rPr lang="en-US" b="true" sz="1536">
                <a:solidFill>
                  <a:srgbClr val="000000"/>
                </a:solidFill>
                <a:latin typeface="프리텐다드 Bold"/>
                <a:ea typeface="프리텐다드 Bold"/>
                <a:cs typeface="프리텐다드 Bold"/>
                <a:sym typeface="프리텐다드 Bold"/>
              </a:rPr>
              <a:t>군집의 성격과 교차검증</a:t>
            </a:r>
          </a:p>
        </p:txBody>
      </p:sp>
      <p:sp>
        <p:nvSpPr>
          <p:cNvPr name="TextBox 126" id="126"/>
          <p:cNvSpPr txBox="true"/>
          <p:nvPr/>
        </p:nvSpPr>
        <p:spPr>
          <a:xfrm rot="0">
            <a:off x="876300" y="-9525"/>
            <a:ext cx="16535400" cy="733425"/>
          </a:xfrm>
          <a:prstGeom prst="rect">
            <a:avLst/>
          </a:prstGeom>
        </p:spPr>
        <p:txBody>
          <a:bodyPr anchor="t" rtlCol="false" tIns="0" lIns="0" bIns="0" rIns="0">
            <a:spAutoFit/>
          </a:bodyPr>
          <a:lstStyle/>
          <a:p>
            <a:pPr algn="l">
              <a:lnSpc>
                <a:spcPts val="5759"/>
              </a:lnSpc>
            </a:pPr>
            <a:r>
              <a:rPr lang="en-US" b="true" sz="4800">
                <a:solidFill>
                  <a:srgbClr val="1E293B"/>
                </a:solidFill>
                <a:latin typeface="프리텐다드 Bold"/>
                <a:ea typeface="프리텐다드 Bold"/>
                <a:cs typeface="프리텐다드 Bold"/>
                <a:sym typeface="프리텐다드 Bold"/>
              </a:rPr>
              <a:t>7. 취약집단 분류</a:t>
            </a:r>
          </a:p>
        </p:txBody>
      </p:sp>
      <p:sp>
        <p:nvSpPr>
          <p:cNvPr name="TextBox 127" id="127"/>
          <p:cNvSpPr txBox="true"/>
          <p:nvPr/>
        </p:nvSpPr>
        <p:spPr>
          <a:xfrm rot="0">
            <a:off x="1596346" y="922649"/>
            <a:ext cx="13125072" cy="400050"/>
          </a:xfrm>
          <a:prstGeom prst="rect">
            <a:avLst/>
          </a:prstGeom>
        </p:spPr>
        <p:txBody>
          <a:bodyPr anchor="t" rtlCol="false" tIns="0" lIns="0" bIns="0" rIns="0">
            <a:spAutoFit/>
          </a:bodyPr>
          <a:lstStyle/>
          <a:p>
            <a:pPr algn="l">
              <a:lnSpc>
                <a:spcPts val="3120"/>
              </a:lnSpc>
            </a:pPr>
            <a:r>
              <a:rPr lang="en-US" b="true" sz="2600">
                <a:solidFill>
                  <a:srgbClr val="4285F4"/>
                </a:solidFill>
                <a:latin typeface="프리텐다드 Bold"/>
                <a:ea typeface="프리텐다드 Bold"/>
                <a:cs typeface="프리텐다드 Bold"/>
                <a:sym typeface="프리텐다드 Bold"/>
              </a:rPr>
              <a:t>학교 구조와 침해 양상이 세 유형을 가른다. </a:t>
            </a:r>
          </a:p>
        </p:txBody>
      </p:sp>
      <p:sp>
        <p:nvSpPr>
          <p:cNvPr name="TextBox 128" id="128"/>
          <p:cNvSpPr txBox="true"/>
          <p:nvPr/>
        </p:nvSpPr>
        <p:spPr>
          <a:xfrm rot="0">
            <a:off x="8762692" y="2652756"/>
            <a:ext cx="339998" cy="174694"/>
          </a:xfrm>
          <a:prstGeom prst="rect">
            <a:avLst/>
          </a:prstGeom>
        </p:spPr>
        <p:txBody>
          <a:bodyPr anchor="t" rtlCol="false" tIns="0" lIns="0" bIns="0" rIns="0">
            <a:spAutoFit/>
          </a:bodyPr>
          <a:lstStyle/>
          <a:p>
            <a:pPr algn="ctr" marL="0" indent="0" lvl="0">
              <a:lnSpc>
                <a:spcPts val="1491"/>
              </a:lnSpc>
              <a:spcBef>
                <a:spcPct val="0"/>
              </a:spcBef>
            </a:pPr>
            <a:r>
              <a:rPr lang="en-US" b="true" sz="1065" strike="noStrike" u="none">
                <a:solidFill>
                  <a:srgbClr val="FFFFFF"/>
                </a:solidFill>
                <a:latin typeface="프리텐다드 Bold"/>
                <a:ea typeface="프리텐다드 Bold"/>
                <a:cs typeface="프리텐다드 Bold"/>
                <a:sym typeface="프리텐다드 Bold"/>
              </a:rPr>
              <a:t>63%</a:t>
            </a:r>
          </a:p>
        </p:txBody>
      </p:sp>
      <p:sp>
        <p:nvSpPr>
          <p:cNvPr name="TextBox 129" id="129"/>
          <p:cNvSpPr txBox="true"/>
          <p:nvPr/>
        </p:nvSpPr>
        <p:spPr>
          <a:xfrm rot="0">
            <a:off x="3917725" y="2411340"/>
            <a:ext cx="3278549" cy="157099"/>
          </a:xfrm>
          <a:prstGeom prst="rect">
            <a:avLst/>
          </a:prstGeom>
        </p:spPr>
        <p:txBody>
          <a:bodyPr anchor="t" rtlCol="false" tIns="0" lIns="0" bIns="0" rIns="0">
            <a:spAutoFit/>
          </a:bodyPr>
          <a:lstStyle/>
          <a:p>
            <a:pPr algn="ctr" marL="0" indent="0" lvl="0">
              <a:lnSpc>
                <a:spcPts val="1342"/>
              </a:lnSpc>
              <a:spcBef>
                <a:spcPct val="0"/>
              </a:spcBef>
            </a:pPr>
            <a:r>
              <a:rPr lang="en-US" sz="959" strike="noStrike" u="none">
                <a:solidFill>
                  <a:srgbClr val="94A3B8"/>
                </a:solidFill>
                <a:latin typeface="프리텐다드"/>
                <a:ea typeface="프리텐다드"/>
                <a:cs typeface="프리텐다드"/>
                <a:sym typeface="프리텐다드"/>
              </a:rPr>
              <a:t>학교급 초0/중46/고0 | 침해지수 1.48</a:t>
            </a:r>
          </a:p>
        </p:txBody>
      </p:sp>
      <p:sp>
        <p:nvSpPr>
          <p:cNvPr name="TextBox 130" id="130"/>
          <p:cNvSpPr txBox="true"/>
          <p:nvPr/>
        </p:nvSpPr>
        <p:spPr>
          <a:xfrm rot="-5400000">
            <a:off x="452219" y="5682322"/>
            <a:ext cx="1163552" cy="174694"/>
          </a:xfrm>
          <a:prstGeom prst="rect">
            <a:avLst/>
          </a:prstGeom>
        </p:spPr>
        <p:txBody>
          <a:bodyPr anchor="t" rtlCol="false" tIns="0" lIns="0" bIns="0" rIns="0">
            <a:spAutoFit/>
          </a:bodyPr>
          <a:lstStyle/>
          <a:p>
            <a:pPr algn="ctr" marL="0" indent="0" lvl="0">
              <a:lnSpc>
                <a:spcPts val="1491"/>
              </a:lnSpc>
              <a:spcBef>
                <a:spcPct val="0"/>
              </a:spcBef>
            </a:pPr>
            <a:r>
              <a:rPr lang="en-US" sz="1065" strike="noStrike" u="none">
                <a:solidFill>
                  <a:srgbClr val="000000"/>
                </a:solidFill>
                <a:latin typeface="프리텐다드"/>
                <a:ea typeface="프리텐다드"/>
                <a:cs typeface="프리텐다드"/>
                <a:sym typeface="프리텐다드"/>
              </a:rPr>
              <a:t>이직 고려율 (%)</a:t>
            </a:r>
          </a:p>
        </p:txBody>
      </p:sp>
      <p:sp>
        <p:nvSpPr>
          <p:cNvPr name="AutoShape 131" id="131"/>
          <p:cNvSpPr/>
          <p:nvPr/>
        </p:nvSpPr>
        <p:spPr>
          <a:xfrm>
            <a:off x="2423669" y="4762033"/>
            <a:ext cx="0" cy="2036216"/>
          </a:xfrm>
          <a:prstGeom prst="line">
            <a:avLst/>
          </a:prstGeom>
          <a:ln cap="flat" w="9525">
            <a:solidFill>
              <a:srgbClr val="4A5568"/>
            </a:solidFill>
            <a:prstDash val="solid"/>
            <a:headEnd type="none" len="sm" w="sm"/>
            <a:tailEnd type="none" len="sm" w="sm"/>
          </a:ln>
        </p:spPr>
      </p:sp>
      <p:sp>
        <p:nvSpPr>
          <p:cNvPr name="AutoShape 132" id="132"/>
          <p:cNvSpPr/>
          <p:nvPr/>
        </p:nvSpPr>
        <p:spPr>
          <a:xfrm>
            <a:off x="1581998" y="6852165"/>
            <a:ext cx="8771397" cy="0"/>
          </a:xfrm>
          <a:prstGeom prst="line">
            <a:avLst/>
          </a:prstGeom>
          <a:ln cap="flat" w="9525">
            <a:solidFill>
              <a:srgbClr val="4A5568"/>
            </a:solidFill>
            <a:prstDash val="solid"/>
            <a:headEnd type="none" len="sm" w="sm"/>
            <a:tailEnd type="none" len="sm" w="sm"/>
          </a:ln>
        </p:spPr>
      </p:sp>
      <p:sp>
        <p:nvSpPr>
          <p:cNvPr name="TextBox 133" id="133"/>
          <p:cNvSpPr txBox="true"/>
          <p:nvPr/>
        </p:nvSpPr>
        <p:spPr>
          <a:xfrm rot="0">
            <a:off x="1231143" y="6696952"/>
            <a:ext cx="292380" cy="153075"/>
          </a:xfrm>
          <a:prstGeom prst="rect">
            <a:avLst/>
          </a:prstGeom>
        </p:spPr>
        <p:txBody>
          <a:bodyPr anchor="t" rtlCol="false" tIns="0" lIns="0" bIns="0" rIns="0">
            <a:spAutoFit/>
          </a:bodyPr>
          <a:lstStyle/>
          <a:p>
            <a:pPr algn="r" marL="0" indent="0" lvl="0">
              <a:lnSpc>
                <a:spcPts val="1154"/>
              </a:lnSpc>
              <a:spcBef>
                <a:spcPct val="0"/>
              </a:spcBef>
            </a:pPr>
            <a:r>
              <a:rPr lang="en-US" sz="824" strike="noStrike" u="none">
                <a:solidFill>
                  <a:srgbClr val="94A3B8"/>
                </a:solidFill>
                <a:latin typeface="프리텐다드"/>
                <a:ea typeface="프리텐다드"/>
                <a:cs typeface="프리텐다드"/>
                <a:sym typeface="프리텐다드"/>
              </a:rPr>
              <a:t>0</a:t>
            </a:r>
          </a:p>
        </p:txBody>
      </p:sp>
      <p:sp>
        <p:nvSpPr>
          <p:cNvPr name="TextBox 134" id="134"/>
          <p:cNvSpPr txBox="true"/>
          <p:nvPr/>
        </p:nvSpPr>
        <p:spPr>
          <a:xfrm rot="0">
            <a:off x="1231143" y="6347886"/>
            <a:ext cx="292380" cy="153075"/>
          </a:xfrm>
          <a:prstGeom prst="rect">
            <a:avLst/>
          </a:prstGeom>
        </p:spPr>
        <p:txBody>
          <a:bodyPr anchor="t" rtlCol="false" tIns="0" lIns="0" bIns="0" rIns="0">
            <a:spAutoFit/>
          </a:bodyPr>
          <a:lstStyle/>
          <a:p>
            <a:pPr algn="r" marL="0" indent="0" lvl="0">
              <a:lnSpc>
                <a:spcPts val="1154"/>
              </a:lnSpc>
              <a:spcBef>
                <a:spcPct val="0"/>
              </a:spcBef>
            </a:pPr>
            <a:r>
              <a:rPr lang="en-US" sz="824" strike="noStrike" u="none">
                <a:solidFill>
                  <a:srgbClr val="94A3B8"/>
                </a:solidFill>
                <a:latin typeface="프리텐다드"/>
                <a:ea typeface="프리텐다드"/>
                <a:cs typeface="프리텐다드"/>
                <a:sym typeface="프리텐다드"/>
              </a:rPr>
              <a:t>10</a:t>
            </a:r>
          </a:p>
        </p:txBody>
      </p:sp>
      <p:sp>
        <p:nvSpPr>
          <p:cNvPr name="TextBox 135" id="135"/>
          <p:cNvSpPr txBox="true"/>
          <p:nvPr/>
        </p:nvSpPr>
        <p:spPr>
          <a:xfrm rot="0">
            <a:off x="1231143" y="6013365"/>
            <a:ext cx="292380" cy="153075"/>
          </a:xfrm>
          <a:prstGeom prst="rect">
            <a:avLst/>
          </a:prstGeom>
        </p:spPr>
        <p:txBody>
          <a:bodyPr anchor="t" rtlCol="false" tIns="0" lIns="0" bIns="0" rIns="0">
            <a:spAutoFit/>
          </a:bodyPr>
          <a:lstStyle/>
          <a:p>
            <a:pPr algn="r" marL="0" indent="0" lvl="0">
              <a:lnSpc>
                <a:spcPts val="1154"/>
              </a:lnSpc>
              <a:spcBef>
                <a:spcPct val="0"/>
              </a:spcBef>
            </a:pPr>
            <a:r>
              <a:rPr lang="en-US" sz="824" strike="noStrike" u="none">
                <a:solidFill>
                  <a:srgbClr val="94A3B8"/>
                </a:solidFill>
                <a:latin typeface="프리텐다드"/>
                <a:ea typeface="프리텐다드"/>
                <a:cs typeface="프리텐다드"/>
                <a:sym typeface="프리텐다드"/>
              </a:rPr>
              <a:t>20</a:t>
            </a:r>
          </a:p>
        </p:txBody>
      </p:sp>
      <p:sp>
        <p:nvSpPr>
          <p:cNvPr name="TextBox 136" id="136"/>
          <p:cNvSpPr txBox="true"/>
          <p:nvPr/>
        </p:nvSpPr>
        <p:spPr>
          <a:xfrm rot="0">
            <a:off x="1231143" y="5678844"/>
            <a:ext cx="292380" cy="153075"/>
          </a:xfrm>
          <a:prstGeom prst="rect">
            <a:avLst/>
          </a:prstGeom>
        </p:spPr>
        <p:txBody>
          <a:bodyPr anchor="t" rtlCol="false" tIns="0" lIns="0" bIns="0" rIns="0">
            <a:spAutoFit/>
          </a:bodyPr>
          <a:lstStyle/>
          <a:p>
            <a:pPr algn="r" marL="0" indent="0" lvl="0">
              <a:lnSpc>
                <a:spcPts val="1154"/>
              </a:lnSpc>
              <a:spcBef>
                <a:spcPct val="0"/>
              </a:spcBef>
            </a:pPr>
            <a:r>
              <a:rPr lang="en-US" sz="824" strike="noStrike" u="none">
                <a:solidFill>
                  <a:srgbClr val="94A3B8"/>
                </a:solidFill>
                <a:latin typeface="프리텐다드"/>
                <a:ea typeface="프리텐다드"/>
                <a:cs typeface="프리텐다드"/>
                <a:sym typeface="프리텐다드"/>
              </a:rPr>
              <a:t>30</a:t>
            </a:r>
          </a:p>
        </p:txBody>
      </p:sp>
      <p:sp>
        <p:nvSpPr>
          <p:cNvPr name="TextBox 137" id="137"/>
          <p:cNvSpPr txBox="true"/>
          <p:nvPr/>
        </p:nvSpPr>
        <p:spPr>
          <a:xfrm rot="0">
            <a:off x="1231143" y="5329778"/>
            <a:ext cx="292380" cy="153075"/>
          </a:xfrm>
          <a:prstGeom prst="rect">
            <a:avLst/>
          </a:prstGeom>
        </p:spPr>
        <p:txBody>
          <a:bodyPr anchor="t" rtlCol="false" tIns="0" lIns="0" bIns="0" rIns="0">
            <a:spAutoFit/>
          </a:bodyPr>
          <a:lstStyle/>
          <a:p>
            <a:pPr algn="r" marL="0" indent="0" lvl="0">
              <a:lnSpc>
                <a:spcPts val="1154"/>
              </a:lnSpc>
              <a:spcBef>
                <a:spcPct val="0"/>
              </a:spcBef>
            </a:pPr>
            <a:r>
              <a:rPr lang="en-US" sz="824" strike="noStrike" u="none">
                <a:solidFill>
                  <a:srgbClr val="94A3B8"/>
                </a:solidFill>
                <a:latin typeface="프리텐다드"/>
                <a:ea typeface="프리텐다드"/>
                <a:cs typeface="프리텐다드"/>
                <a:sym typeface="프리텐다드"/>
              </a:rPr>
              <a:t>40</a:t>
            </a:r>
          </a:p>
        </p:txBody>
      </p:sp>
      <p:sp>
        <p:nvSpPr>
          <p:cNvPr name="TextBox 138" id="138"/>
          <p:cNvSpPr txBox="true"/>
          <p:nvPr/>
        </p:nvSpPr>
        <p:spPr>
          <a:xfrm rot="0">
            <a:off x="1231143" y="4995257"/>
            <a:ext cx="292380" cy="153075"/>
          </a:xfrm>
          <a:prstGeom prst="rect">
            <a:avLst/>
          </a:prstGeom>
        </p:spPr>
        <p:txBody>
          <a:bodyPr anchor="t" rtlCol="false" tIns="0" lIns="0" bIns="0" rIns="0">
            <a:spAutoFit/>
          </a:bodyPr>
          <a:lstStyle/>
          <a:p>
            <a:pPr algn="r" marL="0" indent="0" lvl="0">
              <a:lnSpc>
                <a:spcPts val="1154"/>
              </a:lnSpc>
              <a:spcBef>
                <a:spcPct val="0"/>
              </a:spcBef>
            </a:pPr>
            <a:r>
              <a:rPr lang="en-US" sz="824" strike="noStrike" u="none">
                <a:solidFill>
                  <a:srgbClr val="94A3B8"/>
                </a:solidFill>
                <a:latin typeface="프리텐다드"/>
                <a:ea typeface="프리텐다드"/>
                <a:cs typeface="프리텐다드"/>
                <a:sym typeface="프리텐다드"/>
              </a:rPr>
              <a:t>50</a:t>
            </a:r>
          </a:p>
        </p:txBody>
      </p:sp>
      <p:sp>
        <p:nvSpPr>
          <p:cNvPr name="TextBox 139" id="139"/>
          <p:cNvSpPr txBox="true"/>
          <p:nvPr/>
        </p:nvSpPr>
        <p:spPr>
          <a:xfrm rot="0">
            <a:off x="1231143" y="4660736"/>
            <a:ext cx="292380" cy="153075"/>
          </a:xfrm>
          <a:prstGeom prst="rect">
            <a:avLst/>
          </a:prstGeom>
        </p:spPr>
        <p:txBody>
          <a:bodyPr anchor="t" rtlCol="false" tIns="0" lIns="0" bIns="0" rIns="0">
            <a:spAutoFit/>
          </a:bodyPr>
          <a:lstStyle/>
          <a:p>
            <a:pPr algn="r" marL="0" indent="0" lvl="0">
              <a:lnSpc>
                <a:spcPts val="1154"/>
              </a:lnSpc>
              <a:spcBef>
                <a:spcPct val="0"/>
              </a:spcBef>
            </a:pPr>
            <a:r>
              <a:rPr lang="en-US" sz="824" strike="noStrike" u="none">
                <a:solidFill>
                  <a:srgbClr val="94A3B8"/>
                </a:solidFill>
                <a:latin typeface="프리텐다드"/>
                <a:ea typeface="프리텐다드"/>
                <a:cs typeface="프리텐다드"/>
                <a:sym typeface="프리텐다드"/>
              </a:rPr>
              <a:t>60</a:t>
            </a:r>
          </a:p>
        </p:txBody>
      </p:sp>
      <p:sp>
        <p:nvSpPr>
          <p:cNvPr name="AutoShape 140" id="140"/>
          <p:cNvSpPr/>
          <p:nvPr/>
        </p:nvSpPr>
        <p:spPr>
          <a:xfrm flipH="true" flipV="true">
            <a:off x="11001375" y="6850379"/>
            <a:ext cx="6419849" cy="0"/>
          </a:xfrm>
          <a:prstGeom prst="line">
            <a:avLst/>
          </a:prstGeom>
          <a:ln cap="rnd" w="9525">
            <a:solidFill>
              <a:srgbClr val="E2E8F0"/>
            </a:solidFill>
            <a:prstDash val="solid"/>
            <a:headEnd type="none" len="sm" w="sm"/>
            <a:tailEnd type="none" len="sm" w="sm"/>
          </a:ln>
        </p:spPr>
      </p:sp>
      <p:sp>
        <p:nvSpPr>
          <p:cNvPr name="AutoShape 141" id="141"/>
          <p:cNvSpPr/>
          <p:nvPr/>
        </p:nvSpPr>
        <p:spPr>
          <a:xfrm>
            <a:off x="10599019" y="1322699"/>
            <a:ext cx="0" cy="8324866"/>
          </a:xfrm>
          <a:prstGeom prst="line">
            <a:avLst/>
          </a:prstGeom>
          <a:ln cap="rnd" w="9525">
            <a:solidFill>
              <a:srgbClr val="E2E8F0"/>
            </a:solidFill>
            <a:prstDash val="solid"/>
            <a:headEnd type="none" len="sm" w="sm"/>
            <a:tailEnd type="none" len="sm" w="sm"/>
          </a:ln>
        </p:spPr>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a:off x="1657050" y="4987929"/>
            <a:ext cx="0" cy="1767719"/>
          </a:xfrm>
          <a:prstGeom prst="line">
            <a:avLst/>
          </a:prstGeom>
          <a:ln cap="flat" w="9525">
            <a:solidFill>
              <a:srgbClr val="CBD5E1"/>
            </a:solidFill>
            <a:prstDash val="solid"/>
            <a:headEnd type="none" len="sm" w="sm"/>
            <a:tailEnd type="none" len="sm" w="sm"/>
          </a:ln>
        </p:spPr>
      </p:sp>
      <p:sp>
        <p:nvSpPr>
          <p:cNvPr name="TextBox 3" id="3"/>
          <p:cNvSpPr txBox="true"/>
          <p:nvPr/>
        </p:nvSpPr>
        <p:spPr>
          <a:xfrm rot="0">
            <a:off x="770925" y="3946465"/>
            <a:ext cx="8998693" cy="163154"/>
          </a:xfrm>
          <a:prstGeom prst="rect">
            <a:avLst/>
          </a:prstGeom>
        </p:spPr>
        <p:txBody>
          <a:bodyPr anchor="t" rtlCol="false" tIns="0" lIns="0" bIns="0" rIns="0">
            <a:spAutoFit/>
          </a:bodyPr>
          <a:lstStyle/>
          <a:p>
            <a:pPr algn="ctr" marL="0" indent="0" lvl="0">
              <a:lnSpc>
                <a:spcPts val="1309"/>
              </a:lnSpc>
              <a:spcBef>
                <a:spcPct val="0"/>
              </a:spcBef>
            </a:pPr>
            <a:r>
              <a:rPr lang="en-US" sz="935" strike="noStrike" u="none">
                <a:solidFill>
                  <a:srgbClr val="94A3B8"/>
                </a:solidFill>
                <a:latin typeface="프리텐다드"/>
                <a:ea typeface="프리텐다드"/>
                <a:cs typeface="프리텐다드"/>
                <a:sym typeface="프리텐다드"/>
              </a:rPr>
              <a:t>군집 내부 로지스틱(침해여부~제도수요) · 전체 pooled OR 악성민원 2.49 · 아동학대 1.98 · 수업방해 1.71 · 군집 간 효과차 비율의(교호작용 p&gt;0.65) → 악성민원의 보편적 우위가 핵심</a:t>
            </a:r>
          </a:p>
        </p:txBody>
      </p:sp>
      <p:sp>
        <p:nvSpPr>
          <p:cNvPr name="TextBox 4" id="4"/>
          <p:cNvSpPr txBox="true"/>
          <p:nvPr/>
        </p:nvSpPr>
        <p:spPr>
          <a:xfrm rot="0">
            <a:off x="9420424" y="3098214"/>
            <a:ext cx="701620" cy="162860"/>
          </a:xfrm>
          <a:prstGeom prst="rect">
            <a:avLst/>
          </a:prstGeom>
        </p:spPr>
        <p:txBody>
          <a:bodyPr anchor="t" rtlCol="false" tIns="0" lIns="0" bIns="0" rIns="0">
            <a:spAutoFit/>
          </a:bodyPr>
          <a:lstStyle/>
          <a:p>
            <a:pPr algn="l" marL="0" indent="0" lvl="0">
              <a:lnSpc>
                <a:spcPts val="1306"/>
              </a:lnSpc>
              <a:spcBef>
                <a:spcPct val="0"/>
              </a:spcBef>
            </a:pPr>
            <a:r>
              <a:rPr lang="en-US" sz="932" strike="noStrike" u="none">
                <a:solidFill>
                  <a:srgbClr val="475569"/>
                </a:solidFill>
                <a:latin typeface="프리텐다드"/>
                <a:ea typeface="프리텐다드"/>
                <a:cs typeface="프리텐다드"/>
                <a:sym typeface="프리텐다드"/>
              </a:rPr>
              <a:t>고등·저위험형</a:t>
            </a:r>
          </a:p>
        </p:txBody>
      </p:sp>
      <p:grpSp>
        <p:nvGrpSpPr>
          <p:cNvPr name="Group 5" id="5"/>
          <p:cNvGrpSpPr/>
          <p:nvPr/>
        </p:nvGrpSpPr>
        <p:grpSpPr>
          <a:xfrm rot="0">
            <a:off x="9273417" y="3156066"/>
            <a:ext cx="93549" cy="93549"/>
            <a:chOff x="0" y="0"/>
            <a:chExt cx="88900" cy="88900"/>
          </a:xfrm>
        </p:grpSpPr>
        <p:sp>
          <p:nvSpPr>
            <p:cNvPr name="Freeform 6" id="6"/>
            <p:cNvSpPr/>
            <p:nvPr/>
          </p:nvSpPr>
          <p:spPr>
            <a:xfrm flipH="false" flipV="false" rot="0">
              <a:off x="0" y="0"/>
              <a:ext cx="88900" cy="88900"/>
            </a:xfrm>
            <a:custGeom>
              <a:avLst/>
              <a:gdLst/>
              <a:ahLst/>
              <a:cxnLst/>
              <a:rect r="r" b="b" t="t" l="l"/>
              <a:pathLst>
                <a:path h="88900" w="88900">
                  <a:moveTo>
                    <a:pt x="44450" y="0"/>
                  </a:moveTo>
                  <a:cubicBezTo>
                    <a:pt x="19901" y="0"/>
                    <a:pt x="0" y="19901"/>
                    <a:pt x="0" y="44450"/>
                  </a:cubicBezTo>
                  <a:cubicBezTo>
                    <a:pt x="0" y="68999"/>
                    <a:pt x="19901" y="88900"/>
                    <a:pt x="44450" y="88900"/>
                  </a:cubicBezTo>
                  <a:cubicBezTo>
                    <a:pt x="68999" y="88900"/>
                    <a:pt x="88900" y="68999"/>
                    <a:pt x="88900" y="44450"/>
                  </a:cubicBezTo>
                  <a:cubicBezTo>
                    <a:pt x="88900" y="19901"/>
                    <a:pt x="68999" y="0"/>
                    <a:pt x="44450" y="0"/>
                  </a:cubicBezTo>
                  <a:close/>
                </a:path>
              </a:pathLst>
            </a:custGeom>
            <a:solidFill>
              <a:srgbClr val="6B3FA0"/>
            </a:solidFill>
          </p:spPr>
        </p:sp>
        <p:sp>
          <p:nvSpPr>
            <p:cNvPr name="TextBox 7" id="7"/>
            <p:cNvSpPr txBox="true"/>
            <p:nvPr/>
          </p:nvSpPr>
          <p:spPr>
            <a:xfrm>
              <a:off x="0" y="-47625"/>
              <a:ext cx="88900" cy="136525"/>
            </a:xfrm>
            <a:prstGeom prst="rect">
              <a:avLst/>
            </a:prstGeom>
          </p:spPr>
          <p:txBody>
            <a:bodyPr anchor="ctr" rtlCol="false" tIns="50800" lIns="50800" bIns="50800" rIns="50800"/>
            <a:lstStyle/>
            <a:p>
              <a:pPr algn="l">
                <a:lnSpc>
                  <a:spcPts val="1959"/>
                </a:lnSpc>
              </a:pPr>
            </a:p>
          </p:txBody>
        </p:sp>
      </p:grpSp>
      <p:sp>
        <p:nvSpPr>
          <p:cNvPr name="TextBox 8" id="8"/>
          <p:cNvSpPr txBox="true"/>
          <p:nvPr/>
        </p:nvSpPr>
        <p:spPr>
          <a:xfrm rot="0">
            <a:off x="9420424" y="2951208"/>
            <a:ext cx="880572" cy="162860"/>
          </a:xfrm>
          <a:prstGeom prst="rect">
            <a:avLst/>
          </a:prstGeom>
        </p:spPr>
        <p:txBody>
          <a:bodyPr anchor="t" rtlCol="false" tIns="0" lIns="0" bIns="0" rIns="0">
            <a:spAutoFit/>
          </a:bodyPr>
          <a:lstStyle/>
          <a:p>
            <a:pPr algn="l" marL="0" indent="0" lvl="0">
              <a:lnSpc>
                <a:spcPts val="1306"/>
              </a:lnSpc>
              <a:spcBef>
                <a:spcPct val="0"/>
              </a:spcBef>
            </a:pPr>
            <a:r>
              <a:rPr lang="en-US" sz="932" strike="noStrike" u="none">
                <a:solidFill>
                  <a:srgbClr val="475569"/>
                </a:solidFill>
                <a:latin typeface="프리텐다드"/>
                <a:ea typeface="프리텐다드"/>
                <a:cs typeface="프리텐다드"/>
                <a:sym typeface="프리텐다드"/>
              </a:rPr>
              <a:t>중등·관리자 혼재형</a:t>
            </a:r>
          </a:p>
        </p:txBody>
      </p:sp>
      <p:grpSp>
        <p:nvGrpSpPr>
          <p:cNvPr name="Group 9" id="9"/>
          <p:cNvGrpSpPr/>
          <p:nvPr/>
        </p:nvGrpSpPr>
        <p:grpSpPr>
          <a:xfrm rot="0">
            <a:off x="9273417" y="3009060"/>
            <a:ext cx="93549" cy="93549"/>
            <a:chOff x="0" y="0"/>
            <a:chExt cx="88900" cy="88900"/>
          </a:xfrm>
        </p:grpSpPr>
        <p:sp>
          <p:nvSpPr>
            <p:cNvPr name="Freeform 10" id="10"/>
            <p:cNvSpPr/>
            <p:nvPr/>
          </p:nvSpPr>
          <p:spPr>
            <a:xfrm flipH="false" flipV="false" rot="0">
              <a:off x="0" y="0"/>
              <a:ext cx="88900" cy="88900"/>
            </a:xfrm>
            <a:custGeom>
              <a:avLst/>
              <a:gdLst/>
              <a:ahLst/>
              <a:cxnLst/>
              <a:rect r="r" b="b" t="t" l="l"/>
              <a:pathLst>
                <a:path h="88900" w="88900">
                  <a:moveTo>
                    <a:pt x="44450" y="0"/>
                  </a:moveTo>
                  <a:cubicBezTo>
                    <a:pt x="19901" y="0"/>
                    <a:pt x="0" y="19901"/>
                    <a:pt x="0" y="44450"/>
                  </a:cubicBezTo>
                  <a:cubicBezTo>
                    <a:pt x="0" y="68999"/>
                    <a:pt x="19901" y="88900"/>
                    <a:pt x="44450" y="88900"/>
                  </a:cubicBezTo>
                  <a:cubicBezTo>
                    <a:pt x="68999" y="88900"/>
                    <a:pt x="88900" y="68999"/>
                    <a:pt x="88900" y="44450"/>
                  </a:cubicBezTo>
                  <a:cubicBezTo>
                    <a:pt x="88900" y="19901"/>
                    <a:pt x="68999" y="0"/>
                    <a:pt x="44450" y="0"/>
                  </a:cubicBezTo>
                  <a:close/>
                </a:path>
              </a:pathLst>
            </a:custGeom>
            <a:solidFill>
              <a:srgbClr val="4A6FA5"/>
            </a:solidFill>
          </p:spPr>
        </p:sp>
        <p:sp>
          <p:nvSpPr>
            <p:cNvPr name="TextBox 11" id="11"/>
            <p:cNvSpPr txBox="true"/>
            <p:nvPr/>
          </p:nvSpPr>
          <p:spPr>
            <a:xfrm>
              <a:off x="0" y="-47625"/>
              <a:ext cx="88900" cy="136525"/>
            </a:xfrm>
            <a:prstGeom prst="rect">
              <a:avLst/>
            </a:prstGeom>
          </p:spPr>
          <p:txBody>
            <a:bodyPr anchor="ctr" rtlCol="false" tIns="50800" lIns="50800" bIns="50800" rIns="50800"/>
            <a:lstStyle/>
            <a:p>
              <a:pPr algn="l">
                <a:lnSpc>
                  <a:spcPts val="1959"/>
                </a:lnSpc>
              </a:pPr>
            </a:p>
          </p:txBody>
        </p:sp>
      </p:grpSp>
      <p:sp>
        <p:nvSpPr>
          <p:cNvPr name="TextBox 12" id="12"/>
          <p:cNvSpPr txBox="true"/>
          <p:nvPr/>
        </p:nvSpPr>
        <p:spPr>
          <a:xfrm rot="0">
            <a:off x="9420424" y="2804202"/>
            <a:ext cx="879084" cy="162860"/>
          </a:xfrm>
          <a:prstGeom prst="rect">
            <a:avLst/>
          </a:prstGeom>
        </p:spPr>
        <p:txBody>
          <a:bodyPr anchor="t" rtlCol="false" tIns="0" lIns="0" bIns="0" rIns="0">
            <a:spAutoFit/>
          </a:bodyPr>
          <a:lstStyle/>
          <a:p>
            <a:pPr algn="l" marL="0" indent="0" lvl="0">
              <a:lnSpc>
                <a:spcPts val="1306"/>
              </a:lnSpc>
              <a:spcBef>
                <a:spcPct val="0"/>
              </a:spcBef>
            </a:pPr>
            <a:r>
              <a:rPr lang="en-US" sz="932" strike="noStrike" u="none">
                <a:solidFill>
                  <a:srgbClr val="475569"/>
                </a:solidFill>
                <a:latin typeface="프리텐다드"/>
                <a:ea typeface="프리텐다드"/>
                <a:cs typeface="프리텐다드"/>
                <a:sym typeface="프리텐다드"/>
              </a:rPr>
              <a:t>초등·복합 고위험형</a:t>
            </a:r>
          </a:p>
        </p:txBody>
      </p:sp>
      <p:grpSp>
        <p:nvGrpSpPr>
          <p:cNvPr name="Group 13" id="13"/>
          <p:cNvGrpSpPr/>
          <p:nvPr/>
        </p:nvGrpSpPr>
        <p:grpSpPr>
          <a:xfrm rot="0">
            <a:off x="9273417" y="2862054"/>
            <a:ext cx="93549" cy="93549"/>
            <a:chOff x="0" y="0"/>
            <a:chExt cx="88900" cy="88900"/>
          </a:xfrm>
        </p:grpSpPr>
        <p:sp>
          <p:nvSpPr>
            <p:cNvPr name="Freeform 14" id="14"/>
            <p:cNvSpPr/>
            <p:nvPr/>
          </p:nvSpPr>
          <p:spPr>
            <a:xfrm flipH="false" flipV="false" rot="0">
              <a:off x="0" y="0"/>
              <a:ext cx="88900" cy="88900"/>
            </a:xfrm>
            <a:custGeom>
              <a:avLst/>
              <a:gdLst/>
              <a:ahLst/>
              <a:cxnLst/>
              <a:rect r="r" b="b" t="t" l="l"/>
              <a:pathLst>
                <a:path h="88900" w="88900">
                  <a:moveTo>
                    <a:pt x="44450" y="0"/>
                  </a:moveTo>
                  <a:cubicBezTo>
                    <a:pt x="19901" y="0"/>
                    <a:pt x="0" y="19901"/>
                    <a:pt x="0" y="44450"/>
                  </a:cubicBezTo>
                  <a:cubicBezTo>
                    <a:pt x="0" y="68999"/>
                    <a:pt x="19901" y="88900"/>
                    <a:pt x="44450" y="88900"/>
                  </a:cubicBezTo>
                  <a:cubicBezTo>
                    <a:pt x="68999" y="88900"/>
                    <a:pt x="88900" y="68999"/>
                    <a:pt x="88900" y="44450"/>
                  </a:cubicBezTo>
                  <a:cubicBezTo>
                    <a:pt x="88900" y="19901"/>
                    <a:pt x="68999" y="0"/>
                    <a:pt x="44450" y="0"/>
                  </a:cubicBezTo>
                  <a:close/>
                </a:path>
              </a:pathLst>
            </a:custGeom>
            <a:solidFill>
              <a:srgbClr val="1B2A4A"/>
            </a:solidFill>
          </p:spPr>
        </p:sp>
        <p:sp>
          <p:nvSpPr>
            <p:cNvPr name="TextBox 15" id="15"/>
            <p:cNvSpPr txBox="true"/>
            <p:nvPr/>
          </p:nvSpPr>
          <p:spPr>
            <a:xfrm>
              <a:off x="0" y="-47625"/>
              <a:ext cx="88900" cy="136525"/>
            </a:xfrm>
            <a:prstGeom prst="rect">
              <a:avLst/>
            </a:prstGeom>
          </p:spPr>
          <p:txBody>
            <a:bodyPr anchor="ctr" rtlCol="false" tIns="50800" lIns="50800" bIns="50800" rIns="50800"/>
            <a:lstStyle/>
            <a:p>
              <a:pPr algn="l">
                <a:lnSpc>
                  <a:spcPts val="1959"/>
                </a:lnSpc>
              </a:pPr>
            </a:p>
          </p:txBody>
        </p:sp>
      </p:grpSp>
      <p:sp>
        <p:nvSpPr>
          <p:cNvPr name="TextBox 16" id="16"/>
          <p:cNvSpPr txBox="true"/>
          <p:nvPr/>
        </p:nvSpPr>
        <p:spPr>
          <a:xfrm rot="0">
            <a:off x="2434411" y="3197094"/>
            <a:ext cx="419939" cy="139610"/>
          </a:xfrm>
          <a:prstGeom prst="rect">
            <a:avLst/>
          </a:prstGeom>
        </p:spPr>
        <p:txBody>
          <a:bodyPr anchor="t" rtlCol="false" tIns="0" lIns="0" bIns="0" rIns="0">
            <a:spAutoFit/>
          </a:bodyPr>
          <a:lstStyle/>
          <a:p>
            <a:pPr algn="l" marL="0" indent="0" lvl="0">
              <a:lnSpc>
                <a:spcPts val="1172"/>
              </a:lnSpc>
              <a:spcBef>
                <a:spcPct val="0"/>
              </a:spcBef>
            </a:pPr>
            <a:r>
              <a:rPr lang="en-US" b="true" sz="837" strike="noStrike" u="none">
                <a:solidFill>
                  <a:srgbClr val="6B3FA0"/>
                </a:solidFill>
                <a:latin typeface="프리텐다드 Bold"/>
                <a:ea typeface="프리텐다드 Bold"/>
                <a:cs typeface="프리텐다드 Bold"/>
                <a:sym typeface="프리텐다드 Bold"/>
              </a:rPr>
              <a:t>1.15</a:t>
            </a:r>
          </a:p>
        </p:txBody>
      </p:sp>
      <p:grpSp>
        <p:nvGrpSpPr>
          <p:cNvPr name="Group 17" id="17"/>
          <p:cNvGrpSpPr/>
          <p:nvPr/>
        </p:nvGrpSpPr>
        <p:grpSpPr>
          <a:xfrm rot="0">
            <a:off x="2266435" y="3218432"/>
            <a:ext cx="119983" cy="119983"/>
            <a:chOff x="0" y="0"/>
            <a:chExt cx="127000" cy="127000"/>
          </a:xfrm>
        </p:grpSpPr>
        <p:sp>
          <p:nvSpPr>
            <p:cNvPr name="Freeform 18" id="18"/>
            <p:cNvSpPr/>
            <p:nvPr/>
          </p:nvSpPr>
          <p:spPr>
            <a:xfrm flipH="false" flipV="false" rot="0">
              <a:off x="0" y="0"/>
              <a:ext cx="127000" cy="127000"/>
            </a:xfrm>
            <a:custGeom>
              <a:avLst/>
              <a:gdLst/>
              <a:ahLst/>
              <a:cxnLst/>
              <a:rect r="r" b="b" t="t" l="l"/>
              <a:pathLst>
                <a:path h="127000" w="127000">
                  <a:moveTo>
                    <a:pt x="63500" y="0"/>
                  </a:moveTo>
                  <a:cubicBezTo>
                    <a:pt x="28430" y="0"/>
                    <a:pt x="0" y="28430"/>
                    <a:pt x="0" y="63500"/>
                  </a:cubicBezTo>
                  <a:cubicBezTo>
                    <a:pt x="0" y="98570"/>
                    <a:pt x="28430" y="127000"/>
                    <a:pt x="63500" y="127000"/>
                  </a:cubicBezTo>
                  <a:cubicBezTo>
                    <a:pt x="98570" y="127000"/>
                    <a:pt x="127000" y="98570"/>
                    <a:pt x="127000" y="63500"/>
                  </a:cubicBezTo>
                  <a:cubicBezTo>
                    <a:pt x="127000" y="28430"/>
                    <a:pt x="98570" y="0"/>
                    <a:pt x="63500" y="0"/>
                  </a:cubicBezTo>
                  <a:close/>
                </a:path>
              </a:pathLst>
            </a:custGeom>
            <a:solidFill>
              <a:srgbClr val="6B3FA0"/>
            </a:solidFill>
          </p:spPr>
        </p:sp>
        <p:sp>
          <p:nvSpPr>
            <p:cNvPr name="TextBox 19" id="19"/>
            <p:cNvSpPr txBox="true"/>
            <p:nvPr/>
          </p:nvSpPr>
          <p:spPr>
            <a:xfrm>
              <a:off x="0" y="-47625"/>
              <a:ext cx="127000" cy="174625"/>
            </a:xfrm>
            <a:prstGeom prst="rect">
              <a:avLst/>
            </a:prstGeom>
          </p:spPr>
          <p:txBody>
            <a:bodyPr anchor="ctr" rtlCol="false" tIns="50800" lIns="50800" bIns="50800" rIns="50800"/>
            <a:lstStyle/>
            <a:p>
              <a:pPr algn="l">
                <a:lnSpc>
                  <a:spcPts val="1959"/>
                </a:lnSpc>
              </a:pPr>
            </a:p>
          </p:txBody>
        </p:sp>
      </p:grpSp>
      <p:sp>
        <p:nvSpPr>
          <p:cNvPr name="AutoShape 20" id="20"/>
          <p:cNvSpPr/>
          <p:nvPr/>
        </p:nvSpPr>
        <p:spPr>
          <a:xfrm>
            <a:off x="1678520" y="3278424"/>
            <a:ext cx="647906" cy="0"/>
          </a:xfrm>
          <a:prstGeom prst="line">
            <a:avLst/>
          </a:prstGeom>
          <a:ln cap="flat" w="19050">
            <a:solidFill>
              <a:srgbClr val="6B3FA0"/>
            </a:solidFill>
            <a:prstDash val="solid"/>
            <a:headEnd type="none" len="sm" w="sm"/>
            <a:tailEnd type="none" len="sm" w="sm"/>
          </a:ln>
        </p:spPr>
      </p:sp>
      <p:sp>
        <p:nvSpPr>
          <p:cNvPr name="TextBox 21" id="21"/>
          <p:cNvSpPr txBox="true"/>
          <p:nvPr/>
        </p:nvSpPr>
        <p:spPr>
          <a:xfrm rot="0">
            <a:off x="4258146" y="3113106"/>
            <a:ext cx="419939" cy="139610"/>
          </a:xfrm>
          <a:prstGeom prst="rect">
            <a:avLst/>
          </a:prstGeom>
        </p:spPr>
        <p:txBody>
          <a:bodyPr anchor="t" rtlCol="false" tIns="0" lIns="0" bIns="0" rIns="0">
            <a:spAutoFit/>
          </a:bodyPr>
          <a:lstStyle/>
          <a:p>
            <a:pPr algn="l" marL="0" indent="0" lvl="0">
              <a:lnSpc>
                <a:spcPts val="1172"/>
              </a:lnSpc>
              <a:spcBef>
                <a:spcPct val="0"/>
              </a:spcBef>
            </a:pPr>
            <a:r>
              <a:rPr lang="en-US" b="true" sz="837" strike="noStrike" u="none">
                <a:solidFill>
                  <a:srgbClr val="4A6FA5"/>
                </a:solidFill>
                <a:latin typeface="프리텐다드 Bold"/>
                <a:ea typeface="프리텐다드 Bold"/>
                <a:cs typeface="프리텐다드 Bold"/>
                <a:sym typeface="프리텐다드 Bold"/>
              </a:rPr>
              <a:t>1.57*</a:t>
            </a:r>
          </a:p>
        </p:txBody>
      </p:sp>
      <p:grpSp>
        <p:nvGrpSpPr>
          <p:cNvPr name="Group 22" id="22"/>
          <p:cNvGrpSpPr/>
          <p:nvPr/>
        </p:nvGrpSpPr>
        <p:grpSpPr>
          <a:xfrm rot="0">
            <a:off x="4090170" y="3134445"/>
            <a:ext cx="119983" cy="119983"/>
            <a:chOff x="0" y="0"/>
            <a:chExt cx="127000" cy="127000"/>
          </a:xfrm>
        </p:grpSpPr>
        <p:sp>
          <p:nvSpPr>
            <p:cNvPr name="Freeform 23" id="23"/>
            <p:cNvSpPr/>
            <p:nvPr/>
          </p:nvSpPr>
          <p:spPr>
            <a:xfrm flipH="false" flipV="false" rot="0">
              <a:off x="0" y="0"/>
              <a:ext cx="127000" cy="127000"/>
            </a:xfrm>
            <a:custGeom>
              <a:avLst/>
              <a:gdLst/>
              <a:ahLst/>
              <a:cxnLst/>
              <a:rect r="r" b="b" t="t" l="l"/>
              <a:pathLst>
                <a:path h="127000" w="127000">
                  <a:moveTo>
                    <a:pt x="63500" y="0"/>
                  </a:moveTo>
                  <a:cubicBezTo>
                    <a:pt x="28430" y="0"/>
                    <a:pt x="0" y="28430"/>
                    <a:pt x="0" y="63500"/>
                  </a:cubicBezTo>
                  <a:cubicBezTo>
                    <a:pt x="0" y="98570"/>
                    <a:pt x="28430" y="127000"/>
                    <a:pt x="63500" y="127000"/>
                  </a:cubicBezTo>
                  <a:cubicBezTo>
                    <a:pt x="98570" y="127000"/>
                    <a:pt x="127000" y="98570"/>
                    <a:pt x="127000" y="63500"/>
                  </a:cubicBezTo>
                  <a:cubicBezTo>
                    <a:pt x="127000" y="28430"/>
                    <a:pt x="98570" y="0"/>
                    <a:pt x="63500" y="0"/>
                  </a:cubicBezTo>
                  <a:close/>
                </a:path>
              </a:pathLst>
            </a:custGeom>
            <a:solidFill>
              <a:srgbClr val="4A6FA5"/>
            </a:solidFill>
          </p:spPr>
        </p:sp>
        <p:sp>
          <p:nvSpPr>
            <p:cNvPr name="TextBox 24" id="24"/>
            <p:cNvSpPr txBox="true"/>
            <p:nvPr/>
          </p:nvSpPr>
          <p:spPr>
            <a:xfrm>
              <a:off x="0" y="-47625"/>
              <a:ext cx="127000" cy="174625"/>
            </a:xfrm>
            <a:prstGeom prst="rect">
              <a:avLst/>
            </a:prstGeom>
          </p:spPr>
          <p:txBody>
            <a:bodyPr anchor="ctr" rtlCol="false" tIns="50800" lIns="50800" bIns="50800" rIns="50800"/>
            <a:lstStyle/>
            <a:p>
              <a:pPr algn="l">
                <a:lnSpc>
                  <a:spcPts val="1959"/>
                </a:lnSpc>
              </a:pPr>
            </a:p>
          </p:txBody>
        </p:sp>
      </p:grpSp>
      <p:sp>
        <p:nvSpPr>
          <p:cNvPr name="TextBox 25" id="25"/>
          <p:cNvSpPr txBox="true"/>
          <p:nvPr/>
        </p:nvSpPr>
        <p:spPr>
          <a:xfrm rot="0">
            <a:off x="2734367" y="3029118"/>
            <a:ext cx="419939" cy="139610"/>
          </a:xfrm>
          <a:prstGeom prst="rect">
            <a:avLst/>
          </a:prstGeom>
        </p:spPr>
        <p:txBody>
          <a:bodyPr anchor="t" rtlCol="false" tIns="0" lIns="0" bIns="0" rIns="0">
            <a:spAutoFit/>
          </a:bodyPr>
          <a:lstStyle/>
          <a:p>
            <a:pPr algn="l" marL="0" indent="0" lvl="0">
              <a:lnSpc>
                <a:spcPts val="1172"/>
              </a:lnSpc>
              <a:spcBef>
                <a:spcPct val="0"/>
              </a:spcBef>
            </a:pPr>
            <a:r>
              <a:rPr lang="en-US" b="true" sz="837" strike="noStrike" u="none">
                <a:solidFill>
                  <a:srgbClr val="1B2A4A"/>
                </a:solidFill>
                <a:latin typeface="프리텐다드 Bold"/>
                <a:ea typeface="프리텐다드 Bold"/>
                <a:cs typeface="프리텐다드 Bold"/>
                <a:sym typeface="프리텐다드 Bold"/>
              </a:rPr>
              <a:t>1.22*</a:t>
            </a:r>
          </a:p>
        </p:txBody>
      </p:sp>
      <p:grpSp>
        <p:nvGrpSpPr>
          <p:cNvPr name="Group 26" id="26"/>
          <p:cNvGrpSpPr/>
          <p:nvPr/>
        </p:nvGrpSpPr>
        <p:grpSpPr>
          <a:xfrm rot="0">
            <a:off x="2566391" y="3050457"/>
            <a:ext cx="119983" cy="119983"/>
            <a:chOff x="0" y="0"/>
            <a:chExt cx="127000" cy="127000"/>
          </a:xfrm>
        </p:grpSpPr>
        <p:sp>
          <p:nvSpPr>
            <p:cNvPr name="Freeform 27" id="27"/>
            <p:cNvSpPr/>
            <p:nvPr/>
          </p:nvSpPr>
          <p:spPr>
            <a:xfrm flipH="false" flipV="false" rot="0">
              <a:off x="0" y="0"/>
              <a:ext cx="127000" cy="127000"/>
            </a:xfrm>
            <a:custGeom>
              <a:avLst/>
              <a:gdLst/>
              <a:ahLst/>
              <a:cxnLst/>
              <a:rect r="r" b="b" t="t" l="l"/>
              <a:pathLst>
                <a:path h="127000" w="127000">
                  <a:moveTo>
                    <a:pt x="63500" y="0"/>
                  </a:moveTo>
                  <a:cubicBezTo>
                    <a:pt x="28430" y="0"/>
                    <a:pt x="0" y="28430"/>
                    <a:pt x="0" y="63500"/>
                  </a:cubicBezTo>
                  <a:cubicBezTo>
                    <a:pt x="0" y="98570"/>
                    <a:pt x="28430" y="127000"/>
                    <a:pt x="63500" y="127000"/>
                  </a:cubicBezTo>
                  <a:cubicBezTo>
                    <a:pt x="98570" y="127000"/>
                    <a:pt x="127000" y="98570"/>
                    <a:pt x="127000" y="63500"/>
                  </a:cubicBezTo>
                  <a:cubicBezTo>
                    <a:pt x="127000" y="28430"/>
                    <a:pt x="98570" y="0"/>
                    <a:pt x="63500" y="0"/>
                  </a:cubicBezTo>
                  <a:close/>
                </a:path>
              </a:pathLst>
            </a:custGeom>
            <a:solidFill>
              <a:srgbClr val="1B2A4A"/>
            </a:solidFill>
          </p:spPr>
        </p:sp>
        <p:sp>
          <p:nvSpPr>
            <p:cNvPr name="TextBox 28" id="28"/>
            <p:cNvSpPr txBox="true"/>
            <p:nvPr/>
          </p:nvSpPr>
          <p:spPr>
            <a:xfrm>
              <a:off x="0" y="-47625"/>
              <a:ext cx="127000" cy="174625"/>
            </a:xfrm>
            <a:prstGeom prst="rect">
              <a:avLst/>
            </a:prstGeom>
          </p:spPr>
          <p:txBody>
            <a:bodyPr anchor="ctr" rtlCol="false" tIns="50800" lIns="50800" bIns="50800" rIns="50800"/>
            <a:lstStyle/>
            <a:p>
              <a:pPr algn="l">
                <a:lnSpc>
                  <a:spcPts val="1959"/>
                </a:lnSpc>
              </a:pPr>
            </a:p>
          </p:txBody>
        </p:sp>
      </p:grpSp>
      <p:sp>
        <p:nvSpPr>
          <p:cNvPr name="AutoShape 29" id="29"/>
          <p:cNvSpPr/>
          <p:nvPr/>
        </p:nvSpPr>
        <p:spPr>
          <a:xfrm>
            <a:off x="1678520" y="3110448"/>
            <a:ext cx="947862" cy="0"/>
          </a:xfrm>
          <a:prstGeom prst="line">
            <a:avLst/>
          </a:prstGeom>
          <a:ln cap="flat" w="19050">
            <a:solidFill>
              <a:srgbClr val="1B2A4A"/>
            </a:solidFill>
            <a:prstDash val="solid"/>
            <a:headEnd type="none" len="sm" w="sm"/>
            <a:tailEnd type="none" len="sm" w="sm"/>
          </a:ln>
        </p:spPr>
      </p:sp>
      <p:sp>
        <p:nvSpPr>
          <p:cNvPr name="TextBox 30" id="30"/>
          <p:cNvSpPr txBox="true"/>
          <p:nvPr/>
        </p:nvSpPr>
        <p:spPr>
          <a:xfrm rot="0">
            <a:off x="4690083" y="2861143"/>
            <a:ext cx="419939" cy="139610"/>
          </a:xfrm>
          <a:prstGeom prst="rect">
            <a:avLst/>
          </a:prstGeom>
        </p:spPr>
        <p:txBody>
          <a:bodyPr anchor="t" rtlCol="false" tIns="0" lIns="0" bIns="0" rIns="0">
            <a:spAutoFit/>
          </a:bodyPr>
          <a:lstStyle/>
          <a:p>
            <a:pPr algn="l" marL="0" indent="0" lvl="0">
              <a:lnSpc>
                <a:spcPts val="1172"/>
              </a:lnSpc>
              <a:spcBef>
                <a:spcPct val="0"/>
              </a:spcBef>
            </a:pPr>
            <a:r>
              <a:rPr lang="en-US" b="true" sz="837" strike="noStrike" u="none">
                <a:solidFill>
                  <a:srgbClr val="6B3FA0"/>
                </a:solidFill>
                <a:latin typeface="프리텐다드 Bold"/>
                <a:ea typeface="프리텐다드 Bold"/>
                <a:cs typeface="프리텐다드 Bold"/>
                <a:sym typeface="프리텐다드 Bold"/>
              </a:rPr>
              <a:t>1.67*</a:t>
            </a:r>
          </a:p>
        </p:txBody>
      </p:sp>
      <p:grpSp>
        <p:nvGrpSpPr>
          <p:cNvPr name="Group 31" id="31"/>
          <p:cNvGrpSpPr/>
          <p:nvPr/>
        </p:nvGrpSpPr>
        <p:grpSpPr>
          <a:xfrm rot="0">
            <a:off x="4522107" y="2882481"/>
            <a:ext cx="119983" cy="119983"/>
            <a:chOff x="0" y="0"/>
            <a:chExt cx="127000" cy="127000"/>
          </a:xfrm>
        </p:grpSpPr>
        <p:sp>
          <p:nvSpPr>
            <p:cNvPr name="Freeform 32" id="32"/>
            <p:cNvSpPr/>
            <p:nvPr/>
          </p:nvSpPr>
          <p:spPr>
            <a:xfrm flipH="false" flipV="false" rot="0">
              <a:off x="0" y="0"/>
              <a:ext cx="127000" cy="127000"/>
            </a:xfrm>
            <a:custGeom>
              <a:avLst/>
              <a:gdLst/>
              <a:ahLst/>
              <a:cxnLst/>
              <a:rect r="r" b="b" t="t" l="l"/>
              <a:pathLst>
                <a:path h="127000" w="127000">
                  <a:moveTo>
                    <a:pt x="63500" y="0"/>
                  </a:moveTo>
                  <a:cubicBezTo>
                    <a:pt x="28430" y="0"/>
                    <a:pt x="0" y="28430"/>
                    <a:pt x="0" y="63500"/>
                  </a:cubicBezTo>
                  <a:cubicBezTo>
                    <a:pt x="0" y="98570"/>
                    <a:pt x="28430" y="127000"/>
                    <a:pt x="63500" y="127000"/>
                  </a:cubicBezTo>
                  <a:cubicBezTo>
                    <a:pt x="98570" y="127000"/>
                    <a:pt x="127000" y="98570"/>
                    <a:pt x="127000" y="63500"/>
                  </a:cubicBezTo>
                  <a:cubicBezTo>
                    <a:pt x="127000" y="28430"/>
                    <a:pt x="98570" y="0"/>
                    <a:pt x="63500" y="0"/>
                  </a:cubicBezTo>
                  <a:close/>
                </a:path>
              </a:pathLst>
            </a:custGeom>
            <a:solidFill>
              <a:srgbClr val="6B3FA0"/>
            </a:solidFill>
          </p:spPr>
        </p:sp>
        <p:sp>
          <p:nvSpPr>
            <p:cNvPr name="TextBox 33" id="33"/>
            <p:cNvSpPr txBox="true"/>
            <p:nvPr/>
          </p:nvSpPr>
          <p:spPr>
            <a:xfrm>
              <a:off x="0" y="-47625"/>
              <a:ext cx="127000" cy="174625"/>
            </a:xfrm>
            <a:prstGeom prst="rect">
              <a:avLst/>
            </a:prstGeom>
          </p:spPr>
          <p:txBody>
            <a:bodyPr anchor="ctr" rtlCol="false" tIns="50800" lIns="50800" bIns="50800" rIns="50800"/>
            <a:lstStyle/>
            <a:p>
              <a:pPr algn="l">
                <a:lnSpc>
                  <a:spcPts val="1959"/>
                </a:lnSpc>
              </a:pPr>
            </a:p>
          </p:txBody>
        </p:sp>
      </p:grpSp>
      <p:sp>
        <p:nvSpPr>
          <p:cNvPr name="AutoShape 34" id="34"/>
          <p:cNvSpPr/>
          <p:nvPr/>
        </p:nvSpPr>
        <p:spPr>
          <a:xfrm>
            <a:off x="1678520" y="2942472"/>
            <a:ext cx="2903578" cy="0"/>
          </a:xfrm>
          <a:prstGeom prst="line">
            <a:avLst/>
          </a:prstGeom>
          <a:ln cap="flat" w="19050">
            <a:solidFill>
              <a:srgbClr val="6B3FA0"/>
            </a:solidFill>
            <a:prstDash val="solid"/>
            <a:headEnd type="none" len="sm" w="sm"/>
            <a:tailEnd type="none" len="sm" w="sm"/>
          </a:ln>
        </p:spPr>
      </p:sp>
      <p:sp>
        <p:nvSpPr>
          <p:cNvPr name="TextBox 35" id="35"/>
          <p:cNvSpPr txBox="true"/>
          <p:nvPr/>
        </p:nvSpPr>
        <p:spPr>
          <a:xfrm rot="0">
            <a:off x="4558102" y="2777155"/>
            <a:ext cx="419939" cy="139610"/>
          </a:xfrm>
          <a:prstGeom prst="rect">
            <a:avLst/>
          </a:prstGeom>
        </p:spPr>
        <p:txBody>
          <a:bodyPr anchor="t" rtlCol="false" tIns="0" lIns="0" bIns="0" rIns="0">
            <a:spAutoFit/>
          </a:bodyPr>
          <a:lstStyle/>
          <a:p>
            <a:pPr algn="l" marL="0" indent="0" lvl="0">
              <a:lnSpc>
                <a:spcPts val="1172"/>
              </a:lnSpc>
              <a:spcBef>
                <a:spcPct val="0"/>
              </a:spcBef>
            </a:pPr>
            <a:r>
              <a:rPr lang="en-US" b="true" sz="837" strike="noStrike" u="none">
                <a:solidFill>
                  <a:srgbClr val="4A6FA5"/>
                </a:solidFill>
                <a:latin typeface="프리텐다드 Bold"/>
                <a:ea typeface="프리텐다드 Bold"/>
                <a:cs typeface="프리텐다드 Bold"/>
                <a:sym typeface="프리텐다드 Bold"/>
              </a:rPr>
              <a:t>1.64*</a:t>
            </a:r>
          </a:p>
        </p:txBody>
      </p:sp>
      <p:grpSp>
        <p:nvGrpSpPr>
          <p:cNvPr name="Group 36" id="36"/>
          <p:cNvGrpSpPr/>
          <p:nvPr/>
        </p:nvGrpSpPr>
        <p:grpSpPr>
          <a:xfrm rot="0">
            <a:off x="4390127" y="2798493"/>
            <a:ext cx="119983" cy="119983"/>
            <a:chOff x="0" y="0"/>
            <a:chExt cx="127000" cy="127000"/>
          </a:xfrm>
        </p:grpSpPr>
        <p:sp>
          <p:nvSpPr>
            <p:cNvPr name="Freeform 37" id="37"/>
            <p:cNvSpPr/>
            <p:nvPr/>
          </p:nvSpPr>
          <p:spPr>
            <a:xfrm flipH="false" flipV="false" rot="0">
              <a:off x="0" y="0"/>
              <a:ext cx="127000" cy="127000"/>
            </a:xfrm>
            <a:custGeom>
              <a:avLst/>
              <a:gdLst/>
              <a:ahLst/>
              <a:cxnLst/>
              <a:rect r="r" b="b" t="t" l="l"/>
              <a:pathLst>
                <a:path h="127000" w="127000">
                  <a:moveTo>
                    <a:pt x="63500" y="0"/>
                  </a:moveTo>
                  <a:cubicBezTo>
                    <a:pt x="28430" y="0"/>
                    <a:pt x="0" y="28430"/>
                    <a:pt x="0" y="63500"/>
                  </a:cubicBezTo>
                  <a:cubicBezTo>
                    <a:pt x="0" y="98570"/>
                    <a:pt x="28430" y="127000"/>
                    <a:pt x="63500" y="127000"/>
                  </a:cubicBezTo>
                  <a:cubicBezTo>
                    <a:pt x="98570" y="127000"/>
                    <a:pt x="127000" y="98570"/>
                    <a:pt x="127000" y="63500"/>
                  </a:cubicBezTo>
                  <a:cubicBezTo>
                    <a:pt x="127000" y="28430"/>
                    <a:pt x="98570" y="0"/>
                    <a:pt x="63500" y="0"/>
                  </a:cubicBezTo>
                  <a:close/>
                </a:path>
              </a:pathLst>
            </a:custGeom>
            <a:solidFill>
              <a:srgbClr val="4A6FA5"/>
            </a:solidFill>
          </p:spPr>
        </p:sp>
        <p:sp>
          <p:nvSpPr>
            <p:cNvPr name="TextBox 38" id="38"/>
            <p:cNvSpPr txBox="true"/>
            <p:nvPr/>
          </p:nvSpPr>
          <p:spPr>
            <a:xfrm>
              <a:off x="0" y="-47625"/>
              <a:ext cx="127000" cy="174625"/>
            </a:xfrm>
            <a:prstGeom prst="rect">
              <a:avLst/>
            </a:prstGeom>
          </p:spPr>
          <p:txBody>
            <a:bodyPr anchor="ctr" rtlCol="false" tIns="50800" lIns="50800" bIns="50800" rIns="50800"/>
            <a:lstStyle/>
            <a:p>
              <a:pPr algn="l">
                <a:lnSpc>
                  <a:spcPts val="1959"/>
                </a:lnSpc>
              </a:pPr>
            </a:p>
          </p:txBody>
        </p:sp>
      </p:grpSp>
      <p:sp>
        <p:nvSpPr>
          <p:cNvPr name="AutoShape 39" id="39"/>
          <p:cNvSpPr/>
          <p:nvPr/>
        </p:nvSpPr>
        <p:spPr>
          <a:xfrm>
            <a:off x="1678520" y="2858485"/>
            <a:ext cx="2771597" cy="0"/>
          </a:xfrm>
          <a:prstGeom prst="line">
            <a:avLst/>
          </a:prstGeom>
          <a:ln cap="flat" w="19050">
            <a:solidFill>
              <a:srgbClr val="4A6FA5"/>
            </a:solidFill>
            <a:prstDash val="solid"/>
            <a:headEnd type="none" len="sm" w="sm"/>
            <a:tailEnd type="none" len="sm" w="sm"/>
          </a:ln>
        </p:spPr>
      </p:sp>
      <p:grpSp>
        <p:nvGrpSpPr>
          <p:cNvPr name="Group 40" id="40"/>
          <p:cNvGrpSpPr/>
          <p:nvPr/>
        </p:nvGrpSpPr>
        <p:grpSpPr>
          <a:xfrm rot="0">
            <a:off x="5218006" y="2714506"/>
            <a:ext cx="119983" cy="119983"/>
            <a:chOff x="0" y="0"/>
            <a:chExt cx="127000" cy="127000"/>
          </a:xfrm>
        </p:grpSpPr>
        <p:sp>
          <p:nvSpPr>
            <p:cNvPr name="Freeform 41" id="41"/>
            <p:cNvSpPr/>
            <p:nvPr/>
          </p:nvSpPr>
          <p:spPr>
            <a:xfrm flipH="false" flipV="false" rot="0">
              <a:off x="0" y="0"/>
              <a:ext cx="127000" cy="127000"/>
            </a:xfrm>
            <a:custGeom>
              <a:avLst/>
              <a:gdLst/>
              <a:ahLst/>
              <a:cxnLst/>
              <a:rect r="r" b="b" t="t" l="l"/>
              <a:pathLst>
                <a:path h="127000" w="127000">
                  <a:moveTo>
                    <a:pt x="63500" y="0"/>
                  </a:moveTo>
                  <a:cubicBezTo>
                    <a:pt x="28430" y="0"/>
                    <a:pt x="0" y="28430"/>
                    <a:pt x="0" y="63500"/>
                  </a:cubicBezTo>
                  <a:cubicBezTo>
                    <a:pt x="0" y="98570"/>
                    <a:pt x="28430" y="127000"/>
                    <a:pt x="63500" y="127000"/>
                  </a:cubicBezTo>
                  <a:cubicBezTo>
                    <a:pt x="98570" y="127000"/>
                    <a:pt x="127000" y="98570"/>
                    <a:pt x="127000" y="63500"/>
                  </a:cubicBezTo>
                  <a:cubicBezTo>
                    <a:pt x="127000" y="28430"/>
                    <a:pt x="98570" y="0"/>
                    <a:pt x="63500" y="0"/>
                  </a:cubicBezTo>
                  <a:close/>
                </a:path>
              </a:pathLst>
            </a:custGeom>
            <a:solidFill>
              <a:srgbClr val="1B2A4A"/>
            </a:solidFill>
          </p:spPr>
        </p:sp>
        <p:sp>
          <p:nvSpPr>
            <p:cNvPr name="TextBox 42" id="42"/>
            <p:cNvSpPr txBox="true"/>
            <p:nvPr/>
          </p:nvSpPr>
          <p:spPr>
            <a:xfrm>
              <a:off x="0" y="-47625"/>
              <a:ext cx="127000" cy="174625"/>
            </a:xfrm>
            <a:prstGeom prst="rect">
              <a:avLst/>
            </a:prstGeom>
          </p:spPr>
          <p:txBody>
            <a:bodyPr anchor="ctr" rtlCol="false" tIns="50800" lIns="50800" bIns="50800" rIns="50800"/>
            <a:lstStyle/>
            <a:p>
              <a:pPr algn="l">
                <a:lnSpc>
                  <a:spcPts val="1959"/>
                </a:lnSpc>
              </a:pPr>
            </a:p>
          </p:txBody>
        </p:sp>
      </p:grpSp>
      <p:sp>
        <p:nvSpPr>
          <p:cNvPr name="AutoShape 43" id="43"/>
          <p:cNvSpPr/>
          <p:nvPr/>
        </p:nvSpPr>
        <p:spPr>
          <a:xfrm>
            <a:off x="1678520" y="2774497"/>
            <a:ext cx="3599477" cy="0"/>
          </a:xfrm>
          <a:prstGeom prst="line">
            <a:avLst/>
          </a:prstGeom>
          <a:ln cap="flat" w="19050">
            <a:solidFill>
              <a:srgbClr val="1B2A4A"/>
            </a:solidFill>
            <a:prstDash val="solid"/>
            <a:headEnd type="none" len="sm" w="sm"/>
            <a:tailEnd type="none" len="sm" w="sm"/>
          </a:ln>
        </p:spPr>
      </p:sp>
      <p:sp>
        <p:nvSpPr>
          <p:cNvPr name="TextBox 44" id="44"/>
          <p:cNvSpPr txBox="true"/>
          <p:nvPr/>
        </p:nvSpPr>
        <p:spPr>
          <a:xfrm rot="0">
            <a:off x="3778215" y="2525192"/>
            <a:ext cx="419939" cy="139610"/>
          </a:xfrm>
          <a:prstGeom prst="rect">
            <a:avLst/>
          </a:prstGeom>
        </p:spPr>
        <p:txBody>
          <a:bodyPr anchor="t" rtlCol="false" tIns="0" lIns="0" bIns="0" rIns="0">
            <a:spAutoFit/>
          </a:bodyPr>
          <a:lstStyle/>
          <a:p>
            <a:pPr algn="l" marL="0" indent="0" lvl="0">
              <a:lnSpc>
                <a:spcPts val="1172"/>
              </a:lnSpc>
              <a:spcBef>
                <a:spcPct val="0"/>
              </a:spcBef>
            </a:pPr>
            <a:r>
              <a:rPr lang="en-US" b="true" sz="837" strike="noStrike" u="none">
                <a:solidFill>
                  <a:srgbClr val="6B3FA0"/>
                </a:solidFill>
                <a:latin typeface="프리텐다드 Bold"/>
                <a:ea typeface="프리텐다드 Bold"/>
                <a:cs typeface="프리텐다드 Bold"/>
                <a:sym typeface="프리텐다드 Bold"/>
              </a:rPr>
              <a:t>1.46*</a:t>
            </a:r>
          </a:p>
        </p:txBody>
      </p:sp>
      <p:grpSp>
        <p:nvGrpSpPr>
          <p:cNvPr name="Group 45" id="45"/>
          <p:cNvGrpSpPr/>
          <p:nvPr/>
        </p:nvGrpSpPr>
        <p:grpSpPr>
          <a:xfrm rot="0">
            <a:off x="3610240" y="2546530"/>
            <a:ext cx="119983" cy="119983"/>
            <a:chOff x="0" y="0"/>
            <a:chExt cx="127000" cy="127000"/>
          </a:xfrm>
        </p:grpSpPr>
        <p:sp>
          <p:nvSpPr>
            <p:cNvPr name="Freeform 46" id="46"/>
            <p:cNvSpPr/>
            <p:nvPr/>
          </p:nvSpPr>
          <p:spPr>
            <a:xfrm flipH="false" flipV="false" rot="0">
              <a:off x="0" y="0"/>
              <a:ext cx="127000" cy="127000"/>
            </a:xfrm>
            <a:custGeom>
              <a:avLst/>
              <a:gdLst/>
              <a:ahLst/>
              <a:cxnLst/>
              <a:rect r="r" b="b" t="t" l="l"/>
              <a:pathLst>
                <a:path h="127000" w="127000">
                  <a:moveTo>
                    <a:pt x="63500" y="0"/>
                  </a:moveTo>
                  <a:cubicBezTo>
                    <a:pt x="28430" y="0"/>
                    <a:pt x="0" y="28430"/>
                    <a:pt x="0" y="63500"/>
                  </a:cubicBezTo>
                  <a:cubicBezTo>
                    <a:pt x="0" y="98570"/>
                    <a:pt x="28430" y="127000"/>
                    <a:pt x="63500" y="127000"/>
                  </a:cubicBezTo>
                  <a:cubicBezTo>
                    <a:pt x="98570" y="127000"/>
                    <a:pt x="127000" y="98570"/>
                    <a:pt x="127000" y="63500"/>
                  </a:cubicBezTo>
                  <a:cubicBezTo>
                    <a:pt x="127000" y="28430"/>
                    <a:pt x="98570" y="0"/>
                    <a:pt x="63500" y="0"/>
                  </a:cubicBezTo>
                  <a:close/>
                </a:path>
              </a:pathLst>
            </a:custGeom>
            <a:solidFill>
              <a:srgbClr val="6B3FA0"/>
            </a:solidFill>
          </p:spPr>
        </p:sp>
        <p:sp>
          <p:nvSpPr>
            <p:cNvPr name="TextBox 47" id="47"/>
            <p:cNvSpPr txBox="true"/>
            <p:nvPr/>
          </p:nvSpPr>
          <p:spPr>
            <a:xfrm>
              <a:off x="0" y="-47625"/>
              <a:ext cx="127000" cy="174625"/>
            </a:xfrm>
            <a:prstGeom prst="rect">
              <a:avLst/>
            </a:prstGeom>
          </p:spPr>
          <p:txBody>
            <a:bodyPr anchor="ctr" rtlCol="false" tIns="50800" lIns="50800" bIns="50800" rIns="50800"/>
            <a:lstStyle/>
            <a:p>
              <a:pPr algn="l">
                <a:lnSpc>
                  <a:spcPts val="1959"/>
                </a:lnSpc>
              </a:pPr>
            </a:p>
          </p:txBody>
        </p:sp>
      </p:grpSp>
      <p:sp>
        <p:nvSpPr>
          <p:cNvPr name="AutoShape 48" id="48"/>
          <p:cNvSpPr/>
          <p:nvPr/>
        </p:nvSpPr>
        <p:spPr>
          <a:xfrm>
            <a:off x="1678520" y="2606521"/>
            <a:ext cx="1991711" cy="0"/>
          </a:xfrm>
          <a:prstGeom prst="line">
            <a:avLst/>
          </a:prstGeom>
          <a:ln cap="flat" w="19050">
            <a:solidFill>
              <a:srgbClr val="6B3FA0"/>
            </a:solidFill>
            <a:prstDash val="solid"/>
            <a:headEnd type="none" len="sm" w="sm"/>
            <a:tailEnd type="none" len="sm" w="sm"/>
          </a:ln>
        </p:spPr>
      </p:sp>
      <p:sp>
        <p:nvSpPr>
          <p:cNvPr name="TextBox 49" id="49"/>
          <p:cNvSpPr txBox="true"/>
          <p:nvPr/>
        </p:nvSpPr>
        <p:spPr>
          <a:xfrm rot="0">
            <a:off x="4522107" y="2441204"/>
            <a:ext cx="419939" cy="139610"/>
          </a:xfrm>
          <a:prstGeom prst="rect">
            <a:avLst/>
          </a:prstGeom>
        </p:spPr>
        <p:txBody>
          <a:bodyPr anchor="t" rtlCol="false" tIns="0" lIns="0" bIns="0" rIns="0">
            <a:spAutoFit/>
          </a:bodyPr>
          <a:lstStyle/>
          <a:p>
            <a:pPr algn="l" marL="0" indent="0" lvl="0">
              <a:lnSpc>
                <a:spcPts val="1172"/>
              </a:lnSpc>
              <a:spcBef>
                <a:spcPct val="0"/>
              </a:spcBef>
            </a:pPr>
            <a:r>
              <a:rPr lang="en-US" b="true" sz="837" strike="noStrike" u="none">
                <a:solidFill>
                  <a:srgbClr val="4A6FA5"/>
                </a:solidFill>
                <a:latin typeface="프리텐다드 Bold"/>
                <a:ea typeface="프리텐다드 Bold"/>
                <a:cs typeface="프리텐다드 Bold"/>
                <a:sym typeface="프리텐다드 Bold"/>
              </a:rPr>
              <a:t>1.63*</a:t>
            </a:r>
          </a:p>
        </p:txBody>
      </p:sp>
      <p:grpSp>
        <p:nvGrpSpPr>
          <p:cNvPr name="Group 50" id="50"/>
          <p:cNvGrpSpPr/>
          <p:nvPr/>
        </p:nvGrpSpPr>
        <p:grpSpPr>
          <a:xfrm rot="0">
            <a:off x="4354132" y="2462542"/>
            <a:ext cx="119983" cy="119983"/>
            <a:chOff x="0" y="0"/>
            <a:chExt cx="127000" cy="127000"/>
          </a:xfrm>
        </p:grpSpPr>
        <p:sp>
          <p:nvSpPr>
            <p:cNvPr name="Freeform 51" id="51"/>
            <p:cNvSpPr/>
            <p:nvPr/>
          </p:nvSpPr>
          <p:spPr>
            <a:xfrm flipH="false" flipV="false" rot="0">
              <a:off x="0" y="0"/>
              <a:ext cx="127000" cy="127000"/>
            </a:xfrm>
            <a:custGeom>
              <a:avLst/>
              <a:gdLst/>
              <a:ahLst/>
              <a:cxnLst/>
              <a:rect r="r" b="b" t="t" l="l"/>
              <a:pathLst>
                <a:path h="127000" w="127000">
                  <a:moveTo>
                    <a:pt x="63500" y="0"/>
                  </a:moveTo>
                  <a:cubicBezTo>
                    <a:pt x="28430" y="0"/>
                    <a:pt x="0" y="28430"/>
                    <a:pt x="0" y="63500"/>
                  </a:cubicBezTo>
                  <a:cubicBezTo>
                    <a:pt x="0" y="98570"/>
                    <a:pt x="28430" y="127000"/>
                    <a:pt x="63500" y="127000"/>
                  </a:cubicBezTo>
                  <a:cubicBezTo>
                    <a:pt x="98570" y="127000"/>
                    <a:pt x="127000" y="98570"/>
                    <a:pt x="127000" y="63500"/>
                  </a:cubicBezTo>
                  <a:cubicBezTo>
                    <a:pt x="127000" y="28430"/>
                    <a:pt x="98570" y="0"/>
                    <a:pt x="63500" y="0"/>
                  </a:cubicBezTo>
                  <a:close/>
                </a:path>
              </a:pathLst>
            </a:custGeom>
            <a:solidFill>
              <a:srgbClr val="4A6FA5"/>
            </a:solidFill>
          </p:spPr>
        </p:sp>
        <p:sp>
          <p:nvSpPr>
            <p:cNvPr name="TextBox 52" id="52"/>
            <p:cNvSpPr txBox="true"/>
            <p:nvPr/>
          </p:nvSpPr>
          <p:spPr>
            <a:xfrm>
              <a:off x="0" y="-47625"/>
              <a:ext cx="127000" cy="174625"/>
            </a:xfrm>
            <a:prstGeom prst="rect">
              <a:avLst/>
            </a:prstGeom>
          </p:spPr>
          <p:txBody>
            <a:bodyPr anchor="ctr" rtlCol="false" tIns="50800" lIns="50800" bIns="50800" rIns="50800"/>
            <a:lstStyle/>
            <a:p>
              <a:pPr algn="l">
                <a:lnSpc>
                  <a:spcPts val="1959"/>
                </a:lnSpc>
              </a:pPr>
            </a:p>
          </p:txBody>
        </p:sp>
      </p:grpSp>
      <p:sp>
        <p:nvSpPr>
          <p:cNvPr name="AutoShape 53" id="53"/>
          <p:cNvSpPr/>
          <p:nvPr/>
        </p:nvSpPr>
        <p:spPr>
          <a:xfrm>
            <a:off x="1678520" y="2522533"/>
            <a:ext cx="2735603" cy="0"/>
          </a:xfrm>
          <a:prstGeom prst="line">
            <a:avLst/>
          </a:prstGeom>
          <a:ln cap="flat" w="19050">
            <a:solidFill>
              <a:srgbClr val="4A6FA5"/>
            </a:solidFill>
            <a:prstDash val="solid"/>
            <a:headEnd type="none" len="sm" w="sm"/>
            <a:tailEnd type="none" len="sm" w="sm"/>
          </a:ln>
        </p:spPr>
      </p:sp>
      <p:sp>
        <p:nvSpPr>
          <p:cNvPr name="TextBox 54" id="54"/>
          <p:cNvSpPr txBox="true"/>
          <p:nvPr/>
        </p:nvSpPr>
        <p:spPr>
          <a:xfrm rot="0">
            <a:off x="3958189" y="2357216"/>
            <a:ext cx="419939" cy="139610"/>
          </a:xfrm>
          <a:prstGeom prst="rect">
            <a:avLst/>
          </a:prstGeom>
        </p:spPr>
        <p:txBody>
          <a:bodyPr anchor="t" rtlCol="false" tIns="0" lIns="0" bIns="0" rIns="0">
            <a:spAutoFit/>
          </a:bodyPr>
          <a:lstStyle/>
          <a:p>
            <a:pPr algn="l" marL="0" indent="0" lvl="0">
              <a:lnSpc>
                <a:spcPts val="1172"/>
              </a:lnSpc>
              <a:spcBef>
                <a:spcPct val="0"/>
              </a:spcBef>
            </a:pPr>
            <a:r>
              <a:rPr lang="en-US" b="true" sz="837" strike="noStrike" u="none">
                <a:solidFill>
                  <a:srgbClr val="1B2A4A"/>
                </a:solidFill>
                <a:latin typeface="프리텐다드 Bold"/>
                <a:ea typeface="프리텐다드 Bold"/>
                <a:cs typeface="프리텐다드 Bold"/>
                <a:sym typeface="프리텐다드 Bold"/>
              </a:rPr>
              <a:t>1.50*</a:t>
            </a:r>
          </a:p>
        </p:txBody>
      </p:sp>
      <p:sp>
        <p:nvSpPr>
          <p:cNvPr name="AutoShape 55" id="55"/>
          <p:cNvSpPr/>
          <p:nvPr/>
        </p:nvSpPr>
        <p:spPr>
          <a:xfrm>
            <a:off x="1678520" y="2438546"/>
            <a:ext cx="2171685" cy="0"/>
          </a:xfrm>
          <a:prstGeom prst="line">
            <a:avLst/>
          </a:prstGeom>
          <a:ln cap="flat" w="19050">
            <a:solidFill>
              <a:srgbClr val="1B2A4A"/>
            </a:solidFill>
            <a:prstDash val="solid"/>
            <a:headEnd type="none" len="sm" w="sm"/>
            <a:tailEnd type="none" len="sm" w="sm"/>
          </a:ln>
        </p:spPr>
      </p:sp>
      <p:sp>
        <p:nvSpPr>
          <p:cNvPr name="TextBox 56" id="56"/>
          <p:cNvSpPr txBox="true"/>
          <p:nvPr/>
        </p:nvSpPr>
        <p:spPr>
          <a:xfrm rot="0">
            <a:off x="6513818" y="2189240"/>
            <a:ext cx="419939" cy="139610"/>
          </a:xfrm>
          <a:prstGeom prst="rect">
            <a:avLst/>
          </a:prstGeom>
        </p:spPr>
        <p:txBody>
          <a:bodyPr anchor="t" rtlCol="false" tIns="0" lIns="0" bIns="0" rIns="0">
            <a:spAutoFit/>
          </a:bodyPr>
          <a:lstStyle/>
          <a:p>
            <a:pPr algn="l" marL="0" indent="0" lvl="0">
              <a:lnSpc>
                <a:spcPts val="1172"/>
              </a:lnSpc>
              <a:spcBef>
                <a:spcPct val="0"/>
              </a:spcBef>
            </a:pPr>
            <a:r>
              <a:rPr lang="en-US" b="true" sz="837" strike="noStrike" u="none">
                <a:solidFill>
                  <a:srgbClr val="6B3FA0"/>
                </a:solidFill>
                <a:latin typeface="프리텐다드 Bold"/>
                <a:ea typeface="프리텐다드 Bold"/>
                <a:cs typeface="프리텐다드 Bold"/>
                <a:sym typeface="프리텐다드 Bold"/>
              </a:rPr>
              <a:t>2.09*</a:t>
            </a:r>
          </a:p>
        </p:txBody>
      </p:sp>
      <p:grpSp>
        <p:nvGrpSpPr>
          <p:cNvPr name="Group 57" id="57"/>
          <p:cNvGrpSpPr/>
          <p:nvPr/>
        </p:nvGrpSpPr>
        <p:grpSpPr>
          <a:xfrm rot="0">
            <a:off x="6345843" y="2210579"/>
            <a:ext cx="119983" cy="119983"/>
            <a:chOff x="0" y="0"/>
            <a:chExt cx="127000" cy="127000"/>
          </a:xfrm>
        </p:grpSpPr>
        <p:sp>
          <p:nvSpPr>
            <p:cNvPr name="Freeform 58" id="58"/>
            <p:cNvSpPr/>
            <p:nvPr/>
          </p:nvSpPr>
          <p:spPr>
            <a:xfrm flipH="false" flipV="false" rot="0">
              <a:off x="0" y="0"/>
              <a:ext cx="127000" cy="127000"/>
            </a:xfrm>
            <a:custGeom>
              <a:avLst/>
              <a:gdLst/>
              <a:ahLst/>
              <a:cxnLst/>
              <a:rect r="r" b="b" t="t" l="l"/>
              <a:pathLst>
                <a:path h="127000" w="127000">
                  <a:moveTo>
                    <a:pt x="63500" y="0"/>
                  </a:moveTo>
                  <a:cubicBezTo>
                    <a:pt x="28430" y="0"/>
                    <a:pt x="0" y="28430"/>
                    <a:pt x="0" y="63500"/>
                  </a:cubicBezTo>
                  <a:cubicBezTo>
                    <a:pt x="0" y="98570"/>
                    <a:pt x="28430" y="127000"/>
                    <a:pt x="63500" y="127000"/>
                  </a:cubicBezTo>
                  <a:cubicBezTo>
                    <a:pt x="98570" y="127000"/>
                    <a:pt x="127000" y="98570"/>
                    <a:pt x="127000" y="63500"/>
                  </a:cubicBezTo>
                  <a:cubicBezTo>
                    <a:pt x="127000" y="28430"/>
                    <a:pt x="98570" y="0"/>
                    <a:pt x="63500" y="0"/>
                  </a:cubicBezTo>
                  <a:close/>
                </a:path>
              </a:pathLst>
            </a:custGeom>
            <a:solidFill>
              <a:srgbClr val="6B3FA0"/>
            </a:solidFill>
          </p:spPr>
        </p:sp>
        <p:sp>
          <p:nvSpPr>
            <p:cNvPr name="TextBox 59" id="59"/>
            <p:cNvSpPr txBox="true"/>
            <p:nvPr/>
          </p:nvSpPr>
          <p:spPr>
            <a:xfrm>
              <a:off x="0" y="-47625"/>
              <a:ext cx="127000" cy="174625"/>
            </a:xfrm>
            <a:prstGeom prst="rect">
              <a:avLst/>
            </a:prstGeom>
          </p:spPr>
          <p:txBody>
            <a:bodyPr anchor="ctr" rtlCol="false" tIns="50800" lIns="50800" bIns="50800" rIns="50800"/>
            <a:lstStyle/>
            <a:p>
              <a:pPr algn="l">
                <a:lnSpc>
                  <a:spcPts val="1959"/>
                </a:lnSpc>
              </a:pPr>
            </a:p>
          </p:txBody>
        </p:sp>
      </p:grpSp>
      <p:sp>
        <p:nvSpPr>
          <p:cNvPr name="AutoShape 60" id="60"/>
          <p:cNvSpPr/>
          <p:nvPr/>
        </p:nvSpPr>
        <p:spPr>
          <a:xfrm>
            <a:off x="1678520" y="2270570"/>
            <a:ext cx="4727313" cy="0"/>
          </a:xfrm>
          <a:prstGeom prst="line">
            <a:avLst/>
          </a:prstGeom>
          <a:ln cap="flat" w="19050">
            <a:solidFill>
              <a:srgbClr val="6B3FA0"/>
            </a:solidFill>
            <a:prstDash val="solid"/>
            <a:headEnd type="none" len="sm" w="sm"/>
            <a:tailEnd type="none" len="sm" w="sm"/>
          </a:ln>
        </p:spPr>
      </p:sp>
      <p:sp>
        <p:nvSpPr>
          <p:cNvPr name="TextBox 61" id="61"/>
          <p:cNvSpPr txBox="true"/>
          <p:nvPr/>
        </p:nvSpPr>
        <p:spPr>
          <a:xfrm rot="0">
            <a:off x="6345843" y="2105253"/>
            <a:ext cx="419939" cy="139610"/>
          </a:xfrm>
          <a:prstGeom prst="rect">
            <a:avLst/>
          </a:prstGeom>
        </p:spPr>
        <p:txBody>
          <a:bodyPr anchor="t" rtlCol="false" tIns="0" lIns="0" bIns="0" rIns="0">
            <a:spAutoFit/>
          </a:bodyPr>
          <a:lstStyle/>
          <a:p>
            <a:pPr algn="l" marL="0" indent="0" lvl="0">
              <a:lnSpc>
                <a:spcPts val="1172"/>
              </a:lnSpc>
              <a:spcBef>
                <a:spcPct val="0"/>
              </a:spcBef>
            </a:pPr>
            <a:r>
              <a:rPr lang="en-US" b="true" sz="837" strike="noStrike" u="none">
                <a:solidFill>
                  <a:srgbClr val="4A6FA5"/>
                </a:solidFill>
                <a:latin typeface="프리텐다드 Bold"/>
                <a:ea typeface="프리텐다드 Bold"/>
                <a:cs typeface="프리텐다드 Bold"/>
                <a:sym typeface="프리텐다드 Bold"/>
              </a:rPr>
              <a:t>2.05*</a:t>
            </a:r>
          </a:p>
        </p:txBody>
      </p:sp>
      <p:grpSp>
        <p:nvGrpSpPr>
          <p:cNvPr name="Group 62" id="62"/>
          <p:cNvGrpSpPr/>
          <p:nvPr/>
        </p:nvGrpSpPr>
        <p:grpSpPr>
          <a:xfrm rot="0">
            <a:off x="6177867" y="2126591"/>
            <a:ext cx="119983" cy="119983"/>
            <a:chOff x="0" y="0"/>
            <a:chExt cx="127000" cy="127000"/>
          </a:xfrm>
        </p:grpSpPr>
        <p:sp>
          <p:nvSpPr>
            <p:cNvPr name="Freeform 63" id="63"/>
            <p:cNvSpPr/>
            <p:nvPr/>
          </p:nvSpPr>
          <p:spPr>
            <a:xfrm flipH="false" flipV="false" rot="0">
              <a:off x="0" y="0"/>
              <a:ext cx="127000" cy="127000"/>
            </a:xfrm>
            <a:custGeom>
              <a:avLst/>
              <a:gdLst/>
              <a:ahLst/>
              <a:cxnLst/>
              <a:rect r="r" b="b" t="t" l="l"/>
              <a:pathLst>
                <a:path h="127000" w="127000">
                  <a:moveTo>
                    <a:pt x="63500" y="0"/>
                  </a:moveTo>
                  <a:cubicBezTo>
                    <a:pt x="28430" y="0"/>
                    <a:pt x="0" y="28430"/>
                    <a:pt x="0" y="63500"/>
                  </a:cubicBezTo>
                  <a:cubicBezTo>
                    <a:pt x="0" y="98570"/>
                    <a:pt x="28430" y="127000"/>
                    <a:pt x="63500" y="127000"/>
                  </a:cubicBezTo>
                  <a:cubicBezTo>
                    <a:pt x="98570" y="127000"/>
                    <a:pt x="127000" y="98570"/>
                    <a:pt x="127000" y="63500"/>
                  </a:cubicBezTo>
                  <a:cubicBezTo>
                    <a:pt x="127000" y="28430"/>
                    <a:pt x="98570" y="0"/>
                    <a:pt x="63500" y="0"/>
                  </a:cubicBezTo>
                  <a:close/>
                </a:path>
              </a:pathLst>
            </a:custGeom>
            <a:solidFill>
              <a:srgbClr val="4A6FA5"/>
            </a:solidFill>
          </p:spPr>
        </p:sp>
        <p:sp>
          <p:nvSpPr>
            <p:cNvPr name="TextBox 64" id="64"/>
            <p:cNvSpPr txBox="true"/>
            <p:nvPr/>
          </p:nvSpPr>
          <p:spPr>
            <a:xfrm>
              <a:off x="0" y="-47625"/>
              <a:ext cx="127000" cy="174625"/>
            </a:xfrm>
            <a:prstGeom prst="rect">
              <a:avLst/>
            </a:prstGeom>
          </p:spPr>
          <p:txBody>
            <a:bodyPr anchor="ctr" rtlCol="false" tIns="50800" lIns="50800" bIns="50800" rIns="50800"/>
            <a:lstStyle/>
            <a:p>
              <a:pPr algn="l">
                <a:lnSpc>
                  <a:spcPts val="1959"/>
                </a:lnSpc>
              </a:pPr>
            </a:p>
          </p:txBody>
        </p:sp>
      </p:grpSp>
      <p:sp>
        <p:nvSpPr>
          <p:cNvPr name="AutoShape 65" id="65"/>
          <p:cNvSpPr/>
          <p:nvPr/>
        </p:nvSpPr>
        <p:spPr>
          <a:xfrm>
            <a:off x="1678520" y="2186582"/>
            <a:ext cx="4559338" cy="0"/>
          </a:xfrm>
          <a:prstGeom prst="line">
            <a:avLst/>
          </a:prstGeom>
          <a:ln cap="flat" w="19050">
            <a:solidFill>
              <a:srgbClr val="4A6FA5"/>
            </a:solidFill>
            <a:prstDash val="solid"/>
            <a:headEnd type="none" len="sm" w="sm"/>
            <a:tailEnd type="none" len="sm" w="sm"/>
          </a:ln>
        </p:spPr>
      </p:sp>
      <p:sp>
        <p:nvSpPr>
          <p:cNvPr name="TextBox 66" id="66"/>
          <p:cNvSpPr txBox="true"/>
          <p:nvPr/>
        </p:nvSpPr>
        <p:spPr>
          <a:xfrm rot="0">
            <a:off x="7605660" y="2021265"/>
            <a:ext cx="419939" cy="139610"/>
          </a:xfrm>
          <a:prstGeom prst="rect">
            <a:avLst/>
          </a:prstGeom>
        </p:spPr>
        <p:txBody>
          <a:bodyPr anchor="t" rtlCol="false" tIns="0" lIns="0" bIns="0" rIns="0">
            <a:spAutoFit/>
          </a:bodyPr>
          <a:lstStyle/>
          <a:p>
            <a:pPr algn="l" marL="0" indent="0" lvl="0">
              <a:lnSpc>
                <a:spcPts val="1172"/>
              </a:lnSpc>
              <a:spcBef>
                <a:spcPct val="0"/>
              </a:spcBef>
            </a:pPr>
            <a:r>
              <a:rPr lang="en-US" b="true" sz="837" strike="noStrike" u="none">
                <a:solidFill>
                  <a:srgbClr val="1B2A4A"/>
                </a:solidFill>
                <a:latin typeface="프리텐다드 Bold"/>
                <a:ea typeface="프리텐다드 Bold"/>
                <a:cs typeface="프리텐다드 Bold"/>
                <a:sym typeface="프리텐다드 Bold"/>
              </a:rPr>
              <a:t>2.34*</a:t>
            </a:r>
          </a:p>
        </p:txBody>
      </p:sp>
      <p:grpSp>
        <p:nvGrpSpPr>
          <p:cNvPr name="Group 67" id="67"/>
          <p:cNvGrpSpPr/>
          <p:nvPr/>
        </p:nvGrpSpPr>
        <p:grpSpPr>
          <a:xfrm rot="0">
            <a:off x="7437684" y="2042603"/>
            <a:ext cx="119983" cy="119983"/>
            <a:chOff x="0" y="0"/>
            <a:chExt cx="127000" cy="127000"/>
          </a:xfrm>
        </p:grpSpPr>
        <p:sp>
          <p:nvSpPr>
            <p:cNvPr name="Freeform 68" id="68"/>
            <p:cNvSpPr/>
            <p:nvPr/>
          </p:nvSpPr>
          <p:spPr>
            <a:xfrm flipH="false" flipV="false" rot="0">
              <a:off x="0" y="0"/>
              <a:ext cx="127000" cy="127000"/>
            </a:xfrm>
            <a:custGeom>
              <a:avLst/>
              <a:gdLst/>
              <a:ahLst/>
              <a:cxnLst/>
              <a:rect r="r" b="b" t="t" l="l"/>
              <a:pathLst>
                <a:path h="127000" w="127000">
                  <a:moveTo>
                    <a:pt x="63500" y="0"/>
                  </a:moveTo>
                  <a:cubicBezTo>
                    <a:pt x="28430" y="0"/>
                    <a:pt x="0" y="28430"/>
                    <a:pt x="0" y="63500"/>
                  </a:cubicBezTo>
                  <a:cubicBezTo>
                    <a:pt x="0" y="98570"/>
                    <a:pt x="28430" y="127000"/>
                    <a:pt x="63500" y="127000"/>
                  </a:cubicBezTo>
                  <a:cubicBezTo>
                    <a:pt x="98570" y="127000"/>
                    <a:pt x="127000" y="98570"/>
                    <a:pt x="127000" y="63500"/>
                  </a:cubicBezTo>
                  <a:cubicBezTo>
                    <a:pt x="127000" y="28430"/>
                    <a:pt x="98570" y="0"/>
                    <a:pt x="63500" y="0"/>
                  </a:cubicBezTo>
                  <a:close/>
                </a:path>
              </a:pathLst>
            </a:custGeom>
            <a:solidFill>
              <a:srgbClr val="1B2A4A"/>
            </a:solidFill>
          </p:spPr>
        </p:sp>
        <p:sp>
          <p:nvSpPr>
            <p:cNvPr name="TextBox 69" id="69"/>
            <p:cNvSpPr txBox="true"/>
            <p:nvPr/>
          </p:nvSpPr>
          <p:spPr>
            <a:xfrm>
              <a:off x="0" y="-47625"/>
              <a:ext cx="127000" cy="174625"/>
            </a:xfrm>
            <a:prstGeom prst="rect">
              <a:avLst/>
            </a:prstGeom>
          </p:spPr>
          <p:txBody>
            <a:bodyPr anchor="ctr" rtlCol="false" tIns="50800" lIns="50800" bIns="50800" rIns="50800"/>
            <a:lstStyle/>
            <a:p>
              <a:pPr algn="l">
                <a:lnSpc>
                  <a:spcPts val="1959"/>
                </a:lnSpc>
              </a:pPr>
            </a:p>
          </p:txBody>
        </p:sp>
      </p:grpSp>
      <p:grpSp>
        <p:nvGrpSpPr>
          <p:cNvPr name="Group 70" id="70"/>
          <p:cNvGrpSpPr/>
          <p:nvPr/>
        </p:nvGrpSpPr>
        <p:grpSpPr>
          <a:xfrm rot="0">
            <a:off x="17007840" y="9857232"/>
            <a:ext cx="914400" cy="274320"/>
            <a:chOff x="0" y="0"/>
            <a:chExt cx="1219200" cy="365760"/>
          </a:xfrm>
        </p:grpSpPr>
        <p:sp>
          <p:nvSpPr>
            <p:cNvPr name="Freeform 71" id="71"/>
            <p:cNvSpPr/>
            <p:nvPr/>
          </p:nvSpPr>
          <p:spPr>
            <a:xfrm flipH="false" flipV="false" rot="0">
              <a:off x="0" y="0"/>
              <a:ext cx="1219200" cy="365760"/>
            </a:xfrm>
            <a:custGeom>
              <a:avLst/>
              <a:gdLst/>
              <a:ahLst/>
              <a:cxnLst/>
              <a:rect r="r" b="b" t="t" l="l"/>
              <a:pathLst>
                <a:path h="365760" w="1219200">
                  <a:moveTo>
                    <a:pt x="0" y="0"/>
                  </a:moveTo>
                  <a:lnTo>
                    <a:pt x="1219200" y="0"/>
                  </a:lnTo>
                  <a:lnTo>
                    <a:pt x="1219200" y="365760"/>
                  </a:lnTo>
                  <a:lnTo>
                    <a:pt x="0" y="365760"/>
                  </a:lnTo>
                  <a:close/>
                </a:path>
              </a:pathLst>
            </a:custGeom>
            <a:blipFill>
              <a:blip r:embed="rId2">
                <a:alphaModFix amt="0"/>
              </a:blip>
              <a:stretch>
                <a:fillRect l="0" t="-14950" r="0" b="-14950"/>
              </a:stretch>
            </a:blipFill>
          </p:spPr>
        </p:sp>
        <p:sp>
          <p:nvSpPr>
            <p:cNvPr name="TextBox 72" id="72"/>
            <p:cNvSpPr txBox="true"/>
            <p:nvPr/>
          </p:nvSpPr>
          <p:spPr>
            <a:xfrm>
              <a:off x="0" y="-9525"/>
              <a:ext cx="1219200" cy="375285"/>
            </a:xfrm>
            <a:prstGeom prst="rect">
              <a:avLst/>
            </a:prstGeom>
          </p:spPr>
          <p:txBody>
            <a:bodyPr anchor="ctr" rtlCol="false" tIns="0" lIns="0" bIns="0" rIns="0"/>
            <a:lstStyle/>
            <a:p>
              <a:pPr algn="r">
                <a:lnSpc>
                  <a:spcPts val="1320"/>
                </a:lnSpc>
              </a:pPr>
              <a:r>
                <a:rPr lang="en-US" sz="1100">
                  <a:solidFill>
                    <a:srgbClr val="64748B"/>
                  </a:solidFill>
                  <a:latin typeface="Playfair Display"/>
                  <a:ea typeface="Playfair Display"/>
                  <a:cs typeface="Playfair Display"/>
                  <a:sym typeface="Playfair Display"/>
                </a:rPr>
                <a:t>8 / 10</a:t>
              </a:r>
            </a:p>
          </p:txBody>
        </p:sp>
      </p:grpSp>
      <p:sp>
        <p:nvSpPr>
          <p:cNvPr name="TextBox 73" id="73"/>
          <p:cNvSpPr txBox="true"/>
          <p:nvPr/>
        </p:nvSpPr>
        <p:spPr>
          <a:xfrm rot="0">
            <a:off x="2932923" y="7846655"/>
            <a:ext cx="4947759" cy="197458"/>
          </a:xfrm>
          <a:prstGeom prst="rect">
            <a:avLst/>
          </a:prstGeom>
        </p:spPr>
        <p:txBody>
          <a:bodyPr anchor="t" rtlCol="false" tIns="0" lIns="0" bIns="0" rIns="0">
            <a:spAutoFit/>
          </a:bodyPr>
          <a:lstStyle/>
          <a:p>
            <a:pPr algn="ctr" marL="0" indent="0" lvl="0">
              <a:lnSpc>
                <a:spcPts val="1599"/>
              </a:lnSpc>
              <a:spcBef>
                <a:spcPct val="0"/>
              </a:spcBef>
            </a:pPr>
            <a:r>
              <a:rPr lang="en-US" b="true" sz="1142" strike="noStrike" u="none">
                <a:solidFill>
                  <a:srgbClr val="1E293B"/>
                </a:solidFill>
                <a:latin typeface="프리텐다드 Bold"/>
                <a:ea typeface="프리텐다드 Bold"/>
                <a:cs typeface="프리텐다드 Bold"/>
                <a:sym typeface="프리텐다드 Bold"/>
              </a:rPr>
              <a:t>구조 통제 전·후 OR — 통제 후에도 유지</a:t>
            </a:r>
          </a:p>
        </p:txBody>
      </p:sp>
      <p:sp>
        <p:nvSpPr>
          <p:cNvPr name="TextBox 74" id="74"/>
          <p:cNvSpPr txBox="true"/>
          <p:nvPr/>
        </p:nvSpPr>
        <p:spPr>
          <a:xfrm rot="0">
            <a:off x="785596" y="8242476"/>
            <a:ext cx="1088507" cy="180306"/>
          </a:xfrm>
          <a:prstGeom prst="rect">
            <a:avLst/>
          </a:prstGeom>
        </p:spPr>
        <p:txBody>
          <a:bodyPr anchor="t" rtlCol="false" tIns="0" lIns="0" bIns="0" rIns="0">
            <a:spAutoFit/>
          </a:bodyPr>
          <a:lstStyle/>
          <a:p>
            <a:pPr algn="r" marL="0" indent="0" lvl="0">
              <a:lnSpc>
                <a:spcPts val="1454"/>
              </a:lnSpc>
              <a:spcBef>
                <a:spcPct val="0"/>
              </a:spcBef>
            </a:pPr>
            <a:r>
              <a:rPr lang="en-US" sz="1038" strike="noStrike" u="none">
                <a:solidFill>
                  <a:srgbClr val="1E293B"/>
                </a:solidFill>
                <a:latin typeface="프리텐다드"/>
                <a:ea typeface="프리텐다드"/>
                <a:cs typeface="프리텐다드"/>
                <a:sym typeface="프리텐다드"/>
              </a:rPr>
              <a:t>악성민원</a:t>
            </a:r>
          </a:p>
        </p:txBody>
      </p:sp>
      <p:sp>
        <p:nvSpPr>
          <p:cNvPr name="AutoShape 75" id="75"/>
          <p:cNvSpPr/>
          <p:nvPr/>
        </p:nvSpPr>
        <p:spPr>
          <a:xfrm>
            <a:off x="6940608" y="8350215"/>
            <a:ext cx="1652552" cy="0"/>
          </a:xfrm>
          <a:prstGeom prst="line">
            <a:avLst/>
          </a:prstGeom>
          <a:ln cap="flat" w="57150">
            <a:solidFill>
              <a:srgbClr val="D1D5DB"/>
            </a:solidFill>
            <a:prstDash val="solid"/>
            <a:headEnd type="none" len="sm" w="sm"/>
            <a:tailEnd type="none" len="sm" w="sm"/>
          </a:ln>
        </p:spPr>
      </p:sp>
      <p:grpSp>
        <p:nvGrpSpPr>
          <p:cNvPr name="Group 76" id="76"/>
          <p:cNvGrpSpPr/>
          <p:nvPr/>
        </p:nvGrpSpPr>
        <p:grpSpPr>
          <a:xfrm rot="0">
            <a:off x="6871339" y="8280946"/>
            <a:ext cx="138537" cy="138537"/>
            <a:chOff x="0" y="0"/>
            <a:chExt cx="177800" cy="177800"/>
          </a:xfrm>
        </p:grpSpPr>
        <p:sp>
          <p:nvSpPr>
            <p:cNvPr name="Freeform 77" id="77"/>
            <p:cNvSpPr/>
            <p:nvPr/>
          </p:nvSpPr>
          <p:spPr>
            <a:xfrm flipH="false" flipV="false" rot="0">
              <a:off x="0" y="0"/>
              <a:ext cx="177800" cy="177800"/>
            </a:xfrm>
            <a:custGeom>
              <a:avLst/>
              <a:gdLst/>
              <a:ahLst/>
              <a:cxnLst/>
              <a:rect r="r" b="b" t="t" l="l"/>
              <a:pathLst>
                <a:path h="177800" w="177800">
                  <a:moveTo>
                    <a:pt x="88900" y="0"/>
                  </a:moveTo>
                  <a:cubicBezTo>
                    <a:pt x="39802" y="0"/>
                    <a:pt x="0" y="39802"/>
                    <a:pt x="0" y="88900"/>
                  </a:cubicBezTo>
                  <a:cubicBezTo>
                    <a:pt x="0" y="137998"/>
                    <a:pt x="39802" y="177800"/>
                    <a:pt x="88900" y="177800"/>
                  </a:cubicBezTo>
                  <a:cubicBezTo>
                    <a:pt x="137998" y="177800"/>
                    <a:pt x="177800" y="137998"/>
                    <a:pt x="177800" y="88900"/>
                  </a:cubicBezTo>
                  <a:cubicBezTo>
                    <a:pt x="177800" y="39802"/>
                    <a:pt x="137998" y="0"/>
                    <a:pt x="88900" y="0"/>
                  </a:cubicBezTo>
                  <a:close/>
                </a:path>
              </a:pathLst>
            </a:custGeom>
            <a:solidFill>
              <a:srgbClr val="8B3A3A"/>
            </a:solidFill>
          </p:spPr>
        </p:sp>
        <p:sp>
          <p:nvSpPr>
            <p:cNvPr name="TextBox 78" id="78"/>
            <p:cNvSpPr txBox="true"/>
            <p:nvPr/>
          </p:nvSpPr>
          <p:spPr>
            <a:xfrm>
              <a:off x="0" y="-38100"/>
              <a:ext cx="177800" cy="215900"/>
            </a:xfrm>
            <a:prstGeom prst="rect">
              <a:avLst/>
            </a:prstGeom>
          </p:spPr>
          <p:txBody>
            <a:bodyPr anchor="ctr" rtlCol="false" tIns="50800" lIns="50800" bIns="50800" rIns="50800"/>
            <a:lstStyle/>
            <a:p>
              <a:pPr algn="l">
                <a:lnSpc>
                  <a:spcPts val="1679"/>
                </a:lnSpc>
              </a:pPr>
            </a:p>
          </p:txBody>
        </p:sp>
      </p:grpSp>
      <p:grpSp>
        <p:nvGrpSpPr>
          <p:cNvPr name="Group 79" id="79"/>
          <p:cNvGrpSpPr/>
          <p:nvPr/>
        </p:nvGrpSpPr>
        <p:grpSpPr>
          <a:xfrm rot="0">
            <a:off x="8523891" y="8280946"/>
            <a:ext cx="138537" cy="138537"/>
            <a:chOff x="0" y="0"/>
            <a:chExt cx="177800" cy="177800"/>
          </a:xfrm>
        </p:grpSpPr>
        <p:sp>
          <p:nvSpPr>
            <p:cNvPr name="Freeform 80" id="80"/>
            <p:cNvSpPr/>
            <p:nvPr/>
          </p:nvSpPr>
          <p:spPr>
            <a:xfrm flipH="false" flipV="false" rot="0">
              <a:off x="0" y="0"/>
              <a:ext cx="177800" cy="177800"/>
            </a:xfrm>
            <a:custGeom>
              <a:avLst/>
              <a:gdLst/>
              <a:ahLst/>
              <a:cxnLst/>
              <a:rect r="r" b="b" t="t" l="l"/>
              <a:pathLst>
                <a:path h="177800" w="177800">
                  <a:moveTo>
                    <a:pt x="88900" y="0"/>
                  </a:moveTo>
                  <a:cubicBezTo>
                    <a:pt x="39802" y="0"/>
                    <a:pt x="0" y="39802"/>
                    <a:pt x="0" y="88900"/>
                  </a:cubicBezTo>
                  <a:cubicBezTo>
                    <a:pt x="0" y="137998"/>
                    <a:pt x="39802" y="177800"/>
                    <a:pt x="88900" y="177800"/>
                  </a:cubicBezTo>
                  <a:cubicBezTo>
                    <a:pt x="137998" y="177800"/>
                    <a:pt x="177800" y="137998"/>
                    <a:pt x="177800" y="88900"/>
                  </a:cubicBezTo>
                  <a:cubicBezTo>
                    <a:pt x="177800" y="39802"/>
                    <a:pt x="137998" y="0"/>
                    <a:pt x="88900" y="0"/>
                  </a:cubicBezTo>
                  <a:close/>
                </a:path>
              </a:pathLst>
            </a:custGeom>
            <a:solidFill>
              <a:srgbClr val="94A3B8"/>
            </a:solidFill>
          </p:spPr>
        </p:sp>
        <p:sp>
          <p:nvSpPr>
            <p:cNvPr name="TextBox 81" id="81"/>
            <p:cNvSpPr txBox="true"/>
            <p:nvPr/>
          </p:nvSpPr>
          <p:spPr>
            <a:xfrm>
              <a:off x="0" y="-38100"/>
              <a:ext cx="177800" cy="215900"/>
            </a:xfrm>
            <a:prstGeom prst="rect">
              <a:avLst/>
            </a:prstGeom>
          </p:spPr>
          <p:txBody>
            <a:bodyPr anchor="ctr" rtlCol="false" tIns="50800" lIns="50800" bIns="50800" rIns="50800"/>
            <a:lstStyle/>
            <a:p>
              <a:pPr algn="l">
                <a:lnSpc>
                  <a:spcPts val="1679"/>
                </a:lnSpc>
              </a:pPr>
            </a:p>
          </p:txBody>
        </p:sp>
      </p:grpSp>
      <p:sp>
        <p:nvSpPr>
          <p:cNvPr name="TextBox 82" id="82"/>
          <p:cNvSpPr txBox="true"/>
          <p:nvPr/>
        </p:nvSpPr>
        <p:spPr>
          <a:xfrm rot="0">
            <a:off x="6742698" y="8093672"/>
            <a:ext cx="395821" cy="136477"/>
          </a:xfrm>
          <a:prstGeom prst="rect">
            <a:avLst/>
          </a:prstGeom>
        </p:spPr>
        <p:txBody>
          <a:bodyPr anchor="t" rtlCol="false" tIns="0" lIns="0" bIns="0" rIns="0">
            <a:spAutoFit/>
          </a:bodyPr>
          <a:lstStyle/>
          <a:p>
            <a:pPr algn="ctr" marL="0" indent="0" lvl="0">
              <a:lnSpc>
                <a:spcPts val="1163"/>
              </a:lnSpc>
              <a:spcBef>
                <a:spcPct val="0"/>
              </a:spcBef>
            </a:pPr>
            <a:r>
              <a:rPr lang="en-US" b="true" sz="831" strike="noStrike" u="none">
                <a:solidFill>
                  <a:srgbClr val="8B3A3A"/>
                </a:solidFill>
                <a:latin typeface="프리텐다드 Bold"/>
                <a:ea typeface="프리텐다드 Bold"/>
                <a:cs typeface="프리텐다드 Bold"/>
                <a:sym typeface="프리텐다드 Bold"/>
              </a:rPr>
              <a:t>2.12</a:t>
            </a:r>
          </a:p>
        </p:txBody>
      </p:sp>
      <p:sp>
        <p:nvSpPr>
          <p:cNvPr name="TextBox 83" id="83"/>
          <p:cNvSpPr txBox="true"/>
          <p:nvPr/>
        </p:nvSpPr>
        <p:spPr>
          <a:xfrm rot="0">
            <a:off x="8395249" y="8093672"/>
            <a:ext cx="395821" cy="136477"/>
          </a:xfrm>
          <a:prstGeom prst="rect">
            <a:avLst/>
          </a:prstGeom>
        </p:spPr>
        <p:txBody>
          <a:bodyPr anchor="t" rtlCol="false" tIns="0" lIns="0" bIns="0" rIns="0">
            <a:spAutoFit/>
          </a:bodyPr>
          <a:lstStyle/>
          <a:p>
            <a:pPr algn="ctr" marL="0" indent="0" lvl="0">
              <a:lnSpc>
                <a:spcPts val="1163"/>
              </a:lnSpc>
              <a:spcBef>
                <a:spcPct val="0"/>
              </a:spcBef>
            </a:pPr>
            <a:r>
              <a:rPr lang="en-US" b="true" sz="831" strike="noStrike" u="none">
                <a:solidFill>
                  <a:srgbClr val="94A3B8"/>
                </a:solidFill>
                <a:latin typeface="프리텐다드 Bold"/>
                <a:ea typeface="프리텐다드 Bold"/>
                <a:cs typeface="프리텐다드 Bold"/>
                <a:sym typeface="프리텐다드 Bold"/>
              </a:rPr>
              <a:t>2.49</a:t>
            </a:r>
          </a:p>
        </p:txBody>
      </p:sp>
      <p:sp>
        <p:nvSpPr>
          <p:cNvPr name="TextBox 84" id="84"/>
          <p:cNvSpPr txBox="true"/>
          <p:nvPr/>
        </p:nvSpPr>
        <p:spPr>
          <a:xfrm rot="0">
            <a:off x="785596" y="8677878"/>
            <a:ext cx="1088507" cy="180306"/>
          </a:xfrm>
          <a:prstGeom prst="rect">
            <a:avLst/>
          </a:prstGeom>
        </p:spPr>
        <p:txBody>
          <a:bodyPr anchor="t" rtlCol="false" tIns="0" lIns="0" bIns="0" rIns="0">
            <a:spAutoFit/>
          </a:bodyPr>
          <a:lstStyle/>
          <a:p>
            <a:pPr algn="r" marL="0" indent="0" lvl="0">
              <a:lnSpc>
                <a:spcPts val="1454"/>
              </a:lnSpc>
              <a:spcBef>
                <a:spcPct val="0"/>
              </a:spcBef>
            </a:pPr>
            <a:r>
              <a:rPr lang="en-US" sz="1038" strike="noStrike" u="none">
                <a:solidFill>
                  <a:srgbClr val="1E293B"/>
                </a:solidFill>
                <a:latin typeface="프리텐다드"/>
                <a:ea typeface="프리텐다드"/>
                <a:cs typeface="프리텐다드"/>
                <a:sym typeface="프리텐다드"/>
              </a:rPr>
              <a:t>수업방해</a:t>
            </a:r>
          </a:p>
        </p:txBody>
      </p:sp>
      <p:sp>
        <p:nvSpPr>
          <p:cNvPr name="AutoShape 85" id="85"/>
          <p:cNvSpPr/>
          <p:nvPr/>
        </p:nvSpPr>
        <p:spPr>
          <a:xfrm>
            <a:off x="4268818" y="8785618"/>
            <a:ext cx="851015" cy="0"/>
          </a:xfrm>
          <a:prstGeom prst="line">
            <a:avLst/>
          </a:prstGeom>
          <a:ln cap="flat" w="57150">
            <a:solidFill>
              <a:srgbClr val="D1D5DB"/>
            </a:solidFill>
            <a:prstDash val="solid"/>
            <a:headEnd type="none" len="sm" w="sm"/>
            <a:tailEnd type="none" len="sm" w="sm"/>
          </a:ln>
        </p:spPr>
      </p:sp>
      <p:grpSp>
        <p:nvGrpSpPr>
          <p:cNvPr name="Group 86" id="86"/>
          <p:cNvGrpSpPr/>
          <p:nvPr/>
        </p:nvGrpSpPr>
        <p:grpSpPr>
          <a:xfrm rot="0">
            <a:off x="4199549" y="8716349"/>
            <a:ext cx="138537" cy="138537"/>
            <a:chOff x="0" y="0"/>
            <a:chExt cx="177800" cy="177800"/>
          </a:xfrm>
        </p:grpSpPr>
        <p:sp>
          <p:nvSpPr>
            <p:cNvPr name="Freeform 87" id="87"/>
            <p:cNvSpPr/>
            <p:nvPr/>
          </p:nvSpPr>
          <p:spPr>
            <a:xfrm flipH="false" flipV="false" rot="0">
              <a:off x="0" y="0"/>
              <a:ext cx="177800" cy="177800"/>
            </a:xfrm>
            <a:custGeom>
              <a:avLst/>
              <a:gdLst/>
              <a:ahLst/>
              <a:cxnLst/>
              <a:rect r="r" b="b" t="t" l="l"/>
              <a:pathLst>
                <a:path h="177800" w="177800">
                  <a:moveTo>
                    <a:pt x="88900" y="0"/>
                  </a:moveTo>
                  <a:cubicBezTo>
                    <a:pt x="39802" y="0"/>
                    <a:pt x="0" y="39802"/>
                    <a:pt x="0" y="88900"/>
                  </a:cubicBezTo>
                  <a:cubicBezTo>
                    <a:pt x="0" y="137998"/>
                    <a:pt x="39802" y="177800"/>
                    <a:pt x="88900" y="177800"/>
                  </a:cubicBezTo>
                  <a:cubicBezTo>
                    <a:pt x="137998" y="177800"/>
                    <a:pt x="177800" y="137998"/>
                    <a:pt x="177800" y="88900"/>
                  </a:cubicBezTo>
                  <a:cubicBezTo>
                    <a:pt x="177800" y="39802"/>
                    <a:pt x="137998" y="0"/>
                    <a:pt x="88900" y="0"/>
                  </a:cubicBezTo>
                  <a:close/>
                </a:path>
              </a:pathLst>
            </a:custGeom>
            <a:solidFill>
              <a:srgbClr val="8B3A3A"/>
            </a:solidFill>
          </p:spPr>
        </p:sp>
        <p:sp>
          <p:nvSpPr>
            <p:cNvPr name="TextBox 88" id="88"/>
            <p:cNvSpPr txBox="true"/>
            <p:nvPr/>
          </p:nvSpPr>
          <p:spPr>
            <a:xfrm>
              <a:off x="0" y="-38100"/>
              <a:ext cx="177800" cy="215900"/>
            </a:xfrm>
            <a:prstGeom prst="rect">
              <a:avLst/>
            </a:prstGeom>
          </p:spPr>
          <p:txBody>
            <a:bodyPr anchor="ctr" rtlCol="false" tIns="50800" lIns="50800" bIns="50800" rIns="50800"/>
            <a:lstStyle/>
            <a:p>
              <a:pPr algn="l">
                <a:lnSpc>
                  <a:spcPts val="1679"/>
                </a:lnSpc>
              </a:pPr>
            </a:p>
          </p:txBody>
        </p:sp>
      </p:grpSp>
      <p:grpSp>
        <p:nvGrpSpPr>
          <p:cNvPr name="Group 89" id="89"/>
          <p:cNvGrpSpPr/>
          <p:nvPr/>
        </p:nvGrpSpPr>
        <p:grpSpPr>
          <a:xfrm rot="0">
            <a:off x="5050564" y="8716349"/>
            <a:ext cx="138537" cy="138537"/>
            <a:chOff x="0" y="0"/>
            <a:chExt cx="177800" cy="177800"/>
          </a:xfrm>
        </p:grpSpPr>
        <p:sp>
          <p:nvSpPr>
            <p:cNvPr name="Freeform 90" id="90"/>
            <p:cNvSpPr/>
            <p:nvPr/>
          </p:nvSpPr>
          <p:spPr>
            <a:xfrm flipH="false" flipV="false" rot="0">
              <a:off x="0" y="0"/>
              <a:ext cx="177800" cy="177800"/>
            </a:xfrm>
            <a:custGeom>
              <a:avLst/>
              <a:gdLst/>
              <a:ahLst/>
              <a:cxnLst/>
              <a:rect r="r" b="b" t="t" l="l"/>
              <a:pathLst>
                <a:path h="177800" w="177800">
                  <a:moveTo>
                    <a:pt x="88900" y="0"/>
                  </a:moveTo>
                  <a:cubicBezTo>
                    <a:pt x="39802" y="0"/>
                    <a:pt x="0" y="39802"/>
                    <a:pt x="0" y="88900"/>
                  </a:cubicBezTo>
                  <a:cubicBezTo>
                    <a:pt x="0" y="137998"/>
                    <a:pt x="39802" y="177800"/>
                    <a:pt x="88900" y="177800"/>
                  </a:cubicBezTo>
                  <a:cubicBezTo>
                    <a:pt x="137998" y="177800"/>
                    <a:pt x="177800" y="137998"/>
                    <a:pt x="177800" y="88900"/>
                  </a:cubicBezTo>
                  <a:cubicBezTo>
                    <a:pt x="177800" y="39802"/>
                    <a:pt x="137998" y="0"/>
                    <a:pt x="88900" y="0"/>
                  </a:cubicBezTo>
                  <a:close/>
                </a:path>
              </a:pathLst>
            </a:custGeom>
            <a:solidFill>
              <a:srgbClr val="94A3B8"/>
            </a:solidFill>
          </p:spPr>
        </p:sp>
        <p:sp>
          <p:nvSpPr>
            <p:cNvPr name="TextBox 91" id="91"/>
            <p:cNvSpPr txBox="true"/>
            <p:nvPr/>
          </p:nvSpPr>
          <p:spPr>
            <a:xfrm>
              <a:off x="0" y="-38100"/>
              <a:ext cx="177800" cy="215900"/>
            </a:xfrm>
            <a:prstGeom prst="rect">
              <a:avLst/>
            </a:prstGeom>
          </p:spPr>
          <p:txBody>
            <a:bodyPr anchor="ctr" rtlCol="false" tIns="50800" lIns="50800" bIns="50800" rIns="50800"/>
            <a:lstStyle/>
            <a:p>
              <a:pPr algn="l">
                <a:lnSpc>
                  <a:spcPts val="1679"/>
                </a:lnSpc>
              </a:pPr>
            </a:p>
          </p:txBody>
        </p:sp>
      </p:grpSp>
      <p:sp>
        <p:nvSpPr>
          <p:cNvPr name="TextBox 92" id="92"/>
          <p:cNvSpPr txBox="true"/>
          <p:nvPr/>
        </p:nvSpPr>
        <p:spPr>
          <a:xfrm rot="0">
            <a:off x="4070908" y="8529075"/>
            <a:ext cx="395821" cy="136477"/>
          </a:xfrm>
          <a:prstGeom prst="rect">
            <a:avLst/>
          </a:prstGeom>
        </p:spPr>
        <p:txBody>
          <a:bodyPr anchor="t" rtlCol="false" tIns="0" lIns="0" bIns="0" rIns="0">
            <a:spAutoFit/>
          </a:bodyPr>
          <a:lstStyle/>
          <a:p>
            <a:pPr algn="ctr" marL="0" indent="0" lvl="0">
              <a:lnSpc>
                <a:spcPts val="1163"/>
              </a:lnSpc>
              <a:spcBef>
                <a:spcPct val="0"/>
              </a:spcBef>
            </a:pPr>
            <a:r>
              <a:rPr lang="en-US" b="true" sz="831" strike="noStrike" u="none">
                <a:solidFill>
                  <a:srgbClr val="8B3A3A"/>
                </a:solidFill>
                <a:latin typeface="프리텐다드 Bold"/>
                <a:ea typeface="프리텐다드 Bold"/>
                <a:cs typeface="프리텐다드 Bold"/>
                <a:sym typeface="프리텐다드 Bold"/>
              </a:rPr>
              <a:t>1.52</a:t>
            </a:r>
          </a:p>
        </p:txBody>
      </p:sp>
      <p:sp>
        <p:nvSpPr>
          <p:cNvPr name="TextBox 93" id="93"/>
          <p:cNvSpPr txBox="true"/>
          <p:nvPr/>
        </p:nvSpPr>
        <p:spPr>
          <a:xfrm rot="0">
            <a:off x="4921922" y="8529075"/>
            <a:ext cx="395821" cy="136477"/>
          </a:xfrm>
          <a:prstGeom prst="rect">
            <a:avLst/>
          </a:prstGeom>
        </p:spPr>
        <p:txBody>
          <a:bodyPr anchor="t" rtlCol="false" tIns="0" lIns="0" bIns="0" rIns="0">
            <a:spAutoFit/>
          </a:bodyPr>
          <a:lstStyle/>
          <a:p>
            <a:pPr algn="ctr" marL="0" indent="0" lvl="0">
              <a:lnSpc>
                <a:spcPts val="1163"/>
              </a:lnSpc>
              <a:spcBef>
                <a:spcPct val="0"/>
              </a:spcBef>
            </a:pPr>
            <a:r>
              <a:rPr lang="en-US" b="true" sz="831" strike="noStrike" u="none">
                <a:solidFill>
                  <a:srgbClr val="94A3B8"/>
                </a:solidFill>
                <a:latin typeface="프리텐다드 Bold"/>
                <a:ea typeface="프리텐다드 Bold"/>
                <a:cs typeface="프리텐다드 Bold"/>
                <a:sym typeface="프리텐다드 Bold"/>
              </a:rPr>
              <a:t>1.71</a:t>
            </a:r>
          </a:p>
        </p:txBody>
      </p:sp>
      <p:sp>
        <p:nvSpPr>
          <p:cNvPr name="TextBox 94" id="94"/>
          <p:cNvSpPr txBox="true"/>
          <p:nvPr/>
        </p:nvSpPr>
        <p:spPr>
          <a:xfrm rot="0">
            <a:off x="785596" y="9113281"/>
            <a:ext cx="1088507" cy="180306"/>
          </a:xfrm>
          <a:prstGeom prst="rect">
            <a:avLst/>
          </a:prstGeom>
        </p:spPr>
        <p:txBody>
          <a:bodyPr anchor="t" rtlCol="false" tIns="0" lIns="0" bIns="0" rIns="0">
            <a:spAutoFit/>
          </a:bodyPr>
          <a:lstStyle/>
          <a:p>
            <a:pPr algn="r" marL="0" indent="0" lvl="0">
              <a:lnSpc>
                <a:spcPts val="1454"/>
              </a:lnSpc>
              <a:spcBef>
                <a:spcPct val="0"/>
              </a:spcBef>
            </a:pPr>
            <a:r>
              <a:rPr lang="en-US" sz="1038" strike="noStrike" u="none">
                <a:solidFill>
                  <a:srgbClr val="1E293B"/>
                </a:solidFill>
                <a:latin typeface="프리텐다드"/>
                <a:ea typeface="프리텐다드"/>
                <a:cs typeface="프리텐다드"/>
                <a:sym typeface="프리텐다드"/>
              </a:rPr>
              <a:t>아동학대</a:t>
            </a:r>
          </a:p>
        </p:txBody>
      </p:sp>
      <p:sp>
        <p:nvSpPr>
          <p:cNvPr name="AutoShape 95" id="95"/>
          <p:cNvSpPr/>
          <p:nvPr/>
        </p:nvSpPr>
        <p:spPr>
          <a:xfrm>
            <a:off x="5030773" y="9221020"/>
            <a:ext cx="1286417" cy="0"/>
          </a:xfrm>
          <a:prstGeom prst="line">
            <a:avLst/>
          </a:prstGeom>
          <a:ln cap="flat" w="57150">
            <a:solidFill>
              <a:srgbClr val="D1D5DB"/>
            </a:solidFill>
            <a:prstDash val="solid"/>
            <a:headEnd type="none" len="sm" w="sm"/>
            <a:tailEnd type="none" len="sm" w="sm"/>
          </a:ln>
        </p:spPr>
      </p:sp>
      <p:grpSp>
        <p:nvGrpSpPr>
          <p:cNvPr name="Group 96" id="96"/>
          <p:cNvGrpSpPr/>
          <p:nvPr/>
        </p:nvGrpSpPr>
        <p:grpSpPr>
          <a:xfrm rot="0">
            <a:off x="4961504" y="9151752"/>
            <a:ext cx="138537" cy="138537"/>
            <a:chOff x="0" y="0"/>
            <a:chExt cx="177800" cy="177800"/>
          </a:xfrm>
        </p:grpSpPr>
        <p:sp>
          <p:nvSpPr>
            <p:cNvPr name="Freeform 97" id="97"/>
            <p:cNvSpPr/>
            <p:nvPr/>
          </p:nvSpPr>
          <p:spPr>
            <a:xfrm flipH="false" flipV="false" rot="0">
              <a:off x="0" y="0"/>
              <a:ext cx="177800" cy="177800"/>
            </a:xfrm>
            <a:custGeom>
              <a:avLst/>
              <a:gdLst/>
              <a:ahLst/>
              <a:cxnLst/>
              <a:rect r="r" b="b" t="t" l="l"/>
              <a:pathLst>
                <a:path h="177800" w="177800">
                  <a:moveTo>
                    <a:pt x="88900" y="0"/>
                  </a:moveTo>
                  <a:cubicBezTo>
                    <a:pt x="39802" y="0"/>
                    <a:pt x="0" y="39802"/>
                    <a:pt x="0" y="88900"/>
                  </a:cubicBezTo>
                  <a:cubicBezTo>
                    <a:pt x="0" y="137998"/>
                    <a:pt x="39802" y="177800"/>
                    <a:pt x="88900" y="177800"/>
                  </a:cubicBezTo>
                  <a:cubicBezTo>
                    <a:pt x="137998" y="177800"/>
                    <a:pt x="177800" y="137998"/>
                    <a:pt x="177800" y="88900"/>
                  </a:cubicBezTo>
                  <a:cubicBezTo>
                    <a:pt x="177800" y="39802"/>
                    <a:pt x="137998" y="0"/>
                    <a:pt x="88900" y="0"/>
                  </a:cubicBezTo>
                  <a:close/>
                </a:path>
              </a:pathLst>
            </a:custGeom>
            <a:solidFill>
              <a:srgbClr val="8B3A3A"/>
            </a:solidFill>
          </p:spPr>
        </p:sp>
        <p:sp>
          <p:nvSpPr>
            <p:cNvPr name="TextBox 98" id="98"/>
            <p:cNvSpPr txBox="true"/>
            <p:nvPr/>
          </p:nvSpPr>
          <p:spPr>
            <a:xfrm>
              <a:off x="0" y="-38100"/>
              <a:ext cx="177800" cy="215900"/>
            </a:xfrm>
            <a:prstGeom prst="rect">
              <a:avLst/>
            </a:prstGeom>
          </p:spPr>
          <p:txBody>
            <a:bodyPr anchor="ctr" rtlCol="false" tIns="50800" lIns="50800" bIns="50800" rIns="50800"/>
            <a:lstStyle/>
            <a:p>
              <a:pPr algn="l">
                <a:lnSpc>
                  <a:spcPts val="1679"/>
                </a:lnSpc>
              </a:pPr>
            </a:p>
          </p:txBody>
        </p:sp>
      </p:grpSp>
      <p:grpSp>
        <p:nvGrpSpPr>
          <p:cNvPr name="Group 99" id="99"/>
          <p:cNvGrpSpPr/>
          <p:nvPr/>
        </p:nvGrpSpPr>
        <p:grpSpPr>
          <a:xfrm rot="0">
            <a:off x="6247922" y="9151752"/>
            <a:ext cx="138537" cy="138537"/>
            <a:chOff x="0" y="0"/>
            <a:chExt cx="177800" cy="177800"/>
          </a:xfrm>
        </p:grpSpPr>
        <p:sp>
          <p:nvSpPr>
            <p:cNvPr name="Freeform 100" id="100"/>
            <p:cNvSpPr/>
            <p:nvPr/>
          </p:nvSpPr>
          <p:spPr>
            <a:xfrm flipH="false" flipV="false" rot="0">
              <a:off x="0" y="0"/>
              <a:ext cx="177800" cy="177800"/>
            </a:xfrm>
            <a:custGeom>
              <a:avLst/>
              <a:gdLst/>
              <a:ahLst/>
              <a:cxnLst/>
              <a:rect r="r" b="b" t="t" l="l"/>
              <a:pathLst>
                <a:path h="177800" w="177800">
                  <a:moveTo>
                    <a:pt x="88900" y="0"/>
                  </a:moveTo>
                  <a:cubicBezTo>
                    <a:pt x="39802" y="0"/>
                    <a:pt x="0" y="39802"/>
                    <a:pt x="0" y="88900"/>
                  </a:cubicBezTo>
                  <a:cubicBezTo>
                    <a:pt x="0" y="137998"/>
                    <a:pt x="39802" y="177800"/>
                    <a:pt x="88900" y="177800"/>
                  </a:cubicBezTo>
                  <a:cubicBezTo>
                    <a:pt x="137998" y="177800"/>
                    <a:pt x="177800" y="137998"/>
                    <a:pt x="177800" y="88900"/>
                  </a:cubicBezTo>
                  <a:cubicBezTo>
                    <a:pt x="177800" y="39802"/>
                    <a:pt x="137998" y="0"/>
                    <a:pt x="88900" y="0"/>
                  </a:cubicBezTo>
                  <a:close/>
                </a:path>
              </a:pathLst>
            </a:custGeom>
            <a:solidFill>
              <a:srgbClr val="94A3B8"/>
            </a:solidFill>
          </p:spPr>
        </p:sp>
        <p:sp>
          <p:nvSpPr>
            <p:cNvPr name="TextBox 101" id="101"/>
            <p:cNvSpPr txBox="true"/>
            <p:nvPr/>
          </p:nvSpPr>
          <p:spPr>
            <a:xfrm>
              <a:off x="0" y="-38100"/>
              <a:ext cx="177800" cy="215900"/>
            </a:xfrm>
            <a:prstGeom prst="rect">
              <a:avLst/>
            </a:prstGeom>
          </p:spPr>
          <p:txBody>
            <a:bodyPr anchor="ctr" rtlCol="false" tIns="50800" lIns="50800" bIns="50800" rIns="50800"/>
            <a:lstStyle/>
            <a:p>
              <a:pPr algn="l">
                <a:lnSpc>
                  <a:spcPts val="1679"/>
                </a:lnSpc>
              </a:pPr>
            </a:p>
          </p:txBody>
        </p:sp>
      </p:grpSp>
      <p:sp>
        <p:nvSpPr>
          <p:cNvPr name="TextBox 102" id="102"/>
          <p:cNvSpPr txBox="true"/>
          <p:nvPr/>
        </p:nvSpPr>
        <p:spPr>
          <a:xfrm rot="0">
            <a:off x="4832863" y="8964478"/>
            <a:ext cx="395821" cy="136477"/>
          </a:xfrm>
          <a:prstGeom prst="rect">
            <a:avLst/>
          </a:prstGeom>
        </p:spPr>
        <p:txBody>
          <a:bodyPr anchor="t" rtlCol="false" tIns="0" lIns="0" bIns="0" rIns="0">
            <a:spAutoFit/>
          </a:bodyPr>
          <a:lstStyle/>
          <a:p>
            <a:pPr algn="ctr" marL="0" indent="0" lvl="0">
              <a:lnSpc>
                <a:spcPts val="1163"/>
              </a:lnSpc>
              <a:spcBef>
                <a:spcPct val="0"/>
              </a:spcBef>
            </a:pPr>
            <a:r>
              <a:rPr lang="en-US" b="true" sz="831" strike="noStrike" u="none">
                <a:solidFill>
                  <a:srgbClr val="8B3A3A"/>
                </a:solidFill>
                <a:latin typeface="프리텐다드 Bold"/>
                <a:ea typeface="프리텐다드 Bold"/>
                <a:cs typeface="프리텐다드 Bold"/>
                <a:sym typeface="프리텐다드 Bold"/>
              </a:rPr>
              <a:t>1.69</a:t>
            </a:r>
          </a:p>
        </p:txBody>
      </p:sp>
      <p:sp>
        <p:nvSpPr>
          <p:cNvPr name="TextBox 103" id="103"/>
          <p:cNvSpPr txBox="true"/>
          <p:nvPr/>
        </p:nvSpPr>
        <p:spPr>
          <a:xfrm rot="0">
            <a:off x="6119280" y="8964478"/>
            <a:ext cx="395821" cy="136477"/>
          </a:xfrm>
          <a:prstGeom prst="rect">
            <a:avLst/>
          </a:prstGeom>
        </p:spPr>
        <p:txBody>
          <a:bodyPr anchor="t" rtlCol="false" tIns="0" lIns="0" bIns="0" rIns="0">
            <a:spAutoFit/>
          </a:bodyPr>
          <a:lstStyle/>
          <a:p>
            <a:pPr algn="ctr" marL="0" indent="0" lvl="0">
              <a:lnSpc>
                <a:spcPts val="1163"/>
              </a:lnSpc>
              <a:spcBef>
                <a:spcPct val="0"/>
              </a:spcBef>
            </a:pPr>
            <a:r>
              <a:rPr lang="en-US" b="true" sz="831" strike="noStrike" u="none">
                <a:solidFill>
                  <a:srgbClr val="94A3B8"/>
                </a:solidFill>
                <a:latin typeface="프리텐다드 Bold"/>
                <a:ea typeface="프리텐다드 Bold"/>
                <a:cs typeface="프리텐다드 Bold"/>
                <a:sym typeface="프리텐다드 Bold"/>
              </a:rPr>
              <a:t>1.98</a:t>
            </a:r>
          </a:p>
        </p:txBody>
      </p:sp>
      <p:sp>
        <p:nvSpPr>
          <p:cNvPr name="AutoShape 104" id="104"/>
          <p:cNvSpPr/>
          <p:nvPr/>
        </p:nvSpPr>
        <p:spPr>
          <a:xfrm>
            <a:off x="1953267" y="9458513"/>
            <a:ext cx="7807564" cy="0"/>
          </a:xfrm>
          <a:prstGeom prst="line">
            <a:avLst/>
          </a:prstGeom>
          <a:ln cap="flat" w="9525">
            <a:solidFill>
              <a:srgbClr val="4A5568"/>
            </a:solidFill>
            <a:prstDash val="solid"/>
            <a:headEnd type="none" len="sm" w="sm"/>
            <a:tailEnd type="none" len="sm" w="sm"/>
          </a:ln>
        </p:spPr>
      </p:sp>
      <p:sp>
        <p:nvSpPr>
          <p:cNvPr name="AutoShape 105" id="105"/>
          <p:cNvSpPr/>
          <p:nvPr/>
        </p:nvSpPr>
        <p:spPr>
          <a:xfrm>
            <a:off x="1953267" y="8132513"/>
            <a:ext cx="0" cy="1325999"/>
          </a:xfrm>
          <a:prstGeom prst="line">
            <a:avLst/>
          </a:prstGeom>
          <a:ln cap="flat" w="9525">
            <a:solidFill>
              <a:srgbClr val="4A5568"/>
            </a:solidFill>
            <a:prstDash val="solid"/>
            <a:headEnd type="none" len="sm" w="sm"/>
            <a:tailEnd type="none" len="sm" w="sm"/>
          </a:ln>
        </p:spPr>
      </p:sp>
      <p:sp>
        <p:nvSpPr>
          <p:cNvPr name="AutoShape 106" id="106"/>
          <p:cNvSpPr/>
          <p:nvPr/>
        </p:nvSpPr>
        <p:spPr>
          <a:xfrm>
            <a:off x="1953267" y="8132513"/>
            <a:ext cx="0" cy="1325999"/>
          </a:xfrm>
          <a:prstGeom prst="line">
            <a:avLst/>
          </a:prstGeom>
          <a:ln cap="flat" w="9525">
            <a:solidFill>
              <a:srgbClr val="CBD5E1"/>
            </a:solidFill>
            <a:prstDash val="solid"/>
            <a:headEnd type="none" len="sm" w="sm"/>
            <a:tailEnd type="none" len="sm" w="sm"/>
          </a:ln>
        </p:spPr>
      </p:sp>
      <p:sp>
        <p:nvSpPr>
          <p:cNvPr name="AutoShape 107" id="107"/>
          <p:cNvSpPr/>
          <p:nvPr/>
        </p:nvSpPr>
        <p:spPr>
          <a:xfrm>
            <a:off x="1953267" y="9458513"/>
            <a:ext cx="0" cy="39582"/>
          </a:xfrm>
          <a:prstGeom prst="line">
            <a:avLst/>
          </a:prstGeom>
          <a:ln cap="flat" w="9525">
            <a:solidFill>
              <a:srgbClr val="4A5568"/>
            </a:solidFill>
            <a:prstDash val="solid"/>
            <a:headEnd type="none" len="sm" w="sm"/>
            <a:tailEnd type="none" len="sm" w="sm"/>
          </a:ln>
        </p:spPr>
      </p:sp>
      <p:sp>
        <p:nvSpPr>
          <p:cNvPr name="TextBox 108" id="108"/>
          <p:cNvSpPr txBox="true"/>
          <p:nvPr/>
        </p:nvSpPr>
        <p:spPr>
          <a:xfrm rot="0">
            <a:off x="1755356" y="9518627"/>
            <a:ext cx="395821" cy="137796"/>
          </a:xfrm>
          <a:prstGeom prst="rect">
            <a:avLst/>
          </a:prstGeom>
        </p:spPr>
        <p:txBody>
          <a:bodyPr anchor="t" rtlCol="false" tIns="0" lIns="0" bIns="0" rIns="0">
            <a:spAutoFit/>
          </a:bodyPr>
          <a:lstStyle/>
          <a:p>
            <a:pPr algn="ctr" marL="0" indent="0" lvl="0">
              <a:lnSpc>
                <a:spcPts val="1090"/>
              </a:lnSpc>
              <a:spcBef>
                <a:spcPct val="0"/>
              </a:spcBef>
            </a:pPr>
            <a:r>
              <a:rPr lang="en-US" sz="779" strike="noStrike" u="none">
                <a:solidFill>
                  <a:srgbClr val="94A3B8"/>
                </a:solidFill>
                <a:latin typeface="프리텐다드"/>
                <a:ea typeface="프리텐다드"/>
                <a:cs typeface="프리텐다드"/>
                <a:sym typeface="프리텐다드"/>
              </a:rPr>
              <a:t>1.00</a:t>
            </a:r>
          </a:p>
        </p:txBody>
      </p:sp>
      <p:sp>
        <p:nvSpPr>
          <p:cNvPr name="AutoShape 109" id="109"/>
          <p:cNvSpPr/>
          <p:nvPr/>
        </p:nvSpPr>
        <p:spPr>
          <a:xfrm>
            <a:off x="3061565" y="9458513"/>
            <a:ext cx="0" cy="39582"/>
          </a:xfrm>
          <a:prstGeom prst="line">
            <a:avLst/>
          </a:prstGeom>
          <a:ln cap="flat" w="9525">
            <a:solidFill>
              <a:srgbClr val="4A5568"/>
            </a:solidFill>
            <a:prstDash val="solid"/>
            <a:headEnd type="none" len="sm" w="sm"/>
            <a:tailEnd type="none" len="sm" w="sm"/>
          </a:ln>
        </p:spPr>
      </p:sp>
      <p:sp>
        <p:nvSpPr>
          <p:cNvPr name="TextBox 110" id="110"/>
          <p:cNvSpPr txBox="true"/>
          <p:nvPr/>
        </p:nvSpPr>
        <p:spPr>
          <a:xfrm rot="0">
            <a:off x="2863654" y="9518627"/>
            <a:ext cx="395821" cy="137796"/>
          </a:xfrm>
          <a:prstGeom prst="rect">
            <a:avLst/>
          </a:prstGeom>
        </p:spPr>
        <p:txBody>
          <a:bodyPr anchor="t" rtlCol="false" tIns="0" lIns="0" bIns="0" rIns="0">
            <a:spAutoFit/>
          </a:bodyPr>
          <a:lstStyle/>
          <a:p>
            <a:pPr algn="ctr" marL="0" indent="0" lvl="0">
              <a:lnSpc>
                <a:spcPts val="1090"/>
              </a:lnSpc>
              <a:spcBef>
                <a:spcPct val="0"/>
              </a:spcBef>
            </a:pPr>
            <a:r>
              <a:rPr lang="en-US" sz="779" strike="noStrike" u="none">
                <a:solidFill>
                  <a:srgbClr val="94A3B8"/>
                </a:solidFill>
                <a:latin typeface="프리텐다드"/>
                <a:ea typeface="프리텐다드"/>
                <a:cs typeface="프리텐다드"/>
                <a:sym typeface="프리텐다드"/>
              </a:rPr>
              <a:t>1.25</a:t>
            </a:r>
          </a:p>
        </p:txBody>
      </p:sp>
      <p:sp>
        <p:nvSpPr>
          <p:cNvPr name="AutoShape 111" id="111"/>
          <p:cNvSpPr/>
          <p:nvPr/>
        </p:nvSpPr>
        <p:spPr>
          <a:xfrm>
            <a:off x="4179758" y="9458513"/>
            <a:ext cx="0" cy="39582"/>
          </a:xfrm>
          <a:prstGeom prst="line">
            <a:avLst/>
          </a:prstGeom>
          <a:ln cap="flat" w="9525">
            <a:solidFill>
              <a:srgbClr val="4A5568"/>
            </a:solidFill>
            <a:prstDash val="solid"/>
            <a:headEnd type="none" len="sm" w="sm"/>
            <a:tailEnd type="none" len="sm" w="sm"/>
          </a:ln>
        </p:spPr>
      </p:sp>
      <p:sp>
        <p:nvSpPr>
          <p:cNvPr name="TextBox 112" id="112"/>
          <p:cNvSpPr txBox="true"/>
          <p:nvPr/>
        </p:nvSpPr>
        <p:spPr>
          <a:xfrm rot="0">
            <a:off x="3981848" y="9518627"/>
            <a:ext cx="395821" cy="137796"/>
          </a:xfrm>
          <a:prstGeom prst="rect">
            <a:avLst/>
          </a:prstGeom>
        </p:spPr>
        <p:txBody>
          <a:bodyPr anchor="t" rtlCol="false" tIns="0" lIns="0" bIns="0" rIns="0">
            <a:spAutoFit/>
          </a:bodyPr>
          <a:lstStyle/>
          <a:p>
            <a:pPr algn="ctr" marL="0" indent="0" lvl="0">
              <a:lnSpc>
                <a:spcPts val="1090"/>
              </a:lnSpc>
              <a:spcBef>
                <a:spcPct val="0"/>
              </a:spcBef>
            </a:pPr>
            <a:r>
              <a:rPr lang="en-US" sz="779" strike="noStrike" u="none">
                <a:solidFill>
                  <a:srgbClr val="94A3B8"/>
                </a:solidFill>
                <a:latin typeface="프리텐다드"/>
                <a:ea typeface="프리텐다드"/>
                <a:cs typeface="프리텐다드"/>
                <a:sym typeface="프리텐다드"/>
              </a:rPr>
              <a:t>1.50</a:t>
            </a:r>
          </a:p>
        </p:txBody>
      </p:sp>
      <p:sp>
        <p:nvSpPr>
          <p:cNvPr name="AutoShape 113" id="113"/>
          <p:cNvSpPr/>
          <p:nvPr/>
        </p:nvSpPr>
        <p:spPr>
          <a:xfrm>
            <a:off x="5297952" y="9458513"/>
            <a:ext cx="0" cy="39582"/>
          </a:xfrm>
          <a:prstGeom prst="line">
            <a:avLst/>
          </a:prstGeom>
          <a:ln cap="flat" w="9525">
            <a:solidFill>
              <a:srgbClr val="4A5568"/>
            </a:solidFill>
            <a:prstDash val="solid"/>
            <a:headEnd type="none" len="sm" w="sm"/>
            <a:tailEnd type="none" len="sm" w="sm"/>
          </a:ln>
        </p:spPr>
      </p:sp>
      <p:sp>
        <p:nvSpPr>
          <p:cNvPr name="TextBox 114" id="114"/>
          <p:cNvSpPr txBox="true"/>
          <p:nvPr/>
        </p:nvSpPr>
        <p:spPr>
          <a:xfrm rot="0">
            <a:off x="5100042" y="9518627"/>
            <a:ext cx="395821" cy="137796"/>
          </a:xfrm>
          <a:prstGeom prst="rect">
            <a:avLst/>
          </a:prstGeom>
        </p:spPr>
        <p:txBody>
          <a:bodyPr anchor="t" rtlCol="false" tIns="0" lIns="0" bIns="0" rIns="0">
            <a:spAutoFit/>
          </a:bodyPr>
          <a:lstStyle/>
          <a:p>
            <a:pPr algn="ctr" marL="0" indent="0" lvl="0">
              <a:lnSpc>
                <a:spcPts val="1090"/>
              </a:lnSpc>
              <a:spcBef>
                <a:spcPct val="0"/>
              </a:spcBef>
            </a:pPr>
            <a:r>
              <a:rPr lang="en-US" sz="779" strike="noStrike" u="none">
                <a:solidFill>
                  <a:srgbClr val="94A3B8"/>
                </a:solidFill>
                <a:latin typeface="프리텐다드"/>
                <a:ea typeface="프리텐다드"/>
                <a:cs typeface="프리텐다드"/>
                <a:sym typeface="프리텐다드"/>
              </a:rPr>
              <a:t>1.75</a:t>
            </a:r>
          </a:p>
        </p:txBody>
      </p:sp>
      <p:sp>
        <p:nvSpPr>
          <p:cNvPr name="AutoShape 115" id="115"/>
          <p:cNvSpPr/>
          <p:nvPr/>
        </p:nvSpPr>
        <p:spPr>
          <a:xfrm>
            <a:off x="6406250" y="9458513"/>
            <a:ext cx="0" cy="39582"/>
          </a:xfrm>
          <a:prstGeom prst="line">
            <a:avLst/>
          </a:prstGeom>
          <a:ln cap="flat" w="9525">
            <a:solidFill>
              <a:srgbClr val="4A5568"/>
            </a:solidFill>
            <a:prstDash val="solid"/>
            <a:headEnd type="none" len="sm" w="sm"/>
            <a:tailEnd type="none" len="sm" w="sm"/>
          </a:ln>
        </p:spPr>
      </p:sp>
      <p:sp>
        <p:nvSpPr>
          <p:cNvPr name="TextBox 116" id="116"/>
          <p:cNvSpPr txBox="true"/>
          <p:nvPr/>
        </p:nvSpPr>
        <p:spPr>
          <a:xfrm rot="0">
            <a:off x="6208340" y="9518627"/>
            <a:ext cx="395821" cy="137796"/>
          </a:xfrm>
          <a:prstGeom prst="rect">
            <a:avLst/>
          </a:prstGeom>
        </p:spPr>
        <p:txBody>
          <a:bodyPr anchor="t" rtlCol="false" tIns="0" lIns="0" bIns="0" rIns="0">
            <a:spAutoFit/>
          </a:bodyPr>
          <a:lstStyle/>
          <a:p>
            <a:pPr algn="ctr" marL="0" indent="0" lvl="0">
              <a:lnSpc>
                <a:spcPts val="1090"/>
              </a:lnSpc>
              <a:spcBef>
                <a:spcPct val="0"/>
              </a:spcBef>
            </a:pPr>
            <a:r>
              <a:rPr lang="en-US" sz="779" strike="noStrike" u="none">
                <a:solidFill>
                  <a:srgbClr val="94A3B8"/>
                </a:solidFill>
                <a:latin typeface="프리텐다드"/>
                <a:ea typeface="프리텐다드"/>
                <a:cs typeface="프리텐다드"/>
                <a:sym typeface="프리텐다드"/>
              </a:rPr>
              <a:t>2.00</a:t>
            </a:r>
          </a:p>
        </p:txBody>
      </p:sp>
      <p:sp>
        <p:nvSpPr>
          <p:cNvPr name="AutoShape 117" id="117"/>
          <p:cNvSpPr/>
          <p:nvPr/>
        </p:nvSpPr>
        <p:spPr>
          <a:xfrm>
            <a:off x="7524444" y="9458513"/>
            <a:ext cx="0" cy="39582"/>
          </a:xfrm>
          <a:prstGeom prst="line">
            <a:avLst/>
          </a:prstGeom>
          <a:ln cap="flat" w="9525">
            <a:solidFill>
              <a:srgbClr val="4A5568"/>
            </a:solidFill>
            <a:prstDash val="solid"/>
            <a:headEnd type="none" len="sm" w="sm"/>
            <a:tailEnd type="none" len="sm" w="sm"/>
          </a:ln>
        </p:spPr>
      </p:sp>
      <p:sp>
        <p:nvSpPr>
          <p:cNvPr name="TextBox 118" id="118"/>
          <p:cNvSpPr txBox="true"/>
          <p:nvPr/>
        </p:nvSpPr>
        <p:spPr>
          <a:xfrm rot="0">
            <a:off x="7326533" y="9518627"/>
            <a:ext cx="395821" cy="137796"/>
          </a:xfrm>
          <a:prstGeom prst="rect">
            <a:avLst/>
          </a:prstGeom>
        </p:spPr>
        <p:txBody>
          <a:bodyPr anchor="t" rtlCol="false" tIns="0" lIns="0" bIns="0" rIns="0">
            <a:spAutoFit/>
          </a:bodyPr>
          <a:lstStyle/>
          <a:p>
            <a:pPr algn="ctr" marL="0" indent="0" lvl="0">
              <a:lnSpc>
                <a:spcPts val="1090"/>
              </a:lnSpc>
              <a:spcBef>
                <a:spcPct val="0"/>
              </a:spcBef>
            </a:pPr>
            <a:r>
              <a:rPr lang="en-US" sz="779" strike="noStrike" u="none">
                <a:solidFill>
                  <a:srgbClr val="94A3B8"/>
                </a:solidFill>
                <a:latin typeface="프리텐다드"/>
                <a:ea typeface="프리텐다드"/>
                <a:cs typeface="프리텐다드"/>
                <a:sym typeface="프리텐다드"/>
              </a:rPr>
              <a:t>2.25</a:t>
            </a:r>
          </a:p>
        </p:txBody>
      </p:sp>
      <p:sp>
        <p:nvSpPr>
          <p:cNvPr name="AutoShape 119" id="119"/>
          <p:cNvSpPr/>
          <p:nvPr/>
        </p:nvSpPr>
        <p:spPr>
          <a:xfrm>
            <a:off x="8642637" y="9458513"/>
            <a:ext cx="0" cy="39582"/>
          </a:xfrm>
          <a:prstGeom prst="line">
            <a:avLst/>
          </a:prstGeom>
          <a:ln cap="flat" w="9525">
            <a:solidFill>
              <a:srgbClr val="4A5568"/>
            </a:solidFill>
            <a:prstDash val="solid"/>
            <a:headEnd type="none" len="sm" w="sm"/>
            <a:tailEnd type="none" len="sm" w="sm"/>
          </a:ln>
        </p:spPr>
      </p:sp>
      <p:sp>
        <p:nvSpPr>
          <p:cNvPr name="TextBox 120" id="120"/>
          <p:cNvSpPr txBox="true"/>
          <p:nvPr/>
        </p:nvSpPr>
        <p:spPr>
          <a:xfrm rot="0">
            <a:off x="8444727" y="9518627"/>
            <a:ext cx="395821" cy="137796"/>
          </a:xfrm>
          <a:prstGeom prst="rect">
            <a:avLst/>
          </a:prstGeom>
        </p:spPr>
        <p:txBody>
          <a:bodyPr anchor="t" rtlCol="false" tIns="0" lIns="0" bIns="0" rIns="0">
            <a:spAutoFit/>
          </a:bodyPr>
          <a:lstStyle/>
          <a:p>
            <a:pPr algn="ctr" marL="0" indent="0" lvl="0">
              <a:lnSpc>
                <a:spcPts val="1090"/>
              </a:lnSpc>
              <a:spcBef>
                <a:spcPct val="0"/>
              </a:spcBef>
            </a:pPr>
            <a:r>
              <a:rPr lang="en-US" sz="779" strike="noStrike" u="none">
                <a:solidFill>
                  <a:srgbClr val="94A3B8"/>
                </a:solidFill>
                <a:latin typeface="프리텐다드"/>
                <a:ea typeface="프리텐다드"/>
                <a:cs typeface="프리텐다드"/>
                <a:sym typeface="프리텐다드"/>
              </a:rPr>
              <a:t>2.50</a:t>
            </a:r>
          </a:p>
        </p:txBody>
      </p:sp>
      <p:sp>
        <p:nvSpPr>
          <p:cNvPr name="AutoShape 121" id="121"/>
          <p:cNvSpPr/>
          <p:nvPr/>
        </p:nvSpPr>
        <p:spPr>
          <a:xfrm>
            <a:off x="9760831" y="9458513"/>
            <a:ext cx="0" cy="39582"/>
          </a:xfrm>
          <a:prstGeom prst="line">
            <a:avLst/>
          </a:prstGeom>
          <a:ln cap="flat" w="9525">
            <a:solidFill>
              <a:srgbClr val="4A5568"/>
            </a:solidFill>
            <a:prstDash val="solid"/>
            <a:headEnd type="none" len="sm" w="sm"/>
            <a:tailEnd type="none" len="sm" w="sm"/>
          </a:ln>
        </p:spPr>
      </p:sp>
      <p:sp>
        <p:nvSpPr>
          <p:cNvPr name="TextBox 122" id="122"/>
          <p:cNvSpPr txBox="true"/>
          <p:nvPr/>
        </p:nvSpPr>
        <p:spPr>
          <a:xfrm rot="0">
            <a:off x="9562920" y="9518627"/>
            <a:ext cx="395821" cy="137796"/>
          </a:xfrm>
          <a:prstGeom prst="rect">
            <a:avLst/>
          </a:prstGeom>
        </p:spPr>
        <p:txBody>
          <a:bodyPr anchor="t" rtlCol="false" tIns="0" lIns="0" bIns="0" rIns="0">
            <a:spAutoFit/>
          </a:bodyPr>
          <a:lstStyle/>
          <a:p>
            <a:pPr algn="ctr" marL="0" indent="0" lvl="0">
              <a:lnSpc>
                <a:spcPts val="1090"/>
              </a:lnSpc>
              <a:spcBef>
                <a:spcPct val="0"/>
              </a:spcBef>
            </a:pPr>
            <a:r>
              <a:rPr lang="en-US" sz="779" strike="noStrike" u="none">
                <a:solidFill>
                  <a:srgbClr val="94A3B8"/>
                </a:solidFill>
                <a:latin typeface="프리텐다드"/>
                <a:ea typeface="프리텐다드"/>
                <a:cs typeface="프리텐다드"/>
                <a:sym typeface="프리텐다드"/>
              </a:rPr>
              <a:t>2.75</a:t>
            </a:r>
          </a:p>
        </p:txBody>
      </p:sp>
      <p:sp>
        <p:nvSpPr>
          <p:cNvPr name="TextBox 123" id="123"/>
          <p:cNvSpPr txBox="true"/>
          <p:nvPr/>
        </p:nvSpPr>
        <p:spPr>
          <a:xfrm rot="0">
            <a:off x="4862549" y="9657164"/>
            <a:ext cx="1979104" cy="145053"/>
          </a:xfrm>
          <a:prstGeom prst="rect">
            <a:avLst/>
          </a:prstGeom>
        </p:spPr>
        <p:txBody>
          <a:bodyPr anchor="t" rtlCol="false" tIns="0" lIns="0" bIns="0" rIns="0">
            <a:spAutoFit/>
          </a:bodyPr>
          <a:lstStyle/>
          <a:p>
            <a:pPr algn="ctr" marL="0" indent="0" lvl="0">
              <a:lnSpc>
                <a:spcPts val="1236"/>
              </a:lnSpc>
              <a:spcBef>
                <a:spcPct val="0"/>
              </a:spcBef>
            </a:pPr>
            <a:r>
              <a:rPr lang="en-US" sz="883" strike="noStrike" u="none">
                <a:solidFill>
                  <a:srgbClr val="64748B"/>
                </a:solidFill>
                <a:latin typeface="프리텐다드"/>
                <a:ea typeface="프리텐다드"/>
                <a:cs typeface="프리텐다드"/>
                <a:sym typeface="프리텐다드"/>
              </a:rPr>
              <a:t>오즈비 (OR)</a:t>
            </a:r>
          </a:p>
        </p:txBody>
      </p:sp>
      <p:grpSp>
        <p:nvGrpSpPr>
          <p:cNvPr name="Group 124" id="124"/>
          <p:cNvGrpSpPr/>
          <p:nvPr/>
        </p:nvGrpSpPr>
        <p:grpSpPr>
          <a:xfrm rot="0">
            <a:off x="9207052" y="9128332"/>
            <a:ext cx="98955" cy="98955"/>
            <a:chOff x="0" y="0"/>
            <a:chExt cx="127000" cy="127000"/>
          </a:xfrm>
        </p:grpSpPr>
        <p:sp>
          <p:nvSpPr>
            <p:cNvPr name="Freeform 125" id="125"/>
            <p:cNvSpPr/>
            <p:nvPr/>
          </p:nvSpPr>
          <p:spPr>
            <a:xfrm flipH="false" flipV="false" rot="0">
              <a:off x="0" y="0"/>
              <a:ext cx="127000" cy="127000"/>
            </a:xfrm>
            <a:custGeom>
              <a:avLst/>
              <a:gdLst/>
              <a:ahLst/>
              <a:cxnLst/>
              <a:rect r="r" b="b" t="t" l="l"/>
              <a:pathLst>
                <a:path h="127000" w="127000">
                  <a:moveTo>
                    <a:pt x="63500" y="0"/>
                  </a:moveTo>
                  <a:cubicBezTo>
                    <a:pt x="28430" y="0"/>
                    <a:pt x="0" y="28430"/>
                    <a:pt x="0" y="63500"/>
                  </a:cubicBezTo>
                  <a:cubicBezTo>
                    <a:pt x="0" y="98570"/>
                    <a:pt x="28430" y="127000"/>
                    <a:pt x="63500" y="127000"/>
                  </a:cubicBezTo>
                  <a:cubicBezTo>
                    <a:pt x="98570" y="127000"/>
                    <a:pt x="127000" y="98570"/>
                    <a:pt x="127000" y="63500"/>
                  </a:cubicBezTo>
                  <a:cubicBezTo>
                    <a:pt x="127000" y="28430"/>
                    <a:pt x="98570" y="0"/>
                    <a:pt x="63500" y="0"/>
                  </a:cubicBezTo>
                  <a:close/>
                </a:path>
              </a:pathLst>
            </a:custGeom>
            <a:solidFill>
              <a:srgbClr val="94A3B8"/>
            </a:solidFill>
          </p:spPr>
        </p:sp>
        <p:sp>
          <p:nvSpPr>
            <p:cNvPr name="TextBox 126" id="126"/>
            <p:cNvSpPr txBox="true"/>
            <p:nvPr/>
          </p:nvSpPr>
          <p:spPr>
            <a:xfrm>
              <a:off x="0" y="-38100"/>
              <a:ext cx="127000" cy="165100"/>
            </a:xfrm>
            <a:prstGeom prst="rect">
              <a:avLst/>
            </a:prstGeom>
          </p:spPr>
          <p:txBody>
            <a:bodyPr anchor="ctr" rtlCol="false" tIns="50800" lIns="50800" bIns="50800" rIns="50800"/>
            <a:lstStyle/>
            <a:p>
              <a:pPr algn="l">
                <a:lnSpc>
                  <a:spcPts val="1679"/>
                </a:lnSpc>
              </a:pPr>
            </a:p>
          </p:txBody>
        </p:sp>
      </p:grpSp>
      <p:sp>
        <p:nvSpPr>
          <p:cNvPr name="TextBox 127" id="127"/>
          <p:cNvSpPr txBox="true"/>
          <p:nvPr/>
        </p:nvSpPr>
        <p:spPr>
          <a:xfrm rot="0">
            <a:off x="9345589" y="9099387"/>
            <a:ext cx="494776" cy="136477"/>
          </a:xfrm>
          <a:prstGeom prst="rect">
            <a:avLst/>
          </a:prstGeom>
        </p:spPr>
        <p:txBody>
          <a:bodyPr anchor="t" rtlCol="false" tIns="0" lIns="0" bIns="0" rIns="0">
            <a:spAutoFit/>
          </a:bodyPr>
          <a:lstStyle/>
          <a:p>
            <a:pPr algn="l" marL="0" indent="0" lvl="0">
              <a:lnSpc>
                <a:spcPts val="1163"/>
              </a:lnSpc>
              <a:spcBef>
                <a:spcPct val="0"/>
              </a:spcBef>
            </a:pPr>
            <a:r>
              <a:rPr lang="en-US" sz="831" strike="noStrike" u="none">
                <a:solidFill>
                  <a:srgbClr val="475569"/>
                </a:solidFill>
                <a:latin typeface="프리텐다드"/>
                <a:ea typeface="프리텐다드"/>
                <a:cs typeface="프리텐다드"/>
                <a:sym typeface="프리텐다드"/>
              </a:rPr>
              <a:t>단변량</a:t>
            </a:r>
          </a:p>
        </p:txBody>
      </p:sp>
      <p:grpSp>
        <p:nvGrpSpPr>
          <p:cNvPr name="Group 128" id="128"/>
          <p:cNvGrpSpPr/>
          <p:nvPr/>
        </p:nvGrpSpPr>
        <p:grpSpPr>
          <a:xfrm rot="0">
            <a:off x="9207052" y="9266870"/>
            <a:ext cx="98955" cy="98955"/>
            <a:chOff x="0" y="0"/>
            <a:chExt cx="127000" cy="127000"/>
          </a:xfrm>
        </p:grpSpPr>
        <p:sp>
          <p:nvSpPr>
            <p:cNvPr name="Freeform 129" id="129"/>
            <p:cNvSpPr/>
            <p:nvPr/>
          </p:nvSpPr>
          <p:spPr>
            <a:xfrm flipH="false" flipV="false" rot="0">
              <a:off x="0" y="0"/>
              <a:ext cx="127000" cy="127000"/>
            </a:xfrm>
            <a:custGeom>
              <a:avLst/>
              <a:gdLst/>
              <a:ahLst/>
              <a:cxnLst/>
              <a:rect r="r" b="b" t="t" l="l"/>
              <a:pathLst>
                <a:path h="127000" w="127000">
                  <a:moveTo>
                    <a:pt x="63500" y="0"/>
                  </a:moveTo>
                  <a:cubicBezTo>
                    <a:pt x="28430" y="0"/>
                    <a:pt x="0" y="28430"/>
                    <a:pt x="0" y="63500"/>
                  </a:cubicBezTo>
                  <a:cubicBezTo>
                    <a:pt x="0" y="98570"/>
                    <a:pt x="28430" y="127000"/>
                    <a:pt x="63500" y="127000"/>
                  </a:cubicBezTo>
                  <a:cubicBezTo>
                    <a:pt x="98570" y="127000"/>
                    <a:pt x="127000" y="98570"/>
                    <a:pt x="127000" y="63500"/>
                  </a:cubicBezTo>
                  <a:cubicBezTo>
                    <a:pt x="127000" y="28430"/>
                    <a:pt x="98570" y="0"/>
                    <a:pt x="63500" y="0"/>
                  </a:cubicBezTo>
                  <a:close/>
                </a:path>
              </a:pathLst>
            </a:custGeom>
            <a:solidFill>
              <a:srgbClr val="8B3A3A"/>
            </a:solidFill>
          </p:spPr>
        </p:sp>
        <p:sp>
          <p:nvSpPr>
            <p:cNvPr name="TextBox 130" id="130"/>
            <p:cNvSpPr txBox="true"/>
            <p:nvPr/>
          </p:nvSpPr>
          <p:spPr>
            <a:xfrm>
              <a:off x="0" y="-38100"/>
              <a:ext cx="127000" cy="165100"/>
            </a:xfrm>
            <a:prstGeom prst="rect">
              <a:avLst/>
            </a:prstGeom>
          </p:spPr>
          <p:txBody>
            <a:bodyPr anchor="ctr" rtlCol="false" tIns="50800" lIns="50800" bIns="50800" rIns="50800"/>
            <a:lstStyle/>
            <a:p>
              <a:pPr algn="l">
                <a:lnSpc>
                  <a:spcPts val="1679"/>
                </a:lnSpc>
              </a:pPr>
            </a:p>
          </p:txBody>
        </p:sp>
      </p:grpSp>
      <p:sp>
        <p:nvSpPr>
          <p:cNvPr name="TextBox 131" id="131"/>
          <p:cNvSpPr txBox="true"/>
          <p:nvPr/>
        </p:nvSpPr>
        <p:spPr>
          <a:xfrm rot="0">
            <a:off x="9345589" y="9237924"/>
            <a:ext cx="593731" cy="136477"/>
          </a:xfrm>
          <a:prstGeom prst="rect">
            <a:avLst/>
          </a:prstGeom>
        </p:spPr>
        <p:txBody>
          <a:bodyPr anchor="t" rtlCol="false" tIns="0" lIns="0" bIns="0" rIns="0">
            <a:spAutoFit/>
          </a:bodyPr>
          <a:lstStyle/>
          <a:p>
            <a:pPr algn="l" marL="0" indent="0" lvl="0">
              <a:lnSpc>
                <a:spcPts val="1163"/>
              </a:lnSpc>
              <a:spcBef>
                <a:spcPct val="0"/>
              </a:spcBef>
            </a:pPr>
            <a:r>
              <a:rPr lang="en-US" sz="831" strike="noStrike" u="none">
                <a:solidFill>
                  <a:srgbClr val="475569"/>
                </a:solidFill>
                <a:latin typeface="프리텐다드"/>
                <a:ea typeface="프리텐다드"/>
                <a:cs typeface="프리텐다드"/>
                <a:sym typeface="프리텐다드"/>
              </a:rPr>
              <a:t>구조 보정</a:t>
            </a:r>
          </a:p>
        </p:txBody>
      </p:sp>
      <p:sp>
        <p:nvSpPr>
          <p:cNvPr name="TextBox 132" id="132"/>
          <p:cNvSpPr txBox="true"/>
          <p:nvPr/>
        </p:nvSpPr>
        <p:spPr>
          <a:xfrm rot="0">
            <a:off x="876300" y="-9525"/>
            <a:ext cx="16535400" cy="733425"/>
          </a:xfrm>
          <a:prstGeom prst="rect">
            <a:avLst/>
          </a:prstGeom>
        </p:spPr>
        <p:txBody>
          <a:bodyPr anchor="t" rtlCol="false" tIns="0" lIns="0" bIns="0" rIns="0">
            <a:spAutoFit/>
          </a:bodyPr>
          <a:lstStyle/>
          <a:p>
            <a:pPr algn="l">
              <a:lnSpc>
                <a:spcPts val="5759"/>
              </a:lnSpc>
            </a:pPr>
            <a:r>
              <a:rPr lang="en-US" b="true" sz="4800">
                <a:solidFill>
                  <a:srgbClr val="1E293B"/>
                </a:solidFill>
                <a:latin typeface="프리텐다드 Bold"/>
                <a:ea typeface="프리텐다드 Bold"/>
                <a:cs typeface="프리텐다드 Bold"/>
                <a:sym typeface="프리텐다드 Bold"/>
              </a:rPr>
              <a:t>8.  군집별 제도 도입 영향</a:t>
            </a:r>
          </a:p>
        </p:txBody>
      </p:sp>
      <p:sp>
        <p:nvSpPr>
          <p:cNvPr name="AutoShape 133" id="133"/>
          <p:cNvSpPr/>
          <p:nvPr/>
        </p:nvSpPr>
        <p:spPr>
          <a:xfrm>
            <a:off x="866776" y="738829"/>
            <a:ext cx="16554447" cy="9824"/>
          </a:xfrm>
          <a:prstGeom prst="line">
            <a:avLst/>
          </a:prstGeom>
          <a:ln cap="rnd" w="9525">
            <a:solidFill>
              <a:srgbClr val="E2E8F0"/>
            </a:solidFill>
            <a:prstDash val="solid"/>
            <a:headEnd type="none" len="sm" w="sm"/>
            <a:tailEnd type="none" len="sm" w="sm"/>
          </a:ln>
        </p:spPr>
      </p:sp>
      <p:sp>
        <p:nvSpPr>
          <p:cNvPr name="TextBox 134" id="134"/>
          <p:cNvSpPr txBox="true"/>
          <p:nvPr/>
        </p:nvSpPr>
        <p:spPr>
          <a:xfrm rot="0">
            <a:off x="866327" y="922649"/>
            <a:ext cx="13125072" cy="400050"/>
          </a:xfrm>
          <a:prstGeom prst="rect">
            <a:avLst/>
          </a:prstGeom>
        </p:spPr>
        <p:txBody>
          <a:bodyPr anchor="t" rtlCol="false" tIns="0" lIns="0" bIns="0" rIns="0">
            <a:spAutoFit/>
          </a:bodyPr>
          <a:lstStyle/>
          <a:p>
            <a:pPr algn="l">
              <a:lnSpc>
                <a:spcPts val="3120"/>
              </a:lnSpc>
            </a:pPr>
            <a:r>
              <a:rPr lang="en-US" b="true" sz="2600">
                <a:solidFill>
                  <a:srgbClr val="4285F4"/>
                </a:solidFill>
                <a:latin typeface="프리텐다드 Bold"/>
                <a:ea typeface="프리텐다드 Bold"/>
                <a:cs typeface="프리텐다드 Bold"/>
                <a:sym typeface="프리텐다드 Bold"/>
              </a:rPr>
              <a:t>악성민원 패널티가 전 군집·구조통제에서 견고한 ‘보편적 1순위’ — 클러스터 내 로지스틱 OR.</a:t>
            </a:r>
          </a:p>
        </p:txBody>
      </p:sp>
      <p:sp>
        <p:nvSpPr>
          <p:cNvPr name="TextBox 135" id="135"/>
          <p:cNvSpPr txBox="true"/>
          <p:nvPr/>
        </p:nvSpPr>
        <p:spPr>
          <a:xfrm rot="0">
            <a:off x="10991851" y="2068997"/>
            <a:ext cx="6419849" cy="1143000"/>
          </a:xfrm>
          <a:prstGeom prst="rect">
            <a:avLst/>
          </a:prstGeom>
        </p:spPr>
        <p:txBody>
          <a:bodyPr anchor="t" rtlCol="false" tIns="0" lIns="0" bIns="0" rIns="0">
            <a:spAutoFit/>
          </a:bodyPr>
          <a:lstStyle/>
          <a:p>
            <a:pPr algn="l">
              <a:lnSpc>
                <a:spcPts val="1559"/>
              </a:lnSpc>
            </a:pPr>
            <a:r>
              <a:rPr lang="en-US" sz="1299">
                <a:solidFill>
                  <a:srgbClr val="475569"/>
                </a:solidFill>
                <a:latin typeface="프리텐다드"/>
                <a:ea typeface="프리텐다드"/>
                <a:cs typeface="프리텐다드"/>
                <a:sym typeface="프리텐다드"/>
              </a:rPr>
              <a:t>각 군집</a:t>
            </a:r>
            <a:r>
              <a:rPr lang="en-US" sz="1299">
                <a:solidFill>
                  <a:srgbClr val="475569"/>
                </a:solidFill>
                <a:latin typeface="프리텐다드"/>
                <a:ea typeface="프리텐다드"/>
                <a:cs typeface="프리텐다드"/>
                <a:sym typeface="프리텐다드"/>
              </a:rPr>
              <a:t> 내부에서 ‘</a:t>
            </a:r>
            <a:r>
              <a:rPr lang="en-US" sz="1299">
                <a:solidFill>
                  <a:srgbClr val="475569"/>
                </a:solidFill>
                <a:latin typeface="프리텐다드"/>
                <a:ea typeface="프리텐다드"/>
                <a:cs typeface="프리텐다드"/>
                <a:sym typeface="프리텐다드"/>
              </a:rPr>
              <a:t>제도 부재 인식 → 침해 경험</a:t>
            </a:r>
            <a:r>
              <a:rPr lang="en-US" sz="1299">
                <a:solidFill>
                  <a:srgbClr val="475569"/>
                </a:solidFill>
                <a:latin typeface="프리텐다드"/>
                <a:ea typeface="프리텐다드"/>
                <a:cs typeface="프리텐다드"/>
                <a:sym typeface="프리텐다드"/>
              </a:rPr>
              <a:t>’을</a:t>
            </a:r>
            <a:r>
              <a:rPr lang="en-US" sz="1299">
                <a:solidFill>
                  <a:srgbClr val="475569"/>
                </a:solidFill>
                <a:latin typeface="프리텐다드"/>
                <a:ea typeface="프리텐다드"/>
                <a:cs typeface="프리텐다드"/>
                <a:sym typeface="프리텐다드"/>
              </a:rPr>
              <a:t> </a:t>
            </a:r>
            <a:r>
              <a:rPr lang="en-US" sz="1299">
                <a:solidFill>
                  <a:srgbClr val="475569"/>
                </a:solidFill>
                <a:latin typeface="프리텐다드"/>
                <a:ea typeface="프리텐다드"/>
                <a:cs typeface="프리텐다드"/>
                <a:sym typeface="프리텐다드"/>
              </a:rPr>
              <a:t>로지스틱 회귀해 오즈비(OR)를 구했다. OR=1(세로 기준선)은 ‘제도 부재가 침해와 무관’함을 뜻하고, 점이 오른쪽으로 멀수록 그</a:t>
            </a:r>
            <a:r>
              <a:rPr lang="en-US" sz="1299">
                <a:solidFill>
                  <a:srgbClr val="475569"/>
                </a:solidFill>
                <a:latin typeface="프리텐다드"/>
                <a:ea typeface="프리텐다드"/>
                <a:cs typeface="프리텐다드"/>
                <a:sym typeface="프리텐다드"/>
              </a:rPr>
              <a:t> 제</a:t>
            </a:r>
            <a:r>
              <a:rPr lang="en-US" sz="1299">
                <a:solidFill>
                  <a:srgbClr val="475569"/>
                </a:solidFill>
                <a:latin typeface="프리텐다드"/>
                <a:ea typeface="프리텐다드"/>
                <a:cs typeface="프리텐다드"/>
                <a:sym typeface="프리텐다드"/>
              </a:rPr>
              <a:t>도가</a:t>
            </a:r>
            <a:r>
              <a:rPr lang="en-US" sz="1299">
                <a:solidFill>
                  <a:srgbClr val="475569"/>
                </a:solidFill>
                <a:latin typeface="프리텐다드"/>
                <a:ea typeface="프리텐다드"/>
                <a:cs typeface="프리텐다드"/>
                <a:sym typeface="프리텐다드"/>
              </a:rPr>
              <a:t> 없을 때 침해 위험이 더 크게 높아짐을 의미한다</a:t>
            </a:r>
            <a:r>
              <a:rPr lang="en-US" sz="1299">
                <a:solidFill>
                  <a:srgbClr val="475569"/>
                </a:solidFill>
                <a:latin typeface="프리텐다드"/>
                <a:ea typeface="프리텐다드"/>
                <a:cs typeface="프리텐다드"/>
                <a:sym typeface="프리텐다드"/>
              </a:rPr>
              <a:t>(별표는 p&lt;0.05). 네 제도 가운데 악성민원 패널티가 초등 2.34·중등 2.05·고등 2.09로 세 군집 모두에서 일관되게 가장 오른쪽에 위치한다 — 어느 학교급에 가도 ‘악성민원 대응 부재’가 침해와 가장 강하게 묶인다는 뜻이다. 추가로 초등·복합형에서는 아동학대 신고보호도 OR 1.83으로 함께 강해, 무고성 신고에 시달리는 초등</a:t>
            </a:r>
            <a:r>
              <a:rPr lang="en-US" sz="1299">
                <a:solidFill>
                  <a:srgbClr val="475569"/>
                </a:solidFill>
                <a:latin typeface="프리텐다드"/>
                <a:ea typeface="프리텐다드"/>
                <a:cs typeface="프리텐다드"/>
                <a:sym typeface="프리텐다드"/>
              </a:rPr>
              <a:t> 현</a:t>
            </a:r>
            <a:r>
              <a:rPr lang="en-US" sz="1299">
                <a:solidFill>
                  <a:srgbClr val="475569"/>
                </a:solidFill>
                <a:latin typeface="프리텐다드"/>
                <a:ea typeface="프리텐다드"/>
                <a:cs typeface="프리텐다드"/>
                <a:sym typeface="프리텐다드"/>
              </a:rPr>
              <a:t>장의</a:t>
            </a:r>
            <a:r>
              <a:rPr lang="en-US" sz="1299">
                <a:solidFill>
                  <a:srgbClr val="475569"/>
                </a:solidFill>
                <a:latin typeface="프리텐다드"/>
                <a:ea typeface="프리텐다드"/>
                <a:cs typeface="프리텐다드"/>
                <a:sym typeface="프리텐다드"/>
              </a:rPr>
              <a:t> 특성이 드러난</a:t>
            </a:r>
            <a:r>
              <a:rPr lang="en-US" sz="1299">
                <a:solidFill>
                  <a:srgbClr val="475569"/>
                </a:solidFill>
                <a:latin typeface="프리텐다드"/>
                <a:ea typeface="프리텐다드"/>
                <a:cs typeface="프리텐다드"/>
                <a:sym typeface="프리텐다드"/>
              </a:rPr>
              <a:t>다.</a:t>
            </a:r>
          </a:p>
        </p:txBody>
      </p:sp>
      <p:sp>
        <p:nvSpPr>
          <p:cNvPr name="TextBox 136" id="136"/>
          <p:cNvSpPr txBox="true"/>
          <p:nvPr/>
        </p:nvSpPr>
        <p:spPr>
          <a:xfrm rot="0">
            <a:off x="10991851" y="1598483"/>
            <a:ext cx="1416844" cy="265778"/>
          </a:xfrm>
          <a:prstGeom prst="rect">
            <a:avLst/>
          </a:prstGeom>
        </p:spPr>
        <p:txBody>
          <a:bodyPr anchor="t" rtlCol="false" tIns="0" lIns="0" bIns="0" rIns="0">
            <a:spAutoFit/>
          </a:bodyPr>
          <a:lstStyle/>
          <a:p>
            <a:pPr algn="ctr">
              <a:lnSpc>
                <a:spcPts val="2150"/>
              </a:lnSpc>
              <a:spcBef>
                <a:spcPct val="0"/>
              </a:spcBef>
            </a:pPr>
            <a:r>
              <a:rPr lang="en-US" b="true" sz="1536">
                <a:solidFill>
                  <a:srgbClr val="000000"/>
                </a:solidFill>
                <a:latin typeface="프리텐다드 Bold"/>
                <a:ea typeface="프리텐다드 Bold"/>
                <a:cs typeface="프리텐다드 Bold"/>
                <a:sym typeface="프리텐다드 Bold"/>
              </a:rPr>
              <a:t>군집 내부 제도 OR</a:t>
            </a:r>
          </a:p>
        </p:txBody>
      </p:sp>
      <p:sp>
        <p:nvSpPr>
          <p:cNvPr name="TextBox 137" id="137"/>
          <p:cNvSpPr txBox="true"/>
          <p:nvPr/>
        </p:nvSpPr>
        <p:spPr>
          <a:xfrm rot="0">
            <a:off x="10991851" y="4662038"/>
            <a:ext cx="6419849" cy="1143000"/>
          </a:xfrm>
          <a:prstGeom prst="rect">
            <a:avLst/>
          </a:prstGeom>
        </p:spPr>
        <p:txBody>
          <a:bodyPr anchor="t" rtlCol="false" tIns="0" lIns="0" bIns="0" rIns="0">
            <a:spAutoFit/>
          </a:bodyPr>
          <a:lstStyle/>
          <a:p>
            <a:pPr algn="l">
              <a:lnSpc>
                <a:spcPts val="1559"/>
              </a:lnSpc>
            </a:pPr>
            <a:r>
              <a:rPr lang="en-US" sz="1299">
                <a:solidFill>
                  <a:srgbClr val="475569"/>
                </a:solidFill>
                <a:latin typeface="프리텐다드"/>
                <a:ea typeface="프리텐다드"/>
                <a:cs typeface="프리텐다드"/>
                <a:sym typeface="프리텐다드"/>
              </a:rPr>
              <a:t>군집을</a:t>
            </a:r>
            <a:r>
              <a:rPr lang="en-US" sz="1299">
                <a:solidFill>
                  <a:srgbClr val="475569"/>
                </a:solidFill>
                <a:latin typeface="프리텐다드"/>
                <a:ea typeface="프리텐다드"/>
                <a:cs typeface="프리텐다드"/>
                <a:sym typeface="프리텐다드"/>
              </a:rPr>
              <a:t> 나누기</a:t>
            </a:r>
            <a:r>
              <a:rPr lang="en-US" sz="1299">
                <a:solidFill>
                  <a:srgbClr val="475569"/>
                </a:solidFill>
                <a:latin typeface="프리텐다드"/>
                <a:ea typeface="프리텐다드"/>
                <a:cs typeface="프리텐다드"/>
                <a:sym typeface="프리텐다드"/>
              </a:rPr>
              <a:t> 전 전체 표본을 합쳐 산출한</a:t>
            </a:r>
            <a:r>
              <a:rPr lang="en-US" sz="1299">
                <a:solidFill>
                  <a:srgbClr val="475569"/>
                </a:solidFill>
                <a:latin typeface="프리텐다드"/>
                <a:ea typeface="프리텐다드"/>
                <a:cs typeface="프리텐다드"/>
                <a:sym typeface="프리텐다드"/>
              </a:rPr>
              <a:t> OR과 95% 신뢰구간(CI)을 보면, 악성민원→보호자 OR 2.49 [2.17–2.85]로, 아동학대(1.98)·수업방해(1.71)·과밀(1.19)의 신뢰구간과 서로 겹치지 않는다 — 즉 악성민원 패널티의 ‘1순위’ 우위는 표본 우연이 아니라 통계적으로 분명하다. 학교급·규모 등 구조 변수를 모형에 함께 넣어 통제한 전후 OR을 비교하면, 보정 후에도 2.12·1.69·1.52로 크게 줄지 않는다. 이는 ‘침해를 겪어서 제도를 더 원하게 된’ 역인과나, 학교</a:t>
            </a:r>
            <a:r>
              <a:rPr lang="en-US" sz="1299">
                <a:solidFill>
                  <a:srgbClr val="475569"/>
                </a:solidFill>
                <a:latin typeface="프리텐다드"/>
                <a:ea typeface="프리텐다드"/>
                <a:cs typeface="프리텐다드"/>
                <a:sym typeface="프리텐다드"/>
              </a:rPr>
              <a:t> 특성이 만든 가짜 상관(교란)만으로는 설명되지 않는, 비교적 견고한 연관임을 시사한</a:t>
            </a:r>
            <a:r>
              <a:rPr lang="en-US" sz="1299">
                <a:solidFill>
                  <a:srgbClr val="475569"/>
                </a:solidFill>
                <a:latin typeface="프리텐다드"/>
                <a:ea typeface="프리텐다드"/>
                <a:cs typeface="프리텐다드"/>
                <a:sym typeface="프리텐다드"/>
              </a:rPr>
              <a:t>다.</a:t>
            </a:r>
          </a:p>
        </p:txBody>
      </p:sp>
      <p:grpSp>
        <p:nvGrpSpPr>
          <p:cNvPr name="Group 138" id="138"/>
          <p:cNvGrpSpPr/>
          <p:nvPr/>
        </p:nvGrpSpPr>
        <p:grpSpPr>
          <a:xfrm rot="0">
            <a:off x="1678520" y="1850631"/>
            <a:ext cx="59991" cy="1703753"/>
            <a:chOff x="0" y="0"/>
            <a:chExt cx="63500" cy="1803400"/>
          </a:xfrm>
        </p:grpSpPr>
        <p:sp>
          <p:nvSpPr>
            <p:cNvPr name="Freeform 139" id="139"/>
            <p:cNvSpPr/>
            <p:nvPr/>
          </p:nvSpPr>
          <p:spPr>
            <a:xfrm flipH="false" flipV="false" rot="0">
              <a:off x="0" y="0"/>
              <a:ext cx="63500" cy="1803400"/>
            </a:xfrm>
            <a:custGeom>
              <a:avLst/>
              <a:gdLst/>
              <a:ahLst/>
              <a:cxnLst/>
              <a:rect r="r" b="b" t="t" l="l"/>
              <a:pathLst>
                <a:path h="1803400" w="63500">
                  <a:moveTo>
                    <a:pt x="0" y="0"/>
                  </a:moveTo>
                  <a:lnTo>
                    <a:pt x="63500" y="0"/>
                  </a:lnTo>
                  <a:lnTo>
                    <a:pt x="63500" y="1803400"/>
                  </a:lnTo>
                  <a:lnTo>
                    <a:pt x="0" y="1803400"/>
                  </a:lnTo>
                  <a:close/>
                </a:path>
              </a:pathLst>
            </a:custGeom>
            <a:solidFill>
              <a:srgbClr val="F8FAFC"/>
            </a:solidFill>
          </p:spPr>
        </p:sp>
        <p:sp>
          <p:nvSpPr>
            <p:cNvPr name="TextBox 140" id="140"/>
            <p:cNvSpPr txBox="true"/>
            <p:nvPr/>
          </p:nvSpPr>
          <p:spPr>
            <a:xfrm>
              <a:off x="0" y="-47625"/>
              <a:ext cx="63500" cy="1851025"/>
            </a:xfrm>
            <a:prstGeom prst="rect">
              <a:avLst/>
            </a:prstGeom>
          </p:spPr>
          <p:txBody>
            <a:bodyPr anchor="ctr" rtlCol="false" tIns="50800" lIns="50800" bIns="50800" rIns="50800"/>
            <a:lstStyle/>
            <a:p>
              <a:pPr algn="l">
                <a:lnSpc>
                  <a:spcPts val="1959"/>
                </a:lnSpc>
              </a:pPr>
            </a:p>
          </p:txBody>
        </p:sp>
      </p:grpSp>
      <p:sp>
        <p:nvSpPr>
          <p:cNvPr name="TextBox 141" id="141"/>
          <p:cNvSpPr txBox="true"/>
          <p:nvPr/>
        </p:nvSpPr>
        <p:spPr>
          <a:xfrm rot="0">
            <a:off x="10991851" y="4186710"/>
            <a:ext cx="2326779" cy="265778"/>
          </a:xfrm>
          <a:prstGeom prst="rect">
            <a:avLst/>
          </a:prstGeom>
        </p:spPr>
        <p:txBody>
          <a:bodyPr anchor="t" rtlCol="false" tIns="0" lIns="0" bIns="0" rIns="0">
            <a:spAutoFit/>
          </a:bodyPr>
          <a:lstStyle/>
          <a:p>
            <a:pPr algn="ctr">
              <a:lnSpc>
                <a:spcPts val="2150"/>
              </a:lnSpc>
              <a:spcBef>
                <a:spcPct val="0"/>
              </a:spcBef>
            </a:pPr>
            <a:r>
              <a:rPr lang="en-US" b="true" sz="1536">
                <a:solidFill>
                  <a:srgbClr val="000000"/>
                </a:solidFill>
                <a:latin typeface="프리텐다드 Bold"/>
                <a:ea typeface="프리텐다드 Bold"/>
                <a:cs typeface="프리텐다드 Bold"/>
                <a:sym typeface="프리텐다드 Bold"/>
              </a:rPr>
              <a:t>전체(pooled) OR + 신뢰구간</a:t>
            </a:r>
          </a:p>
        </p:txBody>
      </p:sp>
      <p:sp>
        <p:nvSpPr>
          <p:cNvPr name="AutoShape 142" id="142"/>
          <p:cNvSpPr/>
          <p:nvPr/>
        </p:nvSpPr>
        <p:spPr>
          <a:xfrm>
            <a:off x="1678520" y="1850631"/>
            <a:ext cx="0" cy="1703753"/>
          </a:xfrm>
          <a:prstGeom prst="line">
            <a:avLst/>
          </a:prstGeom>
          <a:ln cap="flat" w="9525">
            <a:solidFill>
              <a:srgbClr val="CBD5E1"/>
            </a:solidFill>
            <a:prstDash val="solid"/>
            <a:headEnd type="none" len="sm" w="sm"/>
            <a:tailEnd type="none" len="sm" w="sm"/>
          </a:ln>
        </p:spPr>
      </p:sp>
      <p:sp>
        <p:nvSpPr>
          <p:cNvPr name="TextBox 143" id="143"/>
          <p:cNvSpPr txBox="true"/>
          <p:nvPr/>
        </p:nvSpPr>
        <p:spPr>
          <a:xfrm rot="0">
            <a:off x="10991851" y="7608782"/>
            <a:ext cx="6419849" cy="2095500"/>
          </a:xfrm>
          <a:prstGeom prst="rect">
            <a:avLst/>
          </a:prstGeom>
        </p:spPr>
        <p:txBody>
          <a:bodyPr anchor="t" rtlCol="false" tIns="0" lIns="0" bIns="0" rIns="0">
            <a:spAutoFit/>
          </a:bodyPr>
          <a:lstStyle/>
          <a:p>
            <a:pPr algn="l">
              <a:lnSpc>
                <a:spcPts val="1559"/>
              </a:lnSpc>
            </a:pPr>
          </a:p>
          <a:p>
            <a:pPr algn="l">
              <a:lnSpc>
                <a:spcPts val="1559"/>
              </a:lnSpc>
            </a:pPr>
            <a:r>
              <a:rPr lang="en-US" sz="1299">
                <a:solidFill>
                  <a:srgbClr val="475569"/>
                </a:solidFill>
                <a:latin typeface="프리텐다드"/>
                <a:ea typeface="프리텐다드"/>
                <a:cs typeface="프리텐다드"/>
                <a:sym typeface="프리텐다드"/>
              </a:rPr>
              <a:t>군집별</a:t>
            </a:r>
            <a:r>
              <a:rPr lang="en-US" sz="1299">
                <a:solidFill>
                  <a:srgbClr val="475569"/>
                </a:solidFill>
                <a:latin typeface="프리텐다드"/>
                <a:ea typeface="프리텐다드"/>
                <a:cs typeface="프리텐다드"/>
                <a:sym typeface="프리텐다드"/>
              </a:rPr>
              <a:t> OR 수치에는 차이가 보이지만, 그 차이가 통계적으로 의미 있는지</a:t>
            </a:r>
            <a:r>
              <a:rPr lang="en-US" sz="1299">
                <a:solidFill>
                  <a:srgbClr val="475569"/>
                </a:solidFill>
                <a:latin typeface="프리텐다드"/>
                <a:ea typeface="프리텐다드"/>
                <a:cs typeface="프리텐다드"/>
                <a:sym typeface="프리텐다드"/>
              </a:rPr>
              <a:t>를 직접 검정해야</a:t>
            </a:r>
            <a:r>
              <a:rPr lang="en-US" sz="1299">
                <a:solidFill>
                  <a:srgbClr val="475569"/>
                </a:solidFill>
                <a:latin typeface="프리텐다드"/>
                <a:ea typeface="프리텐다드"/>
                <a:cs typeface="프리텐다드"/>
                <a:sym typeface="프리텐다드"/>
              </a:rPr>
              <a:t> 한다. 군집×제도 교호작용 검정(우도비 χ²)에서는 세 제도 모두 비유의했다(p&gt;0.65) — ‘제도 효과가 군집마다</a:t>
            </a:r>
            <a:r>
              <a:rPr lang="en-US" sz="1299">
                <a:solidFill>
                  <a:srgbClr val="475569"/>
                </a:solidFill>
                <a:latin typeface="프리텐다드"/>
                <a:ea typeface="프리텐다드"/>
                <a:cs typeface="프리텐다드"/>
                <a:sym typeface="프리텐다드"/>
              </a:rPr>
              <a:t> 다르다’는 주장은 데이터로 뒷받침되지 않는다. 따라서 우리가 내세우는 견고한 결론은 ‘악성민원 패널티를 전 학교 공통 기반으로 우선 도입’이며, 초등=아동학대·중고=수업방해 같은 군집별 맞춤은 단정하지 않고 탐색적 참고로만 둔다(과대 주장 회피). 한편 아동학대 신고보호 처방의 정당성은 행정통계로도 강하게 뒷받침된다 — 교원 대상 아동학대 신고의 90.4%가 무혐의, 72%가 ‘정당한 생활지도’로 종결됐다[2]. 이미 2023년 교권 보호 4법(교원지위법·초중등교육법·유아교육법·아동학대처벌법) 개정으로 정당한 생활지도의 면책과 교육감 의견서 제출 의무가 도입됐으며[3], 본 분석은 그 제도의 효과가</a:t>
            </a:r>
            <a:r>
              <a:rPr lang="en-US" sz="1299">
                <a:solidFill>
                  <a:srgbClr val="475569"/>
                </a:solidFill>
                <a:latin typeface="프리텐다드"/>
                <a:ea typeface="프리텐다드"/>
                <a:cs typeface="프리텐다드"/>
                <a:sym typeface="프리텐다드"/>
              </a:rPr>
              <a:t> 무고성 신고가 집중되는 초등 복합형에서 특히 클 수 있음을 실증적으로 더한</a:t>
            </a:r>
            <a:r>
              <a:rPr lang="en-US" sz="1299">
                <a:solidFill>
                  <a:srgbClr val="475569"/>
                </a:solidFill>
                <a:latin typeface="프리텐다드"/>
                <a:ea typeface="프리텐다드"/>
                <a:cs typeface="프리텐다드"/>
                <a:sym typeface="프리텐다드"/>
              </a:rPr>
              <a:t>다.</a:t>
            </a:r>
          </a:p>
          <a:p>
            <a:pPr algn="l">
              <a:lnSpc>
                <a:spcPts val="1559"/>
              </a:lnSpc>
            </a:pPr>
          </a:p>
        </p:txBody>
      </p:sp>
      <p:sp>
        <p:nvSpPr>
          <p:cNvPr name="TextBox 144" id="144"/>
          <p:cNvSpPr txBox="true"/>
          <p:nvPr/>
        </p:nvSpPr>
        <p:spPr>
          <a:xfrm rot="0">
            <a:off x="1378564" y="1548469"/>
            <a:ext cx="599913" cy="258921"/>
          </a:xfrm>
          <a:prstGeom prst="rect">
            <a:avLst/>
          </a:prstGeom>
        </p:spPr>
        <p:txBody>
          <a:bodyPr anchor="t" rtlCol="false" tIns="0" lIns="0" bIns="0" rIns="0">
            <a:spAutoFit/>
          </a:bodyPr>
          <a:lstStyle/>
          <a:p>
            <a:pPr algn="ctr" marL="0" indent="0" lvl="0">
              <a:lnSpc>
                <a:spcPts val="1071"/>
              </a:lnSpc>
              <a:spcBef>
                <a:spcPct val="0"/>
              </a:spcBef>
            </a:pPr>
            <a:r>
              <a:rPr lang="en-US" sz="765" strike="noStrike" u="none">
                <a:solidFill>
                  <a:srgbClr val="94A3B8"/>
                </a:solidFill>
                <a:latin typeface="프리텐다드"/>
                <a:ea typeface="프리텐다드"/>
                <a:cs typeface="프리텐다드"/>
                <a:sym typeface="프리텐다드"/>
              </a:rPr>
              <a:t>OR=1</a:t>
            </a:r>
          </a:p>
          <a:p>
            <a:pPr algn="ctr" marL="0" indent="0" lvl="0">
              <a:lnSpc>
                <a:spcPts val="1071"/>
              </a:lnSpc>
              <a:spcBef>
                <a:spcPct val="0"/>
              </a:spcBef>
            </a:pPr>
            <a:r>
              <a:rPr lang="en-US" sz="765" strike="noStrike" u="none">
                <a:solidFill>
                  <a:srgbClr val="94A3B8"/>
                </a:solidFill>
                <a:latin typeface="프리텐다드"/>
                <a:ea typeface="프리텐다드"/>
                <a:cs typeface="프리텐다드"/>
                <a:sym typeface="프리텐다드"/>
              </a:rPr>
              <a:t>영향없음</a:t>
            </a:r>
          </a:p>
        </p:txBody>
      </p:sp>
      <p:sp>
        <p:nvSpPr>
          <p:cNvPr name="TextBox 145" id="145"/>
          <p:cNvSpPr txBox="true"/>
          <p:nvPr/>
        </p:nvSpPr>
        <p:spPr>
          <a:xfrm rot="0">
            <a:off x="11050415" y="7133454"/>
            <a:ext cx="2003842" cy="265778"/>
          </a:xfrm>
          <a:prstGeom prst="rect">
            <a:avLst/>
          </a:prstGeom>
        </p:spPr>
        <p:txBody>
          <a:bodyPr anchor="t" rtlCol="false" tIns="0" lIns="0" bIns="0" rIns="0">
            <a:spAutoFit/>
          </a:bodyPr>
          <a:lstStyle/>
          <a:p>
            <a:pPr algn="ctr">
              <a:lnSpc>
                <a:spcPts val="2150"/>
              </a:lnSpc>
              <a:spcBef>
                <a:spcPct val="0"/>
              </a:spcBef>
            </a:pPr>
            <a:r>
              <a:rPr lang="en-US" b="true" sz="1536">
                <a:solidFill>
                  <a:srgbClr val="000000"/>
                </a:solidFill>
                <a:latin typeface="프리텐다드 Bold"/>
                <a:ea typeface="프리텐다드 Bold"/>
                <a:cs typeface="프리텐다드 Bold"/>
                <a:sym typeface="프리텐다드 Bold"/>
              </a:rPr>
              <a:t>‘맞춤’의 한계와 정책 결론</a:t>
            </a:r>
          </a:p>
        </p:txBody>
      </p:sp>
      <p:sp>
        <p:nvSpPr>
          <p:cNvPr name="AutoShape 146" id="146"/>
          <p:cNvSpPr/>
          <p:nvPr/>
        </p:nvSpPr>
        <p:spPr>
          <a:xfrm>
            <a:off x="1678520" y="3194436"/>
            <a:ext cx="2471641" cy="0"/>
          </a:xfrm>
          <a:prstGeom prst="line">
            <a:avLst/>
          </a:prstGeom>
          <a:ln cap="flat" w="19050">
            <a:solidFill>
              <a:srgbClr val="4A6FA5"/>
            </a:solidFill>
            <a:prstDash val="solid"/>
            <a:headEnd type="none" len="sm" w="sm"/>
            <a:tailEnd type="none" len="sm" w="sm"/>
          </a:ln>
        </p:spPr>
      </p:sp>
      <p:sp>
        <p:nvSpPr>
          <p:cNvPr name="TextBox 147" id="147"/>
          <p:cNvSpPr txBox="true"/>
          <p:nvPr/>
        </p:nvSpPr>
        <p:spPr>
          <a:xfrm rot="0">
            <a:off x="5385982" y="2693167"/>
            <a:ext cx="419939" cy="139610"/>
          </a:xfrm>
          <a:prstGeom prst="rect">
            <a:avLst/>
          </a:prstGeom>
        </p:spPr>
        <p:txBody>
          <a:bodyPr anchor="t" rtlCol="false" tIns="0" lIns="0" bIns="0" rIns="0">
            <a:spAutoFit/>
          </a:bodyPr>
          <a:lstStyle/>
          <a:p>
            <a:pPr algn="l" marL="0" indent="0" lvl="0">
              <a:lnSpc>
                <a:spcPts val="1172"/>
              </a:lnSpc>
              <a:spcBef>
                <a:spcPct val="0"/>
              </a:spcBef>
            </a:pPr>
            <a:r>
              <a:rPr lang="en-US" b="true" sz="837" strike="noStrike" u="none">
                <a:solidFill>
                  <a:srgbClr val="1B2A4A"/>
                </a:solidFill>
                <a:latin typeface="프리텐다드 Bold"/>
                <a:ea typeface="프리텐다드 Bold"/>
                <a:cs typeface="프리텐다드 Bold"/>
                <a:sym typeface="프리텐다드 Bold"/>
              </a:rPr>
              <a:t>1.83*</a:t>
            </a:r>
          </a:p>
        </p:txBody>
      </p:sp>
      <p:grpSp>
        <p:nvGrpSpPr>
          <p:cNvPr name="Group 148" id="148"/>
          <p:cNvGrpSpPr/>
          <p:nvPr/>
        </p:nvGrpSpPr>
        <p:grpSpPr>
          <a:xfrm rot="0">
            <a:off x="3790214" y="2378554"/>
            <a:ext cx="119983" cy="119983"/>
            <a:chOff x="0" y="0"/>
            <a:chExt cx="127000" cy="127000"/>
          </a:xfrm>
        </p:grpSpPr>
        <p:sp>
          <p:nvSpPr>
            <p:cNvPr name="Freeform 149" id="149"/>
            <p:cNvSpPr/>
            <p:nvPr/>
          </p:nvSpPr>
          <p:spPr>
            <a:xfrm flipH="false" flipV="false" rot="0">
              <a:off x="0" y="0"/>
              <a:ext cx="127000" cy="127000"/>
            </a:xfrm>
            <a:custGeom>
              <a:avLst/>
              <a:gdLst/>
              <a:ahLst/>
              <a:cxnLst/>
              <a:rect r="r" b="b" t="t" l="l"/>
              <a:pathLst>
                <a:path h="127000" w="127000">
                  <a:moveTo>
                    <a:pt x="63500" y="0"/>
                  </a:moveTo>
                  <a:cubicBezTo>
                    <a:pt x="28430" y="0"/>
                    <a:pt x="0" y="28430"/>
                    <a:pt x="0" y="63500"/>
                  </a:cubicBezTo>
                  <a:cubicBezTo>
                    <a:pt x="0" y="98570"/>
                    <a:pt x="28430" y="127000"/>
                    <a:pt x="63500" y="127000"/>
                  </a:cubicBezTo>
                  <a:cubicBezTo>
                    <a:pt x="98570" y="127000"/>
                    <a:pt x="127000" y="98570"/>
                    <a:pt x="127000" y="63500"/>
                  </a:cubicBezTo>
                  <a:cubicBezTo>
                    <a:pt x="127000" y="28430"/>
                    <a:pt x="98570" y="0"/>
                    <a:pt x="63500" y="0"/>
                  </a:cubicBezTo>
                  <a:close/>
                </a:path>
              </a:pathLst>
            </a:custGeom>
            <a:solidFill>
              <a:srgbClr val="1B2A4A"/>
            </a:solidFill>
          </p:spPr>
        </p:sp>
        <p:sp>
          <p:nvSpPr>
            <p:cNvPr name="TextBox 150" id="150"/>
            <p:cNvSpPr txBox="true"/>
            <p:nvPr/>
          </p:nvSpPr>
          <p:spPr>
            <a:xfrm>
              <a:off x="0" y="-47625"/>
              <a:ext cx="127000" cy="174625"/>
            </a:xfrm>
            <a:prstGeom prst="rect">
              <a:avLst/>
            </a:prstGeom>
          </p:spPr>
          <p:txBody>
            <a:bodyPr anchor="ctr" rtlCol="false" tIns="50800" lIns="50800" bIns="50800" rIns="50800"/>
            <a:lstStyle/>
            <a:p>
              <a:pPr algn="l">
                <a:lnSpc>
                  <a:spcPts val="1959"/>
                </a:lnSpc>
              </a:pPr>
            </a:p>
          </p:txBody>
        </p:sp>
      </p:grpSp>
      <p:sp>
        <p:nvSpPr>
          <p:cNvPr name="AutoShape 151" id="151"/>
          <p:cNvSpPr/>
          <p:nvPr/>
        </p:nvSpPr>
        <p:spPr>
          <a:xfrm>
            <a:off x="1678520" y="2102594"/>
            <a:ext cx="5819155" cy="0"/>
          </a:xfrm>
          <a:prstGeom prst="line">
            <a:avLst/>
          </a:prstGeom>
          <a:ln cap="flat" w="19050">
            <a:solidFill>
              <a:srgbClr val="1B2A4A"/>
            </a:solidFill>
            <a:prstDash val="solid"/>
            <a:headEnd type="none" len="sm" w="sm"/>
            <a:tailEnd type="none" len="sm" w="sm"/>
          </a:ln>
        </p:spPr>
      </p:sp>
      <p:sp>
        <p:nvSpPr>
          <p:cNvPr name="TextBox 152" id="152"/>
          <p:cNvSpPr txBox="true"/>
          <p:nvPr/>
        </p:nvSpPr>
        <p:spPr>
          <a:xfrm rot="0">
            <a:off x="720510" y="3086396"/>
            <a:ext cx="862024" cy="180306"/>
          </a:xfrm>
          <a:prstGeom prst="rect">
            <a:avLst/>
          </a:prstGeom>
        </p:spPr>
        <p:txBody>
          <a:bodyPr anchor="t" rtlCol="false" tIns="0" lIns="0" bIns="0" rIns="0">
            <a:spAutoFit/>
          </a:bodyPr>
          <a:lstStyle/>
          <a:p>
            <a:pPr algn="r" marL="0" indent="0" lvl="0">
              <a:lnSpc>
                <a:spcPts val="1454"/>
              </a:lnSpc>
              <a:spcBef>
                <a:spcPct val="0"/>
              </a:spcBef>
            </a:pPr>
            <a:r>
              <a:rPr lang="en-US" sz="1038" strike="noStrike" u="none">
                <a:solidFill>
                  <a:srgbClr val="1E293B"/>
                </a:solidFill>
                <a:latin typeface="프리텐다드"/>
                <a:ea typeface="프리텐다드"/>
                <a:cs typeface="프리텐다드"/>
                <a:sym typeface="프리텐다드"/>
              </a:rPr>
              <a:t>과밀학급 해소</a:t>
            </a:r>
          </a:p>
        </p:txBody>
      </p:sp>
      <p:sp>
        <p:nvSpPr>
          <p:cNvPr name="TextBox 153" id="153"/>
          <p:cNvSpPr txBox="true"/>
          <p:nvPr/>
        </p:nvSpPr>
        <p:spPr>
          <a:xfrm rot="0">
            <a:off x="614948" y="2750444"/>
            <a:ext cx="967587" cy="180306"/>
          </a:xfrm>
          <a:prstGeom prst="rect">
            <a:avLst/>
          </a:prstGeom>
        </p:spPr>
        <p:txBody>
          <a:bodyPr anchor="t" rtlCol="false" tIns="0" lIns="0" bIns="0" rIns="0">
            <a:spAutoFit/>
          </a:bodyPr>
          <a:lstStyle/>
          <a:p>
            <a:pPr algn="r" marL="0" indent="0" lvl="0">
              <a:lnSpc>
                <a:spcPts val="1454"/>
              </a:lnSpc>
              <a:spcBef>
                <a:spcPct val="0"/>
              </a:spcBef>
            </a:pPr>
            <a:r>
              <a:rPr lang="en-US" sz="1038" strike="noStrike" u="none">
                <a:solidFill>
                  <a:srgbClr val="1E293B"/>
                </a:solidFill>
                <a:latin typeface="프리텐다드"/>
                <a:ea typeface="프리텐다드"/>
                <a:cs typeface="프리텐다드"/>
                <a:sym typeface="프리텐다드"/>
              </a:rPr>
              <a:t>아동학대 신고보호</a:t>
            </a:r>
          </a:p>
        </p:txBody>
      </p:sp>
      <p:sp>
        <p:nvSpPr>
          <p:cNvPr name="TextBox 154" id="154"/>
          <p:cNvSpPr txBox="true"/>
          <p:nvPr/>
        </p:nvSpPr>
        <p:spPr>
          <a:xfrm rot="0">
            <a:off x="720510" y="2414493"/>
            <a:ext cx="862024" cy="180306"/>
          </a:xfrm>
          <a:prstGeom prst="rect">
            <a:avLst/>
          </a:prstGeom>
        </p:spPr>
        <p:txBody>
          <a:bodyPr anchor="t" rtlCol="false" tIns="0" lIns="0" bIns="0" rIns="0">
            <a:spAutoFit/>
          </a:bodyPr>
          <a:lstStyle/>
          <a:p>
            <a:pPr algn="r" marL="0" indent="0" lvl="0">
              <a:lnSpc>
                <a:spcPts val="1454"/>
              </a:lnSpc>
              <a:spcBef>
                <a:spcPct val="0"/>
              </a:spcBef>
            </a:pPr>
            <a:r>
              <a:rPr lang="en-US" sz="1038" strike="noStrike" u="none">
                <a:solidFill>
                  <a:srgbClr val="1E293B"/>
                </a:solidFill>
                <a:latin typeface="프리텐다드"/>
                <a:ea typeface="프리텐다드"/>
                <a:cs typeface="프리텐다드"/>
                <a:sym typeface="프리텐다드"/>
              </a:rPr>
              <a:t>수업방해 분리</a:t>
            </a:r>
          </a:p>
        </p:txBody>
      </p:sp>
      <p:sp>
        <p:nvSpPr>
          <p:cNvPr name="TextBox 155" id="155"/>
          <p:cNvSpPr txBox="true"/>
          <p:nvPr/>
        </p:nvSpPr>
        <p:spPr>
          <a:xfrm rot="0">
            <a:off x="720510" y="2078542"/>
            <a:ext cx="862024" cy="180306"/>
          </a:xfrm>
          <a:prstGeom prst="rect">
            <a:avLst/>
          </a:prstGeom>
        </p:spPr>
        <p:txBody>
          <a:bodyPr anchor="t" rtlCol="false" tIns="0" lIns="0" bIns="0" rIns="0">
            <a:spAutoFit/>
          </a:bodyPr>
          <a:lstStyle/>
          <a:p>
            <a:pPr algn="r" marL="0" indent="0" lvl="0">
              <a:lnSpc>
                <a:spcPts val="1454"/>
              </a:lnSpc>
              <a:spcBef>
                <a:spcPct val="0"/>
              </a:spcBef>
            </a:pPr>
            <a:r>
              <a:rPr lang="en-US" sz="1038" strike="noStrike" u="none">
                <a:solidFill>
                  <a:srgbClr val="1E293B"/>
                </a:solidFill>
                <a:latin typeface="프리텐다드"/>
                <a:ea typeface="프리텐다드"/>
                <a:cs typeface="프리텐다드"/>
                <a:sym typeface="프리텐다드"/>
              </a:rPr>
              <a:t>악성민원 패널티</a:t>
            </a:r>
          </a:p>
        </p:txBody>
      </p:sp>
      <p:sp>
        <p:nvSpPr>
          <p:cNvPr name="TextBox 156" id="156"/>
          <p:cNvSpPr txBox="true"/>
          <p:nvPr/>
        </p:nvSpPr>
        <p:spPr>
          <a:xfrm rot="0">
            <a:off x="3022325" y="3772304"/>
            <a:ext cx="5999129" cy="163154"/>
          </a:xfrm>
          <a:prstGeom prst="rect">
            <a:avLst/>
          </a:prstGeom>
        </p:spPr>
        <p:txBody>
          <a:bodyPr anchor="t" rtlCol="false" tIns="0" lIns="0" bIns="0" rIns="0">
            <a:spAutoFit/>
          </a:bodyPr>
          <a:lstStyle/>
          <a:p>
            <a:pPr algn="ctr" marL="0" indent="0" lvl="0">
              <a:lnSpc>
                <a:spcPts val="1309"/>
              </a:lnSpc>
              <a:spcBef>
                <a:spcPct val="0"/>
              </a:spcBef>
            </a:pPr>
            <a:r>
              <a:rPr lang="en-US" sz="935" strike="noStrike" u="none">
                <a:solidFill>
                  <a:srgbClr val="64748B"/>
                </a:solidFill>
                <a:latin typeface="프리텐다드"/>
                <a:ea typeface="프리텐다드"/>
                <a:cs typeface="프리텐다드"/>
                <a:sym typeface="프리텐다드"/>
              </a:rPr>
              <a:t>오즈비 (OR) — 제도 부재 인식이 침해 위험을 높이는 정도 (오른쪽일수록 절실)</a:t>
            </a:r>
          </a:p>
        </p:txBody>
      </p:sp>
      <p:sp>
        <p:nvSpPr>
          <p:cNvPr name="TextBox 157" id="157"/>
          <p:cNvSpPr txBox="true"/>
          <p:nvPr/>
        </p:nvSpPr>
        <p:spPr>
          <a:xfrm rot="0">
            <a:off x="10185285" y="3617033"/>
            <a:ext cx="359948" cy="139610"/>
          </a:xfrm>
          <a:prstGeom prst="rect">
            <a:avLst/>
          </a:prstGeom>
        </p:spPr>
        <p:txBody>
          <a:bodyPr anchor="t" rtlCol="false" tIns="0" lIns="0" bIns="0" rIns="0">
            <a:spAutoFit/>
          </a:bodyPr>
          <a:lstStyle/>
          <a:p>
            <a:pPr algn="ctr" marL="0" indent="0" lvl="0">
              <a:lnSpc>
                <a:spcPts val="1172"/>
              </a:lnSpc>
              <a:spcBef>
                <a:spcPct val="0"/>
              </a:spcBef>
            </a:pPr>
            <a:r>
              <a:rPr lang="en-US" sz="837" strike="noStrike" u="none">
                <a:solidFill>
                  <a:srgbClr val="94A3B8"/>
                </a:solidFill>
                <a:latin typeface="프리텐다드"/>
                <a:ea typeface="프리텐다드"/>
                <a:cs typeface="프리텐다드"/>
                <a:sym typeface="프리텐다드"/>
              </a:rPr>
              <a:t>3.00</a:t>
            </a:r>
          </a:p>
        </p:txBody>
      </p:sp>
      <p:sp>
        <p:nvSpPr>
          <p:cNvPr name="AutoShape 158" id="158"/>
          <p:cNvSpPr/>
          <p:nvPr/>
        </p:nvSpPr>
        <p:spPr>
          <a:xfrm>
            <a:off x="10197305" y="3298322"/>
            <a:ext cx="0" cy="40093"/>
          </a:xfrm>
          <a:prstGeom prst="line">
            <a:avLst/>
          </a:prstGeom>
          <a:ln cap="flat" w="9525">
            <a:solidFill>
              <a:srgbClr val="4A5568"/>
            </a:solidFill>
            <a:prstDash val="solid"/>
            <a:headEnd type="none" len="sm" w="sm"/>
            <a:tailEnd type="none" len="sm" w="sm"/>
          </a:ln>
        </p:spPr>
      </p:sp>
      <p:sp>
        <p:nvSpPr>
          <p:cNvPr name="TextBox 159" id="159"/>
          <p:cNvSpPr txBox="true"/>
          <p:nvPr/>
        </p:nvSpPr>
        <p:spPr>
          <a:xfrm rot="0">
            <a:off x="9093444" y="3617033"/>
            <a:ext cx="359948" cy="139610"/>
          </a:xfrm>
          <a:prstGeom prst="rect">
            <a:avLst/>
          </a:prstGeom>
        </p:spPr>
        <p:txBody>
          <a:bodyPr anchor="t" rtlCol="false" tIns="0" lIns="0" bIns="0" rIns="0">
            <a:spAutoFit/>
          </a:bodyPr>
          <a:lstStyle/>
          <a:p>
            <a:pPr algn="ctr" marL="0" indent="0" lvl="0">
              <a:lnSpc>
                <a:spcPts val="1172"/>
              </a:lnSpc>
              <a:spcBef>
                <a:spcPct val="0"/>
              </a:spcBef>
            </a:pPr>
            <a:r>
              <a:rPr lang="en-US" sz="837" strike="noStrike" u="none">
                <a:solidFill>
                  <a:srgbClr val="94A3B8"/>
                </a:solidFill>
                <a:latin typeface="프리텐다드"/>
                <a:ea typeface="프리텐다드"/>
                <a:cs typeface="프리텐다드"/>
                <a:sym typeface="프리텐다드"/>
              </a:rPr>
              <a:t>2.75</a:t>
            </a:r>
          </a:p>
        </p:txBody>
      </p:sp>
      <p:sp>
        <p:nvSpPr>
          <p:cNvPr name="AutoShape 160" id="160"/>
          <p:cNvSpPr/>
          <p:nvPr/>
        </p:nvSpPr>
        <p:spPr>
          <a:xfrm>
            <a:off x="9273417" y="3554384"/>
            <a:ext cx="0" cy="35995"/>
          </a:xfrm>
          <a:prstGeom prst="line">
            <a:avLst/>
          </a:prstGeom>
          <a:ln cap="flat" w="9525">
            <a:solidFill>
              <a:srgbClr val="4A5568"/>
            </a:solidFill>
            <a:prstDash val="solid"/>
            <a:headEnd type="none" len="sm" w="sm"/>
            <a:tailEnd type="none" len="sm" w="sm"/>
          </a:ln>
        </p:spPr>
      </p:sp>
      <p:sp>
        <p:nvSpPr>
          <p:cNvPr name="TextBox 161" id="161"/>
          <p:cNvSpPr txBox="true"/>
          <p:nvPr/>
        </p:nvSpPr>
        <p:spPr>
          <a:xfrm rot="0">
            <a:off x="8013600" y="3617033"/>
            <a:ext cx="359948" cy="139610"/>
          </a:xfrm>
          <a:prstGeom prst="rect">
            <a:avLst/>
          </a:prstGeom>
        </p:spPr>
        <p:txBody>
          <a:bodyPr anchor="t" rtlCol="false" tIns="0" lIns="0" bIns="0" rIns="0">
            <a:spAutoFit/>
          </a:bodyPr>
          <a:lstStyle/>
          <a:p>
            <a:pPr algn="ctr" marL="0" indent="0" lvl="0">
              <a:lnSpc>
                <a:spcPts val="1172"/>
              </a:lnSpc>
              <a:spcBef>
                <a:spcPct val="0"/>
              </a:spcBef>
            </a:pPr>
            <a:r>
              <a:rPr lang="en-US" sz="837" strike="noStrike" u="none">
                <a:solidFill>
                  <a:srgbClr val="94A3B8"/>
                </a:solidFill>
                <a:latin typeface="프리텐다드"/>
                <a:ea typeface="프리텐다드"/>
                <a:cs typeface="프리텐다드"/>
                <a:sym typeface="프리텐다드"/>
              </a:rPr>
              <a:t>2.50</a:t>
            </a:r>
          </a:p>
        </p:txBody>
      </p:sp>
      <p:sp>
        <p:nvSpPr>
          <p:cNvPr name="AutoShape 162" id="162"/>
          <p:cNvSpPr/>
          <p:nvPr/>
        </p:nvSpPr>
        <p:spPr>
          <a:xfrm>
            <a:off x="8193574" y="3554384"/>
            <a:ext cx="0" cy="35995"/>
          </a:xfrm>
          <a:prstGeom prst="line">
            <a:avLst/>
          </a:prstGeom>
          <a:ln cap="flat" w="9525">
            <a:solidFill>
              <a:srgbClr val="4A5568"/>
            </a:solidFill>
            <a:prstDash val="solid"/>
            <a:headEnd type="none" len="sm" w="sm"/>
            <a:tailEnd type="none" len="sm" w="sm"/>
          </a:ln>
        </p:spPr>
      </p:sp>
      <p:sp>
        <p:nvSpPr>
          <p:cNvPr name="TextBox 163" id="163"/>
          <p:cNvSpPr txBox="true"/>
          <p:nvPr/>
        </p:nvSpPr>
        <p:spPr>
          <a:xfrm rot="0">
            <a:off x="6921759" y="3617033"/>
            <a:ext cx="359948" cy="139610"/>
          </a:xfrm>
          <a:prstGeom prst="rect">
            <a:avLst/>
          </a:prstGeom>
        </p:spPr>
        <p:txBody>
          <a:bodyPr anchor="t" rtlCol="false" tIns="0" lIns="0" bIns="0" rIns="0">
            <a:spAutoFit/>
          </a:bodyPr>
          <a:lstStyle/>
          <a:p>
            <a:pPr algn="ctr" marL="0" indent="0" lvl="0">
              <a:lnSpc>
                <a:spcPts val="1172"/>
              </a:lnSpc>
              <a:spcBef>
                <a:spcPct val="0"/>
              </a:spcBef>
            </a:pPr>
            <a:r>
              <a:rPr lang="en-US" sz="837" strike="noStrike" u="none">
                <a:solidFill>
                  <a:srgbClr val="94A3B8"/>
                </a:solidFill>
                <a:latin typeface="프리텐다드"/>
                <a:ea typeface="프리텐다드"/>
                <a:cs typeface="프리텐다드"/>
                <a:sym typeface="프리텐다드"/>
              </a:rPr>
              <a:t>2.25</a:t>
            </a:r>
          </a:p>
        </p:txBody>
      </p:sp>
      <p:sp>
        <p:nvSpPr>
          <p:cNvPr name="AutoShape 164" id="164"/>
          <p:cNvSpPr/>
          <p:nvPr/>
        </p:nvSpPr>
        <p:spPr>
          <a:xfrm>
            <a:off x="7101733" y="3554384"/>
            <a:ext cx="0" cy="35995"/>
          </a:xfrm>
          <a:prstGeom prst="line">
            <a:avLst/>
          </a:prstGeom>
          <a:ln cap="flat" w="9525">
            <a:solidFill>
              <a:srgbClr val="4A5568"/>
            </a:solidFill>
            <a:prstDash val="solid"/>
            <a:headEnd type="none" len="sm" w="sm"/>
            <a:tailEnd type="none" len="sm" w="sm"/>
          </a:ln>
        </p:spPr>
      </p:sp>
      <p:sp>
        <p:nvSpPr>
          <p:cNvPr name="TextBox 165" id="165"/>
          <p:cNvSpPr txBox="true"/>
          <p:nvPr/>
        </p:nvSpPr>
        <p:spPr>
          <a:xfrm rot="0">
            <a:off x="5841916" y="3617033"/>
            <a:ext cx="359948" cy="139610"/>
          </a:xfrm>
          <a:prstGeom prst="rect">
            <a:avLst/>
          </a:prstGeom>
        </p:spPr>
        <p:txBody>
          <a:bodyPr anchor="t" rtlCol="false" tIns="0" lIns="0" bIns="0" rIns="0">
            <a:spAutoFit/>
          </a:bodyPr>
          <a:lstStyle/>
          <a:p>
            <a:pPr algn="ctr" marL="0" indent="0" lvl="0">
              <a:lnSpc>
                <a:spcPts val="1172"/>
              </a:lnSpc>
              <a:spcBef>
                <a:spcPct val="0"/>
              </a:spcBef>
            </a:pPr>
            <a:r>
              <a:rPr lang="en-US" sz="837" strike="noStrike" u="none">
                <a:solidFill>
                  <a:srgbClr val="94A3B8"/>
                </a:solidFill>
                <a:latin typeface="프리텐다드"/>
                <a:ea typeface="프리텐다드"/>
                <a:cs typeface="프리텐다드"/>
                <a:sym typeface="프리텐다드"/>
              </a:rPr>
              <a:t>2.00</a:t>
            </a:r>
          </a:p>
        </p:txBody>
      </p:sp>
      <p:sp>
        <p:nvSpPr>
          <p:cNvPr name="AutoShape 166" id="166"/>
          <p:cNvSpPr/>
          <p:nvPr/>
        </p:nvSpPr>
        <p:spPr>
          <a:xfrm>
            <a:off x="6021890" y="3554384"/>
            <a:ext cx="0" cy="35995"/>
          </a:xfrm>
          <a:prstGeom prst="line">
            <a:avLst/>
          </a:prstGeom>
          <a:ln cap="flat" w="9525">
            <a:solidFill>
              <a:srgbClr val="4A5568"/>
            </a:solidFill>
            <a:prstDash val="solid"/>
            <a:headEnd type="none" len="sm" w="sm"/>
            <a:tailEnd type="none" len="sm" w="sm"/>
          </a:ln>
        </p:spPr>
      </p:sp>
      <p:sp>
        <p:nvSpPr>
          <p:cNvPr name="TextBox 167" id="167"/>
          <p:cNvSpPr txBox="true"/>
          <p:nvPr/>
        </p:nvSpPr>
        <p:spPr>
          <a:xfrm rot="0">
            <a:off x="4750074" y="3617033"/>
            <a:ext cx="359948" cy="139610"/>
          </a:xfrm>
          <a:prstGeom prst="rect">
            <a:avLst/>
          </a:prstGeom>
        </p:spPr>
        <p:txBody>
          <a:bodyPr anchor="t" rtlCol="false" tIns="0" lIns="0" bIns="0" rIns="0">
            <a:spAutoFit/>
          </a:bodyPr>
          <a:lstStyle/>
          <a:p>
            <a:pPr algn="ctr" marL="0" indent="0" lvl="0">
              <a:lnSpc>
                <a:spcPts val="1172"/>
              </a:lnSpc>
              <a:spcBef>
                <a:spcPct val="0"/>
              </a:spcBef>
            </a:pPr>
            <a:r>
              <a:rPr lang="en-US" sz="837" strike="noStrike" u="none">
                <a:solidFill>
                  <a:srgbClr val="94A3B8"/>
                </a:solidFill>
                <a:latin typeface="프리텐다드"/>
                <a:ea typeface="프리텐다드"/>
                <a:cs typeface="프리텐다드"/>
                <a:sym typeface="프리텐다드"/>
              </a:rPr>
              <a:t>1.75</a:t>
            </a:r>
          </a:p>
        </p:txBody>
      </p:sp>
      <p:sp>
        <p:nvSpPr>
          <p:cNvPr name="AutoShape 168" id="168"/>
          <p:cNvSpPr/>
          <p:nvPr/>
        </p:nvSpPr>
        <p:spPr>
          <a:xfrm>
            <a:off x="4930048" y="3554384"/>
            <a:ext cx="0" cy="35995"/>
          </a:xfrm>
          <a:prstGeom prst="line">
            <a:avLst/>
          </a:prstGeom>
          <a:ln cap="flat" w="9525">
            <a:solidFill>
              <a:srgbClr val="4A5568"/>
            </a:solidFill>
            <a:prstDash val="solid"/>
            <a:headEnd type="none" len="sm" w="sm"/>
            <a:tailEnd type="none" len="sm" w="sm"/>
          </a:ln>
        </p:spPr>
      </p:sp>
      <p:sp>
        <p:nvSpPr>
          <p:cNvPr name="TextBox 169" id="169"/>
          <p:cNvSpPr txBox="true"/>
          <p:nvPr/>
        </p:nvSpPr>
        <p:spPr>
          <a:xfrm rot="0">
            <a:off x="3670231" y="3617033"/>
            <a:ext cx="359948" cy="139610"/>
          </a:xfrm>
          <a:prstGeom prst="rect">
            <a:avLst/>
          </a:prstGeom>
        </p:spPr>
        <p:txBody>
          <a:bodyPr anchor="t" rtlCol="false" tIns="0" lIns="0" bIns="0" rIns="0">
            <a:spAutoFit/>
          </a:bodyPr>
          <a:lstStyle/>
          <a:p>
            <a:pPr algn="ctr" marL="0" indent="0" lvl="0">
              <a:lnSpc>
                <a:spcPts val="1172"/>
              </a:lnSpc>
              <a:spcBef>
                <a:spcPct val="0"/>
              </a:spcBef>
            </a:pPr>
            <a:r>
              <a:rPr lang="en-US" sz="837" strike="noStrike" u="none">
                <a:solidFill>
                  <a:srgbClr val="94A3B8"/>
                </a:solidFill>
                <a:latin typeface="프리텐다드"/>
                <a:ea typeface="프리텐다드"/>
                <a:cs typeface="프리텐다드"/>
                <a:sym typeface="프리텐다드"/>
              </a:rPr>
              <a:t>1.50</a:t>
            </a:r>
          </a:p>
        </p:txBody>
      </p:sp>
      <p:sp>
        <p:nvSpPr>
          <p:cNvPr name="AutoShape 170" id="170"/>
          <p:cNvSpPr/>
          <p:nvPr/>
        </p:nvSpPr>
        <p:spPr>
          <a:xfrm>
            <a:off x="3850205" y="3554384"/>
            <a:ext cx="0" cy="35995"/>
          </a:xfrm>
          <a:prstGeom prst="line">
            <a:avLst/>
          </a:prstGeom>
          <a:ln cap="flat" w="9525">
            <a:solidFill>
              <a:srgbClr val="4A5568"/>
            </a:solidFill>
            <a:prstDash val="solid"/>
            <a:headEnd type="none" len="sm" w="sm"/>
            <a:tailEnd type="none" len="sm" w="sm"/>
          </a:ln>
        </p:spPr>
      </p:sp>
      <p:sp>
        <p:nvSpPr>
          <p:cNvPr name="TextBox 171" id="171"/>
          <p:cNvSpPr txBox="true"/>
          <p:nvPr/>
        </p:nvSpPr>
        <p:spPr>
          <a:xfrm rot="0">
            <a:off x="2578390" y="3617033"/>
            <a:ext cx="359948" cy="139610"/>
          </a:xfrm>
          <a:prstGeom prst="rect">
            <a:avLst/>
          </a:prstGeom>
        </p:spPr>
        <p:txBody>
          <a:bodyPr anchor="t" rtlCol="false" tIns="0" lIns="0" bIns="0" rIns="0">
            <a:spAutoFit/>
          </a:bodyPr>
          <a:lstStyle/>
          <a:p>
            <a:pPr algn="ctr" marL="0" indent="0" lvl="0">
              <a:lnSpc>
                <a:spcPts val="1172"/>
              </a:lnSpc>
              <a:spcBef>
                <a:spcPct val="0"/>
              </a:spcBef>
            </a:pPr>
            <a:r>
              <a:rPr lang="en-US" sz="837" strike="noStrike" u="none">
                <a:solidFill>
                  <a:srgbClr val="94A3B8"/>
                </a:solidFill>
                <a:latin typeface="프리텐다드"/>
                <a:ea typeface="프리텐다드"/>
                <a:cs typeface="프리텐다드"/>
                <a:sym typeface="프리텐다드"/>
              </a:rPr>
              <a:t>1.25</a:t>
            </a:r>
          </a:p>
        </p:txBody>
      </p:sp>
      <p:sp>
        <p:nvSpPr>
          <p:cNvPr name="AutoShape 172" id="172"/>
          <p:cNvSpPr/>
          <p:nvPr/>
        </p:nvSpPr>
        <p:spPr>
          <a:xfrm>
            <a:off x="2758364" y="3554384"/>
            <a:ext cx="0" cy="35995"/>
          </a:xfrm>
          <a:prstGeom prst="line">
            <a:avLst/>
          </a:prstGeom>
          <a:ln cap="flat" w="9525">
            <a:solidFill>
              <a:srgbClr val="4A5568"/>
            </a:solidFill>
            <a:prstDash val="solid"/>
            <a:headEnd type="none" len="sm" w="sm"/>
            <a:tailEnd type="none" len="sm" w="sm"/>
          </a:ln>
        </p:spPr>
      </p:sp>
      <p:sp>
        <p:nvSpPr>
          <p:cNvPr name="TextBox 173" id="173"/>
          <p:cNvSpPr txBox="true"/>
          <p:nvPr/>
        </p:nvSpPr>
        <p:spPr>
          <a:xfrm rot="0">
            <a:off x="1498547" y="3617033"/>
            <a:ext cx="359948" cy="139610"/>
          </a:xfrm>
          <a:prstGeom prst="rect">
            <a:avLst/>
          </a:prstGeom>
        </p:spPr>
        <p:txBody>
          <a:bodyPr anchor="t" rtlCol="false" tIns="0" lIns="0" bIns="0" rIns="0">
            <a:spAutoFit/>
          </a:bodyPr>
          <a:lstStyle/>
          <a:p>
            <a:pPr algn="ctr" marL="0" indent="0" lvl="0">
              <a:lnSpc>
                <a:spcPts val="1172"/>
              </a:lnSpc>
              <a:spcBef>
                <a:spcPct val="0"/>
              </a:spcBef>
            </a:pPr>
            <a:r>
              <a:rPr lang="en-US" sz="837" strike="noStrike" u="none">
                <a:solidFill>
                  <a:srgbClr val="94A3B8"/>
                </a:solidFill>
                <a:latin typeface="프리텐다드"/>
                <a:ea typeface="프리텐다드"/>
                <a:cs typeface="프리텐다드"/>
                <a:sym typeface="프리텐다드"/>
              </a:rPr>
              <a:t>1.00</a:t>
            </a:r>
          </a:p>
        </p:txBody>
      </p:sp>
      <p:sp>
        <p:nvSpPr>
          <p:cNvPr name="AutoShape 174" id="174"/>
          <p:cNvSpPr/>
          <p:nvPr/>
        </p:nvSpPr>
        <p:spPr>
          <a:xfrm>
            <a:off x="1678520" y="3554384"/>
            <a:ext cx="0" cy="35995"/>
          </a:xfrm>
          <a:prstGeom prst="line">
            <a:avLst/>
          </a:prstGeom>
          <a:ln cap="flat" w="9525">
            <a:solidFill>
              <a:srgbClr val="4A5568"/>
            </a:solidFill>
            <a:prstDash val="solid"/>
            <a:headEnd type="none" len="sm" w="sm"/>
            <a:tailEnd type="none" len="sm" w="sm"/>
          </a:ln>
        </p:spPr>
      </p:sp>
      <p:sp>
        <p:nvSpPr>
          <p:cNvPr name="AutoShape 175" id="175"/>
          <p:cNvSpPr/>
          <p:nvPr/>
        </p:nvSpPr>
        <p:spPr>
          <a:xfrm>
            <a:off x="1678520" y="1850631"/>
            <a:ext cx="0" cy="1703753"/>
          </a:xfrm>
          <a:prstGeom prst="line">
            <a:avLst/>
          </a:prstGeom>
          <a:ln cap="flat" w="9525">
            <a:solidFill>
              <a:srgbClr val="4A5568"/>
            </a:solidFill>
            <a:prstDash val="solid"/>
            <a:headEnd type="none" len="sm" w="sm"/>
            <a:tailEnd type="none" len="sm" w="sm"/>
          </a:ln>
        </p:spPr>
      </p:sp>
      <p:sp>
        <p:nvSpPr>
          <p:cNvPr name="AutoShape 176" id="176"/>
          <p:cNvSpPr/>
          <p:nvPr/>
        </p:nvSpPr>
        <p:spPr>
          <a:xfrm>
            <a:off x="1678520" y="3560383"/>
            <a:ext cx="8686738" cy="0"/>
          </a:xfrm>
          <a:prstGeom prst="line">
            <a:avLst/>
          </a:prstGeom>
          <a:ln cap="flat" w="9525">
            <a:solidFill>
              <a:srgbClr val="4A5568"/>
            </a:solidFill>
            <a:prstDash val="solid"/>
            <a:headEnd type="none" len="sm" w="sm"/>
            <a:tailEnd type="none" len="sm" w="sm"/>
          </a:ln>
        </p:spPr>
      </p:sp>
      <p:sp>
        <p:nvSpPr>
          <p:cNvPr name="TextBox 177" id="177"/>
          <p:cNvSpPr txBox="true"/>
          <p:nvPr/>
        </p:nvSpPr>
        <p:spPr>
          <a:xfrm rot="0">
            <a:off x="123259" y="7151352"/>
            <a:ext cx="9646359" cy="163154"/>
          </a:xfrm>
          <a:prstGeom prst="rect">
            <a:avLst/>
          </a:prstGeom>
        </p:spPr>
        <p:txBody>
          <a:bodyPr anchor="t" rtlCol="false" tIns="0" lIns="0" bIns="0" rIns="0">
            <a:spAutoFit/>
          </a:bodyPr>
          <a:lstStyle/>
          <a:p>
            <a:pPr algn="ctr" marL="0" indent="0" lvl="0">
              <a:lnSpc>
                <a:spcPts val="1309"/>
              </a:lnSpc>
              <a:spcBef>
                <a:spcPct val="0"/>
              </a:spcBef>
            </a:pPr>
            <a:r>
              <a:rPr lang="en-US" sz="935" strike="noStrike" u="none">
                <a:solidFill>
                  <a:srgbClr val="94A3B8"/>
                </a:solidFill>
                <a:latin typeface="프리텐다드"/>
                <a:ea typeface="프리텐다드"/>
                <a:cs typeface="프리텐다드"/>
                <a:sym typeface="프리텐다드"/>
              </a:rPr>
              <a:t>단변량 로지스틱(침해~제도수요) · 95% CI · 악성민원 패널티(2.49)는 다른 제도와 CI가 겹치지 않아 우위 확실</a:t>
            </a:r>
          </a:p>
        </p:txBody>
      </p:sp>
      <p:sp>
        <p:nvSpPr>
          <p:cNvPr name="TextBox 178" id="178"/>
          <p:cNvSpPr txBox="true"/>
          <p:nvPr/>
        </p:nvSpPr>
        <p:spPr>
          <a:xfrm rot="0">
            <a:off x="1703877" y="6102374"/>
            <a:ext cx="1404810" cy="138676"/>
          </a:xfrm>
          <a:prstGeom prst="rect">
            <a:avLst/>
          </a:prstGeom>
        </p:spPr>
        <p:txBody>
          <a:bodyPr anchor="t" rtlCol="false" tIns="0" lIns="0" bIns="0" rIns="0">
            <a:spAutoFit/>
          </a:bodyPr>
          <a:lstStyle/>
          <a:p>
            <a:pPr algn="ctr" marL="0" indent="0" lvl="0">
              <a:lnSpc>
                <a:spcPts val="1163"/>
              </a:lnSpc>
              <a:spcBef>
                <a:spcPct val="0"/>
              </a:spcBef>
            </a:pPr>
            <a:r>
              <a:rPr lang="en-US" b="true" sz="831" strike="noStrike" u="none">
                <a:solidFill>
                  <a:srgbClr val="94A3B8"/>
                </a:solidFill>
                <a:latin typeface="프리텐다드 Bold"/>
                <a:ea typeface="프리텐다드 Bold"/>
                <a:cs typeface="프리텐다드 Bold"/>
                <a:sym typeface="프리텐다드 Bold"/>
              </a:rPr>
              <a:t>1.19 [1.10, 1.28]</a:t>
            </a:r>
          </a:p>
        </p:txBody>
      </p:sp>
      <p:grpSp>
        <p:nvGrpSpPr>
          <p:cNvPr name="Group 179" id="179"/>
          <p:cNvGrpSpPr/>
          <p:nvPr/>
        </p:nvGrpSpPr>
        <p:grpSpPr>
          <a:xfrm rot="0">
            <a:off x="2324334" y="6310791"/>
            <a:ext cx="163894" cy="163894"/>
            <a:chOff x="0" y="0"/>
            <a:chExt cx="177800" cy="177800"/>
          </a:xfrm>
        </p:grpSpPr>
        <p:sp>
          <p:nvSpPr>
            <p:cNvPr name="Freeform 180" id="180"/>
            <p:cNvSpPr/>
            <p:nvPr/>
          </p:nvSpPr>
          <p:spPr>
            <a:xfrm flipH="false" flipV="false" rot="0">
              <a:off x="0" y="0"/>
              <a:ext cx="177800" cy="177800"/>
            </a:xfrm>
            <a:custGeom>
              <a:avLst/>
              <a:gdLst/>
              <a:ahLst/>
              <a:cxnLst/>
              <a:rect r="r" b="b" t="t" l="l"/>
              <a:pathLst>
                <a:path h="177800" w="177800">
                  <a:moveTo>
                    <a:pt x="88900" y="0"/>
                  </a:moveTo>
                  <a:cubicBezTo>
                    <a:pt x="39802" y="0"/>
                    <a:pt x="0" y="39802"/>
                    <a:pt x="0" y="88900"/>
                  </a:cubicBezTo>
                  <a:cubicBezTo>
                    <a:pt x="0" y="137998"/>
                    <a:pt x="39802" y="177800"/>
                    <a:pt x="88900" y="177800"/>
                  </a:cubicBezTo>
                  <a:cubicBezTo>
                    <a:pt x="137998" y="177800"/>
                    <a:pt x="177800" y="137998"/>
                    <a:pt x="177800" y="88900"/>
                  </a:cubicBezTo>
                  <a:cubicBezTo>
                    <a:pt x="177800" y="39802"/>
                    <a:pt x="137998" y="0"/>
                    <a:pt x="88900" y="0"/>
                  </a:cubicBezTo>
                  <a:close/>
                </a:path>
              </a:pathLst>
            </a:custGeom>
            <a:solidFill>
              <a:srgbClr val="94A3B8"/>
            </a:solidFill>
          </p:spPr>
        </p:sp>
        <p:sp>
          <p:nvSpPr>
            <p:cNvPr name="TextBox 181" id="181"/>
            <p:cNvSpPr txBox="true"/>
            <p:nvPr/>
          </p:nvSpPr>
          <p:spPr>
            <a:xfrm>
              <a:off x="0" y="-38100"/>
              <a:ext cx="177800" cy="215900"/>
            </a:xfrm>
            <a:prstGeom prst="rect">
              <a:avLst/>
            </a:prstGeom>
          </p:spPr>
          <p:txBody>
            <a:bodyPr anchor="ctr" rtlCol="false" tIns="50800" lIns="50800" bIns="50800" rIns="50800"/>
            <a:lstStyle/>
            <a:p>
              <a:pPr algn="l">
                <a:lnSpc>
                  <a:spcPts val="1679"/>
                </a:lnSpc>
              </a:pPr>
            </a:p>
          </p:txBody>
        </p:sp>
      </p:grpSp>
      <p:sp>
        <p:nvSpPr>
          <p:cNvPr name="AutoShape 182" id="182"/>
          <p:cNvSpPr/>
          <p:nvPr/>
        </p:nvSpPr>
        <p:spPr>
          <a:xfrm>
            <a:off x="2055079" y="6392738"/>
            <a:ext cx="714112" cy="0"/>
          </a:xfrm>
          <a:prstGeom prst="line">
            <a:avLst/>
          </a:prstGeom>
          <a:ln cap="flat" w="47625">
            <a:solidFill>
              <a:srgbClr val="94A3B8"/>
            </a:solidFill>
            <a:prstDash val="solid"/>
            <a:headEnd type="none" len="sm" w="sm"/>
            <a:tailEnd type="none" len="sm" w="sm"/>
          </a:ln>
        </p:spPr>
      </p:sp>
      <p:sp>
        <p:nvSpPr>
          <p:cNvPr name="TextBox 183" id="183"/>
          <p:cNvSpPr txBox="true"/>
          <p:nvPr/>
        </p:nvSpPr>
        <p:spPr>
          <a:xfrm rot="0">
            <a:off x="-98962" y="6285956"/>
            <a:ext cx="1638945" cy="180306"/>
          </a:xfrm>
          <a:prstGeom prst="rect">
            <a:avLst/>
          </a:prstGeom>
        </p:spPr>
        <p:txBody>
          <a:bodyPr anchor="t" rtlCol="false" tIns="0" lIns="0" bIns="0" rIns="0">
            <a:spAutoFit/>
          </a:bodyPr>
          <a:lstStyle/>
          <a:p>
            <a:pPr algn="r" marL="0" indent="0" lvl="0">
              <a:lnSpc>
                <a:spcPts val="1454"/>
              </a:lnSpc>
              <a:spcBef>
                <a:spcPct val="0"/>
              </a:spcBef>
            </a:pPr>
            <a:r>
              <a:rPr lang="en-US" sz="1038" strike="noStrike" u="none">
                <a:solidFill>
                  <a:srgbClr val="1E293B"/>
                </a:solidFill>
                <a:latin typeface="프리텐다드"/>
                <a:ea typeface="프리텐다드"/>
                <a:cs typeface="프리텐다드"/>
                <a:sym typeface="프리텐다드"/>
              </a:rPr>
              <a:t>과밀학급 → 보호자</a:t>
            </a:r>
          </a:p>
        </p:txBody>
      </p:sp>
      <p:sp>
        <p:nvSpPr>
          <p:cNvPr name="TextBox 184" id="184"/>
          <p:cNvSpPr txBox="true"/>
          <p:nvPr/>
        </p:nvSpPr>
        <p:spPr>
          <a:xfrm rot="0">
            <a:off x="3787678" y="5751171"/>
            <a:ext cx="1404810" cy="138676"/>
          </a:xfrm>
          <a:prstGeom prst="rect">
            <a:avLst/>
          </a:prstGeom>
        </p:spPr>
        <p:txBody>
          <a:bodyPr anchor="t" rtlCol="false" tIns="0" lIns="0" bIns="0" rIns="0">
            <a:spAutoFit/>
          </a:bodyPr>
          <a:lstStyle/>
          <a:p>
            <a:pPr algn="ctr" marL="0" indent="0" lvl="0">
              <a:lnSpc>
                <a:spcPts val="1163"/>
              </a:lnSpc>
              <a:spcBef>
                <a:spcPct val="0"/>
              </a:spcBef>
            </a:pPr>
            <a:r>
              <a:rPr lang="en-US" b="true" sz="831" strike="noStrike" u="none">
                <a:solidFill>
                  <a:srgbClr val="1B2A4A"/>
                </a:solidFill>
                <a:latin typeface="프리텐다드 Bold"/>
                <a:ea typeface="프리텐다드 Bold"/>
                <a:cs typeface="프리텐다드 Bold"/>
                <a:sym typeface="프리텐다드 Bold"/>
              </a:rPr>
              <a:t>1.71 [1.56, 1.87]</a:t>
            </a:r>
          </a:p>
        </p:txBody>
      </p:sp>
      <p:grpSp>
        <p:nvGrpSpPr>
          <p:cNvPr name="Group 185" id="185"/>
          <p:cNvGrpSpPr/>
          <p:nvPr/>
        </p:nvGrpSpPr>
        <p:grpSpPr>
          <a:xfrm rot="0">
            <a:off x="4408135" y="5959589"/>
            <a:ext cx="163894" cy="163894"/>
            <a:chOff x="0" y="0"/>
            <a:chExt cx="177800" cy="177800"/>
          </a:xfrm>
        </p:grpSpPr>
        <p:sp>
          <p:nvSpPr>
            <p:cNvPr name="Freeform 186" id="186"/>
            <p:cNvSpPr/>
            <p:nvPr/>
          </p:nvSpPr>
          <p:spPr>
            <a:xfrm flipH="false" flipV="false" rot="0">
              <a:off x="0" y="0"/>
              <a:ext cx="177800" cy="177800"/>
            </a:xfrm>
            <a:custGeom>
              <a:avLst/>
              <a:gdLst/>
              <a:ahLst/>
              <a:cxnLst/>
              <a:rect r="r" b="b" t="t" l="l"/>
              <a:pathLst>
                <a:path h="177800" w="177800">
                  <a:moveTo>
                    <a:pt x="88900" y="0"/>
                  </a:moveTo>
                  <a:cubicBezTo>
                    <a:pt x="39802" y="0"/>
                    <a:pt x="0" y="39802"/>
                    <a:pt x="0" y="88900"/>
                  </a:cubicBezTo>
                  <a:cubicBezTo>
                    <a:pt x="0" y="137998"/>
                    <a:pt x="39802" y="177800"/>
                    <a:pt x="88900" y="177800"/>
                  </a:cubicBezTo>
                  <a:cubicBezTo>
                    <a:pt x="137998" y="177800"/>
                    <a:pt x="177800" y="137998"/>
                    <a:pt x="177800" y="88900"/>
                  </a:cubicBezTo>
                  <a:cubicBezTo>
                    <a:pt x="177800" y="39802"/>
                    <a:pt x="137998" y="0"/>
                    <a:pt x="88900" y="0"/>
                  </a:cubicBezTo>
                  <a:close/>
                </a:path>
              </a:pathLst>
            </a:custGeom>
            <a:solidFill>
              <a:srgbClr val="1B2A4A"/>
            </a:solidFill>
          </p:spPr>
        </p:sp>
        <p:sp>
          <p:nvSpPr>
            <p:cNvPr name="TextBox 187" id="187"/>
            <p:cNvSpPr txBox="true"/>
            <p:nvPr/>
          </p:nvSpPr>
          <p:spPr>
            <a:xfrm>
              <a:off x="0" y="-38100"/>
              <a:ext cx="177800" cy="215900"/>
            </a:xfrm>
            <a:prstGeom prst="rect">
              <a:avLst/>
            </a:prstGeom>
          </p:spPr>
          <p:txBody>
            <a:bodyPr anchor="ctr" rtlCol="false" tIns="50800" lIns="50800" bIns="50800" rIns="50800"/>
            <a:lstStyle/>
            <a:p>
              <a:pPr algn="l">
                <a:lnSpc>
                  <a:spcPts val="1679"/>
                </a:lnSpc>
              </a:pPr>
            </a:p>
          </p:txBody>
        </p:sp>
      </p:grpSp>
      <p:sp>
        <p:nvSpPr>
          <p:cNvPr name="AutoShape 188" id="188"/>
          <p:cNvSpPr/>
          <p:nvPr/>
        </p:nvSpPr>
        <p:spPr>
          <a:xfrm>
            <a:off x="3893039" y="6041536"/>
            <a:ext cx="1240915" cy="0"/>
          </a:xfrm>
          <a:prstGeom prst="line">
            <a:avLst/>
          </a:prstGeom>
          <a:ln cap="flat" w="47625">
            <a:solidFill>
              <a:srgbClr val="1B2A4A"/>
            </a:solidFill>
            <a:prstDash val="solid"/>
            <a:headEnd type="none" len="sm" w="sm"/>
            <a:tailEnd type="none" len="sm" w="sm"/>
          </a:ln>
        </p:spPr>
      </p:sp>
      <p:sp>
        <p:nvSpPr>
          <p:cNvPr name="TextBox 189" id="189"/>
          <p:cNvSpPr txBox="true"/>
          <p:nvPr/>
        </p:nvSpPr>
        <p:spPr>
          <a:xfrm rot="0">
            <a:off x="-98962" y="5934754"/>
            <a:ext cx="1638945" cy="180306"/>
          </a:xfrm>
          <a:prstGeom prst="rect">
            <a:avLst/>
          </a:prstGeom>
        </p:spPr>
        <p:txBody>
          <a:bodyPr anchor="t" rtlCol="false" tIns="0" lIns="0" bIns="0" rIns="0">
            <a:spAutoFit/>
          </a:bodyPr>
          <a:lstStyle/>
          <a:p>
            <a:pPr algn="r" marL="0" indent="0" lvl="0">
              <a:lnSpc>
                <a:spcPts val="1454"/>
              </a:lnSpc>
              <a:spcBef>
                <a:spcPct val="0"/>
              </a:spcBef>
            </a:pPr>
            <a:r>
              <a:rPr lang="en-US" sz="1038" strike="noStrike" u="none">
                <a:solidFill>
                  <a:srgbClr val="1E293B"/>
                </a:solidFill>
                <a:latin typeface="프리텐다드"/>
                <a:ea typeface="프리텐다드"/>
                <a:cs typeface="프리텐다드"/>
                <a:sym typeface="프리텐다드"/>
              </a:rPr>
              <a:t>수업방해 → 학생</a:t>
            </a:r>
          </a:p>
        </p:txBody>
      </p:sp>
      <p:sp>
        <p:nvSpPr>
          <p:cNvPr name="TextBox 190" id="190"/>
          <p:cNvSpPr txBox="true"/>
          <p:nvPr/>
        </p:nvSpPr>
        <p:spPr>
          <a:xfrm rot="0">
            <a:off x="4876405" y="5399969"/>
            <a:ext cx="1404810" cy="138676"/>
          </a:xfrm>
          <a:prstGeom prst="rect">
            <a:avLst/>
          </a:prstGeom>
        </p:spPr>
        <p:txBody>
          <a:bodyPr anchor="t" rtlCol="false" tIns="0" lIns="0" bIns="0" rIns="0">
            <a:spAutoFit/>
          </a:bodyPr>
          <a:lstStyle/>
          <a:p>
            <a:pPr algn="ctr" marL="0" indent="0" lvl="0">
              <a:lnSpc>
                <a:spcPts val="1163"/>
              </a:lnSpc>
              <a:spcBef>
                <a:spcPct val="0"/>
              </a:spcBef>
            </a:pPr>
            <a:r>
              <a:rPr lang="en-US" b="true" sz="831" strike="noStrike" u="none">
                <a:solidFill>
                  <a:srgbClr val="6B3FA0"/>
                </a:solidFill>
                <a:latin typeface="프리텐다드 Bold"/>
                <a:ea typeface="프리텐다드 Bold"/>
                <a:cs typeface="프리텐다드 Bold"/>
                <a:sym typeface="프리텐다드 Bold"/>
              </a:rPr>
              <a:t>1.98 [1.74, 2.25]</a:t>
            </a:r>
          </a:p>
        </p:txBody>
      </p:sp>
      <p:grpSp>
        <p:nvGrpSpPr>
          <p:cNvPr name="Group 191" id="191"/>
          <p:cNvGrpSpPr/>
          <p:nvPr/>
        </p:nvGrpSpPr>
        <p:grpSpPr>
          <a:xfrm rot="0">
            <a:off x="5496863" y="5608386"/>
            <a:ext cx="163894" cy="163894"/>
            <a:chOff x="0" y="0"/>
            <a:chExt cx="177800" cy="177800"/>
          </a:xfrm>
        </p:grpSpPr>
        <p:sp>
          <p:nvSpPr>
            <p:cNvPr name="Freeform 192" id="192"/>
            <p:cNvSpPr/>
            <p:nvPr/>
          </p:nvSpPr>
          <p:spPr>
            <a:xfrm flipH="false" flipV="false" rot="0">
              <a:off x="0" y="0"/>
              <a:ext cx="177800" cy="177800"/>
            </a:xfrm>
            <a:custGeom>
              <a:avLst/>
              <a:gdLst/>
              <a:ahLst/>
              <a:cxnLst/>
              <a:rect r="r" b="b" t="t" l="l"/>
              <a:pathLst>
                <a:path h="177800" w="177800">
                  <a:moveTo>
                    <a:pt x="88900" y="0"/>
                  </a:moveTo>
                  <a:cubicBezTo>
                    <a:pt x="39802" y="0"/>
                    <a:pt x="0" y="39802"/>
                    <a:pt x="0" y="88900"/>
                  </a:cubicBezTo>
                  <a:cubicBezTo>
                    <a:pt x="0" y="137998"/>
                    <a:pt x="39802" y="177800"/>
                    <a:pt x="88900" y="177800"/>
                  </a:cubicBezTo>
                  <a:cubicBezTo>
                    <a:pt x="137998" y="177800"/>
                    <a:pt x="177800" y="137998"/>
                    <a:pt x="177800" y="88900"/>
                  </a:cubicBezTo>
                  <a:cubicBezTo>
                    <a:pt x="177800" y="39802"/>
                    <a:pt x="137998" y="0"/>
                    <a:pt x="88900" y="0"/>
                  </a:cubicBezTo>
                  <a:close/>
                </a:path>
              </a:pathLst>
            </a:custGeom>
            <a:solidFill>
              <a:srgbClr val="6B3FA0"/>
            </a:solidFill>
          </p:spPr>
        </p:sp>
        <p:sp>
          <p:nvSpPr>
            <p:cNvPr name="TextBox 193" id="193"/>
            <p:cNvSpPr txBox="true"/>
            <p:nvPr/>
          </p:nvSpPr>
          <p:spPr>
            <a:xfrm>
              <a:off x="0" y="-38100"/>
              <a:ext cx="177800" cy="215900"/>
            </a:xfrm>
            <a:prstGeom prst="rect">
              <a:avLst/>
            </a:prstGeom>
          </p:spPr>
          <p:txBody>
            <a:bodyPr anchor="ctr" rtlCol="false" tIns="50800" lIns="50800" bIns="50800" rIns="50800"/>
            <a:lstStyle/>
            <a:p>
              <a:pPr algn="l">
                <a:lnSpc>
                  <a:spcPts val="1679"/>
                </a:lnSpc>
              </a:pPr>
            </a:p>
          </p:txBody>
        </p:sp>
      </p:grpSp>
      <p:sp>
        <p:nvSpPr>
          <p:cNvPr name="AutoShape 194" id="194"/>
          <p:cNvSpPr/>
          <p:nvPr/>
        </p:nvSpPr>
        <p:spPr>
          <a:xfrm>
            <a:off x="4618857" y="5690334"/>
            <a:ext cx="2036974" cy="0"/>
          </a:xfrm>
          <a:prstGeom prst="line">
            <a:avLst/>
          </a:prstGeom>
          <a:ln cap="flat" w="47625">
            <a:solidFill>
              <a:srgbClr val="6B3FA0"/>
            </a:solidFill>
            <a:prstDash val="solid"/>
            <a:headEnd type="none" len="sm" w="sm"/>
            <a:tailEnd type="none" len="sm" w="sm"/>
          </a:ln>
        </p:spPr>
      </p:sp>
      <p:sp>
        <p:nvSpPr>
          <p:cNvPr name="TextBox 195" id="195"/>
          <p:cNvSpPr txBox="true"/>
          <p:nvPr/>
        </p:nvSpPr>
        <p:spPr>
          <a:xfrm rot="0">
            <a:off x="-98962" y="5583552"/>
            <a:ext cx="1638945" cy="180306"/>
          </a:xfrm>
          <a:prstGeom prst="rect">
            <a:avLst/>
          </a:prstGeom>
        </p:spPr>
        <p:txBody>
          <a:bodyPr anchor="t" rtlCol="false" tIns="0" lIns="0" bIns="0" rIns="0">
            <a:spAutoFit/>
          </a:bodyPr>
          <a:lstStyle/>
          <a:p>
            <a:pPr algn="r" marL="0" indent="0" lvl="0">
              <a:lnSpc>
                <a:spcPts val="1454"/>
              </a:lnSpc>
              <a:spcBef>
                <a:spcPct val="0"/>
              </a:spcBef>
            </a:pPr>
            <a:r>
              <a:rPr lang="en-US" sz="1038" strike="noStrike" u="none">
                <a:solidFill>
                  <a:srgbClr val="1E293B"/>
                </a:solidFill>
                <a:latin typeface="프리텐다드"/>
                <a:ea typeface="프리텐다드"/>
                <a:cs typeface="프리텐다드"/>
                <a:sym typeface="프리텐다드"/>
              </a:rPr>
              <a:t>아동학대 → 보호자</a:t>
            </a:r>
          </a:p>
        </p:txBody>
      </p:sp>
      <p:sp>
        <p:nvSpPr>
          <p:cNvPr name="TextBox 196" id="196"/>
          <p:cNvSpPr txBox="true"/>
          <p:nvPr/>
        </p:nvSpPr>
        <p:spPr>
          <a:xfrm rot="0">
            <a:off x="6913379" y="5048766"/>
            <a:ext cx="1404810" cy="138676"/>
          </a:xfrm>
          <a:prstGeom prst="rect">
            <a:avLst/>
          </a:prstGeom>
        </p:spPr>
        <p:txBody>
          <a:bodyPr anchor="t" rtlCol="false" tIns="0" lIns="0" bIns="0" rIns="0">
            <a:spAutoFit/>
          </a:bodyPr>
          <a:lstStyle/>
          <a:p>
            <a:pPr algn="ctr" marL="0" indent="0" lvl="0">
              <a:lnSpc>
                <a:spcPts val="1163"/>
              </a:lnSpc>
              <a:spcBef>
                <a:spcPct val="0"/>
              </a:spcBef>
            </a:pPr>
            <a:r>
              <a:rPr lang="en-US" b="true" sz="831" strike="noStrike" u="none">
                <a:solidFill>
                  <a:srgbClr val="8B3A3A"/>
                </a:solidFill>
                <a:latin typeface="프리텐다드 Bold"/>
                <a:ea typeface="프리텐다드 Bold"/>
                <a:cs typeface="프리텐다드 Bold"/>
                <a:sym typeface="프리텐다드 Bold"/>
              </a:rPr>
              <a:t>2.49 [2.17, 2.85]</a:t>
            </a:r>
          </a:p>
        </p:txBody>
      </p:sp>
      <p:grpSp>
        <p:nvGrpSpPr>
          <p:cNvPr name="Group 197" id="197"/>
          <p:cNvGrpSpPr/>
          <p:nvPr/>
        </p:nvGrpSpPr>
        <p:grpSpPr>
          <a:xfrm rot="0">
            <a:off x="7533837" y="5257184"/>
            <a:ext cx="163894" cy="163894"/>
            <a:chOff x="0" y="0"/>
            <a:chExt cx="177800" cy="177800"/>
          </a:xfrm>
        </p:grpSpPr>
        <p:sp>
          <p:nvSpPr>
            <p:cNvPr name="Freeform 198" id="198"/>
            <p:cNvSpPr/>
            <p:nvPr/>
          </p:nvSpPr>
          <p:spPr>
            <a:xfrm flipH="false" flipV="false" rot="0">
              <a:off x="0" y="0"/>
              <a:ext cx="177800" cy="177800"/>
            </a:xfrm>
            <a:custGeom>
              <a:avLst/>
              <a:gdLst/>
              <a:ahLst/>
              <a:cxnLst/>
              <a:rect r="r" b="b" t="t" l="l"/>
              <a:pathLst>
                <a:path h="177800" w="177800">
                  <a:moveTo>
                    <a:pt x="88900" y="0"/>
                  </a:moveTo>
                  <a:cubicBezTo>
                    <a:pt x="39802" y="0"/>
                    <a:pt x="0" y="39802"/>
                    <a:pt x="0" y="88900"/>
                  </a:cubicBezTo>
                  <a:cubicBezTo>
                    <a:pt x="0" y="137998"/>
                    <a:pt x="39802" y="177800"/>
                    <a:pt x="88900" y="177800"/>
                  </a:cubicBezTo>
                  <a:cubicBezTo>
                    <a:pt x="137998" y="177800"/>
                    <a:pt x="177800" y="137998"/>
                    <a:pt x="177800" y="88900"/>
                  </a:cubicBezTo>
                  <a:cubicBezTo>
                    <a:pt x="177800" y="39802"/>
                    <a:pt x="137998" y="0"/>
                    <a:pt x="88900" y="0"/>
                  </a:cubicBezTo>
                  <a:close/>
                </a:path>
              </a:pathLst>
            </a:custGeom>
            <a:solidFill>
              <a:srgbClr val="8B3A3A"/>
            </a:solidFill>
          </p:spPr>
        </p:sp>
        <p:sp>
          <p:nvSpPr>
            <p:cNvPr name="TextBox 199" id="199"/>
            <p:cNvSpPr txBox="true"/>
            <p:nvPr/>
          </p:nvSpPr>
          <p:spPr>
            <a:xfrm>
              <a:off x="0" y="-38100"/>
              <a:ext cx="177800" cy="215900"/>
            </a:xfrm>
            <a:prstGeom prst="rect">
              <a:avLst/>
            </a:prstGeom>
          </p:spPr>
          <p:txBody>
            <a:bodyPr anchor="ctr" rtlCol="false" tIns="50800" lIns="50800" bIns="50800" rIns="50800"/>
            <a:lstStyle/>
            <a:p>
              <a:pPr algn="l">
                <a:lnSpc>
                  <a:spcPts val="1679"/>
                </a:lnSpc>
              </a:pPr>
            </a:p>
          </p:txBody>
        </p:sp>
      </p:grpSp>
      <p:sp>
        <p:nvSpPr>
          <p:cNvPr name="AutoShape 200" id="200"/>
          <p:cNvSpPr/>
          <p:nvPr/>
        </p:nvSpPr>
        <p:spPr>
          <a:xfrm>
            <a:off x="6339749" y="5339131"/>
            <a:ext cx="2715965" cy="0"/>
          </a:xfrm>
          <a:prstGeom prst="line">
            <a:avLst/>
          </a:prstGeom>
          <a:ln cap="flat" w="47625">
            <a:solidFill>
              <a:srgbClr val="8B3A3A"/>
            </a:solidFill>
            <a:prstDash val="solid"/>
            <a:headEnd type="none" len="sm" w="sm"/>
            <a:tailEnd type="none" len="sm" w="sm"/>
          </a:ln>
        </p:spPr>
      </p:sp>
      <p:sp>
        <p:nvSpPr>
          <p:cNvPr name="TextBox 201" id="201"/>
          <p:cNvSpPr txBox="true"/>
          <p:nvPr/>
        </p:nvSpPr>
        <p:spPr>
          <a:xfrm rot="0">
            <a:off x="-98962" y="5232349"/>
            <a:ext cx="1638945" cy="180306"/>
          </a:xfrm>
          <a:prstGeom prst="rect">
            <a:avLst/>
          </a:prstGeom>
        </p:spPr>
        <p:txBody>
          <a:bodyPr anchor="t" rtlCol="false" tIns="0" lIns="0" bIns="0" rIns="0">
            <a:spAutoFit/>
          </a:bodyPr>
          <a:lstStyle/>
          <a:p>
            <a:pPr algn="r" marL="0" indent="0" lvl="0">
              <a:lnSpc>
                <a:spcPts val="1454"/>
              </a:lnSpc>
              <a:spcBef>
                <a:spcPct val="0"/>
              </a:spcBef>
            </a:pPr>
            <a:r>
              <a:rPr lang="en-US" sz="1038" strike="noStrike" u="none">
                <a:solidFill>
                  <a:srgbClr val="1E293B"/>
                </a:solidFill>
                <a:latin typeface="프리텐다드"/>
                <a:ea typeface="프리텐다드"/>
                <a:cs typeface="프리텐다드"/>
                <a:sym typeface="프리텐다드"/>
              </a:rPr>
              <a:t>악성민원 → 보호자</a:t>
            </a:r>
          </a:p>
        </p:txBody>
      </p:sp>
      <p:sp>
        <p:nvSpPr>
          <p:cNvPr name="TextBox 202" id="202"/>
          <p:cNvSpPr txBox="true"/>
          <p:nvPr/>
        </p:nvSpPr>
        <p:spPr>
          <a:xfrm rot="0">
            <a:off x="3062235" y="6985142"/>
            <a:ext cx="4143437" cy="163153"/>
          </a:xfrm>
          <a:prstGeom prst="rect">
            <a:avLst/>
          </a:prstGeom>
        </p:spPr>
        <p:txBody>
          <a:bodyPr anchor="t" rtlCol="false" tIns="0" lIns="0" bIns="0" rIns="0">
            <a:spAutoFit/>
          </a:bodyPr>
          <a:lstStyle/>
          <a:p>
            <a:pPr algn="ctr" marL="0" indent="0" lvl="0">
              <a:lnSpc>
                <a:spcPts val="1309"/>
              </a:lnSpc>
              <a:spcBef>
                <a:spcPct val="0"/>
              </a:spcBef>
            </a:pPr>
            <a:r>
              <a:rPr lang="en-US" sz="935" strike="noStrike" u="none">
                <a:solidFill>
                  <a:srgbClr val="64748B"/>
                </a:solidFill>
                <a:latin typeface="프리텐다드"/>
                <a:ea typeface="프리텐다드"/>
                <a:cs typeface="프리텐다드"/>
                <a:sym typeface="프리텐다드"/>
              </a:rPr>
              <a:t>오즈비 (OR), 95% 신뢰구간</a:t>
            </a:r>
          </a:p>
        </p:txBody>
      </p:sp>
      <p:sp>
        <p:nvSpPr>
          <p:cNvPr name="TextBox 203" id="203"/>
          <p:cNvSpPr txBox="true"/>
          <p:nvPr/>
        </p:nvSpPr>
        <p:spPr>
          <a:xfrm rot="0">
            <a:off x="9430330" y="6830252"/>
            <a:ext cx="468270" cy="149385"/>
          </a:xfrm>
          <a:prstGeom prst="rect">
            <a:avLst/>
          </a:prstGeom>
        </p:spPr>
        <p:txBody>
          <a:bodyPr anchor="t" rtlCol="false" tIns="0" lIns="0" bIns="0" rIns="0">
            <a:spAutoFit/>
          </a:bodyPr>
          <a:lstStyle/>
          <a:p>
            <a:pPr algn="ctr" marL="0" indent="0" lvl="0">
              <a:lnSpc>
                <a:spcPts val="1204"/>
              </a:lnSpc>
              <a:spcBef>
                <a:spcPct val="0"/>
              </a:spcBef>
            </a:pPr>
            <a:r>
              <a:rPr lang="en-US" sz="860" strike="noStrike" u="none">
                <a:solidFill>
                  <a:srgbClr val="94A3B8"/>
                </a:solidFill>
                <a:latin typeface="프리텐다드"/>
                <a:ea typeface="프리텐다드"/>
                <a:cs typeface="프리텐다드"/>
                <a:sym typeface="프리텐다드"/>
              </a:rPr>
              <a:t>3.00</a:t>
            </a:r>
          </a:p>
        </p:txBody>
      </p:sp>
      <p:sp>
        <p:nvSpPr>
          <p:cNvPr name="AutoShape 204" id="204"/>
          <p:cNvSpPr/>
          <p:nvPr/>
        </p:nvSpPr>
        <p:spPr>
          <a:xfrm>
            <a:off x="9664465" y="6755648"/>
            <a:ext cx="0" cy="46827"/>
          </a:xfrm>
          <a:prstGeom prst="line">
            <a:avLst/>
          </a:prstGeom>
          <a:ln cap="flat" w="9525">
            <a:solidFill>
              <a:srgbClr val="4A5568"/>
            </a:solidFill>
            <a:prstDash val="solid"/>
            <a:headEnd type="none" len="sm" w="sm"/>
            <a:tailEnd type="none" len="sm" w="sm"/>
          </a:ln>
        </p:spPr>
      </p:sp>
      <p:sp>
        <p:nvSpPr>
          <p:cNvPr name="TextBox 205" id="205"/>
          <p:cNvSpPr txBox="true"/>
          <p:nvPr/>
        </p:nvSpPr>
        <p:spPr>
          <a:xfrm rot="0">
            <a:off x="8423550" y="6830252"/>
            <a:ext cx="468270" cy="149385"/>
          </a:xfrm>
          <a:prstGeom prst="rect">
            <a:avLst/>
          </a:prstGeom>
        </p:spPr>
        <p:txBody>
          <a:bodyPr anchor="t" rtlCol="false" tIns="0" lIns="0" bIns="0" rIns="0">
            <a:spAutoFit/>
          </a:bodyPr>
          <a:lstStyle/>
          <a:p>
            <a:pPr algn="ctr" marL="0" indent="0" lvl="0">
              <a:lnSpc>
                <a:spcPts val="1204"/>
              </a:lnSpc>
              <a:spcBef>
                <a:spcPct val="0"/>
              </a:spcBef>
            </a:pPr>
            <a:r>
              <a:rPr lang="en-US" sz="860" strike="noStrike" u="none">
                <a:solidFill>
                  <a:srgbClr val="94A3B8"/>
                </a:solidFill>
                <a:latin typeface="프리텐다드"/>
                <a:ea typeface="프리텐다드"/>
                <a:cs typeface="프리텐다드"/>
                <a:sym typeface="프리텐다드"/>
              </a:rPr>
              <a:t>2.75</a:t>
            </a:r>
          </a:p>
        </p:txBody>
      </p:sp>
      <p:sp>
        <p:nvSpPr>
          <p:cNvPr name="AutoShape 206" id="206"/>
          <p:cNvSpPr/>
          <p:nvPr/>
        </p:nvSpPr>
        <p:spPr>
          <a:xfrm>
            <a:off x="8657684" y="6755648"/>
            <a:ext cx="0" cy="46827"/>
          </a:xfrm>
          <a:prstGeom prst="line">
            <a:avLst/>
          </a:prstGeom>
          <a:ln cap="flat" w="9525">
            <a:solidFill>
              <a:srgbClr val="4A5568"/>
            </a:solidFill>
            <a:prstDash val="solid"/>
            <a:headEnd type="none" len="sm" w="sm"/>
            <a:tailEnd type="none" len="sm" w="sm"/>
          </a:ln>
        </p:spPr>
      </p:sp>
      <p:sp>
        <p:nvSpPr>
          <p:cNvPr name="TextBox 207" id="207"/>
          <p:cNvSpPr txBox="true"/>
          <p:nvPr/>
        </p:nvSpPr>
        <p:spPr>
          <a:xfrm rot="0">
            <a:off x="7428476" y="6830252"/>
            <a:ext cx="468270" cy="149385"/>
          </a:xfrm>
          <a:prstGeom prst="rect">
            <a:avLst/>
          </a:prstGeom>
        </p:spPr>
        <p:txBody>
          <a:bodyPr anchor="t" rtlCol="false" tIns="0" lIns="0" bIns="0" rIns="0">
            <a:spAutoFit/>
          </a:bodyPr>
          <a:lstStyle/>
          <a:p>
            <a:pPr algn="ctr" marL="0" indent="0" lvl="0">
              <a:lnSpc>
                <a:spcPts val="1204"/>
              </a:lnSpc>
              <a:spcBef>
                <a:spcPct val="0"/>
              </a:spcBef>
            </a:pPr>
            <a:r>
              <a:rPr lang="en-US" sz="860" strike="noStrike" u="none">
                <a:solidFill>
                  <a:srgbClr val="94A3B8"/>
                </a:solidFill>
                <a:latin typeface="프리텐다드"/>
                <a:ea typeface="프리텐다드"/>
                <a:cs typeface="프리텐다드"/>
                <a:sym typeface="프리텐다드"/>
              </a:rPr>
              <a:t>2.50</a:t>
            </a:r>
          </a:p>
        </p:txBody>
      </p:sp>
      <p:sp>
        <p:nvSpPr>
          <p:cNvPr name="AutoShape 208" id="208"/>
          <p:cNvSpPr/>
          <p:nvPr/>
        </p:nvSpPr>
        <p:spPr>
          <a:xfrm>
            <a:off x="7662611" y="6755648"/>
            <a:ext cx="0" cy="46827"/>
          </a:xfrm>
          <a:prstGeom prst="line">
            <a:avLst/>
          </a:prstGeom>
          <a:ln cap="flat" w="9525">
            <a:solidFill>
              <a:srgbClr val="4A5568"/>
            </a:solidFill>
            <a:prstDash val="solid"/>
            <a:headEnd type="none" len="sm" w="sm"/>
            <a:tailEnd type="none" len="sm" w="sm"/>
          </a:ln>
        </p:spPr>
      </p:sp>
      <p:sp>
        <p:nvSpPr>
          <p:cNvPr name="TextBox 209" id="209"/>
          <p:cNvSpPr txBox="true"/>
          <p:nvPr/>
        </p:nvSpPr>
        <p:spPr>
          <a:xfrm rot="0">
            <a:off x="6421696" y="6830252"/>
            <a:ext cx="468270" cy="149385"/>
          </a:xfrm>
          <a:prstGeom prst="rect">
            <a:avLst/>
          </a:prstGeom>
        </p:spPr>
        <p:txBody>
          <a:bodyPr anchor="t" rtlCol="false" tIns="0" lIns="0" bIns="0" rIns="0">
            <a:spAutoFit/>
          </a:bodyPr>
          <a:lstStyle/>
          <a:p>
            <a:pPr algn="ctr" marL="0" indent="0" lvl="0">
              <a:lnSpc>
                <a:spcPts val="1204"/>
              </a:lnSpc>
              <a:spcBef>
                <a:spcPct val="0"/>
              </a:spcBef>
            </a:pPr>
            <a:r>
              <a:rPr lang="en-US" sz="860" strike="noStrike" u="none">
                <a:solidFill>
                  <a:srgbClr val="94A3B8"/>
                </a:solidFill>
                <a:latin typeface="프리텐다드"/>
                <a:ea typeface="프리텐다드"/>
                <a:cs typeface="프리텐다드"/>
                <a:sym typeface="프리텐다드"/>
              </a:rPr>
              <a:t>2.25</a:t>
            </a:r>
          </a:p>
        </p:txBody>
      </p:sp>
      <p:sp>
        <p:nvSpPr>
          <p:cNvPr name="AutoShape 210" id="210"/>
          <p:cNvSpPr/>
          <p:nvPr/>
        </p:nvSpPr>
        <p:spPr>
          <a:xfrm>
            <a:off x="6655831" y="6755648"/>
            <a:ext cx="0" cy="46827"/>
          </a:xfrm>
          <a:prstGeom prst="line">
            <a:avLst/>
          </a:prstGeom>
          <a:ln cap="flat" w="9525">
            <a:solidFill>
              <a:srgbClr val="4A5568"/>
            </a:solidFill>
            <a:prstDash val="solid"/>
            <a:headEnd type="none" len="sm" w="sm"/>
            <a:tailEnd type="none" len="sm" w="sm"/>
          </a:ln>
        </p:spPr>
      </p:sp>
      <p:sp>
        <p:nvSpPr>
          <p:cNvPr name="TextBox 211" id="211"/>
          <p:cNvSpPr txBox="true"/>
          <p:nvPr/>
        </p:nvSpPr>
        <p:spPr>
          <a:xfrm rot="0">
            <a:off x="5426622" y="6830252"/>
            <a:ext cx="468270" cy="149385"/>
          </a:xfrm>
          <a:prstGeom prst="rect">
            <a:avLst/>
          </a:prstGeom>
        </p:spPr>
        <p:txBody>
          <a:bodyPr anchor="t" rtlCol="false" tIns="0" lIns="0" bIns="0" rIns="0">
            <a:spAutoFit/>
          </a:bodyPr>
          <a:lstStyle/>
          <a:p>
            <a:pPr algn="ctr" marL="0" indent="0" lvl="0">
              <a:lnSpc>
                <a:spcPts val="1204"/>
              </a:lnSpc>
              <a:spcBef>
                <a:spcPct val="0"/>
              </a:spcBef>
            </a:pPr>
            <a:r>
              <a:rPr lang="en-US" sz="860" strike="noStrike" u="none">
                <a:solidFill>
                  <a:srgbClr val="94A3B8"/>
                </a:solidFill>
                <a:latin typeface="프리텐다드"/>
                <a:ea typeface="프리텐다드"/>
                <a:cs typeface="프리텐다드"/>
                <a:sym typeface="프리텐다드"/>
              </a:rPr>
              <a:t>2.00</a:t>
            </a:r>
          </a:p>
        </p:txBody>
      </p:sp>
      <p:sp>
        <p:nvSpPr>
          <p:cNvPr name="AutoShape 212" id="212"/>
          <p:cNvSpPr/>
          <p:nvPr/>
        </p:nvSpPr>
        <p:spPr>
          <a:xfrm>
            <a:off x="5660757" y="6755648"/>
            <a:ext cx="0" cy="46827"/>
          </a:xfrm>
          <a:prstGeom prst="line">
            <a:avLst/>
          </a:prstGeom>
          <a:ln cap="flat" w="9525">
            <a:solidFill>
              <a:srgbClr val="4A5568"/>
            </a:solidFill>
            <a:prstDash val="solid"/>
            <a:headEnd type="none" len="sm" w="sm"/>
            <a:tailEnd type="none" len="sm" w="sm"/>
          </a:ln>
        </p:spPr>
      </p:sp>
      <p:sp>
        <p:nvSpPr>
          <p:cNvPr name="TextBox 213" id="213"/>
          <p:cNvSpPr txBox="true"/>
          <p:nvPr/>
        </p:nvSpPr>
        <p:spPr>
          <a:xfrm rot="0">
            <a:off x="4419842" y="6830252"/>
            <a:ext cx="468270" cy="149385"/>
          </a:xfrm>
          <a:prstGeom prst="rect">
            <a:avLst/>
          </a:prstGeom>
        </p:spPr>
        <p:txBody>
          <a:bodyPr anchor="t" rtlCol="false" tIns="0" lIns="0" bIns="0" rIns="0">
            <a:spAutoFit/>
          </a:bodyPr>
          <a:lstStyle/>
          <a:p>
            <a:pPr algn="ctr" marL="0" indent="0" lvl="0">
              <a:lnSpc>
                <a:spcPts val="1204"/>
              </a:lnSpc>
              <a:spcBef>
                <a:spcPct val="0"/>
              </a:spcBef>
            </a:pPr>
            <a:r>
              <a:rPr lang="en-US" sz="860" strike="noStrike" u="none">
                <a:solidFill>
                  <a:srgbClr val="94A3B8"/>
                </a:solidFill>
                <a:latin typeface="프리텐다드"/>
                <a:ea typeface="프리텐다드"/>
                <a:cs typeface="프리텐다드"/>
                <a:sym typeface="프리텐다드"/>
              </a:rPr>
              <a:t>1.75</a:t>
            </a:r>
          </a:p>
        </p:txBody>
      </p:sp>
      <p:sp>
        <p:nvSpPr>
          <p:cNvPr name="AutoShape 214" id="214"/>
          <p:cNvSpPr/>
          <p:nvPr/>
        </p:nvSpPr>
        <p:spPr>
          <a:xfrm>
            <a:off x="4653977" y="6755648"/>
            <a:ext cx="0" cy="46827"/>
          </a:xfrm>
          <a:prstGeom prst="line">
            <a:avLst/>
          </a:prstGeom>
          <a:ln cap="flat" w="9525">
            <a:solidFill>
              <a:srgbClr val="4A5568"/>
            </a:solidFill>
            <a:prstDash val="solid"/>
            <a:headEnd type="none" len="sm" w="sm"/>
            <a:tailEnd type="none" len="sm" w="sm"/>
          </a:ln>
        </p:spPr>
      </p:sp>
      <p:sp>
        <p:nvSpPr>
          <p:cNvPr name="TextBox 215" id="215"/>
          <p:cNvSpPr txBox="true"/>
          <p:nvPr/>
        </p:nvSpPr>
        <p:spPr>
          <a:xfrm rot="0">
            <a:off x="3424769" y="6830252"/>
            <a:ext cx="468270" cy="149385"/>
          </a:xfrm>
          <a:prstGeom prst="rect">
            <a:avLst/>
          </a:prstGeom>
        </p:spPr>
        <p:txBody>
          <a:bodyPr anchor="t" rtlCol="false" tIns="0" lIns="0" bIns="0" rIns="0">
            <a:spAutoFit/>
          </a:bodyPr>
          <a:lstStyle/>
          <a:p>
            <a:pPr algn="ctr" marL="0" indent="0" lvl="0">
              <a:lnSpc>
                <a:spcPts val="1204"/>
              </a:lnSpc>
              <a:spcBef>
                <a:spcPct val="0"/>
              </a:spcBef>
            </a:pPr>
            <a:r>
              <a:rPr lang="en-US" sz="860" strike="noStrike" u="none">
                <a:solidFill>
                  <a:srgbClr val="94A3B8"/>
                </a:solidFill>
                <a:latin typeface="프리텐다드"/>
                <a:ea typeface="프리텐다드"/>
                <a:cs typeface="프리텐다드"/>
                <a:sym typeface="프리텐다드"/>
              </a:rPr>
              <a:t>1.50</a:t>
            </a:r>
          </a:p>
        </p:txBody>
      </p:sp>
      <p:sp>
        <p:nvSpPr>
          <p:cNvPr name="AutoShape 216" id="216"/>
          <p:cNvSpPr/>
          <p:nvPr/>
        </p:nvSpPr>
        <p:spPr>
          <a:xfrm>
            <a:off x="3658904" y="6755648"/>
            <a:ext cx="0" cy="46827"/>
          </a:xfrm>
          <a:prstGeom prst="line">
            <a:avLst/>
          </a:prstGeom>
          <a:ln cap="flat" w="9525">
            <a:solidFill>
              <a:srgbClr val="4A5568"/>
            </a:solidFill>
            <a:prstDash val="solid"/>
            <a:headEnd type="none" len="sm" w="sm"/>
            <a:tailEnd type="none" len="sm" w="sm"/>
          </a:ln>
        </p:spPr>
      </p:sp>
      <p:sp>
        <p:nvSpPr>
          <p:cNvPr name="TextBox 217" id="217"/>
          <p:cNvSpPr txBox="true"/>
          <p:nvPr/>
        </p:nvSpPr>
        <p:spPr>
          <a:xfrm rot="0">
            <a:off x="2417988" y="6830252"/>
            <a:ext cx="468270" cy="149385"/>
          </a:xfrm>
          <a:prstGeom prst="rect">
            <a:avLst/>
          </a:prstGeom>
        </p:spPr>
        <p:txBody>
          <a:bodyPr anchor="t" rtlCol="false" tIns="0" lIns="0" bIns="0" rIns="0">
            <a:spAutoFit/>
          </a:bodyPr>
          <a:lstStyle/>
          <a:p>
            <a:pPr algn="ctr" marL="0" indent="0" lvl="0">
              <a:lnSpc>
                <a:spcPts val="1204"/>
              </a:lnSpc>
              <a:spcBef>
                <a:spcPct val="0"/>
              </a:spcBef>
            </a:pPr>
            <a:r>
              <a:rPr lang="en-US" sz="860" strike="noStrike" u="none">
                <a:solidFill>
                  <a:srgbClr val="94A3B8"/>
                </a:solidFill>
                <a:latin typeface="프리텐다드"/>
                <a:ea typeface="프리텐다드"/>
                <a:cs typeface="프리텐다드"/>
                <a:sym typeface="프리텐다드"/>
              </a:rPr>
              <a:t>1.25</a:t>
            </a:r>
          </a:p>
        </p:txBody>
      </p:sp>
      <p:sp>
        <p:nvSpPr>
          <p:cNvPr name="AutoShape 218" id="218"/>
          <p:cNvSpPr/>
          <p:nvPr/>
        </p:nvSpPr>
        <p:spPr>
          <a:xfrm>
            <a:off x="2652123" y="6755648"/>
            <a:ext cx="0" cy="46827"/>
          </a:xfrm>
          <a:prstGeom prst="line">
            <a:avLst/>
          </a:prstGeom>
          <a:ln cap="flat" w="9525">
            <a:solidFill>
              <a:srgbClr val="4A5568"/>
            </a:solidFill>
            <a:prstDash val="solid"/>
            <a:headEnd type="none" len="sm" w="sm"/>
            <a:tailEnd type="none" len="sm" w="sm"/>
          </a:ln>
        </p:spPr>
      </p:sp>
      <p:sp>
        <p:nvSpPr>
          <p:cNvPr name="TextBox 219" id="219"/>
          <p:cNvSpPr txBox="true"/>
          <p:nvPr/>
        </p:nvSpPr>
        <p:spPr>
          <a:xfrm rot="0">
            <a:off x="1422915" y="6830252"/>
            <a:ext cx="468270" cy="149385"/>
          </a:xfrm>
          <a:prstGeom prst="rect">
            <a:avLst/>
          </a:prstGeom>
        </p:spPr>
        <p:txBody>
          <a:bodyPr anchor="t" rtlCol="false" tIns="0" lIns="0" bIns="0" rIns="0">
            <a:spAutoFit/>
          </a:bodyPr>
          <a:lstStyle/>
          <a:p>
            <a:pPr algn="ctr" marL="0" indent="0" lvl="0">
              <a:lnSpc>
                <a:spcPts val="1204"/>
              </a:lnSpc>
              <a:spcBef>
                <a:spcPct val="0"/>
              </a:spcBef>
            </a:pPr>
            <a:r>
              <a:rPr lang="en-US" sz="860" strike="noStrike" u="none">
                <a:solidFill>
                  <a:srgbClr val="94A3B8"/>
                </a:solidFill>
                <a:latin typeface="프리텐다드"/>
                <a:ea typeface="프리텐다드"/>
                <a:cs typeface="프리텐다드"/>
                <a:sym typeface="프리텐다드"/>
              </a:rPr>
              <a:t>1.00</a:t>
            </a:r>
          </a:p>
        </p:txBody>
      </p:sp>
      <p:sp>
        <p:nvSpPr>
          <p:cNvPr name="AutoShape 220" id="220"/>
          <p:cNvSpPr/>
          <p:nvPr/>
        </p:nvSpPr>
        <p:spPr>
          <a:xfrm>
            <a:off x="1657050" y="6755648"/>
            <a:ext cx="0" cy="46827"/>
          </a:xfrm>
          <a:prstGeom prst="line">
            <a:avLst/>
          </a:prstGeom>
          <a:ln cap="flat" w="9525">
            <a:solidFill>
              <a:srgbClr val="4A5568"/>
            </a:solidFill>
            <a:prstDash val="solid"/>
            <a:headEnd type="none" len="sm" w="sm"/>
            <a:tailEnd type="none" len="sm" w="sm"/>
          </a:ln>
        </p:spPr>
      </p:sp>
      <p:sp>
        <p:nvSpPr>
          <p:cNvPr name="TextBox 221" id="221"/>
          <p:cNvSpPr txBox="true"/>
          <p:nvPr/>
        </p:nvSpPr>
        <p:spPr>
          <a:xfrm rot="0">
            <a:off x="1422915" y="4734744"/>
            <a:ext cx="468270" cy="149385"/>
          </a:xfrm>
          <a:prstGeom prst="rect">
            <a:avLst/>
          </a:prstGeom>
        </p:spPr>
        <p:txBody>
          <a:bodyPr anchor="t" rtlCol="false" tIns="0" lIns="0" bIns="0" rIns="0">
            <a:spAutoFit/>
          </a:bodyPr>
          <a:lstStyle/>
          <a:p>
            <a:pPr algn="ctr" marL="0" indent="0" lvl="0">
              <a:lnSpc>
                <a:spcPts val="1204"/>
              </a:lnSpc>
              <a:spcBef>
                <a:spcPct val="0"/>
              </a:spcBef>
            </a:pPr>
            <a:r>
              <a:rPr lang="en-US" sz="860" strike="noStrike" u="none">
                <a:solidFill>
                  <a:srgbClr val="94A3B8"/>
                </a:solidFill>
                <a:latin typeface="프리텐다드"/>
                <a:ea typeface="프리텐다드"/>
                <a:cs typeface="프리텐다드"/>
                <a:sym typeface="프리텐다드"/>
              </a:rPr>
              <a:t>OR=1</a:t>
            </a:r>
          </a:p>
        </p:txBody>
      </p:sp>
      <p:sp>
        <p:nvSpPr>
          <p:cNvPr name="AutoShape 222" id="222"/>
          <p:cNvSpPr/>
          <p:nvPr/>
        </p:nvSpPr>
        <p:spPr>
          <a:xfrm>
            <a:off x="1657050" y="4987929"/>
            <a:ext cx="0" cy="1767719"/>
          </a:xfrm>
          <a:prstGeom prst="line">
            <a:avLst/>
          </a:prstGeom>
          <a:ln cap="flat" w="9525">
            <a:solidFill>
              <a:srgbClr val="4A5568"/>
            </a:solidFill>
            <a:prstDash val="solid"/>
            <a:headEnd type="none" len="sm" w="sm"/>
            <a:tailEnd type="none" len="sm" w="sm"/>
          </a:ln>
        </p:spPr>
      </p:sp>
      <p:sp>
        <p:nvSpPr>
          <p:cNvPr name="AutoShape 223" id="223"/>
          <p:cNvSpPr/>
          <p:nvPr/>
        </p:nvSpPr>
        <p:spPr>
          <a:xfrm>
            <a:off x="1657050" y="6755648"/>
            <a:ext cx="8007415" cy="0"/>
          </a:xfrm>
          <a:prstGeom prst="line">
            <a:avLst/>
          </a:prstGeom>
          <a:ln cap="flat" w="9525">
            <a:solidFill>
              <a:srgbClr val="4A5568"/>
            </a:solidFill>
            <a:prstDash val="solid"/>
            <a:headEnd type="none" len="sm" w="sm"/>
            <a:tailEnd type="none" len="sm" w="sm"/>
          </a:ln>
        </p:spPr>
      </p:sp>
      <p:sp>
        <p:nvSpPr>
          <p:cNvPr name="TextBox 224" id="224"/>
          <p:cNvSpPr txBox="true"/>
          <p:nvPr/>
        </p:nvSpPr>
        <p:spPr>
          <a:xfrm rot="0">
            <a:off x="3382552" y="4412250"/>
            <a:ext cx="4287234" cy="232483"/>
          </a:xfrm>
          <a:prstGeom prst="rect">
            <a:avLst/>
          </a:prstGeom>
        </p:spPr>
        <p:txBody>
          <a:bodyPr anchor="t" rtlCol="false" tIns="0" lIns="0" bIns="0" rIns="0">
            <a:spAutoFit/>
          </a:bodyPr>
          <a:lstStyle/>
          <a:p>
            <a:pPr algn="l" marL="0" indent="0" lvl="0">
              <a:lnSpc>
                <a:spcPts val="1892"/>
              </a:lnSpc>
              <a:spcBef>
                <a:spcPct val="0"/>
              </a:spcBef>
            </a:pPr>
            <a:r>
              <a:rPr lang="en-US" b="true" sz="1351" strike="noStrike" u="none">
                <a:solidFill>
                  <a:srgbClr val="1E293B"/>
                </a:solidFill>
                <a:latin typeface="프리텐다드 Bold"/>
                <a:ea typeface="프리텐다드 Bold"/>
                <a:cs typeface="프리텐다드 Bold"/>
                <a:sym typeface="프리텐다드 Bold"/>
              </a:rPr>
              <a:t>전체(pooled) 제도 부재→침해 OR — 악성민원 패널티가 최고</a:t>
            </a:r>
          </a:p>
        </p:txBody>
      </p:sp>
      <p:sp>
        <p:nvSpPr>
          <p:cNvPr name="AutoShape 225" id="225"/>
          <p:cNvSpPr/>
          <p:nvPr/>
        </p:nvSpPr>
        <p:spPr>
          <a:xfrm flipV="true">
            <a:off x="10745959" y="1567519"/>
            <a:ext cx="0" cy="8289713"/>
          </a:xfrm>
          <a:prstGeom prst="line">
            <a:avLst/>
          </a:prstGeom>
          <a:ln cap="rnd" w="9525">
            <a:solidFill>
              <a:srgbClr val="E2E8F0"/>
            </a:solidFill>
            <a:prstDash val="solid"/>
            <a:headEnd type="none" len="sm" w="sm"/>
            <a:tailEnd type="none" len="sm" w="sm"/>
          </a:ln>
        </p:spPr>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7007840" y="9857232"/>
            <a:ext cx="914400" cy="274320"/>
            <a:chOff x="0" y="0"/>
            <a:chExt cx="1219200" cy="365760"/>
          </a:xfrm>
        </p:grpSpPr>
        <p:sp>
          <p:nvSpPr>
            <p:cNvPr name="Freeform 3" id="3"/>
            <p:cNvSpPr/>
            <p:nvPr/>
          </p:nvSpPr>
          <p:spPr>
            <a:xfrm flipH="false" flipV="false" rot="0">
              <a:off x="0" y="0"/>
              <a:ext cx="1219200" cy="365760"/>
            </a:xfrm>
            <a:custGeom>
              <a:avLst/>
              <a:gdLst/>
              <a:ahLst/>
              <a:cxnLst/>
              <a:rect r="r" b="b" t="t" l="l"/>
              <a:pathLst>
                <a:path h="365760" w="1219200">
                  <a:moveTo>
                    <a:pt x="0" y="0"/>
                  </a:moveTo>
                  <a:lnTo>
                    <a:pt x="1219200" y="0"/>
                  </a:lnTo>
                  <a:lnTo>
                    <a:pt x="1219200" y="365760"/>
                  </a:lnTo>
                  <a:lnTo>
                    <a:pt x="0" y="365760"/>
                  </a:lnTo>
                  <a:close/>
                </a:path>
              </a:pathLst>
            </a:custGeom>
            <a:blipFill>
              <a:blip r:embed="rId2">
                <a:alphaModFix amt="0"/>
              </a:blip>
              <a:stretch>
                <a:fillRect l="0" t="-14950" r="0" b="-14950"/>
              </a:stretch>
            </a:blipFill>
          </p:spPr>
        </p:sp>
        <p:sp>
          <p:nvSpPr>
            <p:cNvPr name="TextBox 4" id="4"/>
            <p:cNvSpPr txBox="true"/>
            <p:nvPr/>
          </p:nvSpPr>
          <p:spPr>
            <a:xfrm>
              <a:off x="0" y="-9525"/>
              <a:ext cx="1219200" cy="375285"/>
            </a:xfrm>
            <a:prstGeom prst="rect">
              <a:avLst/>
            </a:prstGeom>
          </p:spPr>
          <p:txBody>
            <a:bodyPr anchor="ctr" rtlCol="false" tIns="0" lIns="0" bIns="0" rIns="0"/>
            <a:lstStyle/>
            <a:p>
              <a:pPr algn="r">
                <a:lnSpc>
                  <a:spcPts val="1320"/>
                </a:lnSpc>
              </a:pPr>
              <a:r>
                <a:rPr lang="en-US" sz="1100">
                  <a:solidFill>
                    <a:srgbClr val="64748B"/>
                  </a:solidFill>
                  <a:latin typeface="Playfair Display"/>
                  <a:ea typeface="Playfair Display"/>
                  <a:cs typeface="Playfair Display"/>
                  <a:sym typeface="Playfair Display"/>
                </a:rPr>
                <a:t>9 / 10</a:t>
              </a:r>
            </a:p>
          </p:txBody>
        </p:sp>
      </p:grpSp>
      <p:grpSp>
        <p:nvGrpSpPr>
          <p:cNvPr name="Group 5" id="5"/>
          <p:cNvGrpSpPr/>
          <p:nvPr/>
        </p:nvGrpSpPr>
        <p:grpSpPr>
          <a:xfrm rot="0">
            <a:off x="640080" y="1932111"/>
            <a:ext cx="8412480" cy="2009966"/>
            <a:chOff x="0" y="0"/>
            <a:chExt cx="11216640" cy="2679954"/>
          </a:xfrm>
        </p:grpSpPr>
        <p:sp>
          <p:nvSpPr>
            <p:cNvPr name="Freeform 6" id="6" descr="/sessions/determined-awesome-maxwell/mnt/kossda/output/figures_geonsang/Fig_G4_PAF_시뮬레이션.png"/>
            <p:cNvSpPr/>
            <p:nvPr/>
          </p:nvSpPr>
          <p:spPr>
            <a:xfrm flipH="false" flipV="false" rot="0">
              <a:off x="0" y="0"/>
              <a:ext cx="11216640" cy="2679954"/>
            </a:xfrm>
            <a:custGeom>
              <a:avLst/>
              <a:gdLst/>
              <a:ahLst/>
              <a:cxnLst/>
              <a:rect r="r" b="b" t="t" l="l"/>
              <a:pathLst>
                <a:path h="2679954" w="11216640">
                  <a:moveTo>
                    <a:pt x="0" y="0"/>
                  </a:moveTo>
                  <a:lnTo>
                    <a:pt x="11216640" y="0"/>
                  </a:lnTo>
                  <a:lnTo>
                    <a:pt x="11216640" y="2679954"/>
                  </a:lnTo>
                  <a:lnTo>
                    <a:pt x="0" y="2679954"/>
                  </a:lnTo>
                  <a:lnTo>
                    <a:pt x="0" y="0"/>
                  </a:lnTo>
                  <a:close/>
                </a:path>
              </a:pathLst>
            </a:custGeom>
            <a:blipFill>
              <a:blip r:embed="rId3"/>
              <a:stretch>
                <a:fillRect l="0" t="0" r="0" b="0"/>
              </a:stretch>
            </a:blipFill>
          </p:spPr>
        </p:sp>
      </p:grpSp>
      <p:grpSp>
        <p:nvGrpSpPr>
          <p:cNvPr name="Group 7" id="7"/>
          <p:cNvGrpSpPr/>
          <p:nvPr/>
        </p:nvGrpSpPr>
        <p:grpSpPr>
          <a:xfrm rot="0">
            <a:off x="640080" y="4456427"/>
            <a:ext cx="8412480" cy="2199142"/>
            <a:chOff x="0" y="0"/>
            <a:chExt cx="11216640" cy="2932189"/>
          </a:xfrm>
        </p:grpSpPr>
        <p:sp>
          <p:nvSpPr>
            <p:cNvPr name="Freeform 8" id="8" descr="/sessions/determined-awesome-maxwell/mnt/kossda/output/figures_geonsang/Fig_G4c_제도공백분위.png"/>
            <p:cNvSpPr/>
            <p:nvPr/>
          </p:nvSpPr>
          <p:spPr>
            <a:xfrm flipH="false" flipV="false" rot="0">
              <a:off x="0" y="0"/>
              <a:ext cx="11216640" cy="2932176"/>
            </a:xfrm>
            <a:custGeom>
              <a:avLst/>
              <a:gdLst/>
              <a:ahLst/>
              <a:cxnLst/>
              <a:rect r="r" b="b" t="t" l="l"/>
              <a:pathLst>
                <a:path h="2932176" w="11216640">
                  <a:moveTo>
                    <a:pt x="0" y="0"/>
                  </a:moveTo>
                  <a:lnTo>
                    <a:pt x="11216640" y="0"/>
                  </a:lnTo>
                  <a:lnTo>
                    <a:pt x="11216640" y="2932176"/>
                  </a:lnTo>
                  <a:lnTo>
                    <a:pt x="0" y="2932176"/>
                  </a:lnTo>
                  <a:lnTo>
                    <a:pt x="0" y="0"/>
                  </a:lnTo>
                  <a:close/>
                </a:path>
              </a:pathLst>
            </a:custGeom>
            <a:blipFill>
              <a:blip r:embed="rId4"/>
              <a:stretch>
                <a:fillRect l="0" t="0" r="0" b="0"/>
              </a:stretch>
            </a:blipFill>
          </p:spPr>
        </p:sp>
      </p:grpSp>
      <p:grpSp>
        <p:nvGrpSpPr>
          <p:cNvPr name="Group 9" id="9"/>
          <p:cNvGrpSpPr/>
          <p:nvPr/>
        </p:nvGrpSpPr>
        <p:grpSpPr>
          <a:xfrm rot="0">
            <a:off x="640080" y="7169918"/>
            <a:ext cx="8412480" cy="1959397"/>
            <a:chOff x="0" y="0"/>
            <a:chExt cx="11216640" cy="2612530"/>
          </a:xfrm>
        </p:grpSpPr>
        <p:sp>
          <p:nvSpPr>
            <p:cNvPr name="Freeform 10" id="10" descr="/sessions/determined-awesome-maxwell/mnt/kossda/output/figures_geonsang/Fig_G4b_침해_doseresponse.png"/>
            <p:cNvSpPr/>
            <p:nvPr/>
          </p:nvSpPr>
          <p:spPr>
            <a:xfrm flipH="false" flipV="false" rot="0">
              <a:off x="0" y="0"/>
              <a:ext cx="11216640" cy="2612517"/>
            </a:xfrm>
            <a:custGeom>
              <a:avLst/>
              <a:gdLst/>
              <a:ahLst/>
              <a:cxnLst/>
              <a:rect r="r" b="b" t="t" l="l"/>
              <a:pathLst>
                <a:path h="2612517" w="11216640">
                  <a:moveTo>
                    <a:pt x="0" y="0"/>
                  </a:moveTo>
                  <a:lnTo>
                    <a:pt x="11216640" y="0"/>
                  </a:lnTo>
                  <a:lnTo>
                    <a:pt x="11216640" y="2612517"/>
                  </a:lnTo>
                  <a:lnTo>
                    <a:pt x="0" y="2612517"/>
                  </a:lnTo>
                  <a:lnTo>
                    <a:pt x="0" y="0"/>
                  </a:lnTo>
                  <a:close/>
                </a:path>
              </a:pathLst>
            </a:custGeom>
            <a:blipFill>
              <a:blip r:embed="rId5"/>
              <a:stretch>
                <a:fillRect l="0" t="0" r="0" b="0"/>
              </a:stretch>
            </a:blipFill>
          </p:spPr>
        </p:sp>
      </p:grpSp>
      <p:grpSp>
        <p:nvGrpSpPr>
          <p:cNvPr name="Group 11" id="11"/>
          <p:cNvGrpSpPr/>
          <p:nvPr/>
        </p:nvGrpSpPr>
        <p:grpSpPr>
          <a:xfrm rot="0">
            <a:off x="9411967" y="2325367"/>
            <a:ext cx="12697" cy="7739377"/>
            <a:chOff x="0" y="0"/>
            <a:chExt cx="16929" cy="10319169"/>
          </a:xfrm>
        </p:grpSpPr>
        <p:sp>
          <p:nvSpPr>
            <p:cNvPr name="Freeform 12" id="12"/>
            <p:cNvSpPr/>
            <p:nvPr/>
          </p:nvSpPr>
          <p:spPr>
            <a:xfrm flipH="false" flipV="false" rot="0">
              <a:off x="0" y="0"/>
              <a:ext cx="16891" cy="10319131"/>
            </a:xfrm>
            <a:custGeom>
              <a:avLst/>
              <a:gdLst/>
              <a:ahLst/>
              <a:cxnLst/>
              <a:rect r="r" b="b" t="t" l="l"/>
              <a:pathLst>
                <a:path h="10319131" w="16891">
                  <a:moveTo>
                    <a:pt x="0" y="0"/>
                  </a:moveTo>
                  <a:lnTo>
                    <a:pt x="16891" y="10319131"/>
                  </a:lnTo>
                </a:path>
              </a:pathLst>
            </a:custGeom>
            <a:blipFill>
              <a:blip r:embed="rId2">
                <a:alphaModFix amt="0"/>
              </a:blip>
              <a:stretch>
                <a:fillRect l="-78334009" t="0" r="-78334234" b="0"/>
              </a:stretch>
            </a:blipFill>
            <a:ln w="12700" cap="sq">
              <a:solidFill>
                <a:srgbClr val="E2E8F0"/>
              </a:solidFill>
              <a:prstDash val="solid"/>
              <a:miter/>
            </a:ln>
          </p:spPr>
        </p:sp>
      </p:grpSp>
      <p:sp>
        <p:nvSpPr>
          <p:cNvPr name="TextBox 13" id="13"/>
          <p:cNvSpPr txBox="true"/>
          <p:nvPr/>
        </p:nvSpPr>
        <p:spPr>
          <a:xfrm rot="0">
            <a:off x="876300" y="-9525"/>
            <a:ext cx="16535400" cy="733425"/>
          </a:xfrm>
          <a:prstGeom prst="rect">
            <a:avLst/>
          </a:prstGeom>
        </p:spPr>
        <p:txBody>
          <a:bodyPr anchor="t" rtlCol="false" tIns="0" lIns="0" bIns="0" rIns="0">
            <a:spAutoFit/>
          </a:bodyPr>
          <a:lstStyle/>
          <a:p>
            <a:pPr algn="l">
              <a:lnSpc>
                <a:spcPts val="5759"/>
              </a:lnSpc>
            </a:pPr>
            <a:r>
              <a:rPr lang="en-US" b="true" sz="4800">
                <a:solidFill>
                  <a:srgbClr val="1E293B"/>
                </a:solidFill>
                <a:latin typeface="프리텐다드 Bold"/>
                <a:ea typeface="프리텐다드 Bold"/>
                <a:cs typeface="프리텐다드 Bold"/>
                <a:sym typeface="프리텐다드 Bold"/>
              </a:rPr>
              <a:t>9.  제도 도입 효과 추정</a:t>
            </a:r>
          </a:p>
        </p:txBody>
      </p:sp>
      <p:sp>
        <p:nvSpPr>
          <p:cNvPr name="AutoShape 14" id="14"/>
          <p:cNvSpPr/>
          <p:nvPr/>
        </p:nvSpPr>
        <p:spPr>
          <a:xfrm>
            <a:off x="866776" y="738829"/>
            <a:ext cx="16554447" cy="9824"/>
          </a:xfrm>
          <a:prstGeom prst="line">
            <a:avLst/>
          </a:prstGeom>
          <a:ln cap="rnd" w="9525">
            <a:solidFill>
              <a:srgbClr val="E2E8F0"/>
            </a:solidFill>
            <a:prstDash val="solid"/>
            <a:headEnd type="none" len="sm" w="sm"/>
            <a:tailEnd type="none" len="sm" w="sm"/>
          </a:ln>
        </p:spPr>
      </p:sp>
      <p:sp>
        <p:nvSpPr>
          <p:cNvPr name="TextBox 15" id="15"/>
          <p:cNvSpPr txBox="true"/>
          <p:nvPr/>
        </p:nvSpPr>
        <p:spPr>
          <a:xfrm rot="0">
            <a:off x="768477" y="1019175"/>
            <a:ext cx="13125072" cy="400050"/>
          </a:xfrm>
          <a:prstGeom prst="rect">
            <a:avLst/>
          </a:prstGeom>
        </p:spPr>
        <p:txBody>
          <a:bodyPr anchor="t" rtlCol="false" tIns="0" lIns="0" bIns="0" rIns="0">
            <a:spAutoFit/>
          </a:bodyPr>
          <a:lstStyle/>
          <a:p>
            <a:pPr algn="l">
              <a:lnSpc>
                <a:spcPts val="3120"/>
              </a:lnSpc>
            </a:pPr>
            <a:r>
              <a:rPr lang="en-US" b="true" sz="2600">
                <a:solidFill>
                  <a:srgbClr val="4285F4"/>
                </a:solidFill>
                <a:latin typeface="프리텐다드 Bold"/>
                <a:ea typeface="프리텐다드 Bold"/>
                <a:cs typeface="프리텐다드 Bold"/>
                <a:sym typeface="프리텐다드 Bold"/>
              </a:rPr>
              <a:t>제도가 자리 잡으면 침해율은 두 자릿수%p 떨어질 수 있다 — PAF 시뮬레이션.</a:t>
            </a:r>
          </a:p>
        </p:txBody>
      </p:sp>
      <p:sp>
        <p:nvSpPr>
          <p:cNvPr name="TextBox 16" id="16"/>
          <p:cNvSpPr txBox="true"/>
          <p:nvPr/>
        </p:nvSpPr>
        <p:spPr>
          <a:xfrm rot="0">
            <a:off x="10991851" y="2197171"/>
            <a:ext cx="6419849" cy="1524000"/>
          </a:xfrm>
          <a:prstGeom prst="rect">
            <a:avLst/>
          </a:prstGeom>
        </p:spPr>
        <p:txBody>
          <a:bodyPr anchor="t" rtlCol="false" tIns="0" lIns="0" bIns="0" rIns="0">
            <a:spAutoFit/>
          </a:bodyPr>
          <a:lstStyle/>
          <a:p>
            <a:pPr algn="l">
              <a:lnSpc>
                <a:spcPts val="1559"/>
              </a:lnSpc>
            </a:pPr>
            <a:r>
              <a:rPr lang="en-US" sz="1299">
                <a:solidFill>
                  <a:srgbClr val="475569"/>
                </a:solidFill>
                <a:latin typeface="프리텐다드"/>
                <a:ea typeface="프리텐다드"/>
                <a:cs typeface="프리텐다드"/>
                <a:sym typeface="프리텐다드"/>
              </a:rPr>
              <a:t>PAF(인구기여위험분율,</a:t>
            </a:r>
            <a:r>
              <a:rPr lang="en-US" sz="1299">
                <a:solidFill>
                  <a:srgbClr val="475569"/>
                </a:solidFill>
                <a:latin typeface="프리텐다드"/>
                <a:ea typeface="프리텐다드"/>
                <a:cs typeface="프리텐다드"/>
                <a:sym typeface="프리텐다드"/>
              </a:rPr>
              <a:t> Population</a:t>
            </a:r>
            <a:r>
              <a:rPr lang="en-US" sz="1299">
                <a:solidFill>
                  <a:srgbClr val="475569"/>
                </a:solidFill>
                <a:latin typeface="프리텐다드"/>
                <a:ea typeface="프리텐다드"/>
                <a:cs typeface="프리텐다드"/>
                <a:sym typeface="프리텐다드"/>
              </a:rPr>
              <a:t> Attributable Fraction</a:t>
            </a:r>
            <a:r>
              <a:rPr lang="en-US" sz="1299">
                <a:solidFill>
                  <a:srgbClr val="475569"/>
                </a:solidFill>
                <a:latin typeface="프리텐다드"/>
                <a:ea typeface="프리텐다드"/>
                <a:cs typeface="프리텐다드"/>
                <a:sym typeface="프리텐다드"/>
              </a:rPr>
              <a:t>)는</a:t>
            </a:r>
            <a:r>
              <a:rPr lang="en-US" sz="1299">
                <a:solidFill>
                  <a:srgbClr val="475569"/>
                </a:solidFill>
                <a:latin typeface="프리텐다드"/>
                <a:ea typeface="프리텐다드"/>
                <a:cs typeface="프리텐다드"/>
                <a:sym typeface="프리텐다드"/>
              </a:rPr>
              <a:t> ‘특정 노출(여기서는</a:t>
            </a:r>
            <a:r>
              <a:rPr lang="en-US" sz="1299">
                <a:solidFill>
                  <a:srgbClr val="475569"/>
                </a:solidFill>
                <a:latin typeface="프리텐다드"/>
                <a:ea typeface="프리텐다드"/>
                <a:cs typeface="프리텐다드"/>
                <a:sym typeface="프리텐다드"/>
              </a:rPr>
              <a:t> 제도 부재)을 제거하면 결과(침해)가 전체적으로 몇 % 줄어드는가’를 추정하는 역학의 표준 방법이다. </a:t>
            </a:r>
          </a:p>
          <a:p>
            <a:pPr algn="l">
              <a:lnSpc>
                <a:spcPts val="1559"/>
              </a:lnSpc>
            </a:pPr>
          </a:p>
          <a:p>
            <a:pPr algn="l">
              <a:lnSpc>
                <a:spcPts val="1559"/>
              </a:lnSpc>
            </a:pPr>
            <a:r>
              <a:rPr lang="en-US" sz="1299">
                <a:solidFill>
                  <a:srgbClr val="475569"/>
                </a:solidFill>
                <a:latin typeface="프리텐다드"/>
                <a:ea typeface="프리텐다드"/>
                <a:cs typeface="프리텐다드"/>
                <a:sym typeface="프리텐다드"/>
              </a:rPr>
              <a:t>정착 60% 가정(음영은</a:t>
            </a:r>
            <a:r>
              <a:rPr lang="en-US" sz="1299">
                <a:solidFill>
                  <a:srgbClr val="475569"/>
                </a:solidFill>
                <a:latin typeface="프리텐다드"/>
                <a:ea typeface="프리텐다드"/>
                <a:cs typeface="프리텐다드"/>
                <a:sym typeface="프리텐다드"/>
              </a:rPr>
              <a:t> 30~90% 범위</a:t>
            </a:r>
            <a:r>
              <a:rPr lang="en-US" sz="1299">
                <a:solidFill>
                  <a:srgbClr val="475569"/>
                </a:solidFill>
                <a:latin typeface="프리텐다드"/>
                <a:ea typeface="프리텐다드"/>
                <a:cs typeface="프리텐다드"/>
                <a:sym typeface="프리텐다드"/>
              </a:rPr>
              <a:t>) 시 악성민원 패널티는 보호자 침해를 59.6%→38.3%(−21.3%p), 수업방해 분리는 학생 침해를 78.5%→59.2%(−19.3%p) 낮춘다. </a:t>
            </a:r>
          </a:p>
          <a:p>
            <a:pPr algn="l">
              <a:lnSpc>
                <a:spcPts val="1559"/>
              </a:lnSpc>
            </a:pPr>
          </a:p>
          <a:p>
            <a:pPr algn="l">
              <a:lnSpc>
                <a:spcPts val="1559"/>
              </a:lnSpc>
            </a:pPr>
            <a:r>
              <a:rPr lang="en-US" sz="1299">
                <a:solidFill>
                  <a:srgbClr val="475569"/>
                </a:solidFill>
                <a:latin typeface="프리텐다드"/>
                <a:ea typeface="프리텐다드"/>
                <a:cs typeface="프리텐다드"/>
                <a:sym typeface="프리텐다드"/>
              </a:rPr>
              <a:t>다만 이 정책별 OR은 D2 ‘수요 인식’에서 도출됐으므로, 결과를 인과적 효과로 단정하지 않고 ‘제</a:t>
            </a:r>
            <a:r>
              <a:rPr lang="en-US" sz="1299">
                <a:solidFill>
                  <a:srgbClr val="475569"/>
                </a:solidFill>
                <a:latin typeface="프리텐다드"/>
                <a:ea typeface="프리텐다드"/>
                <a:cs typeface="프리텐다드"/>
                <a:sym typeface="프리텐다드"/>
              </a:rPr>
              <a:t>도</a:t>
            </a:r>
            <a:r>
              <a:rPr lang="en-US" sz="1299">
                <a:solidFill>
                  <a:srgbClr val="475569"/>
                </a:solidFill>
                <a:latin typeface="프리텐다드"/>
                <a:ea typeface="프리텐다드"/>
                <a:cs typeface="프리텐다드"/>
                <a:sym typeface="프리텐다드"/>
              </a:rPr>
              <a:t>가</a:t>
            </a:r>
            <a:r>
              <a:rPr lang="en-US" sz="1299">
                <a:solidFill>
                  <a:srgbClr val="475569"/>
                </a:solidFill>
                <a:latin typeface="프리텐다드"/>
                <a:ea typeface="프리텐다드"/>
                <a:cs typeface="프리텐다드"/>
                <a:sym typeface="프리텐다드"/>
              </a:rPr>
              <a:t> 완전히 정착했을 때 달성 가능한 상한’으로 보수적으로 해석한</a:t>
            </a:r>
            <a:r>
              <a:rPr lang="en-US" sz="1299">
                <a:solidFill>
                  <a:srgbClr val="475569"/>
                </a:solidFill>
                <a:latin typeface="프리텐다드"/>
                <a:ea typeface="프리텐다드"/>
                <a:cs typeface="프리텐다드"/>
                <a:sym typeface="프리텐다드"/>
              </a:rPr>
              <a:t>다.</a:t>
            </a:r>
          </a:p>
        </p:txBody>
      </p:sp>
      <p:sp>
        <p:nvSpPr>
          <p:cNvPr name="TextBox 17" id="17"/>
          <p:cNvSpPr txBox="true"/>
          <p:nvPr/>
        </p:nvSpPr>
        <p:spPr>
          <a:xfrm rot="0">
            <a:off x="11005246" y="1721272"/>
            <a:ext cx="1243608" cy="265778"/>
          </a:xfrm>
          <a:prstGeom prst="rect">
            <a:avLst/>
          </a:prstGeom>
        </p:spPr>
        <p:txBody>
          <a:bodyPr anchor="t" rtlCol="false" tIns="0" lIns="0" bIns="0" rIns="0">
            <a:spAutoFit/>
          </a:bodyPr>
          <a:lstStyle/>
          <a:p>
            <a:pPr algn="ctr">
              <a:lnSpc>
                <a:spcPts val="2150"/>
              </a:lnSpc>
              <a:spcBef>
                <a:spcPct val="0"/>
              </a:spcBef>
            </a:pPr>
            <a:r>
              <a:rPr lang="en-US" b="true" sz="1536">
                <a:solidFill>
                  <a:srgbClr val="000000"/>
                </a:solidFill>
                <a:latin typeface="프리텐다드 Bold"/>
                <a:ea typeface="프리텐다드 Bold"/>
                <a:cs typeface="프리텐다드 Bold"/>
                <a:sym typeface="프리텐다드 Bold"/>
              </a:rPr>
              <a:t>PAF 시뮬레이션</a:t>
            </a:r>
          </a:p>
        </p:txBody>
      </p:sp>
      <p:sp>
        <p:nvSpPr>
          <p:cNvPr name="TextBox 18" id="18"/>
          <p:cNvSpPr txBox="true"/>
          <p:nvPr/>
        </p:nvSpPr>
        <p:spPr>
          <a:xfrm rot="0">
            <a:off x="10991851" y="4698748"/>
            <a:ext cx="6419849" cy="1714500"/>
          </a:xfrm>
          <a:prstGeom prst="rect">
            <a:avLst/>
          </a:prstGeom>
        </p:spPr>
        <p:txBody>
          <a:bodyPr anchor="t" rtlCol="false" tIns="0" lIns="0" bIns="0" rIns="0">
            <a:spAutoFit/>
          </a:bodyPr>
          <a:lstStyle/>
          <a:p>
            <a:pPr algn="l">
              <a:lnSpc>
                <a:spcPts val="1559"/>
              </a:lnSpc>
            </a:pPr>
            <a:r>
              <a:rPr lang="en-US" sz="1299">
                <a:solidFill>
                  <a:srgbClr val="475569"/>
                </a:solidFill>
                <a:latin typeface="프리텐다드"/>
                <a:ea typeface="프리텐다드"/>
                <a:cs typeface="프리텐다드"/>
                <a:sym typeface="프리텐다드"/>
              </a:rPr>
              <a:t>앞의 한계(수요 기반 역인과)를 보완하기</a:t>
            </a:r>
            <a:r>
              <a:rPr lang="en-US" sz="1299">
                <a:solidFill>
                  <a:srgbClr val="475569"/>
                </a:solidFill>
                <a:latin typeface="프리텐다드"/>
                <a:ea typeface="프리텐다드"/>
                <a:cs typeface="프리텐다드"/>
                <a:sym typeface="프리텐다드"/>
              </a:rPr>
              <a:t> 위해,</a:t>
            </a:r>
            <a:r>
              <a:rPr lang="en-US" sz="1299">
                <a:solidFill>
                  <a:srgbClr val="475569"/>
                </a:solidFill>
                <a:latin typeface="프리텐다드"/>
                <a:ea typeface="프리텐다드"/>
                <a:cs typeface="프리텐다드"/>
                <a:sym typeface="프리텐다드"/>
              </a:rPr>
              <a:t> 노출을 ‘제도 수요’가 아니라 ‘제도가 실제로</a:t>
            </a:r>
            <a:r>
              <a:rPr lang="en-US" sz="1299">
                <a:solidFill>
                  <a:srgbClr val="475569"/>
                </a:solidFill>
                <a:latin typeface="프리텐다드"/>
                <a:ea typeface="프리텐다드"/>
                <a:cs typeface="프리텐다드"/>
                <a:sym typeface="프리텐다드"/>
              </a:rPr>
              <a:t> 작동하는가’로 바꿔 보았다. </a:t>
            </a:r>
          </a:p>
          <a:p>
            <a:pPr algn="l">
              <a:lnSpc>
                <a:spcPts val="1559"/>
              </a:lnSpc>
            </a:pPr>
            <a:r>
              <a:rPr lang="en-US" sz="1299">
                <a:solidFill>
                  <a:srgbClr val="475569"/>
                </a:solidFill>
                <a:latin typeface="프리텐다드"/>
                <a:ea typeface="프리텐다드"/>
                <a:cs typeface="프리텐다드"/>
                <a:sym typeface="프리텐다드"/>
              </a:rPr>
              <a:t>제도공백 잠재변수(A1_12 분리제도·A1_13 민원응대·C6_8 공식절차·B8_1 교권보호위 신뢰를 역코딩, Cronbach α=.74)의 4분위별 침해 경험률을 보면, 제도공백이 클수록 침해율이 단조적으로 증가한다. </a:t>
            </a:r>
          </a:p>
          <a:p>
            <a:pPr algn="l">
              <a:lnSpc>
                <a:spcPts val="1559"/>
              </a:lnSpc>
            </a:pPr>
            <a:r>
              <a:rPr lang="en-US" sz="1299">
                <a:solidFill>
                  <a:srgbClr val="475569"/>
                </a:solidFill>
                <a:latin typeface="프리텐다드"/>
                <a:ea typeface="프리텐다드"/>
                <a:cs typeface="프리텐다드"/>
                <a:sym typeface="프리텐다드"/>
              </a:rPr>
              <a:t>이 변수를 노출로 PAF를 다시 추정하면 제도가 정상 작동할 때 전체 침해가 85.6%→57.1%(−28.5%p)로 줄고, 학교 구조 변수를 통제한 뒤에도</a:t>
            </a:r>
            <a:r>
              <a:rPr lang="en-US" sz="1299">
                <a:solidFill>
                  <a:srgbClr val="475569"/>
                </a:solidFill>
                <a:latin typeface="프리텐다드"/>
                <a:ea typeface="프리텐다드"/>
                <a:cs typeface="프리텐다드"/>
                <a:sym typeface="프리텐다드"/>
              </a:rPr>
              <a:t> OR 2.34(p&lt;0.001)로 견고하다. </a:t>
            </a:r>
          </a:p>
          <a:p>
            <a:pPr algn="l">
              <a:lnSpc>
                <a:spcPts val="1559"/>
              </a:lnSpc>
            </a:pPr>
            <a:r>
              <a:rPr lang="en-US" sz="1299">
                <a:solidFill>
                  <a:srgbClr val="475569"/>
                </a:solidFill>
                <a:latin typeface="프리텐다드"/>
                <a:ea typeface="프리텐다드"/>
                <a:cs typeface="프리텐다드"/>
                <a:sym typeface="프리텐다드"/>
              </a:rPr>
              <a:t>수요(D2)가 아닌 ‘제도 작동’ 기반이라 역인과 가능성이 낮아, 정책 효과 주장의 인과적 방어력이 한층 강하</a:t>
            </a:r>
            <a:r>
              <a:rPr lang="en-US" sz="1299">
                <a:solidFill>
                  <a:srgbClr val="475569"/>
                </a:solidFill>
                <a:latin typeface="프리텐다드"/>
                <a:ea typeface="프리텐다드"/>
                <a:cs typeface="프리텐다드"/>
                <a:sym typeface="프리텐다드"/>
              </a:rPr>
              <a:t>다.</a:t>
            </a:r>
          </a:p>
        </p:txBody>
      </p:sp>
      <p:sp>
        <p:nvSpPr>
          <p:cNvPr name="TextBox 19" id="19"/>
          <p:cNvSpPr txBox="true"/>
          <p:nvPr/>
        </p:nvSpPr>
        <p:spPr>
          <a:xfrm rot="0">
            <a:off x="10991851" y="4225996"/>
            <a:ext cx="1821210" cy="265778"/>
          </a:xfrm>
          <a:prstGeom prst="rect">
            <a:avLst/>
          </a:prstGeom>
        </p:spPr>
        <p:txBody>
          <a:bodyPr anchor="t" rtlCol="false" tIns="0" lIns="0" bIns="0" rIns="0">
            <a:spAutoFit/>
          </a:bodyPr>
          <a:lstStyle/>
          <a:p>
            <a:pPr algn="ctr">
              <a:lnSpc>
                <a:spcPts val="2150"/>
              </a:lnSpc>
              <a:spcBef>
                <a:spcPct val="0"/>
              </a:spcBef>
            </a:pPr>
            <a:r>
              <a:rPr lang="en-US" b="true" sz="1536">
                <a:solidFill>
                  <a:srgbClr val="000000"/>
                </a:solidFill>
                <a:latin typeface="프리텐다드 Bold"/>
                <a:ea typeface="프리텐다드 Bold"/>
                <a:cs typeface="프리텐다드 Bold"/>
                <a:sym typeface="프리텐다드 Bold"/>
              </a:rPr>
              <a:t>제도 공백 수준별 침해율</a:t>
            </a:r>
          </a:p>
        </p:txBody>
      </p:sp>
      <p:sp>
        <p:nvSpPr>
          <p:cNvPr name="TextBox 20" id="20"/>
          <p:cNvSpPr txBox="true"/>
          <p:nvPr/>
        </p:nvSpPr>
        <p:spPr>
          <a:xfrm rot="0">
            <a:off x="10991851" y="7414816"/>
            <a:ext cx="6419849" cy="2286000"/>
          </a:xfrm>
          <a:prstGeom prst="rect">
            <a:avLst/>
          </a:prstGeom>
        </p:spPr>
        <p:txBody>
          <a:bodyPr anchor="t" rtlCol="false" tIns="0" lIns="0" bIns="0" rIns="0">
            <a:spAutoFit/>
          </a:bodyPr>
          <a:lstStyle/>
          <a:p>
            <a:pPr algn="l">
              <a:lnSpc>
                <a:spcPts val="1559"/>
              </a:lnSpc>
            </a:pPr>
            <a:r>
              <a:rPr lang="en-US" sz="1299">
                <a:solidFill>
                  <a:srgbClr val="475569"/>
                </a:solidFill>
                <a:latin typeface="프리텐다드"/>
                <a:ea typeface="프리텐다드"/>
                <a:cs typeface="프리텐다드"/>
                <a:sym typeface="프리텐다드"/>
              </a:rPr>
              <a:t>침해가 방치되면</a:t>
            </a:r>
            <a:r>
              <a:rPr lang="en-US" sz="1299">
                <a:solidFill>
                  <a:srgbClr val="475569"/>
                </a:solidFill>
                <a:latin typeface="프리텐다드"/>
                <a:ea typeface="프리텐다드"/>
                <a:cs typeface="프리텐다드"/>
                <a:sym typeface="프리텐다드"/>
              </a:rPr>
              <a:t> 그 끝은</a:t>
            </a:r>
            <a:r>
              <a:rPr lang="en-US" sz="1299">
                <a:solidFill>
                  <a:srgbClr val="475569"/>
                </a:solidFill>
                <a:latin typeface="프리텐다드"/>
                <a:ea typeface="프리텐다드"/>
                <a:cs typeface="프리텐다드"/>
                <a:sym typeface="프리텐다드"/>
              </a:rPr>
              <a:t> 분명하다 — 한 교사가 동시에 겪는 침해 유형이 0→3개로 늘수록 이직 고려가 22→70%,</a:t>
            </a:r>
            <a:r>
              <a:rPr lang="en-US" sz="1299">
                <a:solidFill>
                  <a:srgbClr val="475569"/>
                </a:solidFill>
                <a:latin typeface="프리텐다드"/>
                <a:ea typeface="프리텐다드"/>
                <a:cs typeface="프리텐다드"/>
                <a:sym typeface="프리텐다드"/>
              </a:rPr>
              <a:t> 자살 사고가 4→37%로 급증하며, 학교 구조 변수를 통제한 뒤에도 침해지수 1단위 증가당 이직 OR 2.18·자살 OR 2.57(p&lt;0.001)로 강하게 이어진다. </a:t>
            </a:r>
          </a:p>
          <a:p>
            <a:pPr algn="l">
              <a:lnSpc>
                <a:spcPts val="1559"/>
              </a:lnSpc>
            </a:pPr>
          </a:p>
          <a:p>
            <a:pPr algn="l">
              <a:lnSpc>
                <a:spcPts val="1559"/>
              </a:lnSpc>
            </a:pPr>
            <a:r>
              <a:rPr lang="en-US" sz="1299">
                <a:solidFill>
                  <a:srgbClr val="475569"/>
                </a:solidFill>
                <a:latin typeface="프리텐다드"/>
                <a:ea typeface="프리텐다드"/>
                <a:cs typeface="프리텐다드"/>
                <a:sym typeface="프리텐다드"/>
              </a:rPr>
              <a:t>두 그래프(제도→침해 감소, 침해→이직·자살)를 결합하면 ‘제도 도입 → 침해 감소 → 이직·자살 위험 감소’라는 완결된 정책 효과 사슬이 되며, 이는 동규 파트의 SEM(침해→정신건강→이직·자살) 경로와 수미상관을 이루어 두 사람의 분석이 같은 결론으로 수렴함을 보여준다. </a:t>
            </a:r>
          </a:p>
          <a:p>
            <a:pPr algn="l">
              <a:lnSpc>
                <a:spcPts val="1559"/>
              </a:lnSpc>
            </a:pPr>
          </a:p>
          <a:p>
            <a:pPr algn="l">
              <a:lnSpc>
                <a:spcPts val="1559"/>
              </a:lnSpc>
            </a:pPr>
            <a:r>
              <a:rPr lang="en-US" sz="1299">
                <a:solidFill>
                  <a:srgbClr val="475569"/>
                </a:solidFill>
                <a:latin typeface="프리텐다드"/>
                <a:ea typeface="프리텐다드"/>
                <a:cs typeface="프리텐다드"/>
                <a:sym typeface="프리텐다드"/>
              </a:rPr>
              <a:t>최근 5년간 스스로 목숨을 끊은 교원이 125명(연 18→28명)에 이르는 현실에서[4], 교권침해 예방 제도는 단순한 근무환경 개선책이 아니라 교원의 정신건강과</a:t>
            </a:r>
            <a:r>
              <a:rPr lang="en-US" sz="1299">
                <a:solidFill>
                  <a:srgbClr val="475569"/>
                </a:solidFill>
                <a:latin typeface="프리텐다드"/>
                <a:ea typeface="프리텐다드"/>
                <a:cs typeface="프리텐다드"/>
                <a:sym typeface="프리텐다드"/>
              </a:rPr>
              <a:t> 생존권을 지키는 정책으로 자리매김해야 한</a:t>
            </a:r>
            <a:r>
              <a:rPr lang="en-US" sz="1299">
                <a:solidFill>
                  <a:srgbClr val="475569"/>
                </a:solidFill>
                <a:latin typeface="프리텐다드"/>
                <a:ea typeface="프리텐다드"/>
                <a:cs typeface="프리텐다드"/>
                <a:sym typeface="프리텐다드"/>
              </a:rPr>
              <a:t>다.</a:t>
            </a:r>
          </a:p>
          <a:p>
            <a:pPr algn="l">
              <a:lnSpc>
                <a:spcPts val="1559"/>
              </a:lnSpc>
            </a:pPr>
          </a:p>
        </p:txBody>
      </p:sp>
      <p:sp>
        <p:nvSpPr>
          <p:cNvPr name="TextBox 21" id="21"/>
          <p:cNvSpPr txBox="true"/>
          <p:nvPr/>
        </p:nvSpPr>
        <p:spPr>
          <a:xfrm rot="0">
            <a:off x="10991851" y="6939488"/>
            <a:ext cx="1439019" cy="265778"/>
          </a:xfrm>
          <a:prstGeom prst="rect">
            <a:avLst/>
          </a:prstGeom>
        </p:spPr>
        <p:txBody>
          <a:bodyPr anchor="t" rtlCol="false" tIns="0" lIns="0" bIns="0" rIns="0">
            <a:spAutoFit/>
          </a:bodyPr>
          <a:lstStyle/>
          <a:p>
            <a:pPr algn="ctr">
              <a:lnSpc>
                <a:spcPts val="2150"/>
              </a:lnSpc>
              <a:spcBef>
                <a:spcPct val="0"/>
              </a:spcBef>
            </a:pPr>
            <a:r>
              <a:rPr lang="en-US" b="true" sz="1536">
                <a:solidFill>
                  <a:srgbClr val="000000"/>
                </a:solidFill>
                <a:latin typeface="프리텐다드 Bold"/>
                <a:ea typeface="프리텐다드 Bold"/>
                <a:cs typeface="프리텐다드 Bold"/>
                <a:sym typeface="프리텐다드 Bold"/>
              </a:rPr>
              <a:t>결과 사슬과 시사점</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7007840" y="9857232"/>
            <a:ext cx="914400" cy="274320"/>
            <a:chOff x="0" y="0"/>
            <a:chExt cx="1219200" cy="365760"/>
          </a:xfrm>
        </p:grpSpPr>
        <p:sp>
          <p:nvSpPr>
            <p:cNvPr name="Freeform 3" id="3"/>
            <p:cNvSpPr/>
            <p:nvPr/>
          </p:nvSpPr>
          <p:spPr>
            <a:xfrm flipH="false" flipV="false" rot="0">
              <a:off x="0" y="0"/>
              <a:ext cx="1219200" cy="365760"/>
            </a:xfrm>
            <a:custGeom>
              <a:avLst/>
              <a:gdLst/>
              <a:ahLst/>
              <a:cxnLst/>
              <a:rect r="r" b="b" t="t" l="l"/>
              <a:pathLst>
                <a:path h="365760" w="1219200">
                  <a:moveTo>
                    <a:pt x="0" y="0"/>
                  </a:moveTo>
                  <a:lnTo>
                    <a:pt x="1219200" y="0"/>
                  </a:lnTo>
                  <a:lnTo>
                    <a:pt x="1219200" y="365760"/>
                  </a:lnTo>
                  <a:lnTo>
                    <a:pt x="0" y="365760"/>
                  </a:lnTo>
                  <a:close/>
                </a:path>
              </a:pathLst>
            </a:custGeom>
            <a:blipFill>
              <a:blip r:embed="rId2">
                <a:alphaModFix amt="0"/>
              </a:blip>
              <a:stretch>
                <a:fillRect l="0" t="-14950" r="0" b="-14950"/>
              </a:stretch>
            </a:blipFill>
          </p:spPr>
        </p:sp>
        <p:sp>
          <p:nvSpPr>
            <p:cNvPr name="TextBox 4" id="4"/>
            <p:cNvSpPr txBox="true"/>
            <p:nvPr/>
          </p:nvSpPr>
          <p:spPr>
            <a:xfrm>
              <a:off x="0" y="-9525"/>
              <a:ext cx="1219200" cy="375285"/>
            </a:xfrm>
            <a:prstGeom prst="rect">
              <a:avLst/>
            </a:prstGeom>
          </p:spPr>
          <p:txBody>
            <a:bodyPr anchor="ctr" rtlCol="false" tIns="0" lIns="0" bIns="0" rIns="0"/>
            <a:lstStyle/>
            <a:p>
              <a:pPr algn="r">
                <a:lnSpc>
                  <a:spcPts val="1320"/>
                </a:lnSpc>
              </a:pPr>
              <a:r>
                <a:rPr lang="en-US" sz="1100">
                  <a:solidFill>
                    <a:srgbClr val="64748B"/>
                  </a:solidFill>
                  <a:latin typeface="Playfair Display"/>
                  <a:ea typeface="Playfair Display"/>
                  <a:cs typeface="Playfair Display"/>
                  <a:sym typeface="Playfair Display"/>
                </a:rPr>
                <a:t>10 / 10</a:t>
              </a:r>
            </a:p>
          </p:txBody>
        </p:sp>
      </p:grpSp>
      <p:grpSp>
        <p:nvGrpSpPr>
          <p:cNvPr name="Group 5" id="5"/>
          <p:cNvGrpSpPr/>
          <p:nvPr/>
        </p:nvGrpSpPr>
        <p:grpSpPr>
          <a:xfrm rot="0">
            <a:off x="640080" y="2176272"/>
            <a:ext cx="7315200" cy="283344"/>
            <a:chOff x="0" y="0"/>
            <a:chExt cx="9753600" cy="377792"/>
          </a:xfrm>
        </p:grpSpPr>
        <p:sp>
          <p:nvSpPr>
            <p:cNvPr name="Freeform 6" id="6"/>
            <p:cNvSpPr/>
            <p:nvPr/>
          </p:nvSpPr>
          <p:spPr>
            <a:xfrm flipH="false" flipV="false" rot="0">
              <a:off x="0" y="0"/>
              <a:ext cx="9753600" cy="377792"/>
            </a:xfrm>
            <a:custGeom>
              <a:avLst/>
              <a:gdLst/>
              <a:ahLst/>
              <a:cxnLst/>
              <a:rect r="r" b="b" t="t" l="l"/>
              <a:pathLst>
                <a:path h="377792" w="9753600">
                  <a:moveTo>
                    <a:pt x="0" y="0"/>
                  </a:moveTo>
                  <a:lnTo>
                    <a:pt x="9753600" y="0"/>
                  </a:lnTo>
                  <a:lnTo>
                    <a:pt x="9753600" y="377792"/>
                  </a:lnTo>
                  <a:lnTo>
                    <a:pt x="0" y="377792"/>
                  </a:lnTo>
                  <a:close/>
                </a:path>
              </a:pathLst>
            </a:custGeom>
            <a:blipFill>
              <a:blip r:embed="rId2">
                <a:alphaModFix amt="0"/>
              </a:blip>
              <a:stretch>
                <a:fillRect l="0" t="-454645" r="0" b="-451460"/>
              </a:stretch>
            </a:blipFill>
          </p:spPr>
        </p:sp>
        <p:sp>
          <p:nvSpPr>
            <p:cNvPr name="TextBox 7" id="7"/>
            <p:cNvSpPr txBox="true"/>
            <p:nvPr/>
          </p:nvSpPr>
          <p:spPr>
            <a:xfrm>
              <a:off x="0" y="0"/>
              <a:ext cx="9753600" cy="377792"/>
            </a:xfrm>
            <a:prstGeom prst="rect">
              <a:avLst/>
            </a:prstGeom>
          </p:spPr>
          <p:txBody>
            <a:bodyPr anchor="ctr" rtlCol="false" tIns="0" lIns="0" bIns="0" rIns="0"/>
            <a:lstStyle/>
            <a:p>
              <a:pPr algn="l">
                <a:lnSpc>
                  <a:spcPts val="1679"/>
                </a:lnSpc>
              </a:pPr>
              <a:r>
                <a:rPr lang="en-US" sz="1399" b="true">
                  <a:solidFill>
                    <a:srgbClr val="1565C0"/>
                  </a:solidFill>
                  <a:latin typeface="프리텐다드 Bold"/>
                  <a:ea typeface="프리텐다드 Bold"/>
                  <a:cs typeface="프리텐다드 Bold"/>
                  <a:sym typeface="프리텐다드 Bold"/>
                </a:rPr>
                <a:t>네가지 분석의 수렴 : 악성 민원 패널티가 모든 기준에서 1위</a:t>
              </a:r>
            </a:p>
          </p:txBody>
        </p:sp>
      </p:grpSp>
      <p:grpSp>
        <p:nvGrpSpPr>
          <p:cNvPr name="Group 8" id="8"/>
          <p:cNvGrpSpPr/>
          <p:nvPr/>
        </p:nvGrpSpPr>
        <p:grpSpPr>
          <a:xfrm rot="0">
            <a:off x="3295379" y="2412492"/>
            <a:ext cx="11188751" cy="2606040"/>
            <a:chOff x="0" y="0"/>
            <a:chExt cx="14918334" cy="3474720"/>
          </a:xfrm>
        </p:grpSpPr>
        <p:sp>
          <p:nvSpPr>
            <p:cNvPr name="Freeform 9" id="9"/>
            <p:cNvSpPr/>
            <p:nvPr/>
          </p:nvSpPr>
          <p:spPr>
            <a:xfrm flipH="false" flipV="false" rot="0">
              <a:off x="0" y="0"/>
              <a:ext cx="14918310" cy="3474720"/>
            </a:xfrm>
            <a:custGeom>
              <a:avLst/>
              <a:gdLst/>
              <a:ahLst/>
              <a:cxnLst/>
              <a:rect r="r" b="b" t="t" l="l"/>
              <a:pathLst>
                <a:path h="3474720" w="14918310">
                  <a:moveTo>
                    <a:pt x="0" y="0"/>
                  </a:moveTo>
                  <a:lnTo>
                    <a:pt x="14918310" y="0"/>
                  </a:lnTo>
                  <a:lnTo>
                    <a:pt x="14918310" y="3474720"/>
                  </a:lnTo>
                  <a:lnTo>
                    <a:pt x="0" y="3474720"/>
                  </a:lnTo>
                  <a:lnTo>
                    <a:pt x="0" y="0"/>
                  </a:lnTo>
                  <a:close/>
                </a:path>
              </a:pathLst>
            </a:custGeom>
            <a:blipFill>
              <a:blip r:embed="rId3"/>
              <a:stretch>
                <a:fillRect l="0" t="-313" r="0" b="-313"/>
              </a:stretch>
            </a:blipFill>
          </p:spPr>
        </p:sp>
      </p:grpSp>
      <p:grpSp>
        <p:nvGrpSpPr>
          <p:cNvPr name="Group 10" id="10"/>
          <p:cNvGrpSpPr/>
          <p:nvPr/>
        </p:nvGrpSpPr>
        <p:grpSpPr>
          <a:xfrm rot="0">
            <a:off x="640080" y="5056632"/>
            <a:ext cx="7315200" cy="274320"/>
            <a:chOff x="0" y="0"/>
            <a:chExt cx="9753600" cy="365760"/>
          </a:xfrm>
        </p:grpSpPr>
        <p:sp>
          <p:nvSpPr>
            <p:cNvPr name="Freeform 11" id="11"/>
            <p:cNvSpPr/>
            <p:nvPr/>
          </p:nvSpPr>
          <p:spPr>
            <a:xfrm flipH="false" flipV="false" rot="0">
              <a:off x="0" y="0"/>
              <a:ext cx="9753600" cy="365760"/>
            </a:xfrm>
            <a:custGeom>
              <a:avLst/>
              <a:gdLst/>
              <a:ahLst/>
              <a:cxnLst/>
              <a:rect r="r" b="b" t="t" l="l"/>
              <a:pathLst>
                <a:path h="365760" w="9753600">
                  <a:moveTo>
                    <a:pt x="0" y="0"/>
                  </a:moveTo>
                  <a:lnTo>
                    <a:pt x="9753600" y="0"/>
                  </a:lnTo>
                  <a:lnTo>
                    <a:pt x="9753600" y="365760"/>
                  </a:lnTo>
                  <a:lnTo>
                    <a:pt x="0" y="365760"/>
                  </a:lnTo>
                  <a:close/>
                </a:path>
              </a:pathLst>
            </a:custGeom>
            <a:blipFill>
              <a:blip r:embed="rId2">
                <a:alphaModFix amt="0"/>
              </a:blip>
              <a:stretch>
                <a:fillRect l="0" t="-469601" r="0" b="-469601"/>
              </a:stretch>
            </a:blipFill>
          </p:spPr>
        </p:sp>
        <p:sp>
          <p:nvSpPr>
            <p:cNvPr name="TextBox 12" id="12"/>
            <p:cNvSpPr txBox="true"/>
            <p:nvPr/>
          </p:nvSpPr>
          <p:spPr>
            <a:xfrm>
              <a:off x="0" y="0"/>
              <a:ext cx="9753600" cy="365760"/>
            </a:xfrm>
            <a:prstGeom prst="rect">
              <a:avLst/>
            </a:prstGeom>
          </p:spPr>
          <p:txBody>
            <a:bodyPr anchor="ctr" rtlCol="false" tIns="0" lIns="0" bIns="0" rIns="0"/>
            <a:lstStyle/>
            <a:p>
              <a:pPr algn="l">
                <a:lnSpc>
                  <a:spcPts val="1679"/>
                </a:lnSpc>
              </a:pPr>
              <a:r>
                <a:rPr lang="en-US" sz="1399" b="true">
                  <a:solidFill>
                    <a:srgbClr val="1565C0"/>
                  </a:solidFill>
                  <a:latin typeface="프리텐다드 Bold"/>
                  <a:ea typeface="프리텐다드 Bold"/>
                  <a:cs typeface="프리텐다드 Bold"/>
                  <a:sym typeface="프리텐다드 Bold"/>
                </a:rPr>
                <a:t>집단별 제도 처방</a:t>
              </a:r>
            </a:p>
          </p:txBody>
        </p:sp>
      </p:grpSp>
      <p:grpSp>
        <p:nvGrpSpPr>
          <p:cNvPr name="Group 13" id="13"/>
          <p:cNvGrpSpPr/>
          <p:nvPr/>
        </p:nvGrpSpPr>
        <p:grpSpPr>
          <a:xfrm rot="0">
            <a:off x="633727" y="5434327"/>
            <a:ext cx="5544817" cy="2408425"/>
            <a:chOff x="0" y="0"/>
            <a:chExt cx="7393089" cy="3211233"/>
          </a:xfrm>
        </p:grpSpPr>
        <p:sp>
          <p:nvSpPr>
            <p:cNvPr name="Freeform 14" id="14"/>
            <p:cNvSpPr/>
            <p:nvPr/>
          </p:nvSpPr>
          <p:spPr>
            <a:xfrm flipH="false" flipV="false" rot="0">
              <a:off x="0" y="0"/>
              <a:ext cx="7393051" cy="3211195"/>
            </a:xfrm>
            <a:custGeom>
              <a:avLst/>
              <a:gdLst/>
              <a:ahLst/>
              <a:cxnLst/>
              <a:rect r="r" b="b" t="t" l="l"/>
              <a:pathLst>
                <a:path h="3211195" w="7393051">
                  <a:moveTo>
                    <a:pt x="0" y="73533"/>
                  </a:moveTo>
                  <a:cubicBezTo>
                    <a:pt x="0" y="32893"/>
                    <a:pt x="32893" y="0"/>
                    <a:pt x="73533" y="0"/>
                  </a:cubicBezTo>
                  <a:lnTo>
                    <a:pt x="7319518" y="0"/>
                  </a:lnTo>
                  <a:cubicBezTo>
                    <a:pt x="7360158" y="0"/>
                    <a:pt x="7393051" y="32893"/>
                    <a:pt x="7393051" y="73533"/>
                  </a:cubicBezTo>
                  <a:lnTo>
                    <a:pt x="7393051" y="3137662"/>
                  </a:lnTo>
                  <a:cubicBezTo>
                    <a:pt x="7393051" y="3178302"/>
                    <a:pt x="7360158" y="3211195"/>
                    <a:pt x="7319518" y="3211195"/>
                  </a:cubicBezTo>
                  <a:lnTo>
                    <a:pt x="73533" y="3211195"/>
                  </a:lnTo>
                  <a:cubicBezTo>
                    <a:pt x="32893" y="3211195"/>
                    <a:pt x="0" y="3178302"/>
                    <a:pt x="0" y="3137662"/>
                  </a:cubicBezTo>
                  <a:close/>
                </a:path>
              </a:pathLst>
            </a:custGeom>
            <a:solidFill>
              <a:srgbClr val="FFFFFF"/>
            </a:solidFill>
            <a:ln w="12700" cap="sq">
              <a:solidFill>
                <a:srgbClr val="E2E8F0"/>
              </a:solidFill>
              <a:prstDash val="solid"/>
              <a:miter/>
            </a:ln>
          </p:spPr>
        </p:sp>
      </p:grpSp>
      <p:grpSp>
        <p:nvGrpSpPr>
          <p:cNvPr name="Group 15" id="15"/>
          <p:cNvGrpSpPr/>
          <p:nvPr/>
        </p:nvGrpSpPr>
        <p:grpSpPr>
          <a:xfrm rot="0">
            <a:off x="914400" y="5586984"/>
            <a:ext cx="4983480" cy="420624"/>
            <a:chOff x="0" y="0"/>
            <a:chExt cx="6644640" cy="560832"/>
          </a:xfrm>
        </p:grpSpPr>
        <p:sp>
          <p:nvSpPr>
            <p:cNvPr name="Freeform 16" id="16"/>
            <p:cNvSpPr/>
            <p:nvPr/>
          </p:nvSpPr>
          <p:spPr>
            <a:xfrm flipH="false" flipV="false" rot="0">
              <a:off x="0" y="0"/>
              <a:ext cx="6644640" cy="560832"/>
            </a:xfrm>
            <a:custGeom>
              <a:avLst/>
              <a:gdLst/>
              <a:ahLst/>
              <a:cxnLst/>
              <a:rect r="r" b="b" t="t" l="l"/>
              <a:pathLst>
                <a:path h="560832" w="6644640">
                  <a:moveTo>
                    <a:pt x="0" y="0"/>
                  </a:moveTo>
                  <a:lnTo>
                    <a:pt x="6644640" y="0"/>
                  </a:lnTo>
                  <a:lnTo>
                    <a:pt x="6644640" y="560832"/>
                  </a:lnTo>
                  <a:lnTo>
                    <a:pt x="0" y="560832"/>
                  </a:lnTo>
                  <a:close/>
                </a:path>
              </a:pathLst>
            </a:custGeom>
            <a:blipFill>
              <a:blip r:embed="rId2">
                <a:alphaModFix amt="0"/>
              </a:blip>
              <a:stretch>
                <a:fillRect l="0" t="-180855" r="0" b="-180855"/>
              </a:stretch>
            </a:blipFill>
          </p:spPr>
        </p:sp>
        <p:sp>
          <p:nvSpPr>
            <p:cNvPr name="TextBox 17" id="17"/>
            <p:cNvSpPr txBox="true"/>
            <p:nvPr/>
          </p:nvSpPr>
          <p:spPr>
            <a:xfrm>
              <a:off x="0" y="-9525"/>
              <a:ext cx="6644640" cy="570357"/>
            </a:xfrm>
            <a:prstGeom prst="rect">
              <a:avLst/>
            </a:prstGeom>
          </p:spPr>
          <p:txBody>
            <a:bodyPr anchor="ctr" rtlCol="false" tIns="0" lIns="0" bIns="0" rIns="0"/>
            <a:lstStyle/>
            <a:p>
              <a:pPr algn="l">
                <a:lnSpc>
                  <a:spcPts val="1920"/>
                </a:lnSpc>
              </a:pPr>
              <a:r>
                <a:rPr lang="en-US" sz="1600" b="true">
                  <a:solidFill>
                    <a:srgbClr val="1E293B"/>
                  </a:solidFill>
                  <a:latin typeface="프리텐다드 Bold"/>
                  <a:ea typeface="프리텐다드 Bold"/>
                  <a:cs typeface="프리텐다드 Bold"/>
                  <a:sym typeface="프리텐다드 Bold"/>
                </a:rPr>
                <a:t>초등·복합형  71%</a:t>
              </a:r>
            </a:p>
          </p:txBody>
        </p:sp>
      </p:grpSp>
      <p:grpSp>
        <p:nvGrpSpPr>
          <p:cNvPr name="Group 18" id="18"/>
          <p:cNvGrpSpPr/>
          <p:nvPr/>
        </p:nvGrpSpPr>
        <p:grpSpPr>
          <a:xfrm rot="0">
            <a:off x="908047" y="6110983"/>
            <a:ext cx="4996177" cy="12697"/>
            <a:chOff x="0" y="0"/>
            <a:chExt cx="6661569" cy="16929"/>
          </a:xfrm>
        </p:grpSpPr>
        <p:sp>
          <p:nvSpPr>
            <p:cNvPr name="Freeform 19" id="19"/>
            <p:cNvSpPr/>
            <p:nvPr/>
          </p:nvSpPr>
          <p:spPr>
            <a:xfrm flipH="false" flipV="false" rot="0">
              <a:off x="0" y="0"/>
              <a:ext cx="6661531" cy="16891"/>
            </a:xfrm>
            <a:custGeom>
              <a:avLst/>
              <a:gdLst/>
              <a:ahLst/>
              <a:cxnLst/>
              <a:rect r="r" b="b" t="t" l="l"/>
              <a:pathLst>
                <a:path h="16891" w="6661531">
                  <a:moveTo>
                    <a:pt x="0" y="0"/>
                  </a:moveTo>
                  <a:lnTo>
                    <a:pt x="6661531" y="16891"/>
                  </a:lnTo>
                </a:path>
              </a:pathLst>
            </a:custGeom>
            <a:blipFill>
              <a:blip r:embed="rId2">
                <a:alphaModFix amt="0"/>
              </a:blip>
              <a:stretch>
                <a:fillRect l="0" t="-7634507" r="0" b="-7634733"/>
              </a:stretch>
            </a:blipFill>
            <a:ln w="12700" cap="sq">
              <a:solidFill>
                <a:srgbClr val="E2E8F0"/>
              </a:solidFill>
              <a:prstDash val="solid"/>
              <a:miter/>
            </a:ln>
          </p:spPr>
        </p:sp>
      </p:grpSp>
      <p:grpSp>
        <p:nvGrpSpPr>
          <p:cNvPr name="Group 20" id="20"/>
          <p:cNvGrpSpPr/>
          <p:nvPr/>
        </p:nvGrpSpPr>
        <p:grpSpPr>
          <a:xfrm rot="0">
            <a:off x="914400" y="6163056"/>
            <a:ext cx="4983480" cy="274320"/>
            <a:chOff x="0" y="0"/>
            <a:chExt cx="6644640" cy="365760"/>
          </a:xfrm>
        </p:grpSpPr>
        <p:sp>
          <p:nvSpPr>
            <p:cNvPr name="Freeform 21" id="21"/>
            <p:cNvSpPr/>
            <p:nvPr/>
          </p:nvSpPr>
          <p:spPr>
            <a:xfrm flipH="false" flipV="false" rot="0">
              <a:off x="0" y="0"/>
              <a:ext cx="6644640" cy="365760"/>
            </a:xfrm>
            <a:custGeom>
              <a:avLst/>
              <a:gdLst/>
              <a:ahLst/>
              <a:cxnLst/>
              <a:rect r="r" b="b" t="t" l="l"/>
              <a:pathLst>
                <a:path h="365760" w="6644640">
                  <a:moveTo>
                    <a:pt x="0" y="0"/>
                  </a:moveTo>
                  <a:lnTo>
                    <a:pt x="6644640" y="0"/>
                  </a:lnTo>
                  <a:lnTo>
                    <a:pt x="6644640" y="365760"/>
                  </a:lnTo>
                  <a:lnTo>
                    <a:pt x="0" y="365760"/>
                  </a:lnTo>
                  <a:close/>
                </a:path>
              </a:pathLst>
            </a:custGeom>
            <a:blipFill>
              <a:blip r:embed="rId2">
                <a:alphaModFix amt="0"/>
              </a:blip>
              <a:stretch>
                <a:fillRect l="0" t="-303978" r="0" b="-303978"/>
              </a:stretch>
            </a:blipFill>
          </p:spPr>
        </p:sp>
        <p:sp>
          <p:nvSpPr>
            <p:cNvPr name="TextBox 22" id="22"/>
            <p:cNvSpPr txBox="true"/>
            <p:nvPr/>
          </p:nvSpPr>
          <p:spPr>
            <a:xfrm>
              <a:off x="0" y="-9525"/>
              <a:ext cx="6644640" cy="375285"/>
            </a:xfrm>
            <a:prstGeom prst="rect">
              <a:avLst/>
            </a:prstGeom>
          </p:spPr>
          <p:txBody>
            <a:bodyPr anchor="ctr" rtlCol="false" tIns="0" lIns="0" bIns="0" rIns="0"/>
            <a:lstStyle/>
            <a:p>
              <a:pPr algn="l">
                <a:lnSpc>
                  <a:spcPts val="1320"/>
                </a:lnSpc>
              </a:pPr>
              <a:r>
                <a:rPr lang="en-US" sz="1100" i="true">
                  <a:solidFill>
                    <a:srgbClr val="64748B"/>
                  </a:solidFill>
                  <a:latin typeface="프리텐다드"/>
                  <a:ea typeface="프리텐다드"/>
                  <a:cs typeface="프리텐다드"/>
                  <a:sym typeface="프리텐다드"/>
                </a:rPr>
                <a:t>학생·보호자 침해 동시 高 · 침해지수 1.69</a:t>
              </a:r>
            </a:p>
          </p:txBody>
        </p:sp>
      </p:grpSp>
      <p:grpSp>
        <p:nvGrpSpPr>
          <p:cNvPr name="Group 23" id="23"/>
          <p:cNvGrpSpPr/>
          <p:nvPr/>
        </p:nvGrpSpPr>
        <p:grpSpPr>
          <a:xfrm rot="0">
            <a:off x="914400" y="6464808"/>
            <a:ext cx="4983480" cy="420624"/>
            <a:chOff x="0" y="0"/>
            <a:chExt cx="6644640" cy="560832"/>
          </a:xfrm>
        </p:grpSpPr>
        <p:sp>
          <p:nvSpPr>
            <p:cNvPr name="Freeform 24" id="24"/>
            <p:cNvSpPr/>
            <p:nvPr/>
          </p:nvSpPr>
          <p:spPr>
            <a:xfrm flipH="false" flipV="false" rot="0">
              <a:off x="0" y="0"/>
              <a:ext cx="6644640" cy="560832"/>
            </a:xfrm>
            <a:custGeom>
              <a:avLst/>
              <a:gdLst/>
              <a:ahLst/>
              <a:cxnLst/>
              <a:rect r="r" b="b" t="t" l="l"/>
              <a:pathLst>
                <a:path h="560832" w="6644640">
                  <a:moveTo>
                    <a:pt x="0" y="0"/>
                  </a:moveTo>
                  <a:lnTo>
                    <a:pt x="6644640" y="0"/>
                  </a:lnTo>
                  <a:lnTo>
                    <a:pt x="6644640" y="560832"/>
                  </a:lnTo>
                  <a:lnTo>
                    <a:pt x="0" y="560832"/>
                  </a:lnTo>
                  <a:close/>
                </a:path>
              </a:pathLst>
            </a:custGeom>
            <a:blipFill>
              <a:blip r:embed="rId2">
                <a:alphaModFix amt="0"/>
              </a:blip>
              <a:stretch>
                <a:fillRect l="0" t="-180855" r="0" b="-180855"/>
              </a:stretch>
            </a:blipFill>
          </p:spPr>
        </p:sp>
        <p:sp>
          <p:nvSpPr>
            <p:cNvPr name="TextBox 25" id="25"/>
            <p:cNvSpPr txBox="true"/>
            <p:nvPr/>
          </p:nvSpPr>
          <p:spPr>
            <a:xfrm>
              <a:off x="0" y="-19050"/>
              <a:ext cx="6644640" cy="579882"/>
            </a:xfrm>
            <a:prstGeom prst="rect">
              <a:avLst/>
            </a:prstGeom>
          </p:spPr>
          <p:txBody>
            <a:bodyPr anchor="ctr" rtlCol="false" tIns="0" lIns="0" bIns="0" rIns="0"/>
            <a:lstStyle/>
            <a:p>
              <a:pPr algn="l">
                <a:lnSpc>
                  <a:spcPts val="1555"/>
                </a:lnSpc>
              </a:pPr>
              <a:r>
                <a:rPr lang="en-US" sz="1200" b="true">
                  <a:solidFill>
                    <a:srgbClr val="64748B"/>
                  </a:solidFill>
                  <a:latin typeface="프리텐다드 Bold"/>
                  <a:ea typeface="프리텐다드 Bold"/>
                  <a:cs typeface="프리텐다드 Bold"/>
                  <a:sym typeface="프리텐다드 Bold"/>
                </a:rPr>
                <a:t>처방  </a:t>
              </a:r>
              <a:r>
                <a:rPr lang="en-US" sz="1200" b="true">
                  <a:solidFill>
                    <a:srgbClr val="1E293B"/>
                  </a:solidFill>
                  <a:latin typeface="프리텐다드 Bold"/>
                  <a:ea typeface="프리텐다드 Bold"/>
                  <a:cs typeface="프리텐다드 Bold"/>
                  <a:sym typeface="프리텐다드 Bold"/>
                </a:rPr>
                <a:t>악성민원 패널티 · 아동학대 신고보호</a:t>
              </a:r>
            </a:p>
          </p:txBody>
        </p:sp>
      </p:grpSp>
      <p:grpSp>
        <p:nvGrpSpPr>
          <p:cNvPr name="Group 26" id="26"/>
          <p:cNvGrpSpPr/>
          <p:nvPr/>
        </p:nvGrpSpPr>
        <p:grpSpPr>
          <a:xfrm rot="0">
            <a:off x="6348727" y="5434327"/>
            <a:ext cx="5544817" cy="2408425"/>
            <a:chOff x="0" y="0"/>
            <a:chExt cx="7393089" cy="3211233"/>
          </a:xfrm>
        </p:grpSpPr>
        <p:sp>
          <p:nvSpPr>
            <p:cNvPr name="Freeform 27" id="27"/>
            <p:cNvSpPr/>
            <p:nvPr/>
          </p:nvSpPr>
          <p:spPr>
            <a:xfrm flipH="false" flipV="false" rot="0">
              <a:off x="0" y="0"/>
              <a:ext cx="7393051" cy="3211195"/>
            </a:xfrm>
            <a:custGeom>
              <a:avLst/>
              <a:gdLst/>
              <a:ahLst/>
              <a:cxnLst/>
              <a:rect r="r" b="b" t="t" l="l"/>
              <a:pathLst>
                <a:path h="3211195" w="7393051">
                  <a:moveTo>
                    <a:pt x="0" y="73533"/>
                  </a:moveTo>
                  <a:cubicBezTo>
                    <a:pt x="0" y="32893"/>
                    <a:pt x="32893" y="0"/>
                    <a:pt x="73533" y="0"/>
                  </a:cubicBezTo>
                  <a:lnTo>
                    <a:pt x="7319518" y="0"/>
                  </a:lnTo>
                  <a:cubicBezTo>
                    <a:pt x="7360158" y="0"/>
                    <a:pt x="7393051" y="32893"/>
                    <a:pt x="7393051" y="73533"/>
                  </a:cubicBezTo>
                  <a:lnTo>
                    <a:pt x="7393051" y="3137662"/>
                  </a:lnTo>
                  <a:cubicBezTo>
                    <a:pt x="7393051" y="3178302"/>
                    <a:pt x="7360158" y="3211195"/>
                    <a:pt x="7319518" y="3211195"/>
                  </a:cubicBezTo>
                  <a:lnTo>
                    <a:pt x="73533" y="3211195"/>
                  </a:lnTo>
                  <a:cubicBezTo>
                    <a:pt x="32893" y="3211195"/>
                    <a:pt x="0" y="3178302"/>
                    <a:pt x="0" y="3137662"/>
                  </a:cubicBezTo>
                  <a:close/>
                </a:path>
              </a:pathLst>
            </a:custGeom>
            <a:solidFill>
              <a:srgbClr val="FFFFFF"/>
            </a:solidFill>
            <a:ln w="12700" cap="sq">
              <a:solidFill>
                <a:srgbClr val="E2E8F0"/>
              </a:solidFill>
              <a:prstDash val="solid"/>
              <a:miter/>
            </a:ln>
          </p:spPr>
        </p:sp>
      </p:grpSp>
      <p:grpSp>
        <p:nvGrpSpPr>
          <p:cNvPr name="Group 28" id="28"/>
          <p:cNvGrpSpPr/>
          <p:nvPr/>
        </p:nvGrpSpPr>
        <p:grpSpPr>
          <a:xfrm rot="0">
            <a:off x="6629400" y="5586984"/>
            <a:ext cx="4983480" cy="420624"/>
            <a:chOff x="0" y="0"/>
            <a:chExt cx="6644640" cy="560832"/>
          </a:xfrm>
        </p:grpSpPr>
        <p:sp>
          <p:nvSpPr>
            <p:cNvPr name="Freeform 29" id="29"/>
            <p:cNvSpPr/>
            <p:nvPr/>
          </p:nvSpPr>
          <p:spPr>
            <a:xfrm flipH="false" flipV="false" rot="0">
              <a:off x="0" y="0"/>
              <a:ext cx="6644640" cy="560832"/>
            </a:xfrm>
            <a:custGeom>
              <a:avLst/>
              <a:gdLst/>
              <a:ahLst/>
              <a:cxnLst/>
              <a:rect r="r" b="b" t="t" l="l"/>
              <a:pathLst>
                <a:path h="560832" w="6644640">
                  <a:moveTo>
                    <a:pt x="0" y="0"/>
                  </a:moveTo>
                  <a:lnTo>
                    <a:pt x="6644640" y="0"/>
                  </a:lnTo>
                  <a:lnTo>
                    <a:pt x="6644640" y="560832"/>
                  </a:lnTo>
                  <a:lnTo>
                    <a:pt x="0" y="560832"/>
                  </a:lnTo>
                  <a:close/>
                </a:path>
              </a:pathLst>
            </a:custGeom>
            <a:blipFill>
              <a:blip r:embed="rId2">
                <a:alphaModFix amt="0"/>
              </a:blip>
              <a:stretch>
                <a:fillRect l="0" t="-180855" r="0" b="-180855"/>
              </a:stretch>
            </a:blipFill>
          </p:spPr>
        </p:sp>
        <p:sp>
          <p:nvSpPr>
            <p:cNvPr name="TextBox 30" id="30"/>
            <p:cNvSpPr txBox="true"/>
            <p:nvPr/>
          </p:nvSpPr>
          <p:spPr>
            <a:xfrm>
              <a:off x="0" y="-9525"/>
              <a:ext cx="6644640" cy="570357"/>
            </a:xfrm>
            <a:prstGeom prst="rect">
              <a:avLst/>
            </a:prstGeom>
          </p:spPr>
          <p:txBody>
            <a:bodyPr anchor="ctr" rtlCol="false" tIns="0" lIns="0" bIns="0" rIns="0"/>
            <a:lstStyle/>
            <a:p>
              <a:pPr algn="l">
                <a:lnSpc>
                  <a:spcPts val="1920"/>
                </a:lnSpc>
              </a:pPr>
              <a:r>
                <a:rPr lang="en-US" sz="1600" b="true">
                  <a:solidFill>
                    <a:srgbClr val="1E293B"/>
                  </a:solidFill>
                  <a:latin typeface="프리텐다드 Bold"/>
                  <a:ea typeface="프리텐다드 Bold"/>
                  <a:cs typeface="프리텐다드 Bold"/>
                  <a:sym typeface="프리텐다드 Bold"/>
                </a:rPr>
                <a:t>중등·관리자형  </a:t>
              </a:r>
              <a:r>
                <a:rPr lang="en-US" sz="1600" b="true">
                  <a:solidFill>
                    <a:srgbClr val="0284C7"/>
                  </a:solidFill>
                  <a:latin typeface="프리텐다드 Bold"/>
                  <a:ea typeface="프리텐다드 Bold"/>
                  <a:cs typeface="프리텐다드 Bold"/>
                  <a:sym typeface="프리텐다드 Bold"/>
                </a:rPr>
                <a:t>22%</a:t>
              </a:r>
            </a:p>
          </p:txBody>
        </p:sp>
      </p:grpSp>
      <p:grpSp>
        <p:nvGrpSpPr>
          <p:cNvPr name="Group 31" id="31"/>
          <p:cNvGrpSpPr/>
          <p:nvPr/>
        </p:nvGrpSpPr>
        <p:grpSpPr>
          <a:xfrm rot="0">
            <a:off x="6623047" y="6110983"/>
            <a:ext cx="4996177" cy="12697"/>
            <a:chOff x="0" y="0"/>
            <a:chExt cx="6661569" cy="16929"/>
          </a:xfrm>
        </p:grpSpPr>
        <p:sp>
          <p:nvSpPr>
            <p:cNvPr name="Freeform 32" id="32"/>
            <p:cNvSpPr/>
            <p:nvPr/>
          </p:nvSpPr>
          <p:spPr>
            <a:xfrm flipH="false" flipV="false" rot="0">
              <a:off x="0" y="0"/>
              <a:ext cx="6661531" cy="16891"/>
            </a:xfrm>
            <a:custGeom>
              <a:avLst/>
              <a:gdLst/>
              <a:ahLst/>
              <a:cxnLst/>
              <a:rect r="r" b="b" t="t" l="l"/>
              <a:pathLst>
                <a:path h="16891" w="6661531">
                  <a:moveTo>
                    <a:pt x="0" y="0"/>
                  </a:moveTo>
                  <a:lnTo>
                    <a:pt x="6661531" y="16891"/>
                  </a:lnTo>
                </a:path>
              </a:pathLst>
            </a:custGeom>
            <a:blipFill>
              <a:blip r:embed="rId2">
                <a:alphaModFix amt="0"/>
              </a:blip>
              <a:stretch>
                <a:fillRect l="0" t="-7634507" r="0" b="-7634733"/>
              </a:stretch>
            </a:blipFill>
            <a:ln w="12700" cap="sq">
              <a:solidFill>
                <a:srgbClr val="E2E8F0"/>
              </a:solidFill>
              <a:prstDash val="solid"/>
              <a:miter/>
            </a:ln>
          </p:spPr>
        </p:sp>
      </p:grpSp>
      <p:grpSp>
        <p:nvGrpSpPr>
          <p:cNvPr name="Group 33" id="33"/>
          <p:cNvGrpSpPr/>
          <p:nvPr/>
        </p:nvGrpSpPr>
        <p:grpSpPr>
          <a:xfrm rot="0">
            <a:off x="6629400" y="6163056"/>
            <a:ext cx="4983480" cy="274320"/>
            <a:chOff x="0" y="0"/>
            <a:chExt cx="6644640" cy="365760"/>
          </a:xfrm>
        </p:grpSpPr>
        <p:sp>
          <p:nvSpPr>
            <p:cNvPr name="Freeform 34" id="34"/>
            <p:cNvSpPr/>
            <p:nvPr/>
          </p:nvSpPr>
          <p:spPr>
            <a:xfrm flipH="false" flipV="false" rot="0">
              <a:off x="0" y="0"/>
              <a:ext cx="6644640" cy="365760"/>
            </a:xfrm>
            <a:custGeom>
              <a:avLst/>
              <a:gdLst/>
              <a:ahLst/>
              <a:cxnLst/>
              <a:rect r="r" b="b" t="t" l="l"/>
              <a:pathLst>
                <a:path h="365760" w="6644640">
                  <a:moveTo>
                    <a:pt x="0" y="0"/>
                  </a:moveTo>
                  <a:lnTo>
                    <a:pt x="6644640" y="0"/>
                  </a:lnTo>
                  <a:lnTo>
                    <a:pt x="6644640" y="365760"/>
                  </a:lnTo>
                  <a:lnTo>
                    <a:pt x="0" y="365760"/>
                  </a:lnTo>
                  <a:close/>
                </a:path>
              </a:pathLst>
            </a:custGeom>
            <a:blipFill>
              <a:blip r:embed="rId2">
                <a:alphaModFix amt="0"/>
              </a:blip>
              <a:stretch>
                <a:fillRect l="0" t="-303978" r="0" b="-303978"/>
              </a:stretch>
            </a:blipFill>
          </p:spPr>
        </p:sp>
        <p:sp>
          <p:nvSpPr>
            <p:cNvPr name="TextBox 35" id="35"/>
            <p:cNvSpPr txBox="true"/>
            <p:nvPr/>
          </p:nvSpPr>
          <p:spPr>
            <a:xfrm>
              <a:off x="0" y="-9525"/>
              <a:ext cx="6644640" cy="375285"/>
            </a:xfrm>
            <a:prstGeom prst="rect">
              <a:avLst/>
            </a:prstGeom>
          </p:spPr>
          <p:txBody>
            <a:bodyPr anchor="ctr" rtlCol="false" tIns="0" lIns="0" bIns="0" rIns="0"/>
            <a:lstStyle/>
            <a:p>
              <a:pPr algn="l">
                <a:lnSpc>
                  <a:spcPts val="1320"/>
                </a:lnSpc>
              </a:pPr>
              <a:r>
                <a:rPr lang="en-US" sz="1100" i="true">
                  <a:solidFill>
                    <a:srgbClr val="64748B"/>
                  </a:solidFill>
                  <a:latin typeface="프리텐다드"/>
                  <a:ea typeface="프리텐다드"/>
                  <a:cs typeface="프리텐다드"/>
                  <a:sym typeface="프리텐다드"/>
                </a:rPr>
                <a:t>관리자 침해 32% (군집 최고)</a:t>
              </a:r>
            </a:p>
          </p:txBody>
        </p:sp>
      </p:grpSp>
      <p:grpSp>
        <p:nvGrpSpPr>
          <p:cNvPr name="Group 36" id="36"/>
          <p:cNvGrpSpPr/>
          <p:nvPr/>
        </p:nvGrpSpPr>
        <p:grpSpPr>
          <a:xfrm rot="0">
            <a:off x="6629400" y="6464808"/>
            <a:ext cx="4983480" cy="420624"/>
            <a:chOff x="0" y="0"/>
            <a:chExt cx="6644640" cy="560832"/>
          </a:xfrm>
        </p:grpSpPr>
        <p:sp>
          <p:nvSpPr>
            <p:cNvPr name="Freeform 37" id="37"/>
            <p:cNvSpPr/>
            <p:nvPr/>
          </p:nvSpPr>
          <p:spPr>
            <a:xfrm flipH="false" flipV="false" rot="0">
              <a:off x="0" y="0"/>
              <a:ext cx="6644640" cy="560832"/>
            </a:xfrm>
            <a:custGeom>
              <a:avLst/>
              <a:gdLst/>
              <a:ahLst/>
              <a:cxnLst/>
              <a:rect r="r" b="b" t="t" l="l"/>
              <a:pathLst>
                <a:path h="560832" w="6644640">
                  <a:moveTo>
                    <a:pt x="0" y="0"/>
                  </a:moveTo>
                  <a:lnTo>
                    <a:pt x="6644640" y="0"/>
                  </a:lnTo>
                  <a:lnTo>
                    <a:pt x="6644640" y="560832"/>
                  </a:lnTo>
                  <a:lnTo>
                    <a:pt x="0" y="560832"/>
                  </a:lnTo>
                  <a:close/>
                </a:path>
              </a:pathLst>
            </a:custGeom>
            <a:blipFill>
              <a:blip r:embed="rId2">
                <a:alphaModFix amt="0"/>
              </a:blip>
              <a:stretch>
                <a:fillRect l="0" t="-180855" r="0" b="-180855"/>
              </a:stretch>
            </a:blipFill>
          </p:spPr>
        </p:sp>
        <p:sp>
          <p:nvSpPr>
            <p:cNvPr name="TextBox 38" id="38"/>
            <p:cNvSpPr txBox="true"/>
            <p:nvPr/>
          </p:nvSpPr>
          <p:spPr>
            <a:xfrm>
              <a:off x="0" y="-19050"/>
              <a:ext cx="6644640" cy="579882"/>
            </a:xfrm>
            <a:prstGeom prst="rect">
              <a:avLst/>
            </a:prstGeom>
          </p:spPr>
          <p:txBody>
            <a:bodyPr anchor="ctr" rtlCol="false" tIns="0" lIns="0" bIns="0" rIns="0"/>
            <a:lstStyle/>
            <a:p>
              <a:pPr algn="l">
                <a:lnSpc>
                  <a:spcPts val="1555"/>
                </a:lnSpc>
              </a:pPr>
              <a:r>
                <a:rPr lang="en-US" sz="1200" b="true">
                  <a:solidFill>
                    <a:srgbClr val="64748B"/>
                  </a:solidFill>
                  <a:latin typeface="프리텐다드 Bold"/>
                  <a:ea typeface="프리텐다드 Bold"/>
                  <a:cs typeface="프리텐다드 Bold"/>
                  <a:sym typeface="프리텐다드 Bold"/>
                </a:rPr>
                <a:t>처방  </a:t>
              </a:r>
              <a:r>
                <a:rPr lang="en-US" sz="1200" b="true">
                  <a:solidFill>
                    <a:srgbClr val="1E293B"/>
                  </a:solidFill>
                  <a:latin typeface="프리텐다드 Bold"/>
                  <a:ea typeface="프리텐다드 Bold"/>
                  <a:cs typeface="프리텐다드 Bold"/>
                  <a:sym typeface="프리텐다드 Bold"/>
                </a:rPr>
                <a:t>악성민원 패널티 · 교사보호관(제언)</a:t>
              </a:r>
            </a:p>
          </p:txBody>
        </p:sp>
      </p:grpSp>
      <p:grpSp>
        <p:nvGrpSpPr>
          <p:cNvPr name="Group 39" id="39"/>
          <p:cNvGrpSpPr/>
          <p:nvPr/>
        </p:nvGrpSpPr>
        <p:grpSpPr>
          <a:xfrm rot="0">
            <a:off x="12063727" y="5434327"/>
            <a:ext cx="5544817" cy="2408425"/>
            <a:chOff x="0" y="0"/>
            <a:chExt cx="7393089" cy="3211233"/>
          </a:xfrm>
        </p:grpSpPr>
        <p:sp>
          <p:nvSpPr>
            <p:cNvPr name="Freeform 40" id="40"/>
            <p:cNvSpPr/>
            <p:nvPr/>
          </p:nvSpPr>
          <p:spPr>
            <a:xfrm flipH="false" flipV="false" rot="0">
              <a:off x="0" y="0"/>
              <a:ext cx="7393051" cy="3211195"/>
            </a:xfrm>
            <a:custGeom>
              <a:avLst/>
              <a:gdLst/>
              <a:ahLst/>
              <a:cxnLst/>
              <a:rect r="r" b="b" t="t" l="l"/>
              <a:pathLst>
                <a:path h="3211195" w="7393051">
                  <a:moveTo>
                    <a:pt x="0" y="73533"/>
                  </a:moveTo>
                  <a:cubicBezTo>
                    <a:pt x="0" y="32893"/>
                    <a:pt x="32893" y="0"/>
                    <a:pt x="73533" y="0"/>
                  </a:cubicBezTo>
                  <a:lnTo>
                    <a:pt x="7319518" y="0"/>
                  </a:lnTo>
                  <a:cubicBezTo>
                    <a:pt x="7360158" y="0"/>
                    <a:pt x="7393051" y="32893"/>
                    <a:pt x="7393051" y="73533"/>
                  </a:cubicBezTo>
                  <a:lnTo>
                    <a:pt x="7393051" y="3137662"/>
                  </a:lnTo>
                  <a:cubicBezTo>
                    <a:pt x="7393051" y="3178302"/>
                    <a:pt x="7360158" y="3211195"/>
                    <a:pt x="7319518" y="3211195"/>
                  </a:cubicBezTo>
                  <a:lnTo>
                    <a:pt x="73533" y="3211195"/>
                  </a:lnTo>
                  <a:cubicBezTo>
                    <a:pt x="32893" y="3211195"/>
                    <a:pt x="0" y="3178302"/>
                    <a:pt x="0" y="3137662"/>
                  </a:cubicBezTo>
                  <a:close/>
                </a:path>
              </a:pathLst>
            </a:custGeom>
            <a:solidFill>
              <a:srgbClr val="FFFFFF"/>
            </a:solidFill>
            <a:ln w="12700" cap="sq">
              <a:solidFill>
                <a:srgbClr val="E2E8F0"/>
              </a:solidFill>
              <a:prstDash val="solid"/>
              <a:miter/>
            </a:ln>
          </p:spPr>
        </p:sp>
      </p:grpSp>
      <p:grpSp>
        <p:nvGrpSpPr>
          <p:cNvPr name="Group 41" id="41"/>
          <p:cNvGrpSpPr/>
          <p:nvPr/>
        </p:nvGrpSpPr>
        <p:grpSpPr>
          <a:xfrm rot="0">
            <a:off x="12344400" y="5586984"/>
            <a:ext cx="4983480" cy="420624"/>
            <a:chOff x="0" y="0"/>
            <a:chExt cx="6644640" cy="560832"/>
          </a:xfrm>
        </p:grpSpPr>
        <p:sp>
          <p:nvSpPr>
            <p:cNvPr name="Freeform 42" id="42"/>
            <p:cNvSpPr/>
            <p:nvPr/>
          </p:nvSpPr>
          <p:spPr>
            <a:xfrm flipH="false" flipV="false" rot="0">
              <a:off x="0" y="0"/>
              <a:ext cx="6644640" cy="560832"/>
            </a:xfrm>
            <a:custGeom>
              <a:avLst/>
              <a:gdLst/>
              <a:ahLst/>
              <a:cxnLst/>
              <a:rect r="r" b="b" t="t" l="l"/>
              <a:pathLst>
                <a:path h="560832" w="6644640">
                  <a:moveTo>
                    <a:pt x="0" y="0"/>
                  </a:moveTo>
                  <a:lnTo>
                    <a:pt x="6644640" y="0"/>
                  </a:lnTo>
                  <a:lnTo>
                    <a:pt x="6644640" y="560832"/>
                  </a:lnTo>
                  <a:lnTo>
                    <a:pt x="0" y="560832"/>
                  </a:lnTo>
                  <a:close/>
                </a:path>
              </a:pathLst>
            </a:custGeom>
            <a:blipFill>
              <a:blip r:embed="rId2">
                <a:alphaModFix amt="0"/>
              </a:blip>
              <a:stretch>
                <a:fillRect l="0" t="-180855" r="0" b="-180855"/>
              </a:stretch>
            </a:blipFill>
          </p:spPr>
        </p:sp>
        <p:sp>
          <p:nvSpPr>
            <p:cNvPr name="TextBox 43" id="43"/>
            <p:cNvSpPr txBox="true"/>
            <p:nvPr/>
          </p:nvSpPr>
          <p:spPr>
            <a:xfrm>
              <a:off x="0" y="-9525"/>
              <a:ext cx="6644640" cy="570357"/>
            </a:xfrm>
            <a:prstGeom prst="rect">
              <a:avLst/>
            </a:prstGeom>
          </p:spPr>
          <p:txBody>
            <a:bodyPr anchor="ctr" rtlCol="false" tIns="0" lIns="0" bIns="0" rIns="0"/>
            <a:lstStyle/>
            <a:p>
              <a:pPr algn="l">
                <a:lnSpc>
                  <a:spcPts val="1920"/>
                </a:lnSpc>
              </a:pPr>
              <a:r>
                <a:rPr lang="en-US" sz="1600" b="true">
                  <a:solidFill>
                    <a:srgbClr val="1E293B"/>
                  </a:solidFill>
                  <a:latin typeface="프리텐다드 Bold"/>
                  <a:ea typeface="프리텐다드 Bold"/>
                  <a:cs typeface="프리텐다드 Bold"/>
                  <a:sym typeface="프리텐다드 Bold"/>
                </a:rPr>
                <a:t>고등·저위험형  </a:t>
              </a:r>
              <a:r>
                <a:rPr lang="en-US" sz="1600" b="true">
                  <a:solidFill>
                    <a:srgbClr val="7C3AED"/>
                  </a:solidFill>
                  <a:latin typeface="프리텐다드 Bold"/>
                  <a:ea typeface="프리텐다드 Bold"/>
                  <a:cs typeface="프리텐다드 Bold"/>
                  <a:sym typeface="프리텐다드 Bold"/>
                </a:rPr>
                <a:t>6%</a:t>
              </a:r>
            </a:p>
          </p:txBody>
        </p:sp>
      </p:grpSp>
      <p:grpSp>
        <p:nvGrpSpPr>
          <p:cNvPr name="Group 44" id="44"/>
          <p:cNvGrpSpPr/>
          <p:nvPr/>
        </p:nvGrpSpPr>
        <p:grpSpPr>
          <a:xfrm rot="0">
            <a:off x="12338047" y="6110983"/>
            <a:ext cx="4996177" cy="12697"/>
            <a:chOff x="0" y="0"/>
            <a:chExt cx="6661569" cy="16929"/>
          </a:xfrm>
        </p:grpSpPr>
        <p:sp>
          <p:nvSpPr>
            <p:cNvPr name="Freeform 45" id="45"/>
            <p:cNvSpPr/>
            <p:nvPr/>
          </p:nvSpPr>
          <p:spPr>
            <a:xfrm flipH="false" flipV="false" rot="0">
              <a:off x="0" y="0"/>
              <a:ext cx="6661531" cy="16891"/>
            </a:xfrm>
            <a:custGeom>
              <a:avLst/>
              <a:gdLst/>
              <a:ahLst/>
              <a:cxnLst/>
              <a:rect r="r" b="b" t="t" l="l"/>
              <a:pathLst>
                <a:path h="16891" w="6661531">
                  <a:moveTo>
                    <a:pt x="0" y="0"/>
                  </a:moveTo>
                  <a:lnTo>
                    <a:pt x="6661531" y="16891"/>
                  </a:lnTo>
                </a:path>
              </a:pathLst>
            </a:custGeom>
            <a:blipFill>
              <a:blip r:embed="rId2">
                <a:alphaModFix amt="0"/>
              </a:blip>
              <a:stretch>
                <a:fillRect l="0" t="-7634507" r="0" b="-7634733"/>
              </a:stretch>
            </a:blipFill>
            <a:ln w="12700" cap="sq">
              <a:solidFill>
                <a:srgbClr val="E2E8F0"/>
              </a:solidFill>
              <a:prstDash val="solid"/>
              <a:miter/>
            </a:ln>
          </p:spPr>
        </p:sp>
      </p:grpSp>
      <p:grpSp>
        <p:nvGrpSpPr>
          <p:cNvPr name="Group 46" id="46"/>
          <p:cNvGrpSpPr/>
          <p:nvPr/>
        </p:nvGrpSpPr>
        <p:grpSpPr>
          <a:xfrm rot="0">
            <a:off x="12344400" y="6163056"/>
            <a:ext cx="4983480" cy="274320"/>
            <a:chOff x="0" y="0"/>
            <a:chExt cx="6644640" cy="365760"/>
          </a:xfrm>
        </p:grpSpPr>
        <p:sp>
          <p:nvSpPr>
            <p:cNvPr name="Freeform 47" id="47"/>
            <p:cNvSpPr/>
            <p:nvPr/>
          </p:nvSpPr>
          <p:spPr>
            <a:xfrm flipH="false" flipV="false" rot="0">
              <a:off x="0" y="0"/>
              <a:ext cx="6644640" cy="365760"/>
            </a:xfrm>
            <a:custGeom>
              <a:avLst/>
              <a:gdLst/>
              <a:ahLst/>
              <a:cxnLst/>
              <a:rect r="r" b="b" t="t" l="l"/>
              <a:pathLst>
                <a:path h="365760" w="6644640">
                  <a:moveTo>
                    <a:pt x="0" y="0"/>
                  </a:moveTo>
                  <a:lnTo>
                    <a:pt x="6644640" y="0"/>
                  </a:lnTo>
                  <a:lnTo>
                    <a:pt x="6644640" y="365760"/>
                  </a:lnTo>
                  <a:lnTo>
                    <a:pt x="0" y="365760"/>
                  </a:lnTo>
                  <a:close/>
                </a:path>
              </a:pathLst>
            </a:custGeom>
            <a:blipFill>
              <a:blip r:embed="rId2">
                <a:alphaModFix amt="0"/>
              </a:blip>
              <a:stretch>
                <a:fillRect l="0" t="-303978" r="0" b="-303978"/>
              </a:stretch>
            </a:blipFill>
          </p:spPr>
        </p:sp>
        <p:sp>
          <p:nvSpPr>
            <p:cNvPr name="TextBox 48" id="48"/>
            <p:cNvSpPr txBox="true"/>
            <p:nvPr/>
          </p:nvSpPr>
          <p:spPr>
            <a:xfrm>
              <a:off x="0" y="-9525"/>
              <a:ext cx="6644640" cy="375285"/>
            </a:xfrm>
            <a:prstGeom prst="rect">
              <a:avLst/>
            </a:prstGeom>
          </p:spPr>
          <p:txBody>
            <a:bodyPr anchor="ctr" rtlCol="false" tIns="0" lIns="0" bIns="0" rIns="0"/>
            <a:lstStyle/>
            <a:p>
              <a:pPr algn="l">
                <a:lnSpc>
                  <a:spcPts val="1320"/>
                </a:lnSpc>
              </a:pPr>
              <a:r>
                <a:rPr lang="en-US" sz="1100" i="true">
                  <a:solidFill>
                    <a:srgbClr val="64748B"/>
                  </a:solidFill>
                  <a:latin typeface="프리텐다드"/>
                  <a:ea typeface="프리텐다드"/>
                  <a:cs typeface="프리텐다드"/>
                  <a:sym typeface="프리텐다드"/>
                </a:rPr>
                <a:t>학생발 침해 중심 · 침해지수 1.30</a:t>
              </a:r>
            </a:p>
          </p:txBody>
        </p:sp>
      </p:grpSp>
      <p:grpSp>
        <p:nvGrpSpPr>
          <p:cNvPr name="Group 49" id="49"/>
          <p:cNvGrpSpPr/>
          <p:nvPr/>
        </p:nvGrpSpPr>
        <p:grpSpPr>
          <a:xfrm rot="0">
            <a:off x="12344400" y="6464808"/>
            <a:ext cx="4983480" cy="420624"/>
            <a:chOff x="0" y="0"/>
            <a:chExt cx="6644640" cy="560832"/>
          </a:xfrm>
        </p:grpSpPr>
        <p:sp>
          <p:nvSpPr>
            <p:cNvPr name="Freeform 50" id="50"/>
            <p:cNvSpPr/>
            <p:nvPr/>
          </p:nvSpPr>
          <p:spPr>
            <a:xfrm flipH="false" flipV="false" rot="0">
              <a:off x="0" y="0"/>
              <a:ext cx="6644640" cy="560832"/>
            </a:xfrm>
            <a:custGeom>
              <a:avLst/>
              <a:gdLst/>
              <a:ahLst/>
              <a:cxnLst/>
              <a:rect r="r" b="b" t="t" l="l"/>
              <a:pathLst>
                <a:path h="560832" w="6644640">
                  <a:moveTo>
                    <a:pt x="0" y="0"/>
                  </a:moveTo>
                  <a:lnTo>
                    <a:pt x="6644640" y="0"/>
                  </a:lnTo>
                  <a:lnTo>
                    <a:pt x="6644640" y="560832"/>
                  </a:lnTo>
                  <a:lnTo>
                    <a:pt x="0" y="560832"/>
                  </a:lnTo>
                  <a:close/>
                </a:path>
              </a:pathLst>
            </a:custGeom>
            <a:blipFill>
              <a:blip r:embed="rId2">
                <a:alphaModFix amt="0"/>
              </a:blip>
              <a:stretch>
                <a:fillRect l="0" t="-180855" r="0" b="-180855"/>
              </a:stretch>
            </a:blipFill>
          </p:spPr>
        </p:sp>
        <p:sp>
          <p:nvSpPr>
            <p:cNvPr name="TextBox 51" id="51"/>
            <p:cNvSpPr txBox="true"/>
            <p:nvPr/>
          </p:nvSpPr>
          <p:spPr>
            <a:xfrm>
              <a:off x="0" y="-19050"/>
              <a:ext cx="6644640" cy="579882"/>
            </a:xfrm>
            <a:prstGeom prst="rect">
              <a:avLst/>
            </a:prstGeom>
          </p:spPr>
          <p:txBody>
            <a:bodyPr anchor="ctr" rtlCol="false" tIns="0" lIns="0" bIns="0" rIns="0"/>
            <a:lstStyle/>
            <a:p>
              <a:pPr algn="l">
                <a:lnSpc>
                  <a:spcPts val="1555"/>
                </a:lnSpc>
              </a:pPr>
              <a:r>
                <a:rPr lang="en-US" sz="1200" b="true">
                  <a:solidFill>
                    <a:srgbClr val="64748B"/>
                  </a:solidFill>
                  <a:latin typeface="프리텐다드 Bold"/>
                  <a:ea typeface="프리텐다드 Bold"/>
                  <a:cs typeface="프리텐다드 Bold"/>
                  <a:sym typeface="프리텐다드 Bold"/>
                </a:rPr>
                <a:t>처방  </a:t>
              </a:r>
              <a:r>
                <a:rPr lang="en-US" sz="1200" b="true">
                  <a:solidFill>
                    <a:srgbClr val="1E293B"/>
                  </a:solidFill>
                  <a:latin typeface="프리텐다드 Bold"/>
                  <a:ea typeface="프리텐다드 Bold"/>
                  <a:cs typeface="프리텐다드 Bold"/>
                  <a:sym typeface="프리텐다드 Bold"/>
                </a:rPr>
                <a:t>악성민원 패널티 · 수업방해 분리</a:t>
              </a:r>
            </a:p>
          </p:txBody>
        </p:sp>
      </p:grpSp>
      <p:grpSp>
        <p:nvGrpSpPr>
          <p:cNvPr name="Group 52" id="52"/>
          <p:cNvGrpSpPr/>
          <p:nvPr/>
        </p:nvGrpSpPr>
        <p:grpSpPr>
          <a:xfrm rot="0">
            <a:off x="640080" y="8019288"/>
            <a:ext cx="17007840" cy="566928"/>
            <a:chOff x="0" y="0"/>
            <a:chExt cx="22677120" cy="755904"/>
          </a:xfrm>
        </p:grpSpPr>
        <p:sp>
          <p:nvSpPr>
            <p:cNvPr name="Freeform 53" id="53"/>
            <p:cNvSpPr/>
            <p:nvPr/>
          </p:nvSpPr>
          <p:spPr>
            <a:xfrm flipH="false" flipV="false" rot="0">
              <a:off x="0" y="0"/>
              <a:ext cx="22677120" cy="755904"/>
            </a:xfrm>
            <a:custGeom>
              <a:avLst/>
              <a:gdLst/>
              <a:ahLst/>
              <a:cxnLst/>
              <a:rect r="r" b="b" t="t" l="l"/>
              <a:pathLst>
                <a:path h="755904" w="22677120">
                  <a:moveTo>
                    <a:pt x="0" y="73152"/>
                  </a:moveTo>
                  <a:cubicBezTo>
                    <a:pt x="0" y="32766"/>
                    <a:pt x="32766" y="0"/>
                    <a:pt x="73152" y="0"/>
                  </a:cubicBezTo>
                  <a:lnTo>
                    <a:pt x="22603968" y="0"/>
                  </a:lnTo>
                  <a:cubicBezTo>
                    <a:pt x="22644354" y="0"/>
                    <a:pt x="22677120" y="32766"/>
                    <a:pt x="22677120" y="73152"/>
                  </a:cubicBezTo>
                  <a:lnTo>
                    <a:pt x="22677120" y="682752"/>
                  </a:lnTo>
                  <a:cubicBezTo>
                    <a:pt x="22677120" y="723138"/>
                    <a:pt x="22644354" y="755904"/>
                    <a:pt x="22603968" y="755904"/>
                  </a:cubicBezTo>
                  <a:lnTo>
                    <a:pt x="73152" y="755904"/>
                  </a:lnTo>
                  <a:cubicBezTo>
                    <a:pt x="32766" y="755904"/>
                    <a:pt x="0" y="723138"/>
                    <a:pt x="0" y="682752"/>
                  </a:cubicBezTo>
                  <a:close/>
                </a:path>
              </a:pathLst>
            </a:custGeom>
            <a:solidFill>
              <a:srgbClr val="F8FAFC"/>
            </a:solidFill>
          </p:spPr>
        </p:sp>
      </p:grpSp>
      <p:grpSp>
        <p:nvGrpSpPr>
          <p:cNvPr name="Group 54" id="54"/>
          <p:cNvGrpSpPr/>
          <p:nvPr/>
        </p:nvGrpSpPr>
        <p:grpSpPr>
          <a:xfrm rot="0">
            <a:off x="914400" y="8019288"/>
            <a:ext cx="16459200" cy="566928"/>
            <a:chOff x="0" y="0"/>
            <a:chExt cx="21945600" cy="755904"/>
          </a:xfrm>
        </p:grpSpPr>
        <p:sp>
          <p:nvSpPr>
            <p:cNvPr name="Freeform 55" id="55"/>
            <p:cNvSpPr/>
            <p:nvPr/>
          </p:nvSpPr>
          <p:spPr>
            <a:xfrm flipH="false" flipV="false" rot="0">
              <a:off x="0" y="0"/>
              <a:ext cx="21945600" cy="755904"/>
            </a:xfrm>
            <a:custGeom>
              <a:avLst/>
              <a:gdLst/>
              <a:ahLst/>
              <a:cxnLst/>
              <a:rect r="r" b="b" t="t" l="l"/>
              <a:pathLst>
                <a:path h="755904" w="21945600">
                  <a:moveTo>
                    <a:pt x="0" y="0"/>
                  </a:moveTo>
                  <a:lnTo>
                    <a:pt x="21945600" y="0"/>
                  </a:lnTo>
                  <a:lnTo>
                    <a:pt x="21945600" y="755904"/>
                  </a:lnTo>
                  <a:lnTo>
                    <a:pt x="0" y="755904"/>
                  </a:lnTo>
                  <a:close/>
                </a:path>
              </a:pathLst>
            </a:custGeom>
            <a:blipFill>
              <a:blip r:embed="rId2">
                <a:alphaModFix amt="0"/>
              </a:blip>
              <a:stretch>
                <a:fillRect l="0" t="-515694" r="0" b="-515694"/>
              </a:stretch>
            </a:blipFill>
          </p:spPr>
        </p:sp>
        <p:sp>
          <p:nvSpPr>
            <p:cNvPr name="TextBox 56" id="56"/>
            <p:cNvSpPr txBox="true"/>
            <p:nvPr/>
          </p:nvSpPr>
          <p:spPr>
            <a:xfrm>
              <a:off x="0" y="-9525"/>
              <a:ext cx="21945600" cy="765429"/>
            </a:xfrm>
            <a:prstGeom prst="rect">
              <a:avLst/>
            </a:prstGeom>
          </p:spPr>
          <p:txBody>
            <a:bodyPr anchor="ctr" rtlCol="false" tIns="0" lIns="0" bIns="0" rIns="0"/>
            <a:lstStyle/>
            <a:p>
              <a:pPr algn="l">
                <a:lnSpc>
                  <a:spcPts val="1439"/>
                </a:lnSpc>
              </a:pPr>
              <a:r>
                <a:rPr lang="en-US" sz="1200" b="true">
                  <a:solidFill>
                    <a:srgbClr val="1E293B"/>
                  </a:solidFill>
                  <a:latin typeface="프리텐다드 Bold"/>
                  <a:ea typeface="프리텐다드 Bold"/>
                  <a:cs typeface="프리텐다드 Bold"/>
                  <a:sym typeface="프리텐다드 Bold"/>
                </a:rPr>
                <a:t>공통 기반 = 악성민원 가해자 패널티  </a:t>
              </a:r>
              <a:r>
                <a:rPr lang="en-US" sz="1200">
                  <a:solidFill>
                    <a:srgbClr val="333333"/>
                  </a:solidFill>
                  <a:latin typeface="프리텐다드"/>
                  <a:ea typeface="프리텐다드"/>
                  <a:cs typeface="프리텐다드"/>
                  <a:sym typeface="프리텐다드"/>
                </a:rPr>
                <a:t>(전 군집 견고 OR 2.49 · 제도공백 기준 PAF −28.5%p). 군집별 처방은 효과차 비유의로 ‘탐색적 참고’.  </a:t>
              </a:r>
              <a:r>
                <a:rPr lang="en-US" sz="1200" b="true">
                  <a:solidFill>
                    <a:srgbClr val="C0392B"/>
                  </a:solidFill>
                  <a:latin typeface="프리텐다드 Bold"/>
                  <a:ea typeface="프리텐다드 Bold"/>
                  <a:cs typeface="프리텐다드 Bold"/>
                  <a:sym typeface="프리텐다드 Bold"/>
                </a:rPr>
                <a:t>우선순위는 공통 제도, 맞춤은 운영의 미세조정.</a:t>
              </a:r>
            </a:p>
          </p:txBody>
        </p:sp>
      </p:grpSp>
      <p:grpSp>
        <p:nvGrpSpPr>
          <p:cNvPr name="Group 57" id="57"/>
          <p:cNvGrpSpPr/>
          <p:nvPr/>
        </p:nvGrpSpPr>
        <p:grpSpPr>
          <a:xfrm rot="0">
            <a:off x="640080" y="8732520"/>
            <a:ext cx="3657600" cy="237744"/>
            <a:chOff x="0" y="0"/>
            <a:chExt cx="4876800" cy="316992"/>
          </a:xfrm>
        </p:grpSpPr>
        <p:sp>
          <p:nvSpPr>
            <p:cNvPr name="Freeform 58" id="58"/>
            <p:cNvSpPr/>
            <p:nvPr/>
          </p:nvSpPr>
          <p:spPr>
            <a:xfrm flipH="false" flipV="false" rot="0">
              <a:off x="0" y="0"/>
              <a:ext cx="4876800" cy="316992"/>
            </a:xfrm>
            <a:custGeom>
              <a:avLst/>
              <a:gdLst/>
              <a:ahLst/>
              <a:cxnLst/>
              <a:rect r="r" b="b" t="t" l="l"/>
              <a:pathLst>
                <a:path h="316992" w="4876800">
                  <a:moveTo>
                    <a:pt x="0" y="0"/>
                  </a:moveTo>
                  <a:lnTo>
                    <a:pt x="4876800" y="0"/>
                  </a:lnTo>
                  <a:lnTo>
                    <a:pt x="4876800" y="316992"/>
                  </a:lnTo>
                  <a:lnTo>
                    <a:pt x="0" y="316992"/>
                  </a:lnTo>
                  <a:close/>
                </a:path>
              </a:pathLst>
            </a:custGeom>
            <a:blipFill>
              <a:blip r:embed="rId2">
                <a:alphaModFix amt="0"/>
              </a:blip>
              <a:stretch>
                <a:fillRect l="0" t="-249769" r="0" b="-249769"/>
              </a:stretch>
            </a:blipFill>
          </p:spPr>
        </p:sp>
        <p:sp>
          <p:nvSpPr>
            <p:cNvPr name="TextBox 59" id="59"/>
            <p:cNvSpPr txBox="true"/>
            <p:nvPr/>
          </p:nvSpPr>
          <p:spPr>
            <a:xfrm>
              <a:off x="0" y="-9525"/>
              <a:ext cx="4876800" cy="326517"/>
            </a:xfrm>
            <a:prstGeom prst="rect">
              <a:avLst/>
            </a:prstGeom>
          </p:spPr>
          <p:txBody>
            <a:bodyPr anchor="ctr" rtlCol="false" tIns="0" lIns="0" bIns="0" rIns="0"/>
            <a:lstStyle/>
            <a:p>
              <a:pPr algn="l">
                <a:lnSpc>
                  <a:spcPts val="1320"/>
                </a:lnSpc>
              </a:pPr>
              <a:r>
                <a:rPr lang="en-US" sz="1100" b="true">
                  <a:solidFill>
                    <a:srgbClr val="1565C0"/>
                  </a:solidFill>
                  <a:latin typeface="프리텐다드 Bold"/>
                  <a:ea typeface="프리텐다드 Bold"/>
                  <a:cs typeface="프리텐다드 Bold"/>
                  <a:sym typeface="프리텐다드 Bold"/>
                </a:rPr>
                <a:t>데이터 출처</a:t>
              </a:r>
            </a:p>
          </p:txBody>
        </p:sp>
      </p:grpSp>
      <p:grpSp>
        <p:nvGrpSpPr>
          <p:cNvPr name="Group 60" id="60"/>
          <p:cNvGrpSpPr/>
          <p:nvPr/>
        </p:nvGrpSpPr>
        <p:grpSpPr>
          <a:xfrm rot="0">
            <a:off x="9326880" y="8732520"/>
            <a:ext cx="4572000" cy="237744"/>
            <a:chOff x="0" y="0"/>
            <a:chExt cx="6096000" cy="316992"/>
          </a:xfrm>
        </p:grpSpPr>
        <p:sp>
          <p:nvSpPr>
            <p:cNvPr name="Freeform 61" id="61"/>
            <p:cNvSpPr/>
            <p:nvPr/>
          </p:nvSpPr>
          <p:spPr>
            <a:xfrm flipH="false" flipV="false" rot="0">
              <a:off x="0" y="0"/>
              <a:ext cx="6096000" cy="316992"/>
            </a:xfrm>
            <a:custGeom>
              <a:avLst/>
              <a:gdLst/>
              <a:ahLst/>
              <a:cxnLst/>
              <a:rect r="r" b="b" t="t" l="l"/>
              <a:pathLst>
                <a:path h="316992" w="6096000">
                  <a:moveTo>
                    <a:pt x="0" y="0"/>
                  </a:moveTo>
                  <a:lnTo>
                    <a:pt x="6096000" y="0"/>
                  </a:lnTo>
                  <a:lnTo>
                    <a:pt x="6096000" y="316992"/>
                  </a:lnTo>
                  <a:lnTo>
                    <a:pt x="0" y="316992"/>
                  </a:lnTo>
                  <a:close/>
                </a:path>
              </a:pathLst>
            </a:custGeom>
            <a:blipFill>
              <a:blip r:embed="rId2">
                <a:alphaModFix amt="0"/>
              </a:blip>
              <a:stretch>
                <a:fillRect l="0" t="-324712" r="0" b="-324712"/>
              </a:stretch>
            </a:blipFill>
          </p:spPr>
        </p:sp>
        <p:sp>
          <p:nvSpPr>
            <p:cNvPr name="TextBox 62" id="62"/>
            <p:cNvSpPr txBox="true"/>
            <p:nvPr/>
          </p:nvSpPr>
          <p:spPr>
            <a:xfrm>
              <a:off x="0" y="-9525"/>
              <a:ext cx="6096000" cy="326517"/>
            </a:xfrm>
            <a:prstGeom prst="rect">
              <a:avLst/>
            </a:prstGeom>
          </p:spPr>
          <p:txBody>
            <a:bodyPr anchor="ctr" rtlCol="false" tIns="0" lIns="0" bIns="0" rIns="0"/>
            <a:lstStyle/>
            <a:p>
              <a:pPr algn="l">
                <a:lnSpc>
                  <a:spcPts val="1320"/>
                </a:lnSpc>
              </a:pPr>
              <a:r>
                <a:rPr lang="en-US" sz="1100" b="true">
                  <a:solidFill>
                    <a:srgbClr val="1565C0"/>
                  </a:solidFill>
                  <a:latin typeface="프리텐다드 Bold"/>
                  <a:ea typeface="프리텐다드 Bold"/>
                  <a:cs typeface="프리텐다드 Bold"/>
                  <a:sym typeface="프리텐다드 Bold"/>
                </a:rPr>
                <a:t>참고문헌</a:t>
              </a:r>
            </a:p>
          </p:txBody>
        </p:sp>
      </p:grpSp>
      <p:sp>
        <p:nvSpPr>
          <p:cNvPr name="AutoShape 63" id="63"/>
          <p:cNvSpPr/>
          <p:nvPr/>
        </p:nvSpPr>
        <p:spPr>
          <a:xfrm>
            <a:off x="866776" y="738829"/>
            <a:ext cx="16554447" cy="9824"/>
          </a:xfrm>
          <a:prstGeom prst="line">
            <a:avLst/>
          </a:prstGeom>
          <a:ln cap="rnd" w="9525">
            <a:solidFill>
              <a:srgbClr val="E2E8F0"/>
            </a:solidFill>
            <a:prstDash val="solid"/>
            <a:headEnd type="none" len="sm" w="sm"/>
            <a:tailEnd type="none" len="sm" w="sm"/>
          </a:ln>
        </p:spPr>
      </p:sp>
      <p:sp>
        <p:nvSpPr>
          <p:cNvPr name="TextBox 64" id="64"/>
          <p:cNvSpPr txBox="true"/>
          <p:nvPr/>
        </p:nvSpPr>
        <p:spPr>
          <a:xfrm rot="0">
            <a:off x="914400" y="6848094"/>
            <a:ext cx="4983480" cy="896874"/>
          </a:xfrm>
          <a:prstGeom prst="rect">
            <a:avLst/>
          </a:prstGeom>
        </p:spPr>
        <p:txBody>
          <a:bodyPr anchor="t" rtlCol="false" tIns="0" lIns="0" bIns="0" rIns="0">
            <a:spAutoFit/>
          </a:bodyPr>
          <a:lstStyle/>
          <a:p>
            <a:pPr algn="l">
              <a:lnSpc>
                <a:spcPts val="1435"/>
              </a:lnSpc>
            </a:pPr>
            <a:r>
              <a:rPr lang="en-US" sz="1150" b="true">
                <a:solidFill>
                  <a:srgbClr val="64748B"/>
                </a:solidFill>
                <a:latin typeface="프리텐다드 Bold"/>
                <a:ea typeface="프리텐다드 Bold"/>
                <a:cs typeface="프리텐다드 Bold"/>
                <a:sym typeface="프리텐다드 Bold"/>
              </a:rPr>
              <a:t>기대효과  </a:t>
            </a:r>
            <a:r>
              <a:rPr lang="en-US" sz="1150" b="true">
                <a:solidFill>
                  <a:srgbClr val="1E293B"/>
                </a:solidFill>
                <a:latin typeface="프리텐다드 Bold"/>
                <a:ea typeface="프리텐다드 Bold"/>
                <a:cs typeface="프리텐다드 Bold"/>
                <a:sym typeface="프리텐다드 Bold"/>
              </a:rPr>
              <a:t>보호자 침해 59.6% → 38.3% (−21.3%p)</a:t>
            </a:r>
          </a:p>
          <a:p>
            <a:pPr algn="l">
              <a:lnSpc>
                <a:spcPts val="1223"/>
              </a:lnSpc>
            </a:pPr>
            <a:r>
              <a:rPr lang="en-US" sz="980">
                <a:solidFill>
                  <a:srgbClr val="30363D"/>
                </a:solidFill>
                <a:latin typeface="프리텐다드"/>
                <a:ea typeface="프리텐다드"/>
                <a:cs typeface="프리텐다드"/>
                <a:sym typeface="프리텐다드"/>
              </a:rPr>
              <a:t>세 군집 중 침해지수가 가장 높고 표본 71%를 차지해 전체 침해 감소 기여도가 가장 크다. 아동학대 신고보호(군집 OR 1.83)를 더해 무고성 신고 부담까지 완화한다.</a:t>
            </a:r>
          </a:p>
        </p:txBody>
      </p:sp>
      <p:sp>
        <p:nvSpPr>
          <p:cNvPr name="TextBox 65" id="65"/>
          <p:cNvSpPr txBox="true"/>
          <p:nvPr/>
        </p:nvSpPr>
        <p:spPr>
          <a:xfrm rot="0">
            <a:off x="6629400" y="6848094"/>
            <a:ext cx="4983480" cy="896874"/>
          </a:xfrm>
          <a:prstGeom prst="rect">
            <a:avLst/>
          </a:prstGeom>
        </p:spPr>
        <p:txBody>
          <a:bodyPr anchor="t" rtlCol="false" tIns="0" lIns="0" bIns="0" rIns="0">
            <a:spAutoFit/>
          </a:bodyPr>
          <a:lstStyle/>
          <a:p>
            <a:pPr algn="l">
              <a:lnSpc>
                <a:spcPts val="1435"/>
              </a:lnSpc>
            </a:pPr>
            <a:r>
              <a:rPr lang="en-US" sz="1150" b="true">
                <a:solidFill>
                  <a:srgbClr val="64748B"/>
                </a:solidFill>
                <a:latin typeface="프리텐다드 Bold"/>
                <a:ea typeface="프리텐다드 Bold"/>
                <a:cs typeface="프리텐다드 Bold"/>
                <a:sym typeface="프리텐다드 Bold"/>
              </a:rPr>
              <a:t>기대효과  </a:t>
            </a:r>
            <a:r>
              <a:rPr lang="en-US" sz="1150" b="true">
                <a:solidFill>
                  <a:srgbClr val="0284C7"/>
                </a:solidFill>
                <a:latin typeface="프리텐다드 Bold"/>
                <a:ea typeface="프리텐다드 Bold"/>
                <a:cs typeface="프리텐다드 Bold"/>
                <a:sym typeface="프리텐다드 Bold"/>
              </a:rPr>
              <a:t>악성민원 OR 2.05 · 관리자 침해 32%</a:t>
            </a:r>
          </a:p>
          <a:p>
            <a:pPr algn="l">
              <a:lnSpc>
                <a:spcPts val="1223"/>
              </a:lnSpc>
            </a:pPr>
            <a:r>
              <a:rPr lang="en-US" sz="980">
                <a:solidFill>
                  <a:srgbClr val="30363D"/>
                </a:solidFill>
                <a:latin typeface="프리텐다드"/>
                <a:ea typeface="프리텐다드"/>
                <a:cs typeface="프리텐다드"/>
                <a:sym typeface="프리텐다드"/>
              </a:rPr>
              <a:t>보호자 민원과 학교 내부 권력 갈등이 함께 나타나는 유형. 악성민원 패널티에 교사보호관·고충처리 장치(제언)를 더해 관리자발 침해까지 포괄한다.</a:t>
            </a:r>
          </a:p>
        </p:txBody>
      </p:sp>
      <p:sp>
        <p:nvSpPr>
          <p:cNvPr name="TextBox 66" id="66"/>
          <p:cNvSpPr txBox="true"/>
          <p:nvPr/>
        </p:nvSpPr>
        <p:spPr>
          <a:xfrm rot="0">
            <a:off x="12344400" y="6848094"/>
            <a:ext cx="4983480" cy="896874"/>
          </a:xfrm>
          <a:prstGeom prst="rect">
            <a:avLst/>
          </a:prstGeom>
        </p:spPr>
        <p:txBody>
          <a:bodyPr anchor="t" rtlCol="false" tIns="0" lIns="0" bIns="0" rIns="0">
            <a:spAutoFit/>
          </a:bodyPr>
          <a:lstStyle/>
          <a:p>
            <a:pPr algn="l">
              <a:lnSpc>
                <a:spcPts val="1435"/>
              </a:lnSpc>
            </a:pPr>
            <a:r>
              <a:rPr lang="en-US" sz="1150" b="true">
                <a:solidFill>
                  <a:srgbClr val="64748B"/>
                </a:solidFill>
                <a:latin typeface="프리텐다드 Bold"/>
                <a:ea typeface="프리텐다드 Bold"/>
                <a:cs typeface="프리텐다드 Bold"/>
                <a:sym typeface="프리텐다드 Bold"/>
              </a:rPr>
              <a:t>기대효과  </a:t>
            </a:r>
            <a:r>
              <a:rPr lang="en-US" sz="1150" b="true">
                <a:solidFill>
                  <a:srgbClr val="7C3AED"/>
                </a:solidFill>
                <a:latin typeface="프리텐다드 Bold"/>
                <a:ea typeface="프리텐다드 Bold"/>
                <a:cs typeface="프리텐다드 Bold"/>
                <a:sym typeface="프리텐다드 Bold"/>
              </a:rPr>
              <a:t>학생 침해 78.5% → 59.2% (−19.3%p)</a:t>
            </a:r>
          </a:p>
          <a:p>
            <a:pPr algn="l">
              <a:lnSpc>
                <a:spcPts val="1223"/>
              </a:lnSpc>
            </a:pPr>
            <a:r>
              <a:rPr lang="en-US" sz="980">
                <a:solidFill>
                  <a:srgbClr val="30363D"/>
                </a:solidFill>
                <a:latin typeface="프리텐다드"/>
                <a:ea typeface="프리텐다드"/>
                <a:cs typeface="프리텐다드"/>
                <a:sym typeface="프리텐다드"/>
              </a:rPr>
              <a:t>침해 빈도는 가장 낮지만 학생발 침해가 주축이다. 수업방해 분리로 학생침해를 직접 낮추고 공통 기반(악성민원)을 병행한다.</a:t>
            </a:r>
          </a:p>
        </p:txBody>
      </p:sp>
      <p:sp>
        <p:nvSpPr>
          <p:cNvPr name="TextBox 67" id="67"/>
          <p:cNvSpPr txBox="true"/>
          <p:nvPr/>
        </p:nvSpPr>
        <p:spPr>
          <a:xfrm rot="0">
            <a:off x="640080" y="8988552"/>
            <a:ext cx="8503920" cy="640080"/>
          </a:xfrm>
          <a:prstGeom prst="rect">
            <a:avLst/>
          </a:prstGeom>
        </p:spPr>
        <p:txBody>
          <a:bodyPr anchor="t" rtlCol="false" tIns="0" lIns="0" bIns="0" rIns="0">
            <a:spAutoFit/>
          </a:bodyPr>
          <a:lstStyle/>
          <a:p>
            <a:pPr algn="l">
              <a:lnSpc>
                <a:spcPts val="1197"/>
              </a:lnSpc>
            </a:pPr>
            <a:r>
              <a:rPr lang="en-US" sz="950">
                <a:solidFill>
                  <a:srgbClr val="333333"/>
                </a:solidFill>
                <a:latin typeface="프리텐다드"/>
                <a:ea typeface="프리텐다드"/>
                <a:cs typeface="프리텐다드"/>
                <a:sym typeface="프리텐다드"/>
              </a:rPr>
              <a:t>KOSSDA 교원 인권상황 실태조사, 2024 (n=10,888) · DOI 10.22687/KOSSDA-A1-2024-0073</a:t>
            </a:r>
          </a:p>
          <a:p>
            <a:pPr algn="l">
              <a:lnSpc>
                <a:spcPts val="1134"/>
              </a:lnSpc>
            </a:pPr>
          </a:p>
          <a:p>
            <a:pPr algn="l">
              <a:lnSpc>
                <a:spcPts val="1134"/>
              </a:lnSpc>
            </a:pPr>
            <a:r>
              <a:rPr lang="en-US" sz="900">
                <a:solidFill>
                  <a:srgbClr val="64748B"/>
                </a:solidFill>
                <a:latin typeface="프리텐다드"/>
                <a:ea typeface="프리텐다드"/>
                <a:cs typeface="프리텐다드"/>
                <a:sym typeface="프리텐다드"/>
              </a:rPr>
              <a:t>원자료: 국가인권위원회 보고서(24-26)·조사 설문지(A1-2024-0073, 한국노동사회연구소) · 방법: K-means·PAF·로지스틱</a:t>
            </a:r>
          </a:p>
        </p:txBody>
      </p:sp>
      <p:sp>
        <p:nvSpPr>
          <p:cNvPr name="TextBox 68" id="68"/>
          <p:cNvSpPr txBox="true"/>
          <p:nvPr/>
        </p:nvSpPr>
        <p:spPr>
          <a:xfrm rot="0">
            <a:off x="9326880" y="8979027"/>
            <a:ext cx="8321040" cy="649605"/>
          </a:xfrm>
          <a:prstGeom prst="rect">
            <a:avLst/>
          </a:prstGeom>
        </p:spPr>
        <p:txBody>
          <a:bodyPr anchor="t" rtlCol="false" tIns="0" lIns="0" bIns="0" rIns="0">
            <a:spAutoFit/>
          </a:bodyPr>
          <a:lstStyle/>
          <a:p>
            <a:pPr algn="l">
              <a:lnSpc>
                <a:spcPts val="1134"/>
              </a:lnSpc>
            </a:pPr>
            <a:r>
              <a:rPr lang="en-US" sz="900">
                <a:solidFill>
                  <a:srgbClr val="333333"/>
                </a:solidFill>
                <a:latin typeface="프리텐다드"/>
                <a:ea typeface="프리텐다드"/>
                <a:cs typeface="프리텐다드"/>
                <a:sym typeface="프리텐다드"/>
              </a:rPr>
              <a:t>[1] 교육부 「교권 회복 및 보호 강화 종합방안」(2023.8)·「2024 교육활동 침해 실태조사」 보도자료(2025.5)</a:t>
            </a:r>
          </a:p>
          <a:p>
            <a:pPr algn="l">
              <a:lnSpc>
                <a:spcPts val="1134"/>
              </a:lnSpc>
            </a:pPr>
          </a:p>
          <a:p>
            <a:pPr algn="l">
              <a:lnSpc>
                <a:spcPts val="1134"/>
              </a:lnSpc>
            </a:pPr>
            <a:r>
              <a:rPr lang="en-US" sz="900">
                <a:solidFill>
                  <a:srgbClr val="333333"/>
                </a:solidFill>
                <a:latin typeface="프리텐다드"/>
                <a:ea typeface="프리텐다드"/>
                <a:cs typeface="프리텐다드"/>
                <a:sym typeface="프리텐다드"/>
              </a:rPr>
              <a:t>[2] 교원 아동학대 신고 90.4% 무혐의·72% 정당지도 (한국일보 2026.6/뉴시스 2025.5)  [3] 교권 보호 4법 개정, 2023</a:t>
            </a:r>
          </a:p>
          <a:p>
            <a:pPr algn="l">
              <a:lnSpc>
                <a:spcPts val="1134"/>
              </a:lnSpc>
            </a:pPr>
          </a:p>
          <a:p>
            <a:pPr algn="l">
              <a:lnSpc>
                <a:spcPts val="1134"/>
              </a:lnSpc>
            </a:pPr>
            <a:r>
              <a:rPr lang="en-US" sz="900">
                <a:solidFill>
                  <a:srgbClr val="333333"/>
                </a:solidFill>
                <a:latin typeface="프리텐다드"/>
                <a:ea typeface="프리텐다드"/>
                <a:cs typeface="프리텐다드"/>
                <a:sym typeface="프리텐다드"/>
              </a:rPr>
              <a:t>[4] 교원 자살 5년 125명 (교육언론창, 2024)  [5] 군집 타당성: Rousseeuw(1987)·von Luxburg 외(2012)·Hennig(2015)</a:t>
            </a:r>
          </a:p>
        </p:txBody>
      </p:sp>
      <p:sp>
        <p:nvSpPr>
          <p:cNvPr name="TextBox 69" id="69"/>
          <p:cNvSpPr txBox="true"/>
          <p:nvPr/>
        </p:nvSpPr>
        <p:spPr>
          <a:xfrm rot="0">
            <a:off x="876300" y="-9525"/>
            <a:ext cx="16535400" cy="733425"/>
          </a:xfrm>
          <a:prstGeom prst="rect">
            <a:avLst/>
          </a:prstGeom>
        </p:spPr>
        <p:txBody>
          <a:bodyPr anchor="t" rtlCol="false" tIns="0" lIns="0" bIns="0" rIns="0">
            <a:spAutoFit/>
          </a:bodyPr>
          <a:lstStyle/>
          <a:p>
            <a:pPr algn="l">
              <a:lnSpc>
                <a:spcPts val="5759"/>
              </a:lnSpc>
            </a:pPr>
            <a:r>
              <a:rPr lang="en-US" b="true" sz="4800">
                <a:solidFill>
                  <a:srgbClr val="1E293B"/>
                </a:solidFill>
                <a:latin typeface="프리텐다드 Bold"/>
                <a:ea typeface="프리텐다드 Bold"/>
                <a:cs typeface="프리텐다드 Bold"/>
                <a:sym typeface="프리텐다드 Bold"/>
              </a:rPr>
              <a:t>10. 결론</a:t>
            </a:r>
          </a:p>
        </p:txBody>
      </p:sp>
      <p:sp>
        <p:nvSpPr>
          <p:cNvPr name="TextBox 70" id="70"/>
          <p:cNvSpPr txBox="true"/>
          <p:nvPr/>
        </p:nvSpPr>
        <p:spPr>
          <a:xfrm rot="0">
            <a:off x="866327" y="922649"/>
            <a:ext cx="13125072" cy="400050"/>
          </a:xfrm>
          <a:prstGeom prst="rect">
            <a:avLst/>
          </a:prstGeom>
        </p:spPr>
        <p:txBody>
          <a:bodyPr anchor="t" rtlCol="false" tIns="0" lIns="0" bIns="0" rIns="0">
            <a:spAutoFit/>
          </a:bodyPr>
          <a:lstStyle/>
          <a:p>
            <a:pPr algn="l">
              <a:lnSpc>
                <a:spcPts val="3120"/>
              </a:lnSpc>
            </a:pPr>
            <a:r>
              <a:rPr lang="en-US" b="true" sz="2600">
                <a:solidFill>
                  <a:srgbClr val="4285F4"/>
                </a:solidFill>
                <a:latin typeface="프리텐다드 Bold"/>
                <a:ea typeface="프리텐다드 Bold"/>
                <a:cs typeface="프리텐다드 Bold"/>
                <a:sym typeface="프리텐다드 Bold"/>
              </a:rPr>
              <a:t>악성민원 패널티를 공통 기반으로 우선 도입 · 군집 특성은 운영 단계 참고</a:t>
            </a:r>
          </a:p>
        </p:txBody>
      </p:sp>
    </p:spTree>
  </p:cSld>
  <p:clrMapOvr>
    <a:masterClrMapping/>
  </p:clrMapOvr>
</p:sld>
</file>

<file path=ppt/slides/slide12.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DAHN5M4WpRc</dc:identifier>
  <dcterms:modified xsi:type="dcterms:W3CDTF">2011-08-01T06:04:30Z</dcterms:modified>
  <cp:revision>1</cp:revision>
  <dc:title>kossda.pptx</dc:title>
</cp:coreProperties>
</file>