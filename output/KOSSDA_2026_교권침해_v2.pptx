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320040"/>
            <a:ext cx="3200400" cy="347472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A0C4FF"/>
                </a:solidFill>
                <a:latin typeface="Apple SD Gothic Neo"/>
              </a:rPr>
              <a:t>KOSSDA 대학생 데이터 시각화 공모전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113659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pple SD Gothic Neo"/>
              </a:rPr>
              <a:t>"인권교육 참여율이 20%p 증가했는데도
교권침해는 왜 줄지 않는가?"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971800"/>
            <a:ext cx="685800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10896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D0FF"/>
                </a:solidFill>
                <a:latin typeface="Apple SD Gothic Neo"/>
              </a:rPr>
              <a:t>— 제도 공백의 구조, 취약 집단, 그리고 맞춤 처방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749039"/>
            <a:ext cx="2816352" cy="868680"/>
          </a:xfrm>
          <a:prstGeom prst="rect">
            <a:avLst/>
          </a:prstGeom>
          <a:solidFill>
            <a:srgbClr val="E3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767328"/>
            <a:ext cx="2633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A2463"/>
                </a:solidFill>
                <a:latin typeface="Apple SD Gothic Neo"/>
              </a:rPr>
              <a:t>85.6%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7939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420"/>
                </a:solidFill>
                <a:latin typeface="Apple SD Gothic Neo"/>
              </a:rPr>
              <a:t>교권침해 경험률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5848" y="3749039"/>
            <a:ext cx="2816352" cy="86868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3767328"/>
            <a:ext cx="2633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  <a:latin typeface="Apple SD Gothic Neo"/>
              </a:rPr>
              <a:t>OR=2.57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427939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420"/>
                </a:solidFill>
                <a:latin typeface="Apple SD Gothic Neo"/>
              </a:rPr>
              <a:t>침해→자살사고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216" y="3749039"/>
            <a:ext cx="2816352" cy="868680"/>
          </a:xfrm>
          <a:prstGeom prst="rect">
            <a:avLst/>
          </a:prstGeom>
          <a:solidFill>
            <a:srgbClr val="E0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3767328"/>
            <a:ext cx="2633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B7D"/>
                </a:solidFill>
                <a:latin typeface="Apple SD Gothic Neo"/>
              </a:rPr>
              <a:t>47.3%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427939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420"/>
                </a:solidFill>
                <a:latin typeface="Apple SD Gothic Neo"/>
              </a:rPr>
              <a:t>교사 제도긴장 인식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44584" y="3749039"/>
            <a:ext cx="2816352" cy="86868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3767328"/>
            <a:ext cx="2633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35A00"/>
                </a:solidFill>
                <a:latin typeface="Apple SD Gothic Neo"/>
              </a:rPr>
              <a:t>−21.3%p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4279392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21420"/>
                </a:solidFill>
                <a:latin typeface="Apple SD Gothic Neo"/>
              </a:rPr>
              <a:t>악성민원 입법 시
침해율 감소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773168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A0D0"/>
                </a:solidFill>
                <a:latin typeface="Apple SD Gothic Neo"/>
              </a:rPr>
              <a:t>주요 데이터: 교원 인권상황 실태조사 2024 (n=10,888) · 초·중등 교원 인권교육 실태조사 2021 (n=9,553)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047488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A0D0"/>
                </a:solidFill>
                <a:latin typeface="Apple SD Gothic Neo"/>
              </a:rPr>
              <a:t>분석 기법: K-means 클러스터링 · SEM · SHAP · Bootstrap 매개효과 · PAF 시뮬레이션 · Two-Track 로지스틱 회귀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321808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A0D0"/>
                </a:solidFill>
                <a:latin typeface="Apple SD Gothic Neo"/>
              </a:rPr>
              <a:t>Two-Track 전략: Track A (역인과 없는 구조 변수 OR) + Track B (당사자 정책 수요 격차)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40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A2463"/>
                </a:solidFill>
                <a:latin typeface="Apple SD Gothic Neo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201168"/>
            <a:ext cx="36576" cy="384048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91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2463"/>
                </a:solidFill>
                <a:latin typeface="Apple SD Gothic Neo"/>
              </a:rPr>
              <a:t>문제 제기: 교사가 병들고 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13232"/>
            <a:ext cx="11731752" cy="2286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822960"/>
            <a:ext cx="2743200" cy="987552"/>
          </a:xfrm>
          <a:prstGeom prst="rect">
            <a:avLst/>
          </a:prstGeom>
          <a:solidFill>
            <a:srgbClr val="E3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877824"/>
            <a:ext cx="2596896" cy="47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A2463"/>
                </a:solidFill>
                <a:latin typeface="Apple SD Gothic Neo"/>
              </a:rPr>
              <a:t>85.6%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1316736"/>
            <a:ext cx="2596896" cy="276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21420"/>
                </a:solidFill>
                <a:latin typeface="Apple SD Gothic Neo"/>
              </a:rPr>
              <a:t>교권침해 경험률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1593250"/>
            <a:ext cx="2596896" cy="19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D9E"/>
                </a:solidFill>
                <a:latin typeface="Apple SD Gothic Neo"/>
              </a:rPr>
              <a:t>1종 이상 (D1 2024, n=10,888)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822960"/>
            <a:ext cx="2743200" cy="987552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877824"/>
            <a:ext cx="2596896" cy="47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35A00"/>
                </a:solidFill>
                <a:latin typeface="Apple SD Gothic Neo"/>
              </a:rPr>
              <a:t>46.3%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316736"/>
            <a:ext cx="2596896" cy="276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21420"/>
                </a:solidFill>
                <a:latin typeface="Apple SD Gothic Neo"/>
              </a:rPr>
              <a:t>이직 고려율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593250"/>
            <a:ext cx="2596896" cy="19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D9E"/>
                </a:solidFill>
                <a:latin typeface="Apple SD Gothic Neo"/>
              </a:rPr>
              <a:t>침해경험자 OR=2.17***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25896" y="822960"/>
            <a:ext cx="2743200" cy="987552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8" y="877824"/>
            <a:ext cx="2596896" cy="47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0392B"/>
                </a:solidFill>
                <a:latin typeface="Apple SD Gothic Neo"/>
              </a:rPr>
              <a:t>16.9%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1316736"/>
            <a:ext cx="2596896" cy="276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21420"/>
                </a:solidFill>
                <a:latin typeface="Apple SD Gothic Neo"/>
              </a:rPr>
              <a:t>자살사고율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1593250"/>
            <a:ext cx="2596896" cy="19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D9E"/>
                </a:solidFill>
                <a:latin typeface="Apple SD Gothic Neo"/>
              </a:rPr>
              <a:t>침해경험자 OR=2.57***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24544" y="822960"/>
            <a:ext cx="3035808" cy="987552"/>
          </a:xfrm>
          <a:prstGeom prst="rect">
            <a:avLst/>
          </a:prstGeom>
          <a:solidFill>
            <a:srgbClr val="E0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877824"/>
            <a:ext cx="2889503" cy="47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7B7D"/>
                </a:solidFill>
                <a:latin typeface="Apple SD Gothic Neo"/>
              </a:rPr>
              <a:t>59.6%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7696" y="1316736"/>
            <a:ext cx="2889503" cy="276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21420"/>
                </a:solidFill>
                <a:latin typeface="Apple SD Gothic Neo"/>
              </a:rPr>
              <a:t>보호자 민원 경험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1593250"/>
            <a:ext cx="2889503" cy="19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D9E"/>
                </a:solidFill>
                <a:latin typeface="Apple SD Gothic Neo"/>
              </a:rPr>
              <a:t>침해 유형 중 최다</a:t>
            </a:r>
          </a:p>
        </p:txBody>
      </p:sp>
      <p:pic>
        <p:nvPicPr>
          <p:cNvPr id="23" name="Picture 22" descr="chart01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01952"/>
            <a:ext cx="11731752" cy="42245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8600" y="6199632"/>
            <a:ext cx="11731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8D9E"/>
                </a:solidFill>
                <a:latin typeface="Apple SD Gothic Neo"/>
              </a:rPr>
              <a:t>출처: D1 교원 인권상황 실태조사(2024)  |  *** p&lt;.001 구조 변수 통제 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40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A2463"/>
                </a:solidFill>
                <a:latin typeface="Apple SD Gothic Neo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201168"/>
            <a:ext cx="36576" cy="384048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91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2463"/>
                </a:solidFill>
                <a:latin typeface="Apple SD Gothic Neo"/>
              </a:rPr>
              <a:t>데이터 선택 및 분석 방법: Two-Track 전략으로 역인과를 해소한다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13232"/>
            <a:ext cx="11731752" cy="2286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82296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463"/>
                </a:solidFill>
                <a:latin typeface="Apple SD Gothic Neo"/>
              </a:rPr>
              <a:t>데이터 소개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8600" y="1097280"/>
          <a:ext cx="7315200" cy="1618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097280"/>
                <a:gridCol w="2103120"/>
              </a:tblGrid>
              <a:tr h="26974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데이터명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n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활용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교원 인권상황 실태조사(2024)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10,888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주 분석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초·중등 교원 인권교육 실태조사(2021)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9,553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시계열·효과성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한국교총 교권상담 실적(2018)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501건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외부 보조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신도시 현황+순이동인구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32개 단지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지역 구조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학원·교습소 현황(시군구)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시군구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교육열 프록시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28600" y="2944368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463"/>
                </a:solidFill>
                <a:latin typeface="Apple SD Gothic Neo"/>
              </a:rPr>
              <a:t>분석 기법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3218688"/>
          <a:ext cx="8046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4572000"/>
              </a:tblGrid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기법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목적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Two-Track 로지스틱 회귀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역인과 해소 핵심 (Track A+B)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K-means (k=3, Sil=0.404)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취약 집단 3유형 분류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SEM (semopy)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구조적 인과 경로 분석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SHAP (RandomForest n=300)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제도 변수 중요도 해석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Brunner-Munzel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비모수 집단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Bootstrap 매개효과 n=2,000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간접효과 95%CI 추정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PAF 시뮬레이션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정책 효과 추정 (역학 표준)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321040" y="822960"/>
            <a:ext cx="3657600" cy="53949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8" y="877824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463"/>
                </a:solidFill>
                <a:latin typeface="Apple SD Gothic Neo"/>
              </a:rPr>
              <a:t>Two-Track 설계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30768" y="1188720"/>
            <a:ext cx="3438144" cy="27432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30768" y="1280160"/>
            <a:ext cx="3438144" cy="1417320"/>
          </a:xfrm>
          <a:prstGeom prst="rect">
            <a:avLst/>
          </a:prstGeom>
          <a:solidFill>
            <a:srgbClr val="E3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0496" y="1316736"/>
            <a:ext cx="3218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463"/>
                </a:solidFill>
                <a:latin typeface="Apple SD Gothic Neo"/>
              </a:rPr>
              <a:t>Track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1572768"/>
            <a:ext cx="321868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463"/>
                </a:solidFill>
                <a:latin typeface="Apple SD Gothic Neo"/>
              </a:rPr>
              <a:t>구조 변수
(학교급·규모·고용형태)
         ↓  역인과 없음 ✓
침해 유형별 로지스틱 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30768" y="2788920"/>
            <a:ext cx="3438144" cy="27432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30768" y="2880360"/>
            <a:ext cx="3438144" cy="141732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0496" y="2916936"/>
            <a:ext cx="3218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Apple SD Gothic Neo"/>
              </a:rPr>
              <a:t>Track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3172968"/>
            <a:ext cx="321868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Apple SD Gothic Neo"/>
              </a:rPr>
              <a:t>D2 정책 수요
(침해집단 vs 비침해집단)
  역인과 → 당사자 수요로 전환 ✓
Δ 격차 = 우선 입법 타깃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30768" y="4389120"/>
            <a:ext cx="3438144" cy="54864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0496" y="4453128"/>
            <a:ext cx="32186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ple SD Gothic Neo"/>
              </a:rPr>
              <a:t>수렴 타당도
A×B가 같은 제도를 지목 → 확정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806440"/>
            <a:ext cx="8046720" cy="502920"/>
          </a:xfrm>
          <a:prstGeom prst="rect">
            <a:avLst/>
          </a:prstGeom>
          <a:solidFill>
            <a:srgbClr val="FDEDE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" y="5852160"/>
            <a:ext cx="7863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1010"/>
                </a:solidFill>
                <a:latin typeface="Apple SD Gothic Neo"/>
              </a:rPr>
              <a:t>D2 내생성 처리: D2는 침해 경험 후 측정 → Track A에서 완전 제외 / Track B에서 "수요 근거"로만 사용
PAF OR = 수요 기반 상한 추정치 (인과 주장 한계 명시)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623620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8D9E"/>
                </a:solidFill>
                <a:latin typeface="Apple SD Gothic Neo"/>
              </a:rPr>
              <a:t>출처: KOSSDA 공개 데이터 5종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0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40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7B7D"/>
                </a:solidFill>
                <a:latin typeface="Apple SD Gothic Neo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201168"/>
            <a:ext cx="36576" cy="384048"/>
          </a:xfrm>
          <a:prstGeom prst="rect">
            <a:avLst/>
          </a:prstGeom>
          <a:solidFill>
            <a:srgbClr val="007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91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B7D"/>
                </a:solidFill>
                <a:latin typeface="Apple SD Gothic Neo"/>
              </a:rPr>
              <a:t>인권교육 역설 [HOOK]: 교육량이 늘었는데 왜 침해는 줄지 않는가?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13232"/>
            <a:ext cx="11731752" cy="2286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822960"/>
            <a:ext cx="3584448" cy="960120"/>
          </a:xfrm>
          <a:prstGeom prst="rect">
            <a:avLst/>
          </a:prstGeom>
          <a:solidFill>
            <a:srgbClr val="E0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877824"/>
            <a:ext cx="3438144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7B7D"/>
                </a:solidFill>
                <a:latin typeface="Apple SD Gothic Neo"/>
              </a:rPr>
              <a:t>+20.8%p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1303020"/>
            <a:ext cx="3438144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21420"/>
                </a:solidFill>
                <a:latin typeface="Apple SD Gothic Neo"/>
              </a:rPr>
              <a:t>인권교육 참여율
2021→2024 증가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1571853"/>
            <a:ext cx="3438144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D9E"/>
                </a:solidFill>
                <a:latin typeface="Apple SD Gothic Neo"/>
              </a:rPr>
              <a:t>67.4% → 88.2%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59352" y="822960"/>
            <a:ext cx="3977639" cy="96012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32504" y="877824"/>
            <a:ext cx="3831335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0392B"/>
                </a:solidFill>
                <a:latin typeface="Apple SD Gothic Neo"/>
              </a:rPr>
              <a:t>3.75/5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32504" y="1303020"/>
            <a:ext cx="3831335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21420"/>
                </a:solidFill>
                <a:latin typeface="Apple SD Gothic Neo"/>
              </a:rPr>
              <a:t>교육 효과 만족도
(D3 B2_6)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1571853"/>
            <a:ext cx="3831335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D9E"/>
                </a:solidFill>
                <a:latin typeface="Apple SD Gothic Neo"/>
              </a:rPr>
              <a:t>보통 이하 39.1%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3296" y="822960"/>
            <a:ext cx="3877056" cy="9601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877824"/>
            <a:ext cx="3730752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35A00"/>
                </a:solidFill>
                <a:latin typeface="Apple SD Gothic Neo"/>
              </a:rPr>
              <a:t>47.3%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1303020"/>
            <a:ext cx="3730752" cy="268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21420"/>
                </a:solidFill>
                <a:latin typeface="Apple SD Gothic Neo"/>
              </a:rPr>
              <a:t>"학생인권↑→교권↓"
동의 비율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1571853"/>
            <a:ext cx="373075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D9E"/>
                </a:solidFill>
                <a:latin typeface="Apple SD Gothic Neo"/>
              </a:rPr>
              <a:t>제도적 긴장 인식 지속</a:t>
            </a:r>
          </a:p>
        </p:txBody>
      </p:sp>
      <p:pic>
        <p:nvPicPr>
          <p:cNvPr id="19" name="Picture 18" descr="chart02_education_parad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74519"/>
            <a:ext cx="11731752" cy="41148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28600" y="6053328"/>
            <a:ext cx="11731752" cy="475488"/>
          </a:xfrm>
          <a:prstGeom prst="rect">
            <a:avLst/>
          </a:prstGeom>
          <a:solidFill>
            <a:srgbClr val="E0F4F4"/>
          </a:solidFill>
          <a:ln w="19050">
            <a:solidFill>
              <a:srgbClr val="007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6144768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4040"/>
                </a:solidFill>
                <a:latin typeface="Apple SD Gothic Neo"/>
              </a:rPr>
              <a:t>결론: 교육 참여율이 20%p 올랐는데도 효과 만족도 3.75/5, 교사 47.3%가 제도 긴장 인식 → 인식 교육이 아닌 제도 설계의 문제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" y="6601968"/>
            <a:ext cx="11731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A8D9E"/>
                </a:solidFill>
                <a:latin typeface="Apple SD Gothic Neo"/>
              </a:rPr>
              <a:t>출처: D3 초·중등 교원 인권교육 실태조사(2021) B1·B2_6·B5_7  /  D1(2024) 참여율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40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A2463"/>
                </a:solidFill>
                <a:latin typeface="Apple SD Gothic Neo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201168"/>
            <a:ext cx="36576" cy="384048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91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2463"/>
                </a:solidFill>
                <a:latin typeface="Apple SD Gothic Neo"/>
              </a:rPr>
              <a:t>구조가 침해를 만든다 — Track A (역인과 없는 인과 추론)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13232"/>
            <a:ext cx="11731752" cy="2286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822960"/>
            <a:ext cx="2743200" cy="868680"/>
          </a:xfrm>
          <a:prstGeom prst="rect">
            <a:avLst/>
          </a:prstGeom>
          <a:solidFill>
            <a:srgbClr val="E3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877824"/>
            <a:ext cx="2596896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A2463"/>
                </a:solidFill>
                <a:latin typeface="Apple SD Gothic Neo"/>
              </a:rPr>
              <a:t>OR=1.79***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1257300"/>
            <a:ext cx="2596896" cy="243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21420"/>
                </a:solidFill>
                <a:latin typeface="Apple SD Gothic Neo"/>
              </a:rPr>
              <a:t>초등→학생침해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1500530"/>
            <a:ext cx="25968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D9E"/>
                </a:solidFill>
                <a:latin typeface="Apple SD Gothic Neo"/>
              </a:rPr>
              <a:t>구조 변수만으로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822960"/>
            <a:ext cx="2743200" cy="868680"/>
          </a:xfrm>
          <a:prstGeom prst="rect">
            <a:avLst/>
          </a:prstGeom>
          <a:solidFill>
            <a:srgbClr val="E0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877824"/>
            <a:ext cx="2596896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7B7D"/>
                </a:solidFill>
                <a:latin typeface="Apple SD Gothic Neo"/>
              </a:rPr>
              <a:t>OR=1.29***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257300"/>
            <a:ext cx="2596896" cy="243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21420"/>
                </a:solidFill>
                <a:latin typeface="Apple SD Gothic Neo"/>
              </a:rPr>
              <a:t>학교규모↑→침해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500530"/>
            <a:ext cx="25968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D9E"/>
                </a:solidFill>
                <a:latin typeface="Apple SD Gothic Neo"/>
              </a:rPr>
              <a:t>1단계 상승 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25896" y="822960"/>
            <a:ext cx="2743200" cy="86868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8" y="877824"/>
            <a:ext cx="2596896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0392B"/>
                </a:solidFill>
                <a:latin typeface="Apple SD Gothic Neo"/>
              </a:rPr>
              <a:t>OR=2.57***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1257300"/>
            <a:ext cx="2596896" cy="243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21420"/>
                </a:solidFill>
                <a:latin typeface="Apple SD Gothic Neo"/>
              </a:rPr>
              <a:t>침해→자살사고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1500530"/>
            <a:ext cx="25968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D9E"/>
                </a:solidFill>
                <a:latin typeface="Apple SD Gothic Neo"/>
              </a:rPr>
              <a:t>구조 통제 후 직접효과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24544" y="822960"/>
            <a:ext cx="3035808" cy="86868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877824"/>
            <a:ext cx="2889503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35A00"/>
                </a:solidFill>
                <a:latin typeface="Apple SD Gothic Neo"/>
              </a:rPr>
              <a:t>OR=2.17***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7696" y="1257300"/>
            <a:ext cx="2889503" cy="243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21420"/>
                </a:solidFill>
                <a:latin typeface="Apple SD Gothic Neo"/>
              </a:rPr>
              <a:t>침해→이직고려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1500530"/>
            <a:ext cx="2889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D9E"/>
                </a:solidFill>
                <a:latin typeface="Apple SD Gothic Neo"/>
              </a:rPr>
              <a:t>구조 통제 후 직접효과</a:t>
            </a:r>
          </a:p>
        </p:txBody>
      </p:sp>
      <p:pic>
        <p:nvPicPr>
          <p:cNvPr id="23" name="Picture 22" descr="chart04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783080"/>
            <a:ext cx="11731752" cy="32918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8600" y="513892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2463"/>
                </a:solidFill>
                <a:latin typeface="Apple SD Gothic Neo"/>
              </a:rPr>
              <a:t>구조 변수 로지스틱 OR (Forest Plot)</a:t>
            </a:r>
          </a:p>
        </p:txBody>
      </p:sp>
      <p:pic>
        <p:nvPicPr>
          <p:cNvPr id="25" name="Picture 24" descr="chart03_track_a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413248"/>
            <a:ext cx="11731752" cy="12344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28600" y="6702552"/>
            <a:ext cx="11731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A8D9E"/>
                </a:solidFill>
                <a:latin typeface="Apple SD Gothic Neo"/>
              </a:rPr>
              <a:t>출처: D1(2024) | 기준집단: 유치원·특수·기타  *** p&lt;.001  ** p&lt;.01  * p&lt;.05  n.s. 비유의 | 역인과 없음: 구조 변수는 침해 이전에 결정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40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A2463"/>
                </a:solidFill>
                <a:latin typeface="Apple SD Gothic Neo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201168"/>
            <a:ext cx="36576" cy="384048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91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2463"/>
                </a:solidFill>
                <a:latin typeface="Apple SD Gothic Neo"/>
              </a:rPr>
              <a:t>Track B: 당사자 정책 수요 격차 — 역인과를 강점으로 전환한다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13232"/>
            <a:ext cx="11731752" cy="2286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822960"/>
            <a:ext cx="3657600" cy="86868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877824"/>
            <a:ext cx="3511296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0392B"/>
                </a:solidFill>
                <a:latin typeface="Apple SD Gothic Neo"/>
              </a:rPr>
              <a:t>Δ=+0.088***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1257300"/>
            <a:ext cx="3511296" cy="243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21420"/>
                </a:solidFill>
                <a:latin typeface="Apple SD Gothic Neo"/>
              </a:rPr>
              <a:t>보호자침해집단
악성민원패널티 수요격차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1500530"/>
            <a:ext cx="35112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D9E"/>
                </a:solidFill>
                <a:latin typeface="Apple SD Gothic Neo"/>
              </a:rPr>
              <a:t>Mann-Whitney 유의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41648" y="822960"/>
            <a:ext cx="3657600" cy="868680"/>
          </a:xfrm>
          <a:prstGeom prst="rect">
            <a:avLst/>
          </a:prstGeom>
          <a:solidFill>
            <a:srgbClr val="E0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877824"/>
            <a:ext cx="3511296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7B7D"/>
                </a:solidFill>
                <a:latin typeface="Apple SD Gothic Neo"/>
              </a:rPr>
              <a:t>Δ=+0.128***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257300"/>
            <a:ext cx="3511296" cy="243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21420"/>
                </a:solidFill>
                <a:latin typeface="Apple SD Gothic Neo"/>
              </a:rPr>
              <a:t>학생침해집단
수업방해분리 수요격차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500530"/>
            <a:ext cx="351129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D9E"/>
                </a:solidFill>
                <a:latin typeface="Apple SD Gothic Neo"/>
              </a:rPr>
              <a:t>Mann-Whitney 최대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3296" y="822960"/>
            <a:ext cx="3877056" cy="868680"/>
          </a:xfrm>
          <a:prstGeom prst="rect">
            <a:avLst/>
          </a:prstGeom>
          <a:solidFill>
            <a:srgbClr val="E3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877824"/>
            <a:ext cx="3730752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A2463"/>
                </a:solidFill>
                <a:latin typeface="Apple SD Gothic Neo"/>
              </a:rPr>
              <a:t>95~99%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1257300"/>
            <a:ext cx="3730752" cy="243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21420"/>
                </a:solidFill>
                <a:latin typeface="Apple SD Gothic Neo"/>
              </a:rPr>
              <a:t>전 교사 수요율
(D2≥4 응답)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1500530"/>
            <a:ext cx="3730752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D9E"/>
                </a:solidFill>
                <a:latin typeface="Apple SD Gothic Neo"/>
              </a:rPr>
              <a:t>천장효과 → 의미: 모두 필요하다</a:t>
            </a:r>
          </a:p>
        </p:txBody>
      </p:sp>
      <p:pic>
        <p:nvPicPr>
          <p:cNvPr id="19" name="Picture 18" descr="chart05_track_b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783080"/>
            <a:ext cx="11731752" cy="358444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28600" y="5440680"/>
            <a:ext cx="7772400" cy="640080"/>
          </a:xfrm>
          <a:prstGeom prst="rect">
            <a:avLst/>
          </a:prstGeom>
          <a:solidFill>
            <a:srgbClr val="FDEDE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5532120"/>
            <a:ext cx="75712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1010"/>
                </a:solidFill>
                <a:latin typeface="Apple SD Gothic Neo"/>
              </a:rPr>
              <a:t>Track B 해석 원칙: D2는 침해 경험 이후 측정 → "제도 없어서 침해" 역인과 성립 X
→ "침해 경험자가 절실히 요구" = 현장 기반 최우선 입법 타깃 (강점으로 전환)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083296" y="5440680"/>
          <a:ext cx="95097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286000"/>
                <a:gridCol w="292608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ple SD Gothic Neo"/>
                        </a:rPr>
                        <a:t>침해 유형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ple SD Gothic Neo"/>
                        </a:rPr>
                        <a:t>Track A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ple SD Gothic Neo"/>
                        </a:rPr>
                        <a:t>Track B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ple SD Gothic Neo"/>
                        </a:rPr>
                        <a:t>수렴 결론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보호자침해(59.6%)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초등 OR=1.47***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Δ악성민원=+0.088***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악성민원패널티 1순위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학생침해(78.5%)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규모 OR=1.29***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Δ수업분리=+0.128***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수업방해분리 1순위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관리자침해(23.6%)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D2 모두 비유의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격차 미약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신규 측정도구 선행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228600" y="6702552"/>
            <a:ext cx="11731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A8D9E"/>
                </a:solidFill>
                <a:latin typeface="Apple SD Gothic Neo"/>
              </a:rPr>
              <a:t>출처: D1(2024) | Track B는 인과 주장 없음 — "수요 근거"로만 해석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40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A2463"/>
                </a:solidFill>
                <a:latin typeface="Apple SD Gothic Neo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201168"/>
            <a:ext cx="36576" cy="384048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91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2463"/>
                </a:solidFill>
                <a:latin typeface="Apple SD Gothic Neo"/>
              </a:rPr>
              <a:t>취약 집단 분류: 학교마다 다른 침해 구조 (K-means, k=3)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13232"/>
            <a:ext cx="11731752" cy="2286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822960"/>
            <a:ext cx="2560320" cy="868680"/>
          </a:xfrm>
          <a:prstGeom prst="rect">
            <a:avLst/>
          </a:prstGeom>
          <a:solidFill>
            <a:srgbClr val="E3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877824"/>
            <a:ext cx="2414015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A2463"/>
                </a:solidFill>
                <a:latin typeface="Apple SD Gothic Neo"/>
              </a:rPr>
              <a:t>k=3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1257300"/>
            <a:ext cx="2414015" cy="243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21420"/>
                </a:solidFill>
                <a:latin typeface="Apple SD Gothic Neo"/>
              </a:rPr>
              <a:t>K-means
최적 클러스터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1500530"/>
            <a:ext cx="2414015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D9E"/>
                </a:solidFill>
                <a:latin typeface="Apple SD Gothic Neo"/>
              </a:rPr>
              <a:t>Silhouette=0.404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44368" y="822960"/>
            <a:ext cx="2560320" cy="868680"/>
          </a:xfrm>
          <a:prstGeom prst="rect">
            <a:avLst/>
          </a:prstGeom>
          <a:solidFill>
            <a:srgbClr val="E0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877824"/>
            <a:ext cx="2414015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7B7D"/>
                </a:solidFill>
                <a:latin typeface="Apple SD Gothic Neo"/>
              </a:rPr>
              <a:t>80.4%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257300"/>
            <a:ext cx="2414015" cy="243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21420"/>
                </a:solidFill>
                <a:latin typeface="Apple SD Gothic Neo"/>
              </a:rPr>
              <a:t>C1 중학교형
(최대 집단)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500530"/>
            <a:ext cx="2414015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D9E"/>
                </a:solidFill>
                <a:latin typeface="Apple SD Gothic Neo"/>
              </a:rPr>
              <a:t>n=8,755 보호자침해 집중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822960"/>
            <a:ext cx="2560320" cy="86868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33288" y="877824"/>
            <a:ext cx="2414015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0392B"/>
                </a:solidFill>
                <a:latin typeface="Apple SD Gothic Neo"/>
              </a:rPr>
              <a:t>7.8%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3288" y="1257300"/>
            <a:ext cx="2414015" cy="243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21420"/>
                </a:solidFill>
                <a:latin typeface="Apple SD Gothic Neo"/>
              </a:rPr>
              <a:t>C2 초등형
(사각지대)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33288" y="1500530"/>
            <a:ext cx="2414015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D9E"/>
                </a:solidFill>
                <a:latin typeface="Apple SD Gothic Neo"/>
              </a:rPr>
              <a:t>n≈847 관리자침해 집중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75904" y="822960"/>
            <a:ext cx="3584448" cy="86868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877824"/>
            <a:ext cx="3438144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35A00"/>
                </a:solidFill>
                <a:latin typeface="Apple SD Gothic Neo"/>
              </a:rPr>
              <a:t>11.8%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1257300"/>
            <a:ext cx="3438144" cy="243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21420"/>
                </a:solidFill>
                <a:latin typeface="Apple SD Gothic Neo"/>
              </a:rPr>
              <a:t>C0 고등형
(학생침해)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6" y="1500530"/>
            <a:ext cx="34381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D9E"/>
                </a:solidFill>
                <a:latin typeface="Apple SD Gothic Neo"/>
              </a:rPr>
              <a:t>n=1,286</a:t>
            </a:r>
          </a:p>
        </p:txBody>
      </p:sp>
      <p:pic>
        <p:nvPicPr>
          <p:cNvPr id="23" name="Picture 22" descr="chart06_kmean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783080"/>
            <a:ext cx="11731752" cy="370332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228600" y="5550408"/>
            <a:ext cx="11731752" cy="566928"/>
          </a:xfrm>
          <a:prstGeom prst="rect">
            <a:avLst/>
          </a:prstGeom>
          <a:solidFill>
            <a:srgbClr val="E3F0FB"/>
          </a:solidFill>
          <a:ln w="19050">
            <a:solidFill>
              <a:srgbClr val="0A2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" y="5641848"/>
            <a:ext cx="115305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463"/>
                </a:solidFill>
                <a:latin typeface="Apple SD Gothic Neo"/>
              </a:rPr>
              <a:t>Track A 수렴 검증: C1(중학교·대형) ↔ 학교규모 OR=1.29*** / C0(고등·학생) ↔ 고등 OR=0.66 보호방향
C2(초등·소형) ↔ 초등 OR=1.47~1.79*** — K-means가 Track A 구조 패턴을 독립 재현 (수렴 타당도 확보)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6702552"/>
            <a:ext cx="11731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A8D9E"/>
                </a:solidFill>
                <a:latin typeface="Apple SD Gothic Neo"/>
              </a:rPr>
              <a:t>출처: D1(2024) | D2 제외, 순수 구조·침해 프로파일 클러스터링 | Silhouette Score=0.404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40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C0392B"/>
                </a:solidFill>
                <a:latin typeface="Apple SD Gothic Neo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201168"/>
            <a:ext cx="3657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91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Apple SD Gothic Neo"/>
              </a:rPr>
              <a:t>사각지대: 초등 관리자압박형은 현행 입법 논의에서 빠져 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13232"/>
            <a:ext cx="11731752" cy="2286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822960"/>
            <a:ext cx="3584448" cy="932688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877824"/>
            <a:ext cx="3438144" cy="447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0392B"/>
                </a:solidFill>
                <a:latin typeface="Apple SD Gothic Neo"/>
              </a:rPr>
              <a:t>43.2%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1289304"/>
            <a:ext cx="3438144" cy="261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21420"/>
                </a:solidFill>
                <a:latin typeface="Apple SD Gothic Neo"/>
              </a:rPr>
              <a:t>C2 관리자침해율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1550456"/>
            <a:ext cx="3438144" cy="186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D9E"/>
                </a:solidFill>
                <a:latin typeface="Apple SD Gothic Neo"/>
              </a:rPr>
              <a:t>전체 평균 24.6% 대비 1.76배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59352" y="822960"/>
            <a:ext cx="3977639" cy="932688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32504" y="877824"/>
            <a:ext cx="3831335" cy="447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35A00"/>
                </a:solidFill>
                <a:latin typeface="Apple SD Gothic Neo"/>
              </a:rPr>
              <a:t>4개 모두
n.s.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32504" y="1289304"/>
            <a:ext cx="3831335" cy="261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21420"/>
                </a:solidFill>
                <a:latin typeface="Apple SD Gothic Neo"/>
              </a:rPr>
              <a:t>D2 현행 제도 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1550456"/>
            <a:ext cx="3831335" cy="186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D9E"/>
                </a:solidFill>
                <a:latin typeface="Apple SD Gothic Neo"/>
              </a:rPr>
              <a:t>n≈847 검정력 제한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3296" y="822960"/>
            <a:ext cx="3877056" cy="932688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877824"/>
            <a:ext cx="3730752" cy="447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A2463"/>
                </a:solidFill>
                <a:latin typeface="Apple SD Gothic Neo"/>
              </a:rPr>
              <a:t>입법
사각지대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1289304"/>
            <a:ext cx="3730752" cy="261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21420"/>
                </a:solidFill>
                <a:latin typeface="Apple SD Gothic Neo"/>
              </a:rPr>
              <a:t>관리자압박 전용
제도 없음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1550456"/>
            <a:ext cx="3730752" cy="186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D9E"/>
                </a:solidFill>
                <a:latin typeface="Apple SD Gothic Neo"/>
              </a:rPr>
              <a:t>현행 D2에 없는 유형</a:t>
            </a:r>
          </a:p>
        </p:txBody>
      </p:sp>
      <p:pic>
        <p:nvPicPr>
          <p:cNvPr id="19" name="Picture 18" descr="chart07_blind_sp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0"/>
            <a:ext cx="11731752" cy="358444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28600" y="5486400"/>
            <a:ext cx="11731752" cy="1005840"/>
          </a:xfrm>
          <a:prstGeom prst="rect">
            <a:avLst/>
          </a:prstGeom>
          <a:solidFill>
            <a:srgbClr val="FDEDE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554126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  <a:latin typeface="Apple SD Gothic Neo"/>
              </a:rPr>
              <a:t>발견의 2중 의미: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" y="5815584"/>
            <a:ext cx="114300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420"/>
                </a:solidFill>
                <a:latin typeface="Apple SD Gothic Neo"/>
              </a:rPr>
              <a:t>① [입법 사각지대] 현행 학부모·학생 중심 교권보호법 논의는 초등 소규모 학교의 관리자 압박을 보호하지 못함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" y="6025896"/>
            <a:ext cx="114300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21420"/>
                </a:solidFill>
                <a:latin typeface="Apple SD Gothic Neo"/>
              </a:rPr>
              <a:t>② [측정 공백] n≈847 소집단 → 검정력 부족으로 "효과 없음"이 아닌 "검출 불가" → 측정 도구 개발 선행 필요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6236208"/>
            <a:ext cx="114300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  <a:latin typeface="Apple SD Gothic Neo"/>
              </a:rPr>
              <a:t>③ [처방] 관리자 갑질·부당 지시 대응 내부신고·보호 시스템 신규 입법 → C2 전용 제도 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6702552"/>
            <a:ext cx="11731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A8D9E"/>
                </a:solidFill>
                <a:latin typeface="Apple SD Gothic Neo"/>
              </a:rPr>
              <a:t>출처: D1(2024) | K-means C2 집단 (초등·관리자압박형) | *** p&lt;.001  n.s. 비유의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40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A2463"/>
                </a:solidFill>
                <a:latin typeface="Apple SD Gothic Neo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201168"/>
            <a:ext cx="36576" cy="384048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91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2463"/>
                </a:solidFill>
                <a:latin typeface="Apple SD Gothic Neo"/>
              </a:rPr>
              <a:t>집단별 맞춤 처방: Track A × B 수렴 — 일률적 교권보호법의 한계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13232"/>
            <a:ext cx="11731752" cy="2286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09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22960"/>
            <a:ext cx="11731752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28600" y="4681728"/>
            <a:ext cx="3794760" cy="329184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70001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ple SD Gothic Neo"/>
              </a:rPr>
              <a:t>C0
고등형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70001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ple SD Gothic Neo"/>
              </a:rPr>
              <a:t>→ 수업방해
분리시스템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5010912"/>
            <a:ext cx="3794760" cy="502920"/>
          </a:xfrm>
          <a:prstGeom prst="rect">
            <a:avLst/>
          </a:prstGeom>
          <a:solidFill>
            <a:srgbClr val="E3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504748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463"/>
                </a:solidFill>
                <a:latin typeface="Apple SD Gothic Neo"/>
              </a:rPr>
              <a:t>Track B Δ=+0.128***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15384" y="4681728"/>
            <a:ext cx="3794760" cy="329184"/>
          </a:xfrm>
          <a:prstGeom prst="rect">
            <a:avLst/>
          </a:prstGeom>
          <a:solidFill>
            <a:srgbClr val="007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470001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ple SD Gothic Neo"/>
              </a:rPr>
              <a:t>C1
중학교형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944" y="470001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ple SD Gothic Neo"/>
              </a:rPr>
              <a:t>→ 악성민원
법적패널티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5384" y="5010912"/>
            <a:ext cx="3794760" cy="502920"/>
          </a:xfrm>
          <a:prstGeom prst="rect">
            <a:avLst/>
          </a:prstGeom>
          <a:solidFill>
            <a:srgbClr val="E0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2" y="504748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B7D"/>
                </a:solidFill>
                <a:latin typeface="Apple SD Gothic Neo"/>
              </a:rPr>
              <a:t>Track B Δ=+0.088***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02168" y="4681728"/>
            <a:ext cx="3794760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470001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ple SD Gothic Neo"/>
              </a:rPr>
              <a:t>C2
초등형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470001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ple SD Gothic Neo"/>
              </a:rPr>
              <a:t>→ 관리자압박
내부신고시스템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02168" y="5010912"/>
            <a:ext cx="3794760" cy="502920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6" y="504748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Apple SD Gothic Neo"/>
              </a:rPr>
              <a:t>D2 n.s. → 신규입법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28600" y="5596128"/>
          <a:ext cx="94183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029200"/>
                <a:gridCol w="137160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단계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대상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정책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시급도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즉시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C1 중학교(80.4%)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악성민원 법적패널티 입법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단기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C0·C1(학생·보호자)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수업방해 학생분리 조항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★★★★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중기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C1 중학교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아동학대 신고 교원보호 강화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신규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C2 초등(사각지대)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관리자압박 내부신고 보호 시스템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21420"/>
                          </a:solidFill>
                          <a:latin typeface="Apple SD Gothic Neo"/>
                        </a:rPr>
                        <a:t>★★★(新)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228600" y="6702552"/>
            <a:ext cx="11731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A8D9E"/>
                </a:solidFill>
                <a:latin typeface="Apple SD Gothic Neo"/>
              </a:rPr>
              <a:t>출처: D1(2024) | analysis_two_track.py / analysis_clustering.py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40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A2463"/>
                </a:solidFill>
                <a:latin typeface="Apple SD Gothic Neo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201168"/>
            <a:ext cx="36576" cy="384048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91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2463"/>
                </a:solidFill>
                <a:latin typeface="Apple SD Gothic Neo"/>
              </a:rPr>
              <a:t>정책 시뮬레이션: 제도 도입 시 침해율 감소 추정 (PAF)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13232"/>
            <a:ext cx="11731752" cy="2286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822960"/>
            <a:ext cx="3657600" cy="932688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877824"/>
            <a:ext cx="3511296" cy="447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0392B"/>
                </a:solidFill>
                <a:latin typeface="Apple SD Gothic Neo"/>
              </a:rPr>
              <a:t>−21.3%p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1289304"/>
            <a:ext cx="3511296" cy="261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21420"/>
                </a:solidFill>
                <a:latin typeface="Apple SD Gothic Neo"/>
              </a:rPr>
              <a:t>악성민원패널티 60%효과
보호자침해 59.6%→38.3%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1550456"/>
            <a:ext cx="3511296" cy="186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D9E"/>
                </a:solidFill>
                <a:latin typeface="Apple SD Gothic Neo"/>
              </a:rPr>
              <a:t>수요 기반 상한 추정치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41648" y="822960"/>
            <a:ext cx="3657600" cy="932688"/>
          </a:xfrm>
          <a:prstGeom prst="rect">
            <a:avLst/>
          </a:prstGeom>
          <a:solidFill>
            <a:srgbClr val="E0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877824"/>
            <a:ext cx="3511296" cy="447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7B7D"/>
                </a:solidFill>
                <a:latin typeface="Apple SD Gothic Neo"/>
              </a:rPr>
              <a:t>−19.3%p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289304"/>
            <a:ext cx="3511296" cy="261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21420"/>
                </a:solidFill>
                <a:latin typeface="Apple SD Gothic Neo"/>
              </a:rPr>
              <a:t>수업방해분리 60%효과
학생침해 78.5%→59.2%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550456"/>
            <a:ext cx="3511296" cy="186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D9E"/>
                </a:solidFill>
                <a:latin typeface="Apple SD Gothic Neo"/>
              </a:rPr>
              <a:t>수요 기반 상한 추정치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3296" y="822960"/>
            <a:ext cx="3877056" cy="932688"/>
          </a:xfrm>
          <a:prstGeom prst="rect">
            <a:avLst/>
          </a:prstGeom>
          <a:solidFill>
            <a:srgbClr val="E3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877824"/>
            <a:ext cx="3730752" cy="447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A2463"/>
                </a:solidFill>
                <a:latin typeface="Apple SD Gothic Neo"/>
              </a:rPr>
              <a:t>PAF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1289304"/>
            <a:ext cx="3730752" cy="261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21420"/>
                </a:solidFill>
                <a:latin typeface="Apple SD Gothic Neo"/>
              </a:rPr>
              <a:t>Population
Attributable Fraction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1550456"/>
            <a:ext cx="3730752" cy="186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D9E"/>
                </a:solidFill>
                <a:latin typeface="Apple SD Gothic Neo"/>
              </a:rPr>
              <a:t>역학 표준 시뮬레이션 방법론</a:t>
            </a:r>
          </a:p>
        </p:txBody>
      </p:sp>
      <p:pic>
        <p:nvPicPr>
          <p:cNvPr id="19" name="Picture 18" descr="chart08_p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0"/>
            <a:ext cx="11731752" cy="358444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28600" y="5486400"/>
            <a:ext cx="667512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D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5522976"/>
            <a:ext cx="6492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35A00"/>
                </a:solidFill>
                <a:latin typeface="Apple SD Gothic Neo"/>
              </a:rPr>
              <a:t>PAF = Pe × (OR−1) / [1 + Pe × (OR−1)]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5486400"/>
            <a:ext cx="4901184" cy="502920"/>
          </a:xfrm>
          <a:prstGeom prst="rect">
            <a:avLst/>
          </a:prstGeom>
          <a:solidFill>
            <a:srgbClr val="FDEDE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6" y="5522976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  <a:latin typeface="Apple SD Gothic Neo"/>
              </a:rPr>
              <a:t>한계: OR은 D2 수요 기반 → 상한 추정치 | Pe = D2≥4 비율(97~99%) | 효과율 가정 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" y="6702552"/>
            <a:ext cx="117317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A8D9E"/>
                </a:solidFill>
                <a:latin typeface="Apple SD Gothic Neo"/>
              </a:rPr>
              <a:t>출처: D1(2024) | 방법: Rockhill et al.(1998) PAF | *** p&lt;.001 (D2 로지스틱)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40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A2463"/>
                </a:solidFill>
                <a:latin typeface="Apple SD Gothic Neo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201168"/>
            <a:ext cx="36576" cy="384048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91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2463"/>
                </a:solidFill>
                <a:latin typeface="Apple SD Gothic Neo"/>
              </a:rPr>
              <a:t>결론 및 정책 제언: 교권침해는 제도 설계의 실패다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13232"/>
            <a:ext cx="11731752" cy="2286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822960"/>
            <a:ext cx="11731752" cy="475488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877824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ple SD Gothic Neo"/>
              </a:rPr>
              <a:t>"교권침해는 개인 문제도 교육 부족도 아닌, 학교 구조와 제도 설계의 실패다 — 맞춤 입법으로만 해결 가능하다"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38988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463"/>
                </a:solidFill>
                <a:latin typeface="Apple SD Gothic Neo"/>
              </a:rPr>
              <a:t>5대 핵심 발견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664208"/>
          <a:ext cx="10012680" cy="1453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5303520"/>
                <a:gridCol w="1463040"/>
                <a:gridCol w="2926080"/>
              </a:tblGrid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ple SD Gothic Neo"/>
                        </a:rPr>
                        <a:t>#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ple SD Gothic Neo"/>
                        </a:rPr>
                        <a:t>발견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ple SD Gothic Neo"/>
                        </a:rPr>
                        <a:t>방법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ple SD Gothic Neo"/>
                        </a:rPr>
                        <a:t>함의</a:t>
                      </a:r>
                    </a:p>
                  </a:txBody>
                  <a:tcPr>
                    <a:solidFill>
                      <a:srgbClr val="0A2463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인권교육 +20.8%p에도 만족도 3.75/5, 47.3%가 제도 긴장 인식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D3 B2_6·B5_7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교육이 아닌 제도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2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초등 OR=1.79***, 학교규모 OR=1.29*** — 역인과 없는 구조 원인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Track A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구조 취약 집단 확인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침해 → 이직 OR=2.17***, 자살 OR=2.57*** (구조 통제 후 직접효과)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Track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침해의 직접 심각성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4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3집단: C0 고등학생형 / C1 중학교보호자형 / C2 초등관리자형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K-means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맞춤 입법 필요 확인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C2 초등형 D2 4개 n.s. → 현행 입법 논의의 측정·입법 사각지대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K-means+B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1420"/>
                          </a:solidFill>
                          <a:latin typeface="Apple SD Gothic Neo"/>
                        </a:rPr>
                        <a:t>신규 제도 시급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33832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Apple SD Gothic Neo"/>
              </a:rPr>
              <a:t>4대 정책 제언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657600"/>
            <a:ext cx="731520" cy="530352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373075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ple SD Gothic Neo"/>
              </a:rPr>
              <a:t>즉시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657600"/>
            <a:ext cx="10972800" cy="530352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685032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463"/>
                </a:solidFill>
                <a:latin typeface="Apple SD Gothic Neo"/>
              </a:rPr>
              <a:t>악성민원 법적패널티 입법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941063"/>
            <a:ext cx="10698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D9E"/>
                </a:solidFill>
                <a:latin typeface="Apple SD Gothic Neo"/>
              </a:rPr>
              <a:t>C1 중학교(80.4%) 최우선 — Track B Δ=+0.088*** / OR=2.380***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279392"/>
            <a:ext cx="731520" cy="530352"/>
          </a:xfrm>
          <a:prstGeom prst="rect">
            <a:avLst/>
          </a:prstGeom>
          <a:solidFill>
            <a:srgbClr val="007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435254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ple SD Gothic Neo"/>
              </a:rPr>
              <a:t>단기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4279392"/>
            <a:ext cx="10972800" cy="530352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30682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B7D"/>
                </a:solidFill>
                <a:latin typeface="Apple SD Gothic Neo"/>
              </a:rPr>
              <a:t>수업방해 학생분리 조항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562855"/>
            <a:ext cx="10698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D9E"/>
                </a:solidFill>
                <a:latin typeface="Apple SD Gothic Neo"/>
              </a:rPr>
              <a:t>C0·C1 — Track B Δ=+0.128*** / SHAP 3위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4901184"/>
            <a:ext cx="731520" cy="530352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4974336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ple SD Gothic Neo"/>
              </a:rPr>
              <a:t>중기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4901184"/>
            <a:ext cx="10972800" cy="530352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4928616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8A"/>
                </a:solidFill>
                <a:latin typeface="Apple SD Gothic Neo"/>
              </a:rPr>
              <a:t>아동학대 신고 교원보호 강화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5184648"/>
            <a:ext cx="10698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D9E"/>
                </a:solidFill>
                <a:latin typeface="Apple SD Gothic Neo"/>
              </a:rPr>
              <a:t>C1 — OR=1.883***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5522976"/>
            <a:ext cx="731520" cy="5303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559612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ple SD Gothic Neo"/>
              </a:rPr>
              <a:t>신규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5522976"/>
            <a:ext cx="10972800" cy="530352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555040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Apple SD Gothic Neo"/>
              </a:rPr>
              <a:t>관리자압박 내부신고 보호 시스템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806440"/>
            <a:ext cx="10698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D9E"/>
                </a:solidFill>
                <a:latin typeface="Apple SD Gothic Neo"/>
              </a:rPr>
              <a:t>C2 초등 전용 — D2 4개 n.s. → 측정·입법 사각지대 해소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6199632"/>
            <a:ext cx="11731752" cy="521207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8" y="6254496"/>
            <a:ext cx="11521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</a:rPr>
              <a:t>일률적 교권보호법이 아닌 학교급·침해유형별 맞춤 입법 로드맵 — C0(고등)·C1(중학교)·C2(초등) 각 집단의 구조와 수요가 다르다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