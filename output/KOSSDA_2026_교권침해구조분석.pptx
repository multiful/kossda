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2560320" cy="38404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C4FF"/>
                </a:solidFill>
                <a:latin typeface="Apple SD Gothic Neo"/>
              </a:rPr>
              <a:t>KOSSDA 대학생 데이터 시각화 공모전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AFAFB"/>
                </a:solidFill>
                <a:latin typeface="Apple SD Gothic Neo"/>
              </a:rPr>
              <a:t>"인권교육 참여율이 20%p 증가했는데도
교권침해는 왜 줄지 않는가?"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7315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B0D0FF"/>
                </a:solidFill>
                <a:latin typeface="Apple SD Gothic Neo"/>
              </a:rPr>
              <a:t>— 제도 공백의 구조, 취약 집단, 그리고 맞춤 처방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11274552" cy="22860"/>
          </a:xfrm>
          <a:prstGeom prst="rect">
            <a:avLst/>
          </a:prstGeom>
          <a:solidFill>
            <a:srgbClr val="30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2743200" cy="91440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2463"/>
                </a:solidFill>
                <a:latin typeface="Apple SD Gothic Neo"/>
              </a:rPr>
              <a:t>85.6%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45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교권침해 경험률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2424" y="4114800"/>
            <a:ext cx="2743200" cy="9144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pple SD Gothic Neo"/>
              </a:rPr>
              <a:t>16.9%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4645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자살사고율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4114800"/>
            <a:ext cx="2743200" cy="91440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97B"/>
                </a:solidFill>
                <a:latin typeface="Apple SD Gothic Neo"/>
              </a:rPr>
              <a:t>OR=2.57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645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침해→자살사고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62872" y="4114800"/>
            <a:ext cx="274320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35A00"/>
                </a:solidFill>
                <a:latin typeface="Apple SD Gothic Neo"/>
              </a:rPr>
              <a:t>47.3%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1" y="4645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교사 제도적 긴장
인식 비율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90C0"/>
                </a:solidFill>
                <a:latin typeface="Apple SD Gothic Neo"/>
              </a:rPr>
              <a:t>주요 데이터: 교원 인권상황 실태조사 2024 (n=10,888) · 초중등 교원 인권교육 실태조사 2021 (n=9,553)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90C0"/>
                </a:solidFill>
                <a:latin typeface="Apple SD Gothic Neo"/>
              </a:rPr>
              <a:t>분석 기법: K-means · SEM · SHAP(RandomForest) · Bootstrap 매개효과 · PAF 시뮬레이션 · Two-Track 로지스틱 회귀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080B0"/>
                </a:solidFill>
                <a:latin typeface="Apple SD Gothic Neo"/>
              </a:rPr>
              <a:t>※ 본 분석은 KOSSDA 공개 데이터를 활용한 학술 연구 목적 분석임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463"/>
                </a:solidFill>
                <a:latin typeface="Apple SD Gothic Ne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문제 제기: 교사가 병들고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731520"/>
          </a:xfrm>
          <a:prstGeom prst="rect">
            <a:avLst/>
          </a:prstGeom>
          <a:solidFill>
            <a:srgbClr val="E3F0FB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"교사 10명 중 8.5명이 침해를 경험하며, 이 중 16.9%는 자살을 생각한다"
→ 교권침해는 개인 갈등이 아닌 교사 집단의 구조적 위기다.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08760"/>
            <a:ext cx="2240280" cy="96012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54480"/>
            <a:ext cx="2148840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85.6%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36826"/>
            <a:ext cx="2148840" cy="4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4D5E"/>
                </a:solidFill>
                <a:latin typeface="Apple SD Gothic Neo"/>
              </a:rPr>
              <a:t>교권침해 경험률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508760"/>
            <a:ext cx="2240280" cy="960120"/>
          </a:xfrm>
          <a:prstGeom prst="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7" y="1554480"/>
            <a:ext cx="2148840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97B"/>
                </a:solidFill>
                <a:latin typeface="Apple SD Gothic Neo"/>
              </a:rPr>
              <a:t>59.6%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7" y="2036826"/>
            <a:ext cx="2148840" cy="4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4D5E"/>
                </a:solidFill>
                <a:latin typeface="Apple SD Gothic Neo"/>
              </a:rPr>
              <a:t>보호자 민원 경험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28616" y="1508760"/>
            <a:ext cx="2240280" cy="960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1554480"/>
            <a:ext cx="2148840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35A00"/>
                </a:solidFill>
                <a:latin typeface="Apple SD Gothic Neo"/>
              </a:rPr>
              <a:t>46.3%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2036826"/>
            <a:ext cx="2148840" cy="4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4D5E"/>
                </a:solidFill>
                <a:latin typeface="Apple SD Gothic Neo"/>
              </a:rPr>
              <a:t>이직 고려율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3" y="1508760"/>
            <a:ext cx="2240280" cy="96012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1554480"/>
            <a:ext cx="2148840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16.9%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2036826"/>
            <a:ext cx="2148840" cy="4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4D5E"/>
                </a:solidFill>
                <a:latin typeface="Apple SD Gothic Neo"/>
              </a:rPr>
              <a:t>자살사고율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8632" y="1508760"/>
            <a:ext cx="2240280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1554480"/>
            <a:ext cx="2148840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4D5E"/>
                </a:solidFill>
                <a:latin typeface="Apple SD Gothic Neo"/>
              </a:rPr>
              <a:t>42.8%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036826"/>
            <a:ext cx="2148840" cy="4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4D5E"/>
                </a:solidFill>
                <a:latin typeface="Apple SD Gothic Neo"/>
              </a:rPr>
              <a:t>정신건강 나쁨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28600" y="2633472"/>
          <a:ext cx="10424160" cy="159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4572000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수치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값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출처 변수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의미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교권침해 경험률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85.6%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B2_1+B3_1+B5_1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학생·보호자·관리자 침해 합산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보호자 민원 경험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59.6%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B3_1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보호자로부터 침해 경험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이직 고려율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46.3%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A4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현 직장 이직을 고려함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자살사고율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16.9%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C4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최근 자살을 생각해본 경험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정신건강 나쁨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C1 역코딩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정신건강 자가 평가 하위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28600" y="44165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교권침해는 더 이상 개인 갈등이 아니다. 2024년 전국 교원 조사(n=10,888) 결과 교권침해 경험률 85.6%, 이직 고려 46.3%, 자살사고 16.9%로 나타났다. 이는 교사 집단 전체가 구조적 위기에 놓여 있음을 보여준다.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315968"/>
            <a:ext cx="4233672" cy="1353312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6408" y="4389120"/>
            <a:ext cx="4014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4FF"/>
                </a:solidFill>
                <a:latin typeface="Apple SD Gothic Neo"/>
              </a:rPr>
              <a:t>핵심 연구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700016"/>
            <a:ext cx="4014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AFB"/>
                </a:solidFill>
                <a:latin typeface="Apple SD Gothic Neo"/>
              </a:rPr>
              <a:t>"인권교육 참여율이 20%p 증가했는데도
교권침해는 왜 줄지 않는가?
— 제도 공백의 구조를 규명한다"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1389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D9E"/>
                </a:solidFill>
                <a:latin typeface="Apple SD Gothic Neo"/>
              </a:rPr>
              <a:t>출처: D1 교원 인권상황 실태조사(2024), n=10,888</a:t>
            </a:r>
          </a:p>
        </p:txBody>
      </p:sp>
      <p:pic>
        <p:nvPicPr>
          <p:cNvPr id="31" name="Picture 30" descr="partA_teacher_rights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468112"/>
            <a:ext cx="11731752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F8A"/>
                </a:solidFill>
                <a:latin typeface="Apple SD Gothic Ne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데이터와 분석 방법: Two-Track 전략으로 역인과를 해소한다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463"/>
                </a:solidFill>
                <a:latin typeface="Apple SD Gothic Neo"/>
              </a:rPr>
              <a:t>5개 데이터 · 9가지 통계 기법 · Two-Track 설계 — D2(제도 필요도)의 역인과 문제를 구조적으로 해소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분석 데이터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481328"/>
          <a:ext cx="8046720" cy="161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188720"/>
                <a:gridCol w="2468880"/>
              </a:tblGrid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데이터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n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교원 인권상황 실태조사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10,888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주 분석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초·중등 교원 인권교육 실태조사 (2021)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9,553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교육 효과성 + 시계열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한국교총 교권상담 실적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501건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신고 추이 외부 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신도시 현황 + 순이동인구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32개 단지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지역 구조 변수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학원·교습소 현황 (시군구별)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시군구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교육열 프록시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18872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적용 기법 (9종)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481328"/>
          <a:ext cx="6492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31920"/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기법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적용 목적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K-means (k=3)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취약 집단 분류 (Silhouette=0.404)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SEM (semopy)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구조적 인과 경로 분석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SHAP (RandomForest)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제도 변수 중요도 해석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Brunner-Munzel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비모수 집단 비교 (η²)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Bootstrap 매개효과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간접효과 95%CI (n=2,000)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5-fold CV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모델 예측력 교차 검증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VIF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다중공선성 진단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PAF 시뮬레이션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정책 효과 추정 (역학 표준)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Two-Track 로지스틱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역인과 해소 핵심 전략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28600" y="3566160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pple SD Gothic Neo"/>
              </a:rPr>
              <a:t>Two-Track 설계 (역인과 해소 핵심)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8600" y="3858768"/>
          <a:ext cx="1152144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029200"/>
                <a:gridCol w="18288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Track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방법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역인과 여부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구조변수(학교급·규모·고용형태) → 침해 로지스틱 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없음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인과 추론 가능 취약 집단 식별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B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침해집단 vs 비침해집단 D2 수요 격차 분석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강점으로 전환 ✓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당사자 기반 정책 우선순위 도출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28600" y="4663440"/>
            <a:ext cx="11731752" cy="10972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D2(제도 필요도) 내생성 처리 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4992624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D2는 침해 경험 이후 묻는 인식 변수이므로 "제도 없어서 침해 발생"의 역인과 가능성이 있음.
→ Track A에서 D2 완전 제외 (구조 변수만 사용) · Track B에서 "당사자 수요 측정 도구"로만 사용 (인과 주장 없음)
→ PAF 시뮬레이션의 OR은 수요 기반 상한 추정치로 해석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5870448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8D9E"/>
                </a:solidFill>
                <a:latin typeface="Apple SD Gothic Neo"/>
              </a:rPr>
              <a:t>SEM 모델 적합도: CFI=0.885 (경계), RMSEA=0.060 (수용) | RandomForest 5-fold CV AUC: 이직고려 0.71 / 자살사고 0.73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97B"/>
                </a:solidFill>
                <a:latin typeface="Apple SD Gothic Ne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발견 1: 인권교육 역설 [HOOK] — 교육량이 아닌 제도의 문제다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E0F4F4"/>
          </a:solidFill>
          <a:ln w="12700">
            <a:solidFill>
              <a:srgbClr val="007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교육 참여율 +20.8%p ↑, 그러나 효과 만족도 3.75/5 · 교사 47.3%가 "학생인권↑=교권↓" 인식
→ 인식·태도 교육만으로는 구조적 침해를 막을 수 없음을 3가지 지표로 실증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35608"/>
            <a:ext cx="2560320" cy="896112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2468879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2463"/>
                </a:solidFill>
                <a:latin typeface="Apple SD Gothic Neo"/>
              </a:rPr>
              <a:t>67.4%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28469"/>
            <a:ext cx="2468879" cy="3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2021년 인권교육
참여율 (D3)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435608"/>
            <a:ext cx="2560320" cy="896112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481328"/>
            <a:ext cx="2468879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ple SD Gothic Neo"/>
              </a:rPr>
              <a:t>88.2%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928469"/>
            <a:ext cx="2468879" cy="3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2024년 인권교육
참여율 (D1)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435608"/>
            <a:ext cx="2560320" cy="896112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481328"/>
            <a:ext cx="2468879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97B"/>
                </a:solidFill>
                <a:latin typeface="Apple SD Gothic Neo"/>
              </a:rPr>
              <a:t>+20.8%p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928469"/>
            <a:ext cx="2468879" cy="3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3년간 증가폭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97B"/>
                </a:solidFill>
                <a:latin typeface="Apple SD Gothic Ne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97B"/>
                </a:solidFill>
                <a:latin typeface="Apple SD Gothic Neo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435608"/>
            <a:ext cx="3547872" cy="896112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46304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Apple SD Gothic Neo"/>
              </a:rPr>
              <a:t>BUT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801368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Apple SD Gothic Neo"/>
              </a:rPr>
              <a:t>교권침해 85.6% 여전
자살사고 16.9%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24505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97B"/>
                </a:solidFill>
                <a:latin typeface="Apple SD Gothic Neo"/>
              </a:rPr>
              <a:t>시계열 비교 — D3(2021) × D1(2024)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28600" y="2724912"/>
          <a:ext cx="8046720" cy="1824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371600"/>
                <a:gridCol w="2011680"/>
              </a:tblGrid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지표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2021 (D3)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2024 (D1)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변화 방향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인권교육 참여율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67.4%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+20.8%p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교육 효과 만족도 (B2_6)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3.75/5.0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보통 이하 39.1%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인권의식 향상 응답 (B2_9≥4)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낮은 자기 효능감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"학생인권↑→교권↓" 동의 (B5_7≥4)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47.3%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제도적 긴장 지속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교권침해 경험률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측정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85.6%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여전히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자살사고율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측정 없음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16.9%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pic>
        <p:nvPicPr>
          <p:cNvPr id="26" name="Picture 25" descr="two_track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450592"/>
            <a:ext cx="3502152" cy="26060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28600" y="5138928"/>
            <a:ext cx="11731752" cy="1481328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5193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논거 요약 (3중 증거)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546811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① 참여율 88.2%에도 교육 만족도 3.75/5 → 교육 자체의 효과성이 낮음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" y="573328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② 교사 47.3%: "학생인권 확대가 교권을 축소한다" → 구조적 위협 인식 지속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" y="599846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③ 인권의식 향상 응답 62.3%에 불과 → 인식 변화가 곧 행동·구조 변화로 연결되지 않음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626364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pple SD Gothic Neo"/>
              </a:rPr>
              <a:t>→ 결론: 인식 개선 교육만으로는 구조적 침해를 막을 수 없다. 제도 설계의 문제다.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D3 초·중등 교원 인권교육 실태조사(2021) B1·B2_6·B2_9·B5_7 / D1 교원 인권상황 실태조사(2024)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Apple SD Gothic Ne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발견 2: 구조가 침해를 만든다 — Track A (역인과 없는 인과 추론)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초등학교 OR=1.79***, 학교규모 1단계↑ OR=1.29*** — 구조 변수만으로 취약 집단 식별 가능
침해는 이직(OR=2.17***)·자살사고(OR=2.57***)를 직접 유발한다 (구조 통제 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435608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  <a:latin typeface="Apple SD Gothic Neo"/>
              </a:rPr>
              <a:t>Track A: 구조 변수 → 침해 OR (n=10,888, 구조 변수 동시 투입)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719072"/>
          <a:ext cx="88696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246888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구조 변수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보호자침해 OR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학생침해 OR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관리자침해 OR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해석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초등학교 (vs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1.470***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1.790***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0.550***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 보호자/학생침해 취약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중학교 (vs 기준)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0.885 n.s.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1.176 n.s.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0.629***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중학교 상대적 보통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고등학교 (vs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0.619***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0.660***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0.683***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고등 상대적 보호적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학교규모 (1단계↑)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1.080***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1.289***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0.939**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학교 클수록 학생침해↑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사립 (vs 공립)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0.800 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0.951 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1.195 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설립 형태 영향 미미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기간제 교원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0.689**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0.668**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0.782 n.s.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※ 신고 억제 가능성 주의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남성 (vs 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0.817***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0.663***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0.908 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여성 교원 상대적 취약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235440" y="14356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침해 → 결과 직접효과 (구조 통제 후)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235440" y="1719072"/>
          <a:ext cx="34290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3152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결과 변수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OR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95%CI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이직 고려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2.174***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[2.07, 2.28]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자살사고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2.569***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[2.40, 2.75]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28600" y="3547872"/>
            <a:ext cx="11731752" cy="8686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3593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번아웃 매개 경로 재검토 (데이터 기반 수정)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867912"/>
            <a:ext cx="11430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실측: 침해집단의 번아웃(C3) 점수가 비침해집단보다 낮음 (보호자침해: 침해 1.90 vs 비침해 2.37, Δ=-0.47***)
→ 번아웃과 침해는 구조적 요인에 의해 각각 독립 예측되는 별개 경로 — 매개 주장 성립 불안정
→ 인과 주장을 "침해→이직/자살 직접효과"로 집중 (Track A의 OR=2.17·2.57***로 충분히 지지)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526280"/>
            <a:ext cx="5669280" cy="7498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35A00"/>
                </a:solidFill>
                <a:latin typeface="Apple SD Gothic Neo"/>
              </a:rPr>
              <a:t>기간제 OR 해석 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8188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기간제 OR이 낮은 것은 보호 효과가 아닌 "계약 유지 압박으로 인한 침해 신고 억제" 가능성.
기간제의 실제 침해 규모가 과소 추정될 수 있는 측정 한계</a:t>
            </a:r>
          </a:p>
        </p:txBody>
      </p:sp>
      <p:pic>
        <p:nvPicPr>
          <p:cNvPr id="20" name="Picture 19" descr="two_track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480560"/>
            <a:ext cx="5833872" cy="21762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 교원 인권상황 실태조사(2024) | 분석: analysis_two_track.py | 기준집단: 유치원+특수+기타(SQ2=1,6,7) | *** p&lt;.001  ** p&lt;.01  * p&lt;.05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463"/>
                </a:solidFill>
                <a:latin typeface="Apple SD Gothic Ne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발견 3: Track A × Track B 수렴 — 수렴 타당도로 확정하는 정책 우선순위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E3F0FB"/>
          </a:solidFill>
          <a:ln w="1270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구조적 취약 집단(Track A)과 당사자 정책 수요(Track B)가 같은 제도를 지목 → 수렴 타당도 확보
전 교사 95%+가 모든 정책 필요 인식 + 침해집단 더욱 절실히 요구 (수요격차 *** 유의)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435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2463"/>
                </a:solidFill>
                <a:latin typeface="Apple SD Gothic Neo"/>
              </a:rPr>
              <a:t>Track B: D2 정책 수요 격차 (역인과를 "당사자 수요 근거"로 전환)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719072"/>
          <a:ext cx="10149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737360"/>
                <a:gridCol w="173736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정책 제도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전체 수요(≥4 비율)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보호자침해집단 Δ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학생침해집단 Δ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관리자침해집단 Δ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 법적패널티 (D2_10)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+0.088***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+0.109***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+0.025***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 분리시스템 (D2_5)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97.9%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+0.075***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+0.128***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+0.015***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아동학대 신고보호 (D2_2)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+0.072***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+0.082***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+0.018**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과밀학급 해소 (D2_16)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96.8%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+0.043***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+0.078***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+0.045***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30175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8A"/>
                </a:solidFill>
                <a:latin typeface="Apple SD Gothic Neo"/>
              </a:rPr>
              <a:t>SHAP 중요도 (RandomForest, n=10,888, n_estimators=300)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3291840"/>
          <a:ext cx="5669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560320"/>
                <a:gridCol w="118872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순위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변수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mean|SHAP|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Track 일치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학교 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A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2위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초등학교 여부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0.033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A ✓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 분리시스템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B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4위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 법적패널티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0.018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B ✓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8600" y="45902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pple SD Gothic Neo"/>
              </a:rPr>
              <a:t>Track A × Track B 수렴 — 정책 우선순위 확정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28600" y="4864608"/>
          <a:ext cx="9601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2860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침해 유형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Track A (구조 취약성)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Track B (수요 격차)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수렴 결론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보호자침해 (59.6%)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 OR=1.47 / 대형 OR=1.08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Δ악성민원=+0.088 최대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악성민원패널티 1순위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학생침해 (78.5%)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 OR=1.79 / 대형 OR=1.29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Δ수업방해=+0.128 최대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수업방해분리 1순위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관리자침해 (23.6%)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D2 모두 비유의 (n=847)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격차 미약 (측정 공백)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신규 제도 필요 지적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two_track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2" y="3017520"/>
            <a:ext cx="1554480" cy="358444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28600" y="6080760"/>
            <a:ext cx="9966960" cy="54864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6126480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2463"/>
                </a:solidFill>
                <a:latin typeface="Apple SD Gothic Neo"/>
              </a:rPr>
              <a:t>D2 해석 원칙: D2는 침해 후 측정된 인식 변수 → 인과 추론(X) · 정책 수요 진단(O)
"침해 경험자가 절실히 요구하는 정책 = 현장 기반 최우선 입법 타깃" — 역인과를 강점으로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분석: analysis_two_track.py, analysis_factor_impact.py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463"/>
                </a:solidFill>
                <a:latin typeface="Apple SD Gothic Ne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발견 4: 취약 집단 분류 — 학교마다 다른 침해 구조 (K-means, k=3)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E3F0FB"/>
          </a:solidFill>
          <a:ln w="1270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K-means 3집단: 각 집단이 완전히 다른 침해 구조를 가짐 — Track A 구조 OR 패턴과 일치 (수렴 검증)
Silhouette Score=0.404 | D2(제도 필요도) 완전 제외 후 순수 구조·침해 프로파일로 분류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35608"/>
            <a:ext cx="3794760" cy="3200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463040"/>
            <a:ext cx="3648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C0: 고등·학생중심형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55648"/>
            <a:ext cx="3794760" cy="25603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1764792"/>
            <a:ext cx="3648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1,286명 (11.8%)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011680"/>
            <a:ext cx="3794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2029968"/>
            <a:ext cx="3648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고등학교 86% | 공립 80%
학생침해 72%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1435608"/>
            <a:ext cx="3794760" cy="32004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463040"/>
            <a:ext cx="3648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C1: 중학교·보호자민원형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4" y="1755648"/>
            <a:ext cx="3794760" cy="25603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1764792"/>
            <a:ext cx="3648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8,755명 (80.4%)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4" y="2011680"/>
            <a:ext cx="3794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2029968"/>
            <a:ext cx="3648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중학교 86% | 공립 100% | 대형
보호자침해 62%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2168" y="1435608"/>
            <a:ext cx="37947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63040"/>
            <a:ext cx="3648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C2: 초등·관리자압박형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1755648"/>
            <a:ext cx="3794760" cy="25603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764792"/>
            <a:ext cx="3648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847명 (7.8%)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2011680"/>
            <a:ext cx="3794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029968"/>
            <a:ext cx="3648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초등 100% | 소형(SQ5=1.6)
관리자침해 43%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26060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2463"/>
                </a:solidFill>
                <a:latin typeface="Apple SD Gothic Neo"/>
              </a:rPr>
              <a:t>클러스터 내 로지스틱 OR (구조 변수 통제 후)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28600" y="2880360"/>
          <a:ext cx="9784080" cy="1303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011680"/>
              </a:tblGrid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제도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C0 고등(n=1,286)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C1 중학교(n=8,755)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C2 초등(n=847)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 법적패널티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OR=2.018***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OR=2.380***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OR=1.757**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 분리시스템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OR=1.505***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OR=1.624***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OR=1.224 n.s.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아동학대 신고보호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OR=1.610***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OR=1.883***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OR=1.398 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과밀학급 해소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OR=1.298***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OR=1.335***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OR=1.087 n.s.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228600" y="4389120"/>
            <a:ext cx="11731752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4256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20"/>
                </a:solidFill>
                <a:latin typeface="Apple SD Gothic Neo"/>
              </a:rPr>
              <a:t>Track A 연계 검증: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4348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C1(중학교·대형) ↔ Track A "학교규모 OR=1.29***" 일치 | C0(고등·학생침해) ↔ Track A "고등 OR=0.66 보호방향" 일치
C2(초등·관리자) ↔ Track A "초등 OR=1.47-1.79***" 일치 | K-means가 Track A 구조 패턴을 독립 재현 → 수렴 타당도</a:t>
            </a:r>
          </a:p>
        </p:txBody>
      </p:sp>
      <p:pic>
        <p:nvPicPr>
          <p:cNvPr id="33" name="Picture 32" descr="cluster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0"/>
            <a:ext cx="7772400" cy="1600200"/>
          </a:xfrm>
          <a:prstGeom prst="rect">
            <a:avLst/>
          </a:prstGeom>
        </p:spPr>
      </p:pic>
      <p:pic>
        <p:nvPicPr>
          <p:cNvPr id="34" name="Picture 33" descr="policy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5029200"/>
            <a:ext cx="3822191" cy="1600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분석: analysis_clustering.py | D2 제외, 순수 구조·침해 프로파일 클러스터링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pple SD Gothic Ne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발견 5: 사각지대 — 초등 관리자압박형은 현행 입법 논의에서 빠져있다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C2 초등·관리자압박형(n=847): 관리자침해 43.2% 최고 — 그러나 현행 D2 4개 제도 모두 비유의
→ "효과 없음"이 아니라 "측정 도구 부재" + "입법 논의의 사각지대" 2중 의미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35608"/>
            <a:ext cx="2816352" cy="8686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2724912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  <a:latin typeface="Apple SD Gothic Neo"/>
              </a:rPr>
              <a:t>43.2%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13382"/>
            <a:ext cx="2724912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관리자침해 비율
(전체 평균 24.6%)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435608"/>
            <a:ext cx="2816352" cy="8686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481328"/>
            <a:ext cx="2724912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A4D5E"/>
                </a:solidFill>
                <a:latin typeface="Apple SD Gothic Neo"/>
              </a:rPr>
              <a:t>7.8%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913382"/>
            <a:ext cx="2724912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C2 집단 비율
(n=847 소표본)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435608"/>
            <a:ext cx="2816352" cy="868680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481328"/>
            <a:ext cx="2724912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35A00"/>
                </a:solidFill>
                <a:latin typeface="Apple SD Gothic Neo"/>
              </a:rPr>
              <a:t>4개 모두
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913382"/>
            <a:ext cx="2724912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D2 제도 효과
(검정력 제한)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1435608"/>
            <a:ext cx="2816352" cy="86868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481328"/>
            <a:ext cx="2724912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4F8A"/>
                </a:solidFill>
                <a:latin typeface="Apple SD Gothic Neo"/>
              </a:rPr>
              <a:t>1.6/5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913382"/>
            <a:ext cx="2724912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D5E"/>
                </a:solidFill>
                <a:latin typeface="Apple SD Gothic Neo"/>
              </a:rPr>
              <a:t>평균 학교 규모
(소형 학교)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24231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pple SD Gothic Neo"/>
              </a:rPr>
              <a:t>C2 초등·관리자압박형 상세 프로파일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600" y="2697480"/>
          <a:ext cx="1042416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645920"/>
                <a:gridCol w="39319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지표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C2 초등·관리자압박형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전체 평균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의미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관리자침해 비율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C2가 1.76배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학교 규모 (SQ5)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1.6/5 (소형)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3.6/5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소형 학교 집중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공립 비율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거의 전부 공립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D2 악성민원패널티 OR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1.757** (유의)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(전체 OR=~2.38)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상대적으로 낮음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D2 수업방해분리 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1.224 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(전체 OR=~1.62)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비유의 — 해당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D2 아동학대신고 OR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1.398 n.s.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(전체 OR=~1.88)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비유의 — 해당 없음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228600" y="4480560"/>
            <a:ext cx="7315200" cy="173736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45354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발견의 2중 의미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800600"/>
            <a:ext cx="7040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① [입법 사각지대] 학부모·학생 중심 교권보호법 논의는 초등 소규모 학교 교사를 보호하지 못함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5129784"/>
            <a:ext cx="7040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② [측정 공백] n=847 소집단에서 검정력 부족 → 효과 부재가 아닌 검출 불가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5458968"/>
            <a:ext cx="7040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③ [전용 제도 부재] 관리자 갑질·부당 지시 대응 내부신고·보호 시스템이 D2에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5788152"/>
            <a:ext cx="7040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pple SD Gothic Neo"/>
              </a:rPr>
              <a:t>→ 도구 개발 + 전용 입법이 선행 과제: 관리자 압박 내부신고 보호 시스템 신설</a:t>
            </a:r>
          </a:p>
        </p:txBody>
      </p:sp>
      <p:pic>
        <p:nvPicPr>
          <p:cNvPr id="30" name="Picture 29" descr="cluster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23160"/>
            <a:ext cx="4187952" cy="3794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분석: analysis_clustering.py | C2 n=847 (검정력 제한 명시)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463"/>
                </a:solidFill>
                <a:latin typeface="Apple SD Gothic Ne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발견 6: 집단별 맞춤 제도 처방 — 일률적 교권보호법의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E3F0FB"/>
          </a:solidFill>
          <a:ln w="1270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침해율 × Track B 수요격차 = 정책 우선순위 점수 — 같은 제도도 집단마다 우선순위 달라
C2 초등은 현행 4개 제도 모두 해당 없음 → 신규 관리자압박 제도 별도 신설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35608"/>
            <a:ext cx="3794760" cy="347472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63040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C0: 고등·학생중심형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83080"/>
            <a:ext cx="3794760" cy="4572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828800"/>
            <a:ext cx="3794760" cy="713232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3611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463"/>
                </a:solidFill>
                <a:latin typeface="Apple SD Gothic Neo"/>
              </a:rPr>
              <a:t>1순위 제도:
수업방해
분리시스템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542032"/>
            <a:ext cx="379476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560320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학생침해 72%
Track B Δ=+0.128***
SHAP 3위 (0.023)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1435608"/>
            <a:ext cx="3794760" cy="347472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463040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C1: 중학교·보호자민원형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5384" y="1783080"/>
            <a:ext cx="3794760" cy="4572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5384" y="1828800"/>
            <a:ext cx="3794760" cy="713232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1847088"/>
            <a:ext cx="3611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97B"/>
                </a:solidFill>
                <a:latin typeface="Apple SD Gothic Neo"/>
              </a:rPr>
              <a:t>1순위 제도:
악성민원
법적패널티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15384" y="2542032"/>
            <a:ext cx="379476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2560320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보호자침해 62%
Track B Δ=+0.088***
OR=2.380 최고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1435608"/>
            <a:ext cx="37947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463040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C2: 초등·관리자압박형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1783080"/>
            <a:ext cx="3794760" cy="4572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02168" y="1828800"/>
            <a:ext cx="3794760" cy="713232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1847088"/>
            <a:ext cx="3611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Apple SD Gothic Neo"/>
              </a:rPr>
              <a:t>1순위 제도:
관리자 압박
내부신고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8" y="2542032"/>
            <a:ext cx="3794760" cy="566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2560320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관리자침해 43%
D2 4개 모두 n.s.
→ 신규 입법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32461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2463"/>
                </a:solidFill>
                <a:latin typeface="Apple SD Gothic Neo"/>
              </a:rPr>
              <a:t>정책 로드맵 (시급도 × 근거 강도)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28600" y="3520440"/>
          <a:ext cx="11064240" cy="1303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286000"/>
                <a:gridCol w="2743200"/>
                <a:gridCol w="3840480"/>
                <a:gridCol w="1371600"/>
              </a:tblGrid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 집단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정책 내용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핵심 근거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시급도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즉시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C1 중학교 (80.4%)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 법적패널티 입법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B Δ=+0.088*** / OR=2.380***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단기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C0 고등 + C1 중학교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 학생분리 조항 신설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B Δ=+0.128*** / SHAP 3위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★★★★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중기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C1 중학교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아동학대 신고 교원 보호 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B Δ=+0.072*** / OR=1.883***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신규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C2 초등 (사각지대)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관리자압박 내부신고·보호 시스템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D2 4개 모두 n.s. → 도구 부재 확인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 (신규)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</a:tbl>
          </a:graphicData>
        </a:graphic>
      </p:graphicFrame>
      <p:pic>
        <p:nvPicPr>
          <p:cNvPr id="33" name="Picture 32" descr="policy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983480"/>
            <a:ext cx="7772400" cy="1645920"/>
          </a:xfrm>
          <a:prstGeom prst="rect">
            <a:avLst/>
          </a:prstGeom>
        </p:spPr>
      </p:pic>
      <p:pic>
        <p:nvPicPr>
          <p:cNvPr id="34" name="Picture 33" descr="policy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983480"/>
            <a:ext cx="3822191" cy="16459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분석: analysis_clustering.py, analysis_two_track.py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35A00"/>
                </a:solidFill>
                <a:latin typeface="Apple SD Gothic Ne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미래 전망: 제도 도입 시 침해율 감소 시뮬레이션 (PAF)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223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35A00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420"/>
                </a:solidFill>
                <a:latin typeface="Apple SD Gothic Neo"/>
              </a:rPr>
              <a:t>악성민원 법적패널티 60% 효과 시: 보호자침해 59.6% → 38.3% (−21.3%p)
※ PAF의 OR은 D2 수요 기반 — 보수적 상한 추정치로 사용 (인과 추론 한계 명시)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435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35A00"/>
                </a:solidFill>
                <a:latin typeface="Apple SD Gothic Neo"/>
              </a:rPr>
              <a:t>PAF 산출 공식 (역학 표준 Population Attributable Fraction)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09928"/>
            <a:ext cx="11731752" cy="38404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737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21420"/>
                </a:solidFill>
                <a:latin typeface="Apple SD Gothic Neo"/>
              </a:rPr>
              <a:t>PAF = Pe × (OR − 1) / [1 + Pe × (OR − 1)]    | Pe: 제도 부재 노출 비율 (D2≥4 응답률) | OR: D2 기반 로지스틱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2128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2463"/>
                </a:solidFill>
                <a:latin typeface="Apple SD Gothic Neo"/>
              </a:rPr>
              <a:t>PAF 시뮬레이션 결과 (3단계 효과 시나리오)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8600" y="2496312"/>
          <a:ext cx="8915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85800"/>
                <a:gridCol w="685800"/>
                <a:gridCol w="685800"/>
                <a:gridCol w="1143000"/>
                <a:gridCol w="1051560"/>
                <a:gridCol w="1051560"/>
                <a:gridCol w="1051560"/>
              </a:tblGrid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제도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Pe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OR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PAF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현재 침해율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30% 효과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60% 효과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90% 효과</a:t>
                      </a:r>
                    </a:p>
                  </a:txBody>
                  <a:tcPr>
                    <a:solidFill>
                      <a:srgbClr val="D35A0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 법적패널티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2.487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0.595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59.6%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49.0%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27.7%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 분리시스템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97.9%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1.710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0.410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78.5%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68.8%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59.2%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49.5%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아동학대 신고보호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1.978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0.492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59.6%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50.8%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42.0%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21420"/>
                          </a:solidFill>
                          <a:latin typeface="Apple SD Gothic Neo"/>
                        </a:rPr>
                        <a:t>33.2%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326880" y="2212848"/>
            <a:ext cx="2633472" cy="17830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258568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C4FF"/>
                </a:solidFill>
                <a:latin typeface="Apple SD Gothic Neo"/>
              </a:rPr>
              <a:t>60% 효과 기준
핵심 추정치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2679192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ple SD Gothic Neo"/>
              </a:rPr>
              <a:t>−21.3%p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3200400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C4FF"/>
                </a:solidFill>
                <a:latin typeface="Apple SD Gothic Neo"/>
              </a:rPr>
              <a:t>보호자침해
59.6%→38.3%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566160"/>
            <a:ext cx="11731752" cy="62179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593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97B"/>
                </a:solidFill>
                <a:latin typeface="Apple SD Gothic Neo"/>
              </a:rPr>
              <a:t>연쇄 효과 추정 (보수적):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악성민원패널티 60% 효과 → 보호자침해 −21.3%p → 자살사고 16.9% → 약 15.1%로 감소 가능 (보수적 추정)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8587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수업방해분리 60% 효과 → 학생침해 −19.3%p → 이직고려율 46.3% → 약 40.2%로 감소 가능 (보수적 추정)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315968"/>
            <a:ext cx="11731752" cy="1024128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4352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시뮬레이션 한계 (필수 명시)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462686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① PAF의 OR은 D2 수요 기반 (침해 경험 후 측정) → 상한 추정치로 해석 권장 (인과 추론의 불확실성 존재)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8417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② Pe는 D2≥4 응답률로 추정 (전 교사 97-99% 수준 → 거의 포화 상태)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5056631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③ 효과율(30/60/90%)은 정책 정착 단계 가정 — 실제 효과는 시행 환경에 따라 달라질 수 있음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52715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420"/>
                </a:solidFill>
                <a:latin typeface="Apple SD Gothic Neo"/>
              </a:rPr>
              <a:t>④ 단일 제도 효과만 고려 — 복합 정책 시 중복 효과 조정 필요</a:t>
            </a:r>
          </a:p>
        </p:txBody>
      </p:sp>
      <p:pic>
        <p:nvPicPr>
          <p:cNvPr id="29" name="Picture 28" descr="final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440680"/>
            <a:ext cx="11731752" cy="11704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28600" y="6656832"/>
            <a:ext cx="11731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방법: Rockhill et al. (1998) PAF | 분석: analysis_final_story.py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463"/>
                </a:solidFill>
                <a:latin typeface="Apple SD Gothic Ne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결론 및 정책 제언: 교권침해는 제도 설계의 실패다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1731752" cy="50292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13232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AFAFB"/>
                </a:solidFill>
                <a:latin typeface="Apple SD Gothic Neo"/>
              </a:rPr>
              <a:t>"교권침해는 개인 문제도, 교육 부족도 아닌 학교 구조와 제도 설계의 실패다 — 맞춤 입법으로만 해결 가능하다"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34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5대 핵심 발견 요약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508760"/>
          <a:ext cx="102412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029200"/>
                <a:gridCol w="1645920"/>
                <a:gridCol w="3200400"/>
              </a:tblGrid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발견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방법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함의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인권교육 +20.8%p에도 만족도 3.75/5, 교사 47%가 제도 긴장 인식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D3 B2_6·B5_7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교육이 아닌 제도가 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 OR=1.79***, 학교규모 OR=1.29*** — 역인과 없는 구조적 원인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A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구조적 취약 집단 확인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침해지수→이직 OR=2.17***, 자살 OR=2.57*** (직접효과, 구조통제)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침해의 직접적 심각성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3집단: 완전히 다른 침해 구조 — Track A 패턴 독립 재현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K-means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맞춤 입법 필요 확인</a:t>
                      </a:r>
                    </a:p>
                  </a:txBody>
                  <a:tcPr>
                    <a:solidFill>
                      <a:srgbClr val="EAEC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C2 초등 관리자압박: D2 4개 모두 n.s. — 측정 도구 부재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K-means+B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현행 논의의 사각지대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34015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pple SD Gothic Neo"/>
              </a:rPr>
              <a:t>4대 정책 제언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675887"/>
            <a:ext cx="9144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721607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즉시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3675887"/>
            <a:ext cx="10789920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12463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pple SD Gothic Neo"/>
              </a:rPr>
              <a:t>악성민원 법적패널티 입법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950207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C1 중학교 최우선 — Track B Δ=+0.088*** / OR=2.380***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297679"/>
            <a:ext cx="914400" cy="5029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34339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단기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" y="4297679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433425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97B"/>
                </a:solidFill>
                <a:latin typeface="Apple SD Gothic Neo"/>
              </a:rPr>
              <a:t>수업방해 학생분리 조항 신설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71999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C0 고등+C1 중학교 — Track B Δ=+0.128*** / SHAP 3위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919472"/>
            <a:ext cx="914400" cy="50292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49651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중기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0432" y="4919472"/>
            <a:ext cx="10789920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49560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35A00"/>
                </a:solidFill>
                <a:latin typeface="Apple SD Gothic Neo"/>
              </a:rPr>
              <a:t>아동학대 신고 교원 보호 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19379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C1 중학교 — OR=1.883***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541264"/>
            <a:ext cx="914400" cy="50292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5586983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신규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0432" y="5541264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1872" y="557784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2463"/>
                </a:solidFill>
                <a:latin typeface="Apple SD Gothic Neo"/>
              </a:rPr>
              <a:t>관리자압박 내부신고 보호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5815583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D5E"/>
                </a:solidFill>
                <a:latin typeface="Apple SD Gothic Neo"/>
              </a:rPr>
              <a:t>C2 초등 전용 — 현행 법 논의에 없음 (신규 과제)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6199632"/>
            <a:ext cx="11731752" cy="5486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62362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AFAFB"/>
                </a:solidFill>
                <a:latin typeface="Apple SD Gothic Neo"/>
              </a:rPr>
              <a:t>일률적 교권보호법이 아닌 학교급·침해유형에 따른 맞춤형 입법 로드맵 — C0(고등)·C1(중학교)·C2(초등) 각 집단의 구조와 수요가 다르다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4A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73152"/>
            <a:ext cx="502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4D5E"/>
                </a:solidFill>
                <a:latin typeface="Apple SD Gothic Neo"/>
              </a:rPr>
              <a:t>REF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데이터 출처 및 참고문헌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【주요 데이터】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07007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D1. 윤정향. 교원 인권상황 실태조사, 2024 [데이터세트]. 한국노동사회연구소·국가인권위원회 / KOSSDA,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4207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    https://doi.org/10.22687/KOSSDA-A1-2024-0073-V1  (n=10,888)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214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786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D3. 김병준. 초·중등 교원 인권교육 실태조사, 2021 [데이터세트]. 충남연구원·국가인권위원회 / KOSSDA, 2022.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358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    https://doi.org/10.22687/KOSSDA-A1-2021-0019-V1.0  (n=9,553)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930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9502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한국교원단체총연합회. (2019). 2018년도 교권회복 및 교직상담 활동 실적 보고서. 한국교총 보도자료.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074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국토교통부. (2024). 수도권 신도시 지구 현황. 도시정책과 공개자료.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8646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통계청. (2023). 국내인구이동통계 시군구별 순이동. KOSIS.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218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교육부. (2023). 학원·교습소·개인과외 교습자 현황. 교육통계서비스 (EDSS).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7498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【분석 방법론】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207007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Igolkina &amp; Meshcheryakov (2020). semopy: Python Package for SEM. Structural Equation Modeling.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64207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Lundberg &amp; Lee (2017). A Unified Approach to Interpreting Model Predictions. NeurIPS.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214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Brunner &amp; Munzel (2000). The Nonparametric Behrens-Fisher Problem. Biometrical Journal.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786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Preacher &amp; Hayes (2008). Asymptotic and resampling strategies. Behavior Research Methods.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0358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Rockhill et al. (1998). Use and Misuse of Population Attributable Fractions. AJPH.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4930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MacQueen (1967). Methods for classification and analysis. 5th Berkeley Symposium.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502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4074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【분석 도구】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646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Python 3.x: pyreadstat, pandas, numpy, scikit-learn, statsmodels, semopy, matplotlib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32180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420"/>
                </a:solidFill>
                <a:latin typeface="Apple SD Gothic Neo"/>
              </a:rPr>
              <a:t>분석 파일: analysis_two_track.py · analysis_sem.py · analysis_clustering.py · analysis_factor_impact.py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658368"/>
            <a:ext cx="27432" cy="5897880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